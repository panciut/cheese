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Costo stimato ($)</c:v>
                </c:pt>
              </c:strCache>
            </c:strRef>
          </c:tx>
          <c:dPt>
            <c:idx val="0"/>
            <c:spPr>
              <a:solidFill>
                <a:srgbClr val="5B8C5A"/>
              </a:solidFill>
              <a:ln>
                <a:noFill/>
              </a:ln>
            </c:spPr>
          </c:dPt>
          <c:dPt>
            <c:idx val="1"/>
            <c:spPr>
              <a:solidFill>
                <a:srgbClr val="E0A458"/>
              </a:solidFill>
              <a:ln>
                <a:noFill/>
              </a:ln>
            </c:spPr>
          </c:dPt>
          <c:dPt>
            <c:idx val="2"/>
            <c:spPr>
              <a:solidFill>
                <a:srgbClr val="C1492E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Haiku 4.5</c:v>
                </c:pt>
                <c:pt idx="1">
                  <c:v>Sonnet</c:v>
                </c:pt>
                <c:pt idx="2">
                  <c:v>Opus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</c:v>
                </c:pt>
                <c:pt idx="1">
                  <c:v>13.5</c:v>
                </c:pt>
                <c:pt idx="2">
                  <c:v>67.0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sz="1300" b="1">
                  <a:solidFill>
                    <a:srgbClr val="1B334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m1 · CNN+LSTM</c:v>
                </c:pt>
              </c:strCache>
            </c:strRef>
          </c:tx>
          <c:spPr>
            <a:solidFill>
              <a:srgbClr val="E07A5F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BLEU-1</c:v>
                </c:pt>
                <c:pt idx="1">
                  <c:v>BLEU-4</c:v>
                </c:pt>
                <c:pt idx="2">
                  <c:v>METEOR</c:v>
                </c:pt>
                <c:pt idx="3">
                  <c:v>ROUGE-L</c:v>
                </c:pt>
                <c:pt idx="4">
                  <c:v>CIDEr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0.3501</c:v>
                </c:pt>
                <c:pt idx="1">
                  <c:v>0.1283</c:v>
                </c:pt>
                <c:pt idx="2">
                  <c:v>0.2938</c:v>
                </c:pt>
                <c:pt idx="3">
                  <c:v>0.2951</c:v>
                </c:pt>
                <c:pt idx="4">
                  <c:v>0.2517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m3 · ViT+Transf.</c:v>
                </c:pt>
              </c:strCache>
            </c:strRef>
          </c:tx>
          <c:spPr>
            <a:solidFill>
              <a:srgbClr val="3D7068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BLEU-1</c:v>
                </c:pt>
                <c:pt idx="1">
                  <c:v>BLEU-4</c:v>
                </c:pt>
                <c:pt idx="2">
                  <c:v>METEOR</c:v>
                </c:pt>
                <c:pt idx="3">
                  <c:v>ROUGE-L</c:v>
                </c:pt>
                <c:pt idx="4">
                  <c:v>CIDEr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0.3649</c:v>
                </c:pt>
                <c:pt idx="1">
                  <c:v>0.1237</c:v>
                </c:pt>
                <c:pt idx="2">
                  <c:v>0.2875</c:v>
                </c:pt>
                <c:pt idx="3">
                  <c:v>0.2981</c:v>
                </c:pt>
                <c:pt idx="4">
                  <c:v>0.2856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m6 · ViT+GePpeTto</c:v>
                </c:pt>
              </c:strCache>
            </c:strRef>
          </c:tx>
          <c:spPr>
            <a:solidFill>
              <a:srgbClr val="8A5082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BLEU-1</c:v>
                </c:pt>
                <c:pt idx="1">
                  <c:v>BLEU-4</c:v>
                </c:pt>
                <c:pt idx="2">
                  <c:v>METEOR</c:v>
                </c:pt>
                <c:pt idx="3">
                  <c:v>ROUGE-L</c:v>
                </c:pt>
                <c:pt idx="4">
                  <c:v>CIDEr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0.3657</c:v>
                </c:pt>
                <c:pt idx="1">
                  <c:v>0.1307</c:v>
                </c:pt>
                <c:pt idx="2">
                  <c:v>0.2928</c:v>
                </c:pt>
                <c:pt idx="3">
                  <c:v>0.3007</c:v>
                </c:pt>
                <c:pt idx="4">
                  <c:v>0.2741</c:v>
                </c:pt>
              </c:numCache>
            </c:numRef>
          </c:val>
        </c:ser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CIDEr medio (7 attributi)</c:v>
                </c:pt>
              </c:strCache>
            </c:strRef>
          </c:tx>
          <c:dPt>
            <c:idx val="0"/>
            <c:spPr>
              <a:solidFill>
                <a:srgbClr val="8A8A84"/>
              </a:solidFill>
              <a:ln>
                <a:noFill/>
              </a:ln>
            </c:spPr>
          </c:dPt>
          <c:dPt>
            <c:idx val="1"/>
            <c:spPr>
              <a:solidFill>
                <a:srgbClr val="8A8A84"/>
              </a:solidFill>
              <a:ln>
                <a:noFill/>
              </a:ln>
            </c:spPr>
          </c:dPt>
          <c:dPt>
            <c:idx val="2"/>
            <c:spPr>
              <a:solidFill>
                <a:srgbClr val="E07A5F"/>
              </a:solidFill>
              <a:ln>
                <a:noFill/>
              </a:ln>
            </c:spPr>
          </c:dPt>
          <c:dPt>
            <c:idx val="3"/>
            <c:spPr>
              <a:solidFill>
                <a:srgbClr val="3D7068"/>
              </a:solidFill>
              <a:ln>
                <a:noFill/>
              </a:ln>
            </c:spPr>
          </c:dPt>
          <c:dPt>
            <c:idx val="4"/>
            <c:spPr>
              <a:solidFill>
                <a:srgbClr val="8A5082"/>
              </a:solidFill>
              <a:ln>
                <a:noFill/>
              </a:ln>
            </c:spPr>
          </c:dPt>
          <c:dPt>
            <c:idx val="5"/>
            <c:spPr>
              <a:solidFill>
                <a:srgbClr val="E0A458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random</c:v>
                </c:pt>
                <c:pt idx="1">
                  <c:v>freq_weighted</c:v>
                </c:pt>
                <c:pt idx="2">
                  <c:v>m1</c:v>
                </c:pt>
                <c:pt idx="3">
                  <c:v>m3</c:v>
                </c:pt>
                <c:pt idx="4">
                  <c:v>m6</c:v>
                </c:pt>
                <c:pt idx="5">
                  <c:v>most_frequent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0.234</c:v>
                </c:pt>
                <c:pt idx="1">
                  <c:v>0.37</c:v>
                </c:pt>
                <c:pt idx="2">
                  <c:v>0.586</c:v>
                </c:pt>
                <c:pt idx="3">
                  <c:v>0.646</c:v>
                </c:pt>
                <c:pt idx="4">
                  <c:v>0.704</c:v>
                </c:pt>
                <c:pt idx="5">
                  <c:v>0.79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CLIPScore medio</c:v>
                </c:pt>
              </c:strCache>
            </c:strRef>
          </c:tx>
          <c:dPt>
            <c:idx val="0"/>
            <c:spPr>
              <a:solidFill>
                <a:srgbClr val="E0A458"/>
              </a:solidFill>
              <a:ln>
                <a:noFill/>
              </a:ln>
            </c:spPr>
          </c:dPt>
          <c:dPt>
            <c:idx val="1"/>
            <c:spPr>
              <a:solidFill>
                <a:srgbClr val="8A8A84"/>
              </a:solidFill>
              <a:ln>
                <a:noFill/>
              </a:ln>
            </c:spPr>
          </c:dPt>
          <c:dPt>
            <c:idx val="2"/>
            <c:spPr>
              <a:solidFill>
                <a:srgbClr val="8A8A84"/>
              </a:solidFill>
              <a:ln>
                <a:noFill/>
              </a:ln>
            </c:spPr>
          </c:dPt>
          <c:dPt>
            <c:idx val="3"/>
            <c:spPr>
              <a:solidFill>
                <a:srgbClr val="E07A5F"/>
              </a:solidFill>
              <a:ln>
                <a:noFill/>
              </a:ln>
            </c:spPr>
          </c:dPt>
          <c:dPt>
            <c:idx val="4"/>
            <c:spPr>
              <a:solidFill>
                <a:srgbClr val="3D7068"/>
              </a:solidFill>
              <a:ln>
                <a:noFill/>
              </a:ln>
            </c:spPr>
          </c:dPt>
          <c:dPt>
            <c:idx val="5"/>
            <c:spPr>
              <a:solidFill>
                <a:srgbClr val="8A5082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most_freq</c:v>
                </c:pt>
                <c:pt idx="1">
                  <c:v>random</c:v>
                </c:pt>
                <c:pt idx="2">
                  <c:v>freq_w</c:v>
                </c:pt>
                <c:pt idx="3">
                  <c:v>m1</c:v>
                </c:pt>
                <c:pt idx="4">
                  <c:v>m3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0.1902</c:v>
                </c:pt>
                <c:pt idx="1">
                  <c:v>0.1913</c:v>
                </c:pt>
                <c:pt idx="2">
                  <c:v>0.1919</c:v>
                </c:pt>
                <c:pt idx="3">
                  <c:v>0.1925</c:v>
                </c:pt>
                <c:pt idx="4">
                  <c:v>0.1921</c:v>
                </c:pt>
                <c:pt idx="5">
                  <c:v>0.1933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95"/>
          <c:min val="0.185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CLIPScore</c:v>
                </c:pt>
              </c:strCache>
            </c:strRef>
          </c:tx>
          <c:dPt>
            <c:idx val="0"/>
            <c:spPr>
              <a:solidFill>
                <a:srgbClr val="2C5F8A"/>
              </a:solidFill>
              <a:ln>
                <a:noFill/>
              </a:ln>
            </c:spPr>
          </c:dPt>
          <c:dPt>
            <c:idx val="1"/>
            <c:spPr>
              <a:solidFill>
                <a:srgbClr val="C1492E"/>
              </a:solidFill>
              <a:ln>
                <a:noFill/>
              </a:ln>
            </c:spPr>
          </c:dPt>
          <c:dPt>
            <c:idx val="2"/>
            <c:spPr>
              <a:solidFill>
                <a:srgbClr val="E0A458"/>
              </a:solidFill>
              <a:ln>
                <a:noFill/>
              </a:ln>
            </c:spPr>
          </c:dPt>
          <c:dPt>
            <c:idx val="3"/>
            <c:spPr>
              <a:solidFill>
                <a:srgbClr val="2C5F8A"/>
              </a:solidFill>
              <a:ln>
                <a:noFill/>
              </a:ln>
            </c:spPr>
          </c:dPt>
          <c:dPt>
            <c:idx val="4"/>
            <c:spPr>
              <a:solidFill>
                <a:srgbClr val="5B8C5A"/>
              </a:solidFill>
              <a:ln>
                <a:noFill/>
              </a:ln>
            </c:spPr>
          </c:dPt>
          <c:dPt>
            <c:idx val="5"/>
            <c:spPr>
              <a:solidFill>
                <a:srgbClr val="5B8C5A"/>
              </a:solidFill>
              <a:ln>
                <a:noFill/>
              </a:ln>
            </c:spPr>
          </c:dPt>
          <c:dPt>
            <c:idx val="6"/>
            <c:spPr>
              <a:solidFill>
                <a:srgbClr val="5B8C5A"/>
              </a:solidFill>
              <a:ln>
                <a:noFill/>
              </a:ln>
            </c:spPr>
          </c:dPt>
          <c:cat>
            <c:strRef>
              <c:f>Sheet1!$A$2:$A$8</c:f>
              <c:strCache>
                <c:ptCount val="7"/>
                <c:pt idx="0">
                  <c:v>Aroma</c:v>
                </c:pt>
                <c:pt idx="1">
                  <c:v>Sapore</c:v>
                </c:pt>
                <c:pt idx="2">
                  <c:v>Spessore</c:v>
                </c:pt>
                <c:pt idx="3">
                  <c:v>Profumo</c:v>
                </c:pt>
                <c:pt idx="4">
                  <c:v>Struttura</c:v>
                </c:pt>
                <c:pt idx="5">
                  <c:v>Colore</c:v>
                </c:pt>
                <c:pt idx="6">
                  <c:v>Texture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0.181</c:v>
                </c:pt>
                <c:pt idx="1">
                  <c:v>0.184</c:v>
                </c:pt>
                <c:pt idx="2">
                  <c:v>0.184</c:v>
                </c:pt>
                <c:pt idx="3">
                  <c:v>0.185</c:v>
                </c:pt>
                <c:pt idx="4">
                  <c:v>0.197</c:v>
                </c:pt>
                <c:pt idx="5">
                  <c:v>0.206</c:v>
                </c:pt>
                <c:pt idx="6">
                  <c:v>0.208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17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Buongiorno a tutti e benvenuti. Oggi vi presento il progetto di captioning sensoriale</a:t>
            </a:r>
          </a:p>
          <a:p>
            <a:r>
              <a:t>del formaggio Trentingrana, sviluppato nell'ambito dell'iniziativa AI4FQC — Artificial</a:t>
            </a:r>
          </a:p>
          <a:p>
            <a:r>
              <a:t>Intelligence for Food Quality Control, Project 07.</a:t>
            </a:r>
          </a:p>
          <a:p>
            <a:r>
              <a:t>L'idea di partenza è semplice da enunciare ma sorprendentemente ricca da realizzare:</a:t>
            </a:r>
          </a:p>
          <a:p>
            <a:r>
              <a:t>generare automaticamente descrizioni sensoriali in italiano a partire da immagini di</a:t>
            </a:r>
          </a:p>
          <a:p>
            <a:r>
              <a:t>sezioni di forme di grana. In altre parole, insegnare a un modello a "raccontare" un</a:t>
            </a:r>
          </a:p>
          <a:p>
            <a:r>
              <a:t>formaggio guardandone una fetta.</a:t>
            </a:r>
          </a:p>
          <a:p>
            <a:r>
              <a:t>Il lavoro si articola su due assi: la costruzione del dataset — la parte più originale e</a:t>
            </a:r>
          </a:p>
          <a:p>
            <a:r>
              <a:t>faticosa, a cui dedicherò circa il 70% del tempo — e il confronto di tre architetture</a:t>
            </a:r>
          </a:p>
          <a:p>
            <a:r>
              <a:t>encoder-decoder concettualmente diverse. Vedremo numeri concreti: 38 mila coppie</a:t>
            </a:r>
          </a:p>
          <a:p>
            <a:r>
              <a:t>immagine-caption, tre modelli, sette attributi sensoriali, e soprattutto un risultato</a:t>
            </a:r>
          </a:p>
          <a:p>
            <a:r>
              <a:t>scientifico chiaro su cosa conta davvero perché un modello usi l'immagine.</a:t>
            </a:r>
          </a:p>
          <a:p>
            <a:r>
              <a:t>Iniziamo dal contesto.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Partiamo dal problema reale. La qualità del grana viene certificata da panel di assaggiatori:</a:t>
            </a:r>
          </a:p>
          <a:p>
            <a:r>
              <a:t>esperti che annusano, assaggiano e osservano ogni forma, descrivendo profumo, aroma, sapore,</a:t>
            </a:r>
          </a:p>
          <a:p>
            <a:r>
              <a:t>struttura e così via. È un patrimonio di competenza, ma ha tre limiti: è lento, è soggettivo —</a:t>
            </a:r>
          </a:p>
          <a:p>
            <a:r>
              <a:t>due panelisti descrivono la stessa forma con parole diverse — ed è difficile da scalare quando</a:t>
            </a:r>
          </a:p>
          <a:p>
            <a:r>
              <a:t>le forme sono migliaia.</a:t>
            </a:r>
          </a:p>
          <a:p>
            <a:r>
              <a:t>L'idea del progetto è affiancare a questo lavoro un sistema automatico. Diamo in pasto al</a:t>
            </a:r>
          </a:p>
          <a:p>
            <a:r>
              <a:t>modello un'immagine acquisita con l'analizzatore visivo elettronico IRIS, in condizioni di</a:t>
            </a:r>
          </a:p>
          <a:p>
            <a:r>
              <a:t>illuminazione controllata, come quella che vedete a destra, e gli chiediamo di produrre una</a:t>
            </a:r>
          </a:p>
          <a:p>
            <a:r>
              <a:t>descrizione sensoriale in italiano per ciascun attributo.</a:t>
            </a:r>
          </a:p>
          <a:p>
            <a:r>
              <a:t>Attenzione: l'obiettivo non è sostituire il degustatore, ma offrire un supporto oggettivo e</a:t>
            </a:r>
          </a:p>
          <a:p>
            <a:r>
              <a:t>riproducibile. Come vedremo, alcuni attributi — quelli visibili — si prestano molto meglio di</a:t>
            </a:r>
          </a:p>
          <a:p>
            <a:r>
              <a:t>altri, e proprio questa distinzione sarà uno dei risultati più interessanti.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Queste sono le sette dimensioni sensoriali che il panel valuta per ogni forma: colore della</a:t>
            </a:r>
          </a:p>
          <a:p>
            <a:r>
              <a:t>pasta, texture, struttura della pasta, spessore della crosta, profumo, aroma e sapore.</a:t>
            </a:r>
          </a:p>
          <a:p>
            <a:r>
              <a:t>Vi chiedo di tenere a mente una distinzione che diventerà centrale nella seconda parte.</a:t>
            </a:r>
          </a:p>
          <a:p>
            <a:r>
              <a:t>Tre attributi — colore, texture e struttura della pasta — sono intrinsecamente visivi: si</a:t>
            </a:r>
          </a:p>
          <a:p>
            <a:r>
              <a:t>leggono dall'immagine. Tre — profumo, aroma e sapore — appartengono all'olfatto e al gusto:</a:t>
            </a:r>
          </a:p>
          <a:p>
            <a:r>
              <a:t>nessuna fotografia può rivelare un sapore. E poi c'è un caso istruttivo, lo spessore della</a:t>
            </a:r>
          </a:p>
          <a:p>
            <a:r>
              <a:t>crosta: è fisicamente visibile, eppure la crosta occupa una porzione piccola della fetta, e</a:t>
            </a:r>
          </a:p>
          <a:p>
            <a:r>
              <a:t>vedremo che il modello fatica a "pesarla".</a:t>
            </a:r>
          </a:p>
          <a:p>
            <a:r>
              <a:t>Questa tassonomia non è un dettaglio decorativo: quando misureremo se il modello usa davvero</a:t>
            </a:r>
          </a:p>
          <a:p>
            <a:r>
              <a:t>l'immagine, scopriremo che riesce esattamente sugli attributi visibili e fallisce su quelli</a:t>
            </a:r>
          </a:p>
          <a:p>
            <a:r>
              <a:t>olfattivi e gustativi. È un controllo di sanità che valida l'intero approccio.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traccia AI4FQC chiede esplicitamente due deliverable.</a:t>
            </a:r>
          </a:p>
          <a:p>
            <a:r>
              <a:t>Il primo passo è la pre-elaborazione del testo: prendere le descrizioni dei degustatori —</a:t>
            </a:r>
          </a:p>
          <a:p>
            <a:r>
              <a:t>spesso telegrafiche, a volte in dialetto, talvolta incoerenti — e trasformarle in caption</a:t>
            </a:r>
          </a:p>
          <a:p>
            <a:r>
              <a:t>pulite, normalizzate e in forma di frase italiana. Un requisito specifico e ricorrente è</a:t>
            </a:r>
          </a:p>
          <a:p>
            <a:r>
              <a:t>sostituire le misure quantitative, i millimetri e centimetri della crosta, con descrizioni</a:t>
            </a:r>
          </a:p>
          <a:p>
            <a:r>
              <a:t>qualitative. Questo passo, come vedete, vale circa il 70% del lavoro: è la parte più originale.</a:t>
            </a:r>
          </a:p>
          <a:p>
            <a:r>
              <a:t>Il secondo passo è applicare e confrontare tre metodi encoder-decoder "concettualmente quanto</a:t>
            </a:r>
          </a:p>
          <a:p>
            <a:r>
              <a:t>più diversi possibile". Notate l'accento: la traccia non chiede di trovare il modello migliore,</a:t>
            </a:r>
          </a:p>
          <a:p>
            <a:r>
              <a:t>ma di confrontare approcci. Per farlo onestamente abbiamo affiancato a BLEU una batteria di</a:t>
            </a:r>
          </a:p>
          <a:p>
            <a:r>
              <a:t>metriche complementari.</a:t>
            </a:r>
          </a:p>
          <a:p>
            <a:r>
              <a:t>Coerentemente con questi pesi, dedicherò la prima e più ampia parte della presentazione alla</a:t>
            </a:r>
          </a:p>
          <a:p>
            <a:r>
              <a:t>costruzione del dataset, e la seconda ai modelli. Cominciamo dai dati.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Entriamo nella prima parte: la costruzione del dataset.</a:t>
            </a:r>
          </a:p>
          <a:p>
            <a:r>
              <a:t>Vi anticipo il viaggio in una riga: partiamo da quasi 52 mila righe grezze, eterogenee e a</a:t>
            </a:r>
          </a:p>
          <a:p>
            <a:r>
              <a:t>tratti dialettali, e arriviamo a 38 mila coppie immagine-caption pulite, normalizzate e in</a:t>
            </a:r>
          </a:p>
          <a:p>
            <a:r>
              <a:t>forma di frase. Nel mezzo c'è una pipeline di undici fasi e una strategia precisa che ci ha</a:t>
            </a:r>
          </a:p>
          <a:p>
            <a:r>
              <a:t>permesso di fare tutto questo con un costo di intelligenza artificiale di appena 5 dollari e 60.</a:t>
            </a:r>
          </a:p>
          <a:p>
            <a:r>
              <a:t>Questa è, a mio avviso, la parte più interessante del progetto dal punto di vista ingegneristico,</a:t>
            </a:r>
          </a:p>
          <a:p>
            <a:r>
              <a:t>perché il dato grezzo era ingannevolmente ricco ma profondamente disallineato. Vediamo perché.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materiale di partenza sembrava ricco: quasi 2.750 fotografie BMP ad alta risoluzione di</a:t>
            </a:r>
          </a:p>
          <a:p>
            <a:r>
              <a:t>sezioni di forma, in due viste — la fetta intera e il primo piano della grana; quattro workbook</a:t>
            </a:r>
          </a:p>
          <a:p>
            <a:r>
              <a:t>Excel, uno per anno dal 2018 al 2021, con un foglio per ciascun attributo; e un codebook che</a:t>
            </a:r>
          </a:p>
          <a:p>
            <a:r>
              <a:t>mappa i sedici caseifici.</a:t>
            </a:r>
          </a:p>
          <a:p>
            <a:r>
              <a:t>Il problema, però, non era la quantità ma l'allineamento. Immagini e commenti, in pratica,</a:t>
            </a:r>
          </a:p>
          <a:p>
            <a:r>
              <a:t>parlavano lingue diverse. Il nome del file fotografico identifica la singola forma — un ID</a:t>
            </a:r>
          </a:p>
          <a:p>
            <a:r>
              <a:t>campione preciso — mentre il commento del degustatore identifica soltanto il vassoio, il</a:t>
            </a:r>
          </a:p>
          <a:p>
            <a:r>
              <a:t>"prodotto". Non esisteva quindi un join riga-per-riga tra una foto e il suo commento: esisteva</a:t>
            </a:r>
          </a:p>
          <a:p>
            <a:r>
              <a:t>solo un join a livello di caseificio, passando dal codebook.</a:t>
            </a:r>
          </a:p>
          <a:p>
            <a:r>
              <a:t>A complicare tutto, tre ostacoli concreti che sono costati tempo reale: lo stesso caseificio</a:t>
            </a:r>
          </a:p>
          <a:p>
            <a:r>
              <a:t>compare scritto in tre modi diversi; le intestazioni Excel cambiano da un anno all'altro; e i</a:t>
            </a:r>
          </a:p>
          <a:p>
            <a:r>
              <a:t>punteggi numerici usano la virgola decimale italiana. Ogni metadato di provenienza è stato</a:t>
            </a:r>
          </a:p>
          <a:p>
            <a:r>
              <a:t>propagato a valle, così ogni riga finale resta tracciabile fino al commento originale.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 si risolve l'assenza di un join a livello di forma? Con quello che abbiamo chiamato</a:t>
            </a:r>
          </a:p>
          <a:p>
            <a:r>
              <a:t>broadcast a livello di caseificio. L'idea è propagare ogni commento del degustatore a tutte le</a:t>
            </a:r>
          </a:p>
          <a:p>
            <a:r>
              <a:t>immagini coerenti di quel caseificio in quella seduta.</a:t>
            </a:r>
          </a:p>
          <a:p>
            <a:r>
              <a:t>Guardate l'esempio. Un singolo commento sul profumo — la parola "Crauti" per il caseificio</a:t>
            </a:r>
          </a:p>
          <a:p>
            <a:r>
              <a:t>TN_306 — diventa la caption di quattro immagini diverse: le repliche a e b, ciascuna nelle due</a:t>
            </a:r>
          </a:p>
          <a:p>
            <a:r>
              <a:t>viste fetta e grana. Da un commento nascono fino a quattro righe immagine-caption, con la stessa</a:t>
            </a:r>
          </a:p>
          <a:p>
            <a:r>
              <a:t>caption.</a:t>
            </a:r>
          </a:p>
          <a:p>
            <a:r>
              <a:t>Qualcuno potrebbe obiettare: non è una duplicazione artificiale? In realtà no, per</a:t>
            </a:r>
          </a:p>
          <a:p>
            <a:r>
              <a:t>l'addestramento è un vantaggio: più esempi della stessa associazione visivo-testuale rendono il</a:t>
            </a:r>
          </a:p>
          <a:p>
            <a:r>
              <a:t>segnale più robusto.</a:t>
            </a:r>
          </a:p>
          <a:p>
            <a:r>
              <a:t>L'effetto netto del join è di quasi 52 mila righe, ottenute come immagine per panelista per</a:t>
            </a:r>
          </a:p>
          <a:p>
            <a:r>
              <a:t>attributo, di cui circa 39.500 con un commento non vuoto: un tasso di pairing intorno al 76%,</a:t>
            </a:r>
          </a:p>
          <a:p>
            <a:r>
              <a:t>più basso nelle sedute 2021 dove alcuni campi erano lasciati vuoti. Da qui parte la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Ecco la mappa completa: undici fasi, numerate da zero a dieci, ognuna con un proprio script</a:t>
            </a:r>
          </a:p>
          <a:p>
            <a:r>
              <a:t>Python, input e output espliciti e un report ispezionabile.</a:t>
            </a:r>
          </a:p>
          <a:p>
            <a:r>
              <a:t>Il principio guida — e questa è la decisione architetturale più importante della prima parte —</a:t>
            </a:r>
          </a:p>
          <a:p>
            <a:r>
              <a:t>è "deterministico prima dell'LLM". Significa: tutto ciò che si può fare con codice</a:t>
            </a:r>
          </a:p>
          <a:p>
            <a:r>
              <a:t>riproducibile, verificabile e gratuito, lo facciamo prima di chiamare il modello linguistico.</a:t>
            </a:r>
          </a:p>
          <a:p>
            <a:r>
              <a:t>In blu vedete le fasi deterministiche: dalla tabella unificata, alla preparazione del testo,</a:t>
            </a:r>
          </a:p>
          <a:p>
            <a:r>
              <a:t>alla costruzione del vocabolario, alla pulizia e deduplicazione. In oro le fasi che coinvolgono</a:t>
            </a:r>
          </a:p>
          <a:p>
            <a:r>
              <a:t>l'LLM: il design del prompt, il pilot e il batch completo. In verde l'assemblaggio finale.</a:t>
            </a:r>
          </a:p>
          <a:p>
            <a:r>
              <a:t>Seguite i numeri lungo le fasi: 52 mila righe iniziali, ridotte e normalizzate, poi compresse a</a:t>
            </a:r>
          </a:p>
          <a:p>
            <a:r>
              <a:t>circa 7.700 caption uniche — ed è solo questo sottoinsieme ad arrivare al modello a pagamento.</a:t>
            </a:r>
          </a:p>
          <a:p>
            <a:r>
              <a:t>È esattamente questa compressione che tiene il costo a pochi dollari. Vediamo le fasi chiave una</a:t>
            </a:r>
          </a:p>
          <a:p>
            <a:r>
              <a:t>per 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Questa è la stessa storia, vista come imbuto. Sull'asse leggete il numero di righe di</a:t>
            </a:r>
          </a:p>
          <a:p>
            <a:r>
              <a:t>addestramento man mano che attraversano la pipeline.</a:t>
            </a:r>
          </a:p>
          <a:p>
            <a:r>
              <a:t>Lo scarto maggiore — oltre 12.600 righe — avviene tutto nella preparazione deterministica della</a:t>
            </a:r>
          </a:p>
          <a:p>
            <a:r>
              <a:t>fase 1. Ma attenzione a cosa buttiamo: la stragrande maggioranza, quasi 12.500 righe, sono vuoti</a:t>
            </a:r>
          </a:p>
          <a:p>
            <a:r>
              <a:t>o valori nulli. Solo 86 sono meta-commenti e 68 sono frammenti quasi vuoti. In altre parole,</a:t>
            </a:r>
          </a:p>
          <a:p>
            <a:r>
              <a:t>non stiamo scartando contenuto sensoriale: stiamo togliendo il rumore certo.</a:t>
            </a:r>
          </a:p>
          <a:p>
            <a:r>
              <a:t>Il tasso di retention dopo la fase 1 è del 75,7%. E qui c'è una scelta deliberata che voglio</a:t>
            </a:r>
          </a:p>
          <a:p>
            <a:r>
              <a:t>sottolineare: a questo stadio i drop devono essere certi. Una frase come "non penalizzo, ma sa</a:t>
            </a:r>
          </a:p>
          <a:p>
            <a:r>
              <a:t>di stalla" contiene un descrittore reale e NON va scartata da una regex — quel tipo di ambiguità</a:t>
            </a:r>
          </a:p>
          <a:p>
            <a:r>
              <a:t>la gestirà meglio l'LLM più avanti. La blacklist deterministica è quindi piccola e conservativa</a:t>
            </a:r>
          </a:p>
          <a:p>
            <a:r>
              <a:t>per costruzione.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Entriamo nella fase 1, la preparazione deterministica. La regola d'oro qui è: pulire senza</a:t>
            </a:r>
          </a:p>
          <a:p>
            <a:r>
              <a:t>riformulare. Non cambiamo le parole del degustatore, le ripuliamo soltanto.</a:t>
            </a:r>
          </a:p>
          <a:p>
            <a:r>
              <a:t>Le operazioni sono tutte meccaniche e verificabili: filtriamo i vuoti e gli N/A, normalizziamo</a:t>
            </a:r>
          </a:p>
          <a:p>
            <a:r>
              <a:t>l'Unicode in forma NFC, togliamo gli spazi indivisibili, i caratteri a larghezza zero, le</a:t>
            </a:r>
          </a:p>
          <a:p>
            <a:r>
              <a:t>tabulazioni e i ritorni a capo. Poi rimuoviamo i meta-commenti con una blacklist deliberatamente</a:t>
            </a:r>
          </a:p>
          <a:p>
            <a:r>
              <a:t>piccola, e i frammenti quasi vuoti, quelli con meno di due caratteri alfanumerici dopo la</a:t>
            </a:r>
          </a:p>
          <a:p>
            <a:r>
              <a:t>pulizia. Manteniamo sempre due colonne, testo grezzo e testo normalizzato, così ogni</a:t>
            </a:r>
          </a:p>
          <a:p>
            <a:r>
              <a:t>trasformazione è reversibile e auditabile.</a:t>
            </a:r>
          </a:p>
          <a:p>
            <a:r>
              <a:t>La filosofia, a destra, è la chiave: i drop devono essere certi. Tutto ciò che è ambiguo passa</a:t>
            </a:r>
          </a:p>
          <a:p>
            <a:r>
              <a:t>oltre, perché l'LLM lo gestirà meglio di qualsiasi regola fissa. Il risultato netto sono 39.356</a:t>
            </a:r>
          </a:p>
          <a:p>
            <a:r>
              <a:t>righe, con i drop che — lo ripeto perché conta — sono per il 99% semplici vuoti.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fasi 2 e 3 costruiscono un vocabolario controllato per ciascuno dei sette attributi: i lemmi</a:t>
            </a:r>
          </a:p>
          <a:p>
            <a:r>
              <a:t>e i bigrammi più frequenti, con una lemmatizzazione italiana fatta su misura.</a:t>
            </a:r>
          </a:p>
          <a:p>
            <a:r>
              <a:t>Perché non usare una libreria NLP standard? Perché sul lessico sensoriale sbagliano</a:t>
            </a:r>
          </a:p>
          <a:p>
            <a:r>
              <a:t>sistematicamente: trasformano "panna" in "panno", "latte" in "latto". E soprattutto includono</a:t>
            </a:r>
          </a:p>
          <a:p>
            <a:r>
              <a:t>tra le stopword parole che qui sono informative: "molto", "poco", "leggermente" sono</a:t>
            </a:r>
          </a:p>
          <a:p>
            <a:r>
              <a:t>intensificatori sensoriali, non rumore. Abbiamo quindi scritto un lemmatizzatore deterministico,</a:t>
            </a:r>
          </a:p>
          <a:p>
            <a:r>
              <a:t>con mappe di abbreviazioni e refusi e un merge singolare-plurale che scatta solo quando entrambe</a:t>
            </a:r>
          </a:p>
          <a:p>
            <a:r>
              <a:t>le forme sono attestate nel corpus.</a:t>
            </a:r>
          </a:p>
          <a:p>
            <a:r>
              <a:t>Nel grafico vedete l'ampiezza del vocabolario per attributo: la struttura della pasta è la più</a:t>
            </a:r>
          </a:p>
          <a:p>
            <a:r>
              <a:t>ricca, con quasi 800 lemmi e oltre 40 mila token; lo spessore della crosta è il più povero,</a:t>
            </a:r>
          </a:p>
          <a:p>
            <a:r>
              <a:t>coerentemente con la sua minore varietà descrittiva. Il vocabolario serve a due scopi: come base</a:t>
            </a:r>
          </a:p>
          <a:p>
            <a:r>
              <a:t>per l'audit, e come àncora stilistica nel prompt dell'LLM — non come dizionario chiuso, perché</a:t>
            </a:r>
          </a:p>
          <a:p>
            <a:r>
              <a:t>il modello l'italiano lo parla già.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fase 4 affronta di petto il requisito esplicito della traccia: sostituire le descrizioni</a:t>
            </a:r>
          </a:p>
          <a:p>
            <a:r>
              <a:t>quantitative con descrizioni qualitative. Il caso emblematico è lo spessore della crosta, dove</a:t>
            </a:r>
          </a:p>
          <a:p>
            <a:r>
              <a:t>centinaia di caption erano semplici numeri: "10", "1 cm", "mediamente 9 mm", "8-10 mm".</a:t>
            </a:r>
          </a:p>
          <a:p>
            <a:r>
              <a:t>La soluzione è una funzione deterministica che riconosce le caption interamente numeriche,</a:t>
            </a:r>
          </a:p>
          <a:p>
            <a:r>
              <a:t>converte tutto in millimetri — con un'euristica che interpreta i valori sotto 5 come centimetri</a:t>
            </a:r>
          </a:p>
          <a:p>
            <a:r>
              <a:t>— e assegna un bucket qualitativo secondo la tabella che vedete: sotto 8 millimetri "molto</a:t>
            </a:r>
          </a:p>
          <a:p>
            <a:r>
              <a:t>sottile", fino a 10 "sottile", e così via fino a "molto spessa" oltre i 18.</a:t>
            </a:r>
          </a:p>
          <a:p>
            <a:r>
              <a:t>Perché è importante farlo in modo deterministico e non con l'LLM? Perché elimina alla radice la</a:t>
            </a:r>
          </a:p>
          <a:p>
            <a:r>
              <a:t>principale fonte di incoerenza del modello, che altrimenti bucketizzava "1 cm" e "10 mm" — la</a:t>
            </a:r>
          </a:p>
          <a:p>
            <a:r>
              <a:t>stessa identica misura fisica — in modo diverso. Nel grafico a destra vedete il risultato: 424</a:t>
            </a:r>
          </a:p>
          <a:p>
            <a:r>
              <a:t>righe numeriche collassate ordinatamente in cinque bucket. Le caption miste, quelle che mescolano</a:t>
            </a:r>
          </a:p>
          <a:p>
            <a:r>
              <a:t>numeri e descrizione, vengono invece lasciate all'LLM perché richiedono ragionamento contestuale.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Questo è l'accorgimento singolo più importante per l'economia del progetto: la deduplicazione.</a:t>
            </a:r>
          </a:p>
          <a:p>
            <a:r>
              <a:t>Ricordate il broadcast? Replicando ogni commento su quattro immagini, lo stesso identico testo</a:t>
            </a:r>
          </a:p>
          <a:p>
            <a:r>
              <a:t>sarebbe stato inviato all'LLM molte volte, pagandolo ogni volta. Non ha senso. Allora, prima di</a:t>
            </a:r>
          </a:p>
          <a:p>
            <a:r>
              <a:t>chiamare il modello, deduplichiamo per chiave: la coppia caption più attributo.</a:t>
            </a:r>
          </a:p>
          <a:p>
            <a:r>
              <a:t>Il risultato è netto: oltre 39 mila righe si comprimono in 7.705 caption uniche, una</a:t>
            </a:r>
          </a:p>
          <a:p>
            <a:r>
              <a:t>compressione di 5,1 volte. Il grafico mostra, per ciascun attributo, le righe preparate contro</a:t>
            </a:r>
          </a:p>
          <a:p>
            <a:r>
              <a:t>le caption uniche. Il pattern dominante è proprio il fattore quattro del broadcast: quasi 6.600</a:t>
            </a:r>
          </a:p>
          <a:p>
            <a:r>
              <a:t>caption compaiono esattamente quattro volte.</a:t>
            </a:r>
          </a:p>
          <a:p>
            <a:r>
              <a:t>La conseguenza pratica è enorme: mandiamo all'LLM solo le caption uniche, e così riduciamo di</a:t>
            </a:r>
          </a:p>
          <a:p>
            <a:r>
              <a:t>circa cinque volte il costo. È l'esempio perfetto del principio "deterministico prima dell'LLM":</a:t>
            </a:r>
          </a:p>
          <a:p>
            <a:r>
              <a:t>una semplice deduplicazione, gratis, taglia i costi del componente a pagamento di un fattore</a:t>
            </a:r>
          </a:p>
          <a:p>
            <a:r>
              <a:t>cinque.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Arriviamo al cuore "intelligente" della pipeline: la riscrittura con LLM, fasi 6, 7 e 8. Qui</a:t>
            </a:r>
          </a:p>
          <a:p>
            <a:r>
              <a:t>l'LLM fa il lavoro che nessuna regex potrebbe fare fedelmente: espandere "Crauti" in "Profumo di</a:t>
            </a:r>
          </a:p>
          <a:p>
            <a:r>
              <a:t>crauti", normalizzare il dialetto, togliere i meta-commenti preservando il descrittore,</a:t>
            </a:r>
          </a:p>
          <a:p>
            <a:r>
              <a:t>trasformare le domande in affermazioni.</a:t>
            </a:r>
          </a:p>
          <a:p>
            <a:r>
              <a:t>La fase 6 è il design del prompt: un prompt di sistema per ciascun attributo, circa 5 kilobyte,</a:t>
            </a:r>
          </a:p>
          <a:p>
            <a:r>
              <a:t>con undici regole — tra cui la regola di "zero invenzione" e un escape, NON_DESCRITTO, per gli</a:t>
            </a:r>
          </a:p>
          <a:p>
            <a:r>
              <a:t>input senza contenuto — i sessanta lemmi più frequenti come àncora stilistica e sei esempi</a:t>
            </a:r>
          </a:p>
          <a:p>
            <a:r>
              <a:t>few-shot reali.</a:t>
            </a:r>
          </a:p>
          <a:p>
            <a:r>
              <a:t>La fase 7, il pilot su 105 caption, è servita a scoprire due modi di fallimento prima di spendere:</a:t>
            </a:r>
          </a:p>
          <a:p>
            <a:r>
              <a:t>l'incoerenza centimetri-millimetri e alcune violazioni di formato. Entrambi corretti nel prompt.</a:t>
            </a:r>
          </a:p>
          <a:p>
            <a:r>
              <a:t>Lezione operativa concreta: tre worker in parallelo erano l'ottimo, otto scatenavano tempeste di</a:t>
            </a:r>
          </a:p>
          <a:p>
            <a:r>
              <a:t>rate-limit.</a:t>
            </a:r>
          </a:p>
          <a:p>
            <a:r>
              <a:t>La fase 8, il batch completo: tutte le 7.689 caption uniche inviate in un unico job. Risultato:</a:t>
            </a:r>
          </a:p>
          <a:p>
            <a:r>
              <a:t>7.689 su 7.689 completate, zero errori, in mezz'ora, per circa 4 dollari e mezzo. Il che ci porta</a:t>
            </a:r>
          </a:p>
          <a:p>
            <a:r>
              <a:t>alla domanda: perché Haiku?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delle decisioni più pragmatiche del progetto. Per un compito di riscrittura ben delimitato e</a:t>
            </a:r>
          </a:p>
          <a:p>
            <a:r>
              <a:t>già verificato sul pilot, qual è il modello giusto?</a:t>
            </a:r>
          </a:p>
          <a:p>
            <a:r>
              <a:t>Il grafico risponde. Lo stesso lavoro costerebbe circa 5 dollari e 60 con Haiku 4.5, contro circa</a:t>
            </a:r>
          </a:p>
          <a:p>
            <a:r>
              <a:t>13 e 50 con Sonnet e oltre 67 con Opus. Haiku è 2,4 volte più economico di Sonnet e dodici volte</a:t>
            </a:r>
          </a:p>
          <a:p>
            <a:r>
              <a:t>più economico di Opus.</a:t>
            </a:r>
          </a:p>
          <a:p>
            <a:r>
              <a:t>La domanda vera, però, non è "qual è il più economico" ma "il modello economico è abbastanza</a:t>
            </a:r>
          </a:p>
          <a:p>
            <a:r>
              <a:t>buono?". E qui interviene il pilot: avendolo testato su un campione stratificato, abbiamo</a:t>
            </a:r>
          </a:p>
          <a:p>
            <a:r>
              <a:t>verificato che per questo task circoscritto i modelli più costosi non offrivano alcun guadagno di</a:t>
            </a:r>
          </a:p>
          <a:p>
            <a:r>
              <a:t>qualità misurabile. Spendere di più sarebbe stato buttare via soldi.</a:t>
            </a:r>
          </a:p>
          <a:p>
            <a:r>
              <a:t>Il costo LLM totale dell'intero progetto — pilot più batch — è stato di 5 dollari e 60. È la</a:t>
            </a:r>
          </a:p>
          <a:p>
            <a:r>
              <a:t>dimostrazione concreta che una buona ingegneria dei dati a monte vale più di un modello costoso a</a:t>
            </a:r>
          </a:p>
          <a:p>
            <a:r>
              <a:t>valle.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 sappiamo che il Passo 1 è davvero soddisfatto? Non a impressione, ma con una validazione</a:t>
            </a:r>
          </a:p>
          <a:p>
            <a:r>
              <a:t>programmatica su tutte le 7.689 uscite del modello.</a:t>
            </a:r>
          </a:p>
          <a:p>
            <a:r>
              <a:t>La tabella riassume i controlli. L'output inizia sempre col prefisso d'attributo atteso — con una</a:t>
            </a:r>
          </a:p>
          <a:p>
            <a:r>
              <a:t>sola "violazione" che è in realtà un prefisso alternativo valido. Soprattutto, guardate i numeri</a:t>
            </a:r>
          </a:p>
          <a:p>
            <a:r>
              <a:t>che contano per la traccia: zero output con cifre, zero output con unità di misura come</a:t>
            </a:r>
          </a:p>
          <a:p>
            <a:r>
              <a:t>millimetri o centimetri, zero output troppo lunghi, zero output vuoti, zero output con markup.</a:t>
            </a:r>
          </a:p>
          <a:p>
            <a:r>
              <a:t>Tutti zero.</a:t>
            </a:r>
          </a:p>
          <a:p>
            <a:r>
              <a:t>Questo significa che la conversione da quantitativo a qualitativo — il requisito centrale del</a:t>
            </a:r>
          </a:p>
          <a:p>
            <a:r>
              <a:t>primo passo — è riuscita al cento per cento: nelle caption finali non resta nessun numero e</a:t>
            </a:r>
          </a:p>
          <a:p>
            <a:r>
              <a:t>nessuna unità di misura. È una soddisfazione pulita e verificabile del deliverable, non una</a:t>
            </a:r>
          </a:p>
          <a:p>
            <a:r>
              <a:t>promessa. E quando un revisore chiederà "ma siete sicuri di aver tolto tutte le misure?", la</a:t>
            </a:r>
          </a:p>
          <a:p>
            <a:r>
              <a:t>risposta è una tabella, non un'opinione.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fase 9 è una di quelle che distinguono un dataset curato da uno solo "ripulito". Dopo il</a:t>
            </a:r>
          </a:p>
          <a:p>
            <a:r>
              <a:t>batch, una scansione ha rivelato qualcosa di interessante: 291 delle 362 caption che l'LLM aveva</a:t>
            </a:r>
          </a:p>
          <a:p>
            <a:r>
              <a:t>etichettato come NON_DESCRITTO — cioè "qui non c'è descrizione" — contenevano in realtà almeno un</a:t>
            </a:r>
          </a:p>
          <a:p>
            <a:r>
              <a:t>lemma del vocabolario controllato. Segno che il modello era stato eccessivamente cauto con la</a:t>
            </a:r>
          </a:p>
          <a:p>
            <a:r>
              <a:t>regola dell'escape su input borderline, quelli che mescolano un giudizio e un descrittore.</a:t>
            </a:r>
          </a:p>
          <a:p>
            <a:r>
              <a:t>Allora abbiamo curato a mano una mappa di salvataggio di 178 caption dove il descrittore era reale</a:t>
            </a:r>
          </a:p>
          <a:p>
            <a:r>
              <a:t>e fedele. Esempi: "marcio, putrido," diventa "Profumo marcio e putrido"; "Sangue,,," diventa</a:t>
            </a:r>
          </a:p>
          <a:p>
            <a:r>
              <a:t>"Aroma di sangue".</a:t>
            </a:r>
          </a:p>
          <a:p>
            <a:r>
              <a:t>L'effetto, nel grafico: i NON_DESCRITTO unici scendono da 362 a 184, e questo recupera 916 righe</a:t>
            </a:r>
          </a:p>
          <a:p>
            <a:r>
              <a:t>di addestramento che altrimenti avremmo perso. Il messaggio è semplice: pulire i dati non</a:t>
            </a:r>
          </a:p>
          <a:p>
            <a:r>
              <a:t>significa buttarli via. Un po' di cura manuale, su un sottoinsieme mirato, è costata meno di un</a:t>
            </a:r>
          </a:p>
          <a:p>
            <a:r>
              <a:t>altro giro di LLM e ha restituito quasi mille esempi validi.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Eccoci al deliverable della prima parte. La fase 10 riconnette le caption pulite alla tabella</a:t>
            </a:r>
          </a:p>
          <a:p>
            <a:r>
              <a:t>broadcast e produce il dataset finale: 38.437 righe di addestramento su 1.497 immagini uniche.</a:t>
            </a:r>
          </a:p>
          <a:p>
            <a:r>
              <a:t>Il grafico mostra la distribuzione delle righe per attributo, e notate che c'è una varianza</a:t>
            </a:r>
          </a:p>
          <a:p>
            <a:r>
              <a:t>significativa — la struttura della pasta ha quasi il doppio delle righe dello spessore della</a:t>
            </a:r>
          </a:p>
          <a:p>
            <a:r>
              <a:t>crosta. Questo sbilanciamento conterà nel confronto cross-attributo della seconda parte.</a:t>
            </a:r>
          </a:p>
          <a:p>
            <a:r>
              <a:t>Sul piano del formato, abbiamo fatto una scelta di flessibilità: ogni riga porta due forme di</a:t>
            </a:r>
          </a:p>
          <a:p>
            <a:r>
              <a:t>caption. Una compatta, di quattro-otto parole, ancorata all'attributo, tipo "Profumo di panna".</a:t>
            </a:r>
          </a:p>
          <a:p>
            <a:r>
              <a:t>E una frase italiana dichiarativa completa, "Il formaggio ha un profumo di panna", più adatta agli</a:t>
            </a:r>
          </a:p>
          <a:p>
            <a:r>
              <a:t>encoder-decoder e alle metriche di captioning. Questa trasformazione in frase è completamente</a:t>
            </a:r>
          </a:p>
          <a:p>
            <a:r>
              <a:t>deterministica, senza alcun ulteriore giro di LLM.</a:t>
            </a:r>
          </a:p>
          <a:p>
            <a:r>
              <a:t>Il dataset è consegnato in più forme — tabella completa con tutta la provenienza, vista</a:t>
            </a:r>
          </a:p>
          <a:p>
            <a:r>
              <a:t>semplificata a quattro colonne, e sette split per-attributo — per servire qualsiasi architettura a</a:t>
            </a:r>
          </a:p>
          <a:p>
            <a:r>
              <a:t>valle. Con questo chiudiamo la parte dati e passiamo ai modelli.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Seconda parte: i modelli.</a:t>
            </a:r>
          </a:p>
          <a:p>
            <a:r>
              <a:t>Qui l'obiettivo della traccia è il confronto di metodi, e vi anticipo già la conclusione, così</a:t>
            </a:r>
          </a:p>
          <a:p>
            <a:r>
              <a:t>potete seguire i dati con la chiave di lettura giusta. Tra tutto ciò che potremmo cambiare — il</a:t>
            </a:r>
          </a:p>
          <a:p>
            <a:r>
              <a:t>decoder, la quantità di dati, gli iperparametri — il fattore singolo che decide se il modello usa</a:t>
            </a:r>
          </a:p>
          <a:p>
            <a:r>
              <a:t>davvero l'immagine è uno solo: l'encoder visivo.</a:t>
            </a:r>
          </a:p>
          <a:p>
            <a:r>
              <a:t>Costruiremo questa conclusione passo dopo passo, e la verificheremo con due strumenti indipendenti:</a:t>
            </a:r>
          </a:p>
          <a:p>
            <a:r>
              <a:t>lo shuffle test e il CLIPScore. Partiamo dalle tre architetture.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traccia chiede tre metodi "concettualmente quanto più diversi possibile". Li abbiamo scelti in</a:t>
            </a:r>
          </a:p>
          <a:p>
            <a:r>
              <a:t>modo da isolare i tre assi principali di variazione nel captioning.</a:t>
            </a:r>
          </a:p>
          <a:p>
            <a:r>
              <a:t>m1 è il classico: un encoder convoluzionale, ResNet-50, con un decoder LSTM addestrato da zero.</a:t>
            </a:r>
          </a:p>
          <a:p>
            <a:r>
              <a:t>m3 cambia l'encoder: un Vision Transformer, ViT-B/16, con un decoder Transformer sempre da zero.</a:t>
            </a:r>
          </a:p>
          <a:p>
            <a:r>
              <a:t>m6 cambia il decoder: stesso ViT, ma il decoder è GePpeTto, un GPT-2 italiano già pre-addestrato.</a:t>
            </a:r>
          </a:p>
          <a:p>
            <a:r>
              <a:t>La bellezza di questo disegno sta negli assi, in basso. Confrontare m1 con m3 isola l'effetto</a:t>
            </a:r>
          </a:p>
          <a:p>
            <a:r>
              <a:t>dell'encoder, perché il decoder resta lo stesso tipo "da zero". Confrontare m3 con m6 isola</a:t>
            </a:r>
          </a:p>
          <a:p>
            <a:r>
              <a:t>l'effetto del decoder, perché l'encoder è identico. È un piccolo esperimento controllato.</a:t>
            </a:r>
          </a:p>
          <a:p>
            <a:r>
              <a:t>Una scelta cruciale per l'equità: tutti gli encoder sono congelati. Addestriamo solo il decoder e</a:t>
            </a:r>
          </a:p>
          <a:p>
            <a:r>
              <a:t>la proiezione di cross-attention. Così ogni decoder riceve esattamente le stesse feature visive, e</a:t>
            </a:r>
          </a:p>
          <a:p>
            <a:r>
              <a:t>le differenze che osserveremo sono attribuibili all'architettura, non a un encoder fortunato.</a:t>
            </a:r>
          </a:p>
          <a:p>
            <a:r>
              <a:t>Questo, vedremo, è anche il principale limite — e la principale indicazione per il futuro.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setup sperimentale, in breve. Tutto l'addestramento è avvenuto sul tier GPU gratuito di Kaggle,</a:t>
            </a:r>
          </a:p>
          <a:p>
            <a:r>
              <a:t>con T4 o P100. Gli iperparametri nella tabella sono default ragionevoli per ciascuna architettura,</a:t>
            </a:r>
          </a:p>
          <a:p>
            <a:r>
              <a:t>non il frutto di una ricerca esaustiva: m1 più epoche e learning rate più alto, m6 poche epoche e</a:t>
            </a:r>
          </a:p>
          <a:p>
            <a:r>
              <a:t>learning rate piccolo, com'è naturale per un modello pre-addestrato che va solo rifinito.</a:t>
            </a:r>
          </a:p>
          <a:p>
            <a:r>
              <a:t>Due scelte garantiscono un confronto onesto. Primo, lo split è sample-disjoint: lo stesso formaggio</a:t>
            </a:r>
          </a:p>
          <a:p>
            <a:r>
              <a:t>non compare mai sia in training sia in test, così evitiamo il leak. Secondo, in inferenza usiamo</a:t>
            </a:r>
          </a:p>
          <a:p>
            <a:r>
              <a:t>nucleus sampling invece del beam search, perché su dataset piccoli il beam collassa sulla caption</a:t>
            </a:r>
          </a:p>
          <a:p>
            <a:r>
              <a:t>più frequente, gonfiando artificialmente il BLEU ma riducendo la diversità.</a:t>
            </a:r>
          </a:p>
          <a:p>
            <a:r>
              <a:t>Le curve di addestramento sono sane su tutti e tre i modelli — nessun overfitting, nessun NaN,</a:t>
            </a:r>
          </a:p>
          <a:p>
            <a:r>
              <a:t>nessun collasso — quindi le differenze nei risultati non sono dovute a patologie di training.</a:t>
            </a:r>
          </a:p>
          <a:p>
            <a:r>
              <a:t>A destra, una lezione Kaggle pagata cara, per chi volesse riprodurre: il flag enable_gpu nei</a:t>
            </a:r>
          </a:p>
          <a:p>
            <a:r>
              <a:t>metadati non basta, e la PyTorch preinstallata sulle P100 va reinstallata. Dettagli, ma di quelli</a:t>
            </a:r>
          </a:p>
          <a:p>
            <a:r>
              <a:t>che fanno perdere un pomeriggio.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Vediamo i primi risultati, in regime per-attributo: sette modelli separati, uno per dimensione</a:t>
            </a:r>
          </a:p>
          <a:p>
            <a:r>
              <a:t>sensoriale. Il grafico mostra il BLEU-4 per attributo, confrontato con la baseline most_frequent —</a:t>
            </a:r>
          </a:p>
          <a:p>
            <a:r>
              <a:t>quella che emette sempre la caption più frequente.</a:t>
            </a:r>
          </a:p>
          <a:p>
            <a:r>
              <a:t>Il quadro è netto e a due facce. I modelli addestrati battono chiaramente la baseline costante su</a:t>
            </a:r>
          </a:p>
          <a:p>
            <a:r>
              <a:t>quattro attributi: struttura della pasta, con un margine notevole di oltre 0,12 punti, e poi</a:t>
            </a:r>
          </a:p>
          <a:p>
            <a:r>
              <a:t>profumo, texture e colore. Su altri tre — aroma, sapore e spessore — pareggiano o perdono.</a:t>
            </a:r>
          </a:p>
          <a:p>
            <a:r>
              <a:t>Attenzione a non leggere male questo "perdono". Non significa che i modelli siano scarsi su quegli</a:t>
            </a:r>
          </a:p>
          <a:p>
            <a:r>
              <a:t>attributi. Significa che lì le caption di riferimento sono poco diverse tra loro, molto</a:t>
            </a:r>
          </a:p>
          <a:p>
            <a:r>
              <a:t>template-heavy, e in quelle condizioni BLEU premia chi predice sempre la maggioranza. È un difetto</a:t>
            </a:r>
          </a:p>
          <a:p>
            <a:r>
              <a:t>della metrica, non del modello — e lo dimostreremo tra poco con lo shuffle test, che su spessore</a:t>
            </a:r>
          </a:p>
          <a:p>
            <a:r>
              <a:t>conferma che m3 e m6 usano davvero l'immagine.</a:t>
            </a:r>
          </a:p>
          <a:p>
            <a:r>
              <a:t>In sintesi: 4 attributi su 7 battono la baseline, e i 3 "persi" sono un artefatto di BLEU.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Passiamo al regime globale: un unico modello addestrato su tutti gli attributi insieme. È un</a:t>
            </a:r>
          </a:p>
          <a:p>
            <a:r>
              <a:t>compito intrinsecamente più difficile, perché il modello deve anche scegliere quale dimensione</a:t>
            </a:r>
          </a:p>
          <a:p>
            <a:r>
              <a:t>sensoriale descrivere, e lavora con un vocabolario molto più ampio.</a:t>
            </a:r>
          </a:p>
          <a:p>
            <a:r>
              <a:t>Il grafico confronta i tre modelli su cinque metriche. Due osservazioni. Primo, m6 — il ViT con</a:t>
            </a:r>
          </a:p>
          <a:p>
            <a:r>
              <a:t>GePpeTto — vince di misura quasi ovunque: è primo su BLEU-1, BLEU-4 e ROUGE-L, e sostanzialmente</a:t>
            </a:r>
          </a:p>
          <a:p>
            <a:r>
              <a:t>alla pari su METEOR; m3 lo supera solo su CIDEr. Secondo, e altrettanto importante, i tre modelli</a:t>
            </a:r>
          </a:p>
          <a:p>
            <a:r>
              <a:t>sono in un cluster strettissimo: lo spread su BLEU-4 è di appena sette millesimi. Sono molto vicini.</a:t>
            </a:r>
          </a:p>
          <a:p>
            <a:r>
              <a:t>Una nota sulla baseline, che non ho messo nel grafico per leggibilità ma è cruciale:</a:t>
            </a:r>
          </a:p>
          <a:p>
            <a:r>
              <a:t>most_frequent, la frase costante, avrebbe il BLEU-1 più alto di tutti ma il BLEU-4 peggiore. È il</a:t>
            </a:r>
          </a:p>
          <a:p>
            <a:r>
              <a:t>comportamento degenere del "predici sempre la maggioranza": indovini molte singole parole, ma non</a:t>
            </a:r>
          </a:p>
          <a:p>
            <a:r>
              <a:t>componi mai una frase corretta di quattro parole consecutive diverse dal template. Tenete a mente</a:t>
            </a:r>
          </a:p>
          <a:p>
            <a:r>
              <a:t>questa anomalia: è il primo indizio che BLEU, da solo, ci sta ingannando.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slide di cautela metodologica, perché è facile trarre la conclusione sbagliata.</a:t>
            </a:r>
          </a:p>
          <a:p>
            <a:r>
              <a:t>Avrete notato che i numeri per-attributo — BLEU-4 da 0,33 a 0,47 — sono molto più alti del BLEU-4</a:t>
            </a:r>
          </a:p>
          <a:p>
            <a:r>
              <a:t>globale, intorno a 0,13. Un salto di tre o quattro volte. La tentazione è dire: "allora i modelli</a:t>
            </a:r>
          </a:p>
          <a:p>
            <a:r>
              <a:t>per-attributo sono molto migliori". Sbagliato.</a:t>
            </a:r>
          </a:p>
          <a:p>
            <a:r>
              <a:t>Quel salto non riflette un apprendimento migliore, ma il fatto che la valutazione per-attributo</a:t>
            </a:r>
          </a:p>
          <a:p>
            <a:r>
              <a:t>gira su una distribuzione molto più stretta. Quando ti concentri su un solo attributo, il</a:t>
            </a:r>
          </a:p>
          <a:p>
            <a:r>
              <a:t>vocabolario collassa da oltre 600 parole a circa 80-140, e lo scaffolding condiviso — "il formaggio</a:t>
            </a:r>
          </a:p>
          <a:p>
            <a:r>
              <a:t>ha un tale attributo di..." — contribuisce da solo cinque parole di 4-gram costante che fanno</a:t>
            </a:r>
          </a:p>
          <a:p>
            <a:r>
              <a:t>volare il BLEU.</a:t>
            </a:r>
          </a:p>
          <a:p>
            <a:r>
              <a:t>Sono due righelli diversi che misurano performance su distribuzioni diverse. Il modello globale è</a:t>
            </a:r>
          </a:p>
          <a:p>
            <a:r>
              <a:t>intrinsecamente più difficile perché deve anche scegliere quale dimensione descrivere. Confrontare</a:t>
            </a:r>
          </a:p>
          <a:p>
            <a:r>
              <a:t>i due numeri come se fossero sulla stessa scala sarebbe un errore — ed è il tipo di sottigliezza</a:t>
            </a:r>
          </a:p>
          <a:p>
            <a:r>
              <a:t>che separa un'analisi onesta da una che si auto-inganna.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Siamo al risultato più importante dell'intero progetto. La domanda è tanto semplice quanto</a:t>
            </a:r>
          </a:p>
          <a:p>
            <a:r>
              <a:t>fondamentale: il modello sta davvero usando l'immagine, o sta solo imitando la distribuzione delle</a:t>
            </a:r>
          </a:p>
          <a:p>
            <a:r>
              <a:t>caption?</a:t>
            </a:r>
          </a:p>
          <a:p>
            <a:r>
              <a:t>Lo strumento è lo shuffle test. L'idea: se un modello è davvero condizionato dall'immagine, la sua</a:t>
            </a:r>
          </a:p>
          <a:p>
            <a:r>
              <a:t>predizione per l'immagine i deve combaciare col riferimento di i meglio di una predizione presa a</a:t>
            </a:r>
          </a:p>
          <a:p>
            <a:r>
              <a:t>caso. Allora mescoliamo le predizioni tra le righe di test, rompendo l'allineamento, ricalcoliamo</a:t>
            </a:r>
          </a:p>
          <a:p>
            <a:r>
              <a:t>la sovrapposizione cento volte per ottenere una distribuzione nulla, e misuriamo lo z-score. Uno</a:t>
            </a:r>
          </a:p>
          <a:p>
            <a:r>
              <a:t>z sopra 3 corrisponde a p sotto lo 0,001: evidenza forte.</a:t>
            </a:r>
          </a:p>
          <a:p>
            <a:r>
              <a:t>Il verdetto, nel grafico, è cristallino. m1, il modello con ResNet, ha z vicino a zero ovunque:</a:t>
            </a:r>
          </a:p>
          <a:p>
            <a:r>
              <a:t>non usa mai l'immagine, è di fatto un puro modello linguistico che indovina dalla distribuzione.</a:t>
            </a:r>
          </a:p>
          <a:p>
            <a:r>
              <a:t>m3 e m6, i modelli con ViT, usano l'immagine chiaramente su quattro attributi su sette: profumo,</a:t>
            </a:r>
          </a:p>
          <a:p>
            <a:r>
              <a:t>spessore, colore e struttura. L'unico dove nessun modello usa l'immagine è l'aroma.</a:t>
            </a:r>
          </a:p>
          <a:p>
            <a:r>
              <a:t>Tenete questo grafico in mente: la prossima slide ne trae la conclusione architetturale.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Mettiamo insieme lo shuffle test con il disegno a due assi della slide delle architetture, e la</a:t>
            </a:r>
          </a:p>
          <a:p>
            <a:r>
              <a:t>conclusione si scrive da sola.</a:t>
            </a:r>
          </a:p>
          <a:p>
            <a:r>
              <a:t>Confronto m1 contro m3, che isola l'encoder: m1 con ResNet non si condiziona mai all'immagine, m3</a:t>
            </a:r>
          </a:p>
          <a:p>
            <a:r>
              <a:t>con ViT lo fa sulla maggior parte degli attributi. Cambiando solo l'encoder, si accende l'uso</a:t>
            </a:r>
          </a:p>
          <a:p>
            <a:r>
              <a:t>dell'immagine. La lettura è che le feature di un ResNet-50 congelato non sono abbastanza</a:t>
            </a:r>
          </a:p>
          <a:p>
            <a:r>
              <a:t>informative a questa scala di dati, mentre quelle di un ViT-B/16 congelato sì.</a:t>
            </a:r>
          </a:p>
          <a:p>
            <a:r>
              <a:t>Confronto m3 contro m6, che isola il decoder: producono output diversi — non danno mai la stessa</a:t>
            </a:r>
          </a:p>
          <a:p>
            <a:r>
              <a:t>caption per la stessa immagine — eppure hanno esattamente lo stesso profilo di image-conditioning.</a:t>
            </a:r>
          </a:p>
          <a:p>
            <a:r>
              <a:t>Gli stessi attributi riescono, gli stessi falliscono. Cambiare il decoder cambia lo stile della</a:t>
            </a:r>
          </a:p>
          <a:p>
            <a:r>
              <a:t>frase, non il fatto che l'immagine venga usata.</a:t>
            </a:r>
          </a:p>
          <a:p>
            <a:r>
              <a:t>La sintesi è in fondo: il cancello binario dell'image-conditioning, su questo dataset, è l'encoder</a:t>
            </a:r>
          </a:p>
          <a:p>
            <a:r>
              <a:t>visivo. Non il decoder, non la quantità di dati, non gli iperparametri. È un risultato pulito, e ci</a:t>
            </a:r>
          </a:p>
          <a:p>
            <a:r>
              <a:t>dice anche dove intervenire in futuro: sull'encoder. Ora rafforziamo questa conclusione con le</a:t>
            </a:r>
          </a:p>
          <a:p>
            <a:r>
              <a:t>metriche complementari.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Abbiamo visto che BLEU, da solo, inganna: premia la ripetizione del template e non guarda mai</a:t>
            </a:r>
          </a:p>
          <a:p>
            <a:r>
              <a:t>l'immagine. Per leggere i modelli con più onestà abbiamo affiancato a BLEU sei metriche</a:t>
            </a:r>
          </a:p>
          <a:p>
            <a:r>
              <a:t>complementari, raggruppabili in tre famiglie.</a:t>
            </a:r>
          </a:p>
          <a:p>
            <a:r>
              <a:t>Le metriche di testo confrontano la predizione col riferimento testuale: oltre a BLEU, METEOR — che</a:t>
            </a:r>
          </a:p>
          <a:p>
            <a:r>
              <a:t>è più indulgente perché allinea con stemming e sinonimi — ROUGE-L, che premia l'ordine delle</a:t>
            </a:r>
          </a:p>
          <a:p>
            <a:r>
              <a:t>parole, e CIDEr, pensata apposta per il captioning, che pesa gli n-gram con TF-IDF e quindi premia</a:t>
            </a:r>
          </a:p>
          <a:p>
            <a:r>
              <a:t>i termini sensoriali rari e informativi come "occhiatura" invece delle parole comuni.</a:t>
            </a:r>
          </a:p>
          <a:p>
            <a:r>
              <a:t>Poi una metrica semantica, BERTScore, che misura la similarità di significato via embedding. Una</a:t>
            </a:r>
          </a:p>
          <a:p>
            <a:r>
              <a:t>metrica di dominio, la conformità al vocabolario, che chiede: il modello "parla formaggio" col</a:t>
            </a:r>
          </a:p>
          <a:p>
            <a:r>
              <a:t>registro certificato?</a:t>
            </a:r>
          </a:p>
          <a:p>
            <a:r>
              <a:t>E infine, evidenziata in basso, la più importante per il captioning: CLIPScore, l'unica che guarda</a:t>
            </a:r>
          </a:p>
          <a:p>
            <a:r>
              <a:t>davvero l'immagine. Confronta la caption con la fetta nello spazio CLIP, ignorando il riferimento</a:t>
            </a:r>
          </a:p>
          <a:p>
            <a:r>
              <a:t>del panel. Le prossime due slide mostrano cosa aggiungono CIDEr e CLIPScore.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Cominciamo da CIDEr, che è la metrica pensata apposta per il captioning. A differenza di BLEU, che</a:t>
            </a:r>
          </a:p>
          <a:p>
            <a:r>
              <a:t>appiattiva i modelli su valori vicini, CIDEr pesa i termini rari con TF-IDF e quindi li separa.</a:t>
            </a:r>
          </a:p>
          <a:p>
            <a:r>
              <a:t>Guardate l'ordinamento nel grafico, sulle medie dei sette attributi: random 0,23, poi freq_weighted</a:t>
            </a:r>
          </a:p>
          <a:p>
            <a:r>
              <a:t>0,37, poi i modelli addestrati che salgono nettamente — m1 a 0,59, m3 a 0,65, m6 a 0,70. CIDEr</a:t>
            </a:r>
          </a:p>
          <a:p>
            <a:r>
              <a:t>ordina correttamente i modelli, e conferma che m6 è il migliore. È esattamente l'informazione che</a:t>
            </a:r>
          </a:p>
          <a:p>
            <a:r>
              <a:t>BLEU non riusciva a darci: una graduatoria pulita.</a:t>
            </a:r>
          </a:p>
          <a:p>
            <a:r>
              <a:t>C'è una sola colonna più alta di tutte, in oro: most_frequent, a 0,79. Non lasciatevi ingannare:</a:t>
            </a:r>
          </a:p>
          <a:p>
            <a:r>
              <a:t>la baseline costante è in testa solo perché, su questo dataset, il riferimento del panel è spesso</a:t>
            </a:r>
          </a:p>
          <a:p>
            <a:r>
              <a:t>proprio la frase frequente. È un artefatto del riferimento singolo, non qualità reale. Su un caso</a:t>
            </a:r>
          </a:p>
          <a:p>
            <a:r>
              <a:t>estremo come lo spessore della crosta, dove BLEU dava 0,39 per tutti, CIDEr va da 1,04 a 2,29: un</a:t>
            </a:r>
          </a:p>
          <a:p>
            <a:r>
              <a:t>ordinamento ricchissimo che BLEU semplicemente non vedeva.</a:t>
            </a:r>
          </a:p>
          <a:p>
            <a:r>
              <a:t>Conclusione: CIDEr aggiunge informazione vera e separa i modelli addestrati dal rumore.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 CLIPScore, l'unica metrica che guarda l'immagine, e la conferma indipendente dello shuffle</a:t>
            </a:r>
          </a:p>
          <a:p>
            <a:r>
              <a:t>test. Due grafici, due messaggi.</a:t>
            </a:r>
          </a:p>
          <a:p>
            <a:r>
              <a:t>A sinistra, CLIPScore medio per modello. Notate l'asse: ho zoomato volutamente, e nonostante lo</a:t>
            </a:r>
          </a:p>
          <a:p>
            <a:r>
              <a:t>zoom le colonne sono praticamente identiche. I modelli addestrati m1, m3, m6 non superano la</a:t>
            </a:r>
          </a:p>
          <a:p>
            <a:r>
              <a:t>baseline costante most_frequent — quella che spara sempre la stessa frase ignorando l'immagine. Lo</a:t>
            </a:r>
          </a:p>
          <a:p>
            <a:r>
              <a:t>scarto è sotto lo 0,004, dentro il rumore. È la conferma quantitativa e indipendente di ciò che lo</a:t>
            </a:r>
          </a:p>
          <a:p>
            <a:r>
              <a:t>shuffle test ci aveva già detto: con l'encoder congelato, i modelli non àncorano la caption ai</a:t>
            </a:r>
          </a:p>
          <a:p>
            <a:r>
              <a:t>contenuti visivi, fanno language modeling sulla distribuzione delle caption.</a:t>
            </a:r>
          </a:p>
          <a:p>
            <a:r>
              <a:t>A destra, la variazione vera: è per attributo, non per modello. CLIP "vede" che texture, colore e</a:t>
            </a:r>
          </a:p>
          <a:p>
            <a:r>
              <a:t>struttura — gli attributi visivi — ottengono punteggi più alti, mentre aroma, sapore e profumo</a:t>
            </a:r>
          </a:p>
          <a:p>
            <a:r>
              <a:t>restano bassi per chiunque, perché nessuna immagine può rivelare un sapore. È un controllo di</a:t>
            </a:r>
          </a:p>
          <a:p>
            <a:r>
              <a:t>sanità che valida la metrica. E ricordate l'eccezione: lo spessore della crosta è visibile ma</a:t>
            </a:r>
          </a:p>
          <a:p>
            <a:r>
              <a:t>basso, perché la crosta è una porzione piccola della fetta e CLIP la pesa poco. Tutto torna.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Questa slide è la morale metodologica di tutta la valutazione, condensata in un'immagine.</a:t>
            </a:r>
          </a:p>
          <a:p>
            <a:r>
              <a:t>Guardate la stessa coppia di modelli — la baseline costante most_frequent contro m6 — vista da due</a:t>
            </a:r>
          </a:p>
          <a:p>
            <a:r>
              <a:t>metriche diverse. A sinistra, con BLEU-1, la caption costante vince: emette sempre la stessa frase</a:t>
            </a:r>
          </a:p>
          <a:p>
            <a:r>
              <a:t>e combacia sul prefisso. A destra, con CLIPScore, i due sono praticamente indistinguibili.</a:t>
            </a:r>
          </a:p>
          <a:p>
            <a:r>
              <a:t>Stesso identico confronto, due verdetti opposti. Questo dimostra plasticamente che una metrica, da</a:t>
            </a:r>
          </a:p>
          <a:p>
            <a:r>
              <a:t>sola, può mentire. Se avessimo guardato solo BLEU-1, avremmo concluso che una frase costante batte</a:t>
            </a:r>
          </a:p>
          <a:p>
            <a:r>
              <a:t>un modello addestrato — una conclusione assurda. È esattamente per questo che abbiamo costruito una</a:t>
            </a:r>
          </a:p>
          <a:p>
            <a:r>
              <a:t>batteria di metriche e le leggiamo insieme: BLEU per la fraseologia, CIDEr per i termini salienti,</a:t>
            </a:r>
          </a:p>
          <a:p>
            <a:r>
              <a:t>BERTScore per il significato, e CLIPScore per l'ancoraggio all'immagine.</a:t>
            </a:r>
          </a:p>
          <a:p>
            <a:r>
              <a:t>BERTScore, per completezza, qui è poco discriminante: tutti i valori stanno tra 0,83 e 0,92, perché</a:t>
            </a:r>
          </a:p>
          <a:p>
            <a:r>
              <a:t>tutte le frasi parlano di formaggio con la stessa struttura. È utile come sanity check, non per il</a:t>
            </a:r>
          </a:p>
          <a:p>
            <a:r>
              <a:t>ranking. La lezione resta: mai fidarsi di una sola metrica.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numeri raccontano metà della storia; le caption generate raccontano l'altra metà. Qui vedete</a:t>
            </a:r>
          </a:p>
          <a:p>
            <a:r>
              <a:t>predizioni reali di m6 affiancate al riferimento del panel, su campioni del test set.</a:t>
            </a:r>
          </a:p>
          <a:p>
            <a:r>
              <a:t>A volte è un match esatto: sull'aroma di panna, predizione e riferimento coincidono parola per</a:t>
            </a:r>
          </a:p>
          <a:p>
            <a:r>
              <a:t>parola. Sullo spessore, "la crosta è mediamente spessa", di nuovo perfetto. Ma guardate gli altri</a:t>
            </a:r>
          </a:p>
          <a:p>
            <a:r>
              <a:t>casi: sul sapore il modello dice "leggermente salato e piccante" dove il panel diceva solo "salato";</a:t>
            </a:r>
          </a:p>
          <a:p>
            <a:r>
              <a:t>sulla struttura propone "frattura irregolare e grana fine" mentre il riferimento parla di pasta</a:t>
            </a:r>
          </a:p>
          <a:p>
            <a:r>
              <a:t>stirata.</a:t>
            </a:r>
          </a:p>
          <a:p>
            <a:r>
              <a:t>Da questi esempi emergono quattro pattern, riassunti in basso. Primo: lo scaffolding, "il formaggio</a:t>
            </a:r>
          </a:p>
          <a:p>
            <a:r>
              <a:t>ha un...", è sempre corretto e da solo vale circa metà del BLEU-4 — ecco perché i numeri non sono</a:t>
            </a:r>
          </a:p>
          <a:p>
            <a:r>
              <a:t>bassissimi. Secondo: la lingua è fluente e grammaticale, merito del modello pre-addestrato. Terzo,</a:t>
            </a:r>
          </a:p>
          <a:p>
            <a:r>
              <a:t>e più rivelatore: il descrittore è spesso plausibile ma riferito a un altro formaggio — esattamente</a:t>
            </a:r>
          </a:p>
          <a:p>
            <a:r>
              <a:t>ciò che ci aspettiamo da un modello solo parzialmente condizionato dall'immagine. Quarto: la</a:t>
            </a:r>
          </a:p>
          <a:p>
            <a:r>
              <a:t>variabilità tra degustatori è enorme e pone un tetto a ciò che qualsiasi modello può ottenere con un</a:t>
            </a:r>
          </a:p>
          <a:p>
            <a:r>
              <a:t>BLEU a riferimento singolo.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Tiriamo le fila. Il progetto consegna due risultati e una promessa per il futuro.</a:t>
            </a:r>
          </a:p>
          <a:p>
            <a:r>
              <a:t>Il risultato scientifico è il più solido: su questo dataset, il determinante dell'uso dell'immagine</a:t>
            </a:r>
          </a:p>
          <a:p>
            <a:r>
              <a:t>è l'encoder visivo. ResNet ignora l'immagine su tutti e sette gli attributi, ViT la usa su quattro</a:t>
            </a:r>
          </a:p>
          <a:p>
            <a:r>
              <a:t>su sette, indipendentemente dal decoder, dalla scala dei dati e dagli iperparametri. E non è</a:t>
            </a:r>
          </a:p>
          <a:p>
            <a:r>
              <a:t>un'affermazione isolata: due strumenti indipendenti — lo shuffle test e il CLIPScore — convergono</a:t>
            </a:r>
          </a:p>
          <a:p>
            <a:r>
              <a:t>sulla stessa conclusione.</a:t>
            </a:r>
          </a:p>
          <a:p>
            <a:r>
              <a:t>Il risultato pratico: i modelli addestrati battono la baseline costante su quattro attributi su</a:t>
            </a:r>
          </a:p>
          <a:p>
            <a:r>
              <a:t>sette, col massimo sulla struttura. m6, il ViT con GePpeTto, vince di misura quasi ovunque. E tutto</a:t>
            </a:r>
          </a:p>
          <a:p>
            <a:r>
              <a:t>questo poggia su un dataset di 38 mila coppie costruito con appena 5 dollari e 60 di costo LLM.</a:t>
            </a:r>
          </a:p>
          <a:p>
            <a:r>
              <a:t>I lavori futuri seguono direttamente dalla diagnosi: poiché il collo di bottiglia è l'encoder</a:t>
            </a:r>
          </a:p>
          <a:p>
            <a:r>
              <a:t>congelato, il prossimo esperimento naturale è il fine-tuning dell'encoder e la ri-misura del</a:t>
            </a:r>
          </a:p>
          <a:p>
            <a:r>
              <a:t>CLIPScore. Se i modelli inizieranno a staccarsi dalla baseline costante, avremo la prova diretta</a:t>
            </a:r>
          </a:p>
          <a:p>
            <a:r>
              <a:t>che l'immagine viene finalmente sfruttata.</a:t>
            </a:r>
          </a:p>
          <a:p>
            <a:r>
              <a:t>Chiudo con un framing onesto: nessuno di questi modelli sostituirebbe oggi un degustatore. Hanno</a:t>
            </a:r>
          </a:p>
          <a:p>
            <a:r>
              <a:t>imparato il vocabolario sensoriale e una mappa parziale dall'immagine al descrittore — un risultato</a:t>
            </a:r>
          </a:p>
          <a:p>
            <a:r>
              <a:t>coerente con la scala dei dati e col rumore intrinseco dell'annotazione multi-degustatore. Ma la</a:t>
            </a:r>
          </a:p>
          <a:p>
            <a:r>
              <a:t>strada è tracciata, e sappiamo esattamente dove intervenire.</a:t>
            </a:r>
          </a:p>
          <a:p>
            <a:r>
              <a:t>Grazie per l'attenzione. Sono a disposizione per le domande.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3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ese_fetta_1_s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175004"/>
            <a:ext cx="4507992" cy="45079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0" y="0"/>
            <a:ext cx="1280160" cy="6858000"/>
          </a:xfrm>
          <a:prstGeom prst="rect">
            <a:avLst/>
          </a:prstGeom>
          <a:solidFill>
            <a:srgbClr val="1B334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685800"/>
            <a:ext cx="457200" cy="457200"/>
          </a:xfrm>
          <a:prstGeom prst="ellipse">
            <a:avLst/>
          </a:prstGeom>
          <a:solidFill>
            <a:srgbClr val="E0A45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38478" y="1154430"/>
            <a:ext cx="251460" cy="251460"/>
          </a:xfrm>
          <a:prstGeom prst="ellipse">
            <a:avLst/>
          </a:prstGeom>
          <a:solidFill>
            <a:srgbClr val="E0A45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0907" y="1323593"/>
            <a:ext cx="205740" cy="205740"/>
          </a:xfrm>
          <a:prstGeom prst="ellipse">
            <a:avLst/>
          </a:prstGeom>
          <a:solidFill>
            <a:srgbClr val="E0A45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7300" y="214884"/>
            <a:ext cx="228600" cy="228600"/>
          </a:xfrm>
          <a:prstGeom prst="ellipse">
            <a:avLst/>
          </a:prstGeom>
          <a:solidFill>
            <a:srgbClr val="E0A45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2" y="530352"/>
            <a:ext cx="182880" cy="182880"/>
          </a:xfrm>
          <a:prstGeom prst="ellipse">
            <a:avLst/>
          </a:prstGeom>
          <a:solidFill>
            <a:srgbClr val="E0A45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6766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400" b="1" i="0" spc="300">
                <a:solidFill>
                  <a:srgbClr val="E0A458"/>
                </a:solidFill>
                <a:latin typeface="Calibri"/>
              </a:rPr>
              <a:t>AI4FQC · PROJECT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694944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4400" b="1" i="0">
                <a:solidFill>
                  <a:srgbClr val="F7F1E3"/>
                </a:solidFill>
                <a:latin typeface="Georgia"/>
              </a:rPr>
              <a:t>Captioning sensoriale</a:t>
            </a:r>
          </a:p>
          <a:p>
            <a:r>
              <a:rPr sz="4400" b="1" i="0">
                <a:solidFill>
                  <a:srgbClr val="E0A458"/>
                </a:solidFill>
                <a:latin typeface="Georgia"/>
              </a:rPr>
              <a:t>del formaggio Trentingrana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97680"/>
            <a:ext cx="6400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700" b="0" i="1">
                <a:solidFill>
                  <a:srgbClr val="D9D2C2"/>
                </a:solidFill>
                <a:latin typeface="Calibri"/>
              </a:rPr>
              <a:t>Dalla costruzione del dataset al confronto di tre metodi encoder–decoder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5074920"/>
            <a:ext cx="18288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03520"/>
            <a:ext cx="6400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300" b="0" i="0">
                <a:solidFill>
                  <a:srgbClr val="C9C2B2"/>
                </a:solidFill>
                <a:latin typeface="Calibri"/>
              </a:rPr>
              <a:t>Relazione tecnica  ·  </a:t>
            </a:r>
            <a:r>
              <a:rPr sz="1300" b="1" i="0">
                <a:solidFill>
                  <a:srgbClr val="F7F1E3"/>
                </a:solidFill>
                <a:latin typeface="Calibri"/>
              </a:rPr>
              <a:t>38.437 coppie immagine–caption  ·  3 modelli  ·  7 attributi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IL CONTESTO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Perché un'AI che descrive il formaggio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943600" cy="155448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82296" cy="155448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66544"/>
            <a:ext cx="5522976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Controllo qualità sensoriale</a:t>
            </a:r>
          </a:p>
          <a:p>
            <a:r>
              <a:rPr sz="1250" b="0" i="0">
                <a:solidFill>
                  <a:srgbClr val="2B2A26"/>
                </a:solidFill>
                <a:latin typeface="Calibri"/>
              </a:rPr>
              <a:t>Ogni forma di grana è valutata da un panel di degustatori esperti. È un lavoro prezioso ma lento, soggettivo e difficile da scalare su migliaia di forme.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11880"/>
            <a:ext cx="5943600" cy="178308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611880"/>
            <a:ext cx="82296" cy="178308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758184"/>
            <a:ext cx="5522976" cy="1508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L'idea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50" b="1" i="0">
                <a:solidFill>
                  <a:srgbClr val="2B2A26"/>
                </a:solidFill>
                <a:latin typeface="Calibri"/>
              </a:rPr>
              <a:t>Input: </a:t>
            </a:r>
            <a:r>
              <a:rPr sz="1250" b="0" i="0">
                <a:solidFill>
                  <a:srgbClr val="2B2A26"/>
                </a:solidFill>
                <a:latin typeface="Calibri"/>
              </a:rPr>
              <a:t>immagini IRIS di sezioni di forma (illuminazione controllata)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50" b="1" i="0">
                <a:solidFill>
                  <a:srgbClr val="2B2A26"/>
                </a:solidFill>
                <a:latin typeface="Calibri"/>
              </a:rPr>
              <a:t>Output: </a:t>
            </a:r>
            <a:r>
              <a:rPr sz="1250" b="0" i="0">
                <a:solidFill>
                  <a:srgbClr val="2B2A26"/>
                </a:solidFill>
                <a:latin typeface="Calibri"/>
              </a:rPr>
              <a:t>descrizione sensoriale in italiano, per attributo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50" b="1" i="0">
                <a:solidFill>
                  <a:srgbClr val="2B2A26"/>
                </a:solidFill>
                <a:latin typeface="Calibri"/>
              </a:rPr>
              <a:t>Valore: </a:t>
            </a:r>
            <a:r>
              <a:rPr sz="1250" b="0" i="0">
                <a:solidFill>
                  <a:srgbClr val="2B2A26"/>
                </a:solidFill>
                <a:latin typeface="Calibri"/>
              </a:rPr>
              <a:t>supporto oggettivo e riproducibile al panel umano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1874520"/>
            <a:ext cx="4846320" cy="3566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heese_grana_1_s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993392"/>
            <a:ext cx="3108960" cy="3108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03720" y="5120640"/>
            <a:ext cx="4663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i="1">
                <a:solidFill>
                  <a:srgbClr val="8A8A84"/>
                </a:solidFill>
                <a:latin typeface="Calibri"/>
              </a:rPr>
              <a:t>Primo piano della grana — analizzatore visivo IRIS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L'OGGETTO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Sette attributi sensoriali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350" b="0" i="0">
                <a:solidFill>
                  <a:srgbClr val="2B2A26"/>
                </a:solidFill>
                <a:latin typeface="Calibri"/>
              </a:rPr>
              <a:t>Per ogni forma, il panel descrive sette dimensioni. Tre sono visibili nell'immagine, quattro no — distinzione che tornerà nei risultati.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2670048" cy="14173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2670048" cy="109728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52928" y="2898648"/>
            <a:ext cx="256032" cy="256032"/>
          </a:xfrm>
          <a:prstGeom prst="ellipse">
            <a:avLst/>
          </a:prstGeom>
          <a:solidFill>
            <a:srgbClr val="5B8C5A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862072"/>
            <a:ext cx="2304288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Colore della Pasta</a:t>
            </a:r>
          </a:p>
          <a:p>
            <a:pPr>
              <a:spcBef>
                <a:spcPts val="400"/>
              </a:spcBef>
            </a:pPr>
            <a:r>
              <a:rPr sz="1100" b="1" i="0" spc="150">
                <a:solidFill>
                  <a:srgbClr val="5B8C5A"/>
                </a:solidFill>
                <a:latin typeface="Calibri"/>
              </a:rPr>
              <a:t>VISIVO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606040"/>
            <a:ext cx="2670048" cy="14173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2606040"/>
            <a:ext cx="2670048" cy="109728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87568" y="2898648"/>
            <a:ext cx="256032" cy="256032"/>
          </a:xfrm>
          <a:prstGeom prst="ellipse">
            <a:avLst/>
          </a:prstGeom>
          <a:solidFill>
            <a:srgbClr val="5B8C5A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2862072"/>
            <a:ext cx="2304288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Texture</a:t>
            </a:r>
          </a:p>
          <a:p>
            <a:pPr>
              <a:spcBef>
                <a:spcPts val="400"/>
              </a:spcBef>
            </a:pPr>
            <a:r>
              <a:rPr sz="1100" b="1" i="0" spc="150">
                <a:solidFill>
                  <a:srgbClr val="5B8C5A"/>
                </a:solidFill>
                <a:latin typeface="Calibri"/>
              </a:rPr>
              <a:t>VISIVO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606040"/>
            <a:ext cx="2670048" cy="14173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606040"/>
            <a:ext cx="2670048" cy="109728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22208" y="2898648"/>
            <a:ext cx="256032" cy="256032"/>
          </a:xfrm>
          <a:prstGeom prst="ellipse">
            <a:avLst/>
          </a:prstGeom>
          <a:solidFill>
            <a:srgbClr val="5B8C5A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862072"/>
            <a:ext cx="2304288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Struttura della Pasta</a:t>
            </a:r>
          </a:p>
          <a:p>
            <a:pPr>
              <a:spcBef>
                <a:spcPts val="400"/>
              </a:spcBef>
            </a:pPr>
            <a:r>
              <a:rPr sz="1100" b="1" i="0" spc="150">
                <a:solidFill>
                  <a:srgbClr val="5B8C5A"/>
                </a:solidFill>
                <a:latin typeface="Calibri"/>
              </a:rPr>
              <a:t>VISIVO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606040"/>
            <a:ext cx="2670048" cy="14173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2606040"/>
            <a:ext cx="2670048" cy="109728"/>
          </a:xfrm>
          <a:prstGeom prst="rect">
            <a:avLst/>
          </a:prstGeom>
          <a:solidFill>
            <a:srgbClr val="C88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56848" y="2898648"/>
            <a:ext cx="256032" cy="256032"/>
          </a:xfrm>
          <a:prstGeom prst="ellipse">
            <a:avLst/>
          </a:prstGeom>
          <a:solidFill>
            <a:srgbClr val="C88836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862072"/>
            <a:ext cx="2304288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Spessore della Crosta</a:t>
            </a:r>
          </a:p>
          <a:p>
            <a:pPr>
              <a:spcBef>
                <a:spcPts val="400"/>
              </a:spcBef>
            </a:pPr>
            <a:r>
              <a:rPr sz="1100" b="1" i="0" spc="150">
                <a:solidFill>
                  <a:srgbClr val="C88836"/>
                </a:solidFill>
                <a:latin typeface="Calibri"/>
              </a:rPr>
              <a:t>VISIVO*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51960"/>
            <a:ext cx="2670048" cy="14173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251960"/>
            <a:ext cx="2670048" cy="10972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852928" y="4544568"/>
            <a:ext cx="256032" cy="256032"/>
          </a:xfrm>
          <a:prstGeom prst="ellipse">
            <a:avLst/>
          </a:prstGeom>
          <a:solidFill>
            <a:srgbClr val="2C5F8A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507992"/>
            <a:ext cx="2304288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Profumo</a:t>
            </a:r>
          </a:p>
          <a:p>
            <a:pPr>
              <a:spcBef>
                <a:spcPts val="400"/>
              </a:spcBef>
            </a:pPr>
            <a:r>
              <a:rPr sz="1100" b="1" i="0" spc="150">
                <a:solidFill>
                  <a:srgbClr val="2C5F8A"/>
                </a:solidFill>
                <a:latin typeface="Calibri"/>
              </a:rPr>
              <a:t>OLFATTO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4251960"/>
            <a:ext cx="2670048" cy="14173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0" y="4251960"/>
            <a:ext cx="2670048" cy="10972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87568" y="4544568"/>
            <a:ext cx="256032" cy="256032"/>
          </a:xfrm>
          <a:prstGeom prst="ellipse">
            <a:avLst/>
          </a:prstGeom>
          <a:solidFill>
            <a:srgbClr val="2C5F8A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75888" y="4507992"/>
            <a:ext cx="2304288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Aroma</a:t>
            </a:r>
          </a:p>
          <a:p>
            <a:pPr>
              <a:spcBef>
                <a:spcPts val="400"/>
              </a:spcBef>
            </a:pPr>
            <a:r>
              <a:rPr sz="1100" b="1" i="0" spc="150">
                <a:solidFill>
                  <a:srgbClr val="2C5F8A"/>
                </a:solidFill>
                <a:latin typeface="Calibri"/>
              </a:rPr>
              <a:t>OLFATTO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251960"/>
            <a:ext cx="2670048" cy="14173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251960"/>
            <a:ext cx="2670048" cy="109728"/>
          </a:xfrm>
          <a:prstGeom prst="rect">
            <a:avLst/>
          </a:prstGeom>
          <a:solidFill>
            <a:srgbClr val="C14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22208" y="4544568"/>
            <a:ext cx="256032" cy="256032"/>
          </a:xfrm>
          <a:prstGeom prst="ellipse">
            <a:avLst/>
          </a:prstGeom>
          <a:solidFill>
            <a:srgbClr val="C1492E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4507992"/>
            <a:ext cx="2304288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Sapore</a:t>
            </a:r>
          </a:p>
          <a:p>
            <a:pPr>
              <a:spcBef>
                <a:spcPts val="400"/>
              </a:spcBef>
            </a:pPr>
            <a:r>
              <a:rPr sz="1100" b="1" i="0" spc="150">
                <a:solidFill>
                  <a:srgbClr val="C1492E"/>
                </a:solidFill>
                <a:latin typeface="Calibri"/>
              </a:rPr>
              <a:t>GUSTO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4251960"/>
            <a:ext cx="2670048" cy="1417320"/>
          </a:xfrm>
          <a:prstGeom prst="roundRect">
            <a:avLst/>
          </a:prstGeom>
          <a:solidFill>
            <a:srgbClr val="1B334A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45168" y="4434840"/>
            <a:ext cx="2304288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00" b="1" i="0">
                <a:solidFill>
                  <a:srgbClr val="E0A458"/>
                </a:solidFill>
                <a:latin typeface="Calibri"/>
              </a:rPr>
              <a:t>* visibile ma piccolo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F7F1E3"/>
                </a:solidFill>
                <a:latin typeface="Calibri"/>
              </a:rPr>
              <a:t>La crosta occupa poca area: CLIP la pesa poco.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LA TRACCIA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Due passi, un obiettivo di confronto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5394960" cy="338328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82296" cy="338328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57984"/>
            <a:ext cx="4974336" cy="3108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650" b="1" i="0">
                <a:solidFill>
                  <a:srgbClr val="1B334A"/>
                </a:solidFill>
                <a:latin typeface="Georgia"/>
              </a:rPr>
              <a:t>Passo 1 · Pre-elaborazione del testo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350" b="1" i="0">
                <a:solidFill>
                  <a:srgbClr val="2B2A26"/>
                </a:solidFill>
                <a:latin typeface="Calibri"/>
              </a:rPr>
              <a:t/>
            </a:r>
            <a:r>
              <a:rPr sz="1350" b="0" i="0">
                <a:solidFill>
                  <a:srgbClr val="2B2A26"/>
                </a:solidFill>
                <a:latin typeface="Calibri"/>
              </a:rPr>
              <a:t>Pulire e normalizzare descrizioni telegrafiche, dialettali, incoerenti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350" b="1" i="0">
                <a:solidFill>
                  <a:srgbClr val="2B2A26"/>
                </a:solidFill>
                <a:latin typeface="Calibri"/>
              </a:rPr>
              <a:t/>
            </a:r>
            <a:r>
              <a:rPr sz="1350" b="0" i="0">
                <a:solidFill>
                  <a:srgbClr val="2B2A26"/>
                </a:solidFill>
                <a:latin typeface="Calibri"/>
              </a:rPr>
              <a:t>Sostituire le misure quantitative (mm/cm) con descrizioni qualitative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350" b="1" i="0">
                <a:solidFill>
                  <a:srgbClr val="2B2A26"/>
                </a:solidFill>
                <a:latin typeface="Calibri"/>
              </a:rPr>
              <a:t/>
            </a:r>
            <a:r>
              <a:rPr sz="1350" b="0" i="0">
                <a:solidFill>
                  <a:srgbClr val="2B2A26"/>
                </a:solidFill>
                <a:latin typeface="Calibri"/>
              </a:rPr>
              <a:t>Produrre caption in forma di frase italiana completa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350" b="1" i="0">
                <a:solidFill>
                  <a:srgbClr val="2B2A26"/>
                </a:solidFill>
                <a:latin typeface="Calibri"/>
              </a:rPr>
              <a:t>≈ 70%</a:t>
            </a:r>
            <a:r>
              <a:rPr sz="1350" b="0" i="0">
                <a:solidFill>
                  <a:srgbClr val="2B2A26"/>
                </a:solidFill>
                <a:latin typeface="Calibri"/>
              </a:rPr>
              <a:t> del lavoro complessivo del progetto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11680"/>
            <a:ext cx="5394960" cy="338328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82296" cy="338328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157984"/>
            <a:ext cx="4974336" cy="3108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650" b="1" i="0">
                <a:solidFill>
                  <a:srgbClr val="1B334A"/>
                </a:solidFill>
                <a:latin typeface="Georgia"/>
              </a:rPr>
              <a:t>Passo 2 · Tre metodi di captioning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350" b="1" i="0">
                <a:solidFill>
                  <a:srgbClr val="2B2A26"/>
                </a:solidFill>
                <a:latin typeface="Calibri"/>
              </a:rPr>
              <a:t/>
            </a:r>
            <a:r>
              <a:rPr sz="1350" b="0" i="0">
                <a:solidFill>
                  <a:srgbClr val="2B2A26"/>
                </a:solidFill>
                <a:latin typeface="Calibri"/>
              </a:rPr>
              <a:t>Applicare tre architetture encoder–decoder «concettualmente diverse»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350" b="1" i="0">
                <a:solidFill>
                  <a:srgbClr val="2B2A26"/>
                </a:solidFill>
                <a:latin typeface="Calibri"/>
              </a:rPr>
              <a:t/>
            </a:r>
            <a:r>
              <a:rPr sz="1350" b="0" i="0">
                <a:solidFill>
                  <a:srgbClr val="2B2A26"/>
                </a:solidFill>
                <a:latin typeface="Calibri"/>
              </a:rPr>
              <a:t>Enfasi sul confronto di metodi, non sul singolo modello «migliore»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350" b="1" i="0">
                <a:solidFill>
                  <a:srgbClr val="2B2A26"/>
                </a:solidFill>
                <a:latin typeface="Calibri"/>
              </a:rPr>
              <a:t/>
            </a:r>
            <a:r>
              <a:rPr sz="1350" b="0" i="0">
                <a:solidFill>
                  <a:srgbClr val="2B2A26"/>
                </a:solidFill>
                <a:latin typeface="Calibri"/>
              </a:rPr>
              <a:t>Valutazione multi-metrica oltre il solo BLEU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350" b="1" i="0">
                <a:solidFill>
                  <a:srgbClr val="2B2A26"/>
                </a:solidFill>
                <a:latin typeface="Calibri"/>
              </a:rPr>
              <a:t>≈ 30%</a:t>
            </a:r>
            <a:r>
              <a:rPr sz="1350" b="0" i="0">
                <a:solidFill>
                  <a:srgbClr val="2B2A26"/>
                </a:solidFill>
                <a:latin typeface="Calibri"/>
              </a:rPr>
              <a:t> del lavoro complessivo del progetto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960120"/>
            <a:ext cx="640080" cy="640080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23626" y="1469898"/>
            <a:ext cx="352044" cy="352044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85199" y="1648205"/>
            <a:ext cx="288036" cy="288036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47020" y="534924"/>
            <a:ext cx="320040" cy="320040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54896" y="859536"/>
            <a:ext cx="256031" cy="256031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5440680"/>
            <a:ext cx="457200" cy="45720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61438" y="5909310"/>
            <a:ext cx="251460" cy="25146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3867" y="6078473"/>
            <a:ext cx="205740" cy="20574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80260" y="4969764"/>
            <a:ext cx="228600" cy="22860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" y="5285232"/>
            <a:ext cx="182880" cy="18288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00584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000" b="1" i="0" spc="400">
                <a:solidFill>
                  <a:srgbClr val="E0A458"/>
                </a:solidFill>
                <a:latin typeface="Calibri"/>
              </a:rPr>
              <a:t>PARTE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80360"/>
            <a:ext cx="1042416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4600" b="1" i="0">
                <a:solidFill>
                  <a:srgbClr val="F7F1E3"/>
                </a:solidFill>
                <a:latin typeface="Georgia"/>
              </a:rPr>
              <a:t>Costruzione del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60520"/>
            <a:ext cx="2194560" cy="508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9601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700" b="0" i="1">
                <a:solidFill>
                  <a:srgbClr val="D9D2C2"/>
                </a:solidFill>
                <a:latin typeface="Calibri"/>
              </a:rPr>
              <a:t>Da 51.988 righe grezze e dialettali a 38.437 coppie immagine–caption pulite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IL PUNTO DI PARTENZA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Dati ricchi, ma disallineati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520440" cy="32461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82296" cy="324612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66544"/>
            <a:ext cx="3099816" cy="297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Cosa avevamo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50" b="1" i="0">
                <a:solidFill>
                  <a:srgbClr val="2B2A26"/>
                </a:solidFill>
                <a:latin typeface="Calibri"/>
              </a:rPr>
              <a:t>2.745</a:t>
            </a:r>
            <a:r>
              <a:rPr sz="1250" b="0" i="0">
                <a:solidFill>
                  <a:srgbClr val="2B2A26"/>
                </a:solidFill>
                <a:latin typeface="Calibri"/>
              </a:rPr>
              <a:t> foto BMP di sezioni (Fetta / Grana)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50" b="1" i="0">
                <a:solidFill>
                  <a:srgbClr val="2B2A26"/>
                </a:solidFill>
                <a:latin typeface="Calibri"/>
              </a:rPr>
              <a:t>4</a:t>
            </a:r>
            <a:r>
              <a:rPr sz="1250" b="0" i="0">
                <a:solidFill>
                  <a:srgbClr val="2B2A26"/>
                </a:solidFill>
                <a:latin typeface="Calibri"/>
              </a:rPr>
              <a:t> workbook Excel (2018–2021), un foglio per attributo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50" b="1" i="0">
                <a:solidFill>
                  <a:srgbClr val="2B2A26"/>
                </a:solidFill>
                <a:latin typeface="Calibri"/>
              </a:rPr>
              <a:t>1</a:t>
            </a:r>
            <a:r>
              <a:rPr sz="1250" b="0" i="0">
                <a:solidFill>
                  <a:srgbClr val="2B2A26"/>
                </a:solidFill>
                <a:latin typeface="Calibri"/>
              </a:rPr>
              <a:t> codebook: caseificio ↔ prodotto ↔ lettera (16 caseifici)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520440" cy="32461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82296" cy="3246120"/>
          </a:xfrm>
          <a:prstGeom prst="rect">
            <a:avLst/>
          </a:prstGeom>
          <a:solidFill>
            <a:srgbClr val="C14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066544"/>
            <a:ext cx="3099816" cy="297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Il problema del join</a:t>
            </a:r>
          </a:p>
          <a:p>
            <a:r>
              <a:rPr sz="1250" b="0" i="0">
                <a:solidFill>
                  <a:srgbClr val="2B2A26"/>
                </a:solidFill>
                <a:latin typeface="Calibri"/>
              </a:rPr>
              <a:t>Immagini e commenti «parlavano lingue diverse». Il nome file identifica la singola forma; il commento solo il vassoio del degustatore. Nessun join a livello di riga — solo a livello di caseificio, via codebook.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920240"/>
            <a:ext cx="3611880" cy="32461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920240"/>
            <a:ext cx="82296" cy="324612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1" y="2066544"/>
            <a:ext cx="3191256" cy="297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Ostacoli invisibili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Tripla indicizzazione: TN_306 / TN306 / 306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Header incoerenti tra anni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Virgola decimale italiana ('7,48')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Provenienza propagata a valle → tracciabilità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LA SOLUZIONE DI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Broadcast a livello di caseificio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350" b="0" i="0">
                <a:solidFill>
                  <a:srgbClr val="2B2A26"/>
                </a:solidFill>
                <a:latin typeface="Calibri"/>
              </a:rPr>
              <a:t>Ogni commento è propagato a tutte le immagini coerenti di quel caseificio in quella seduta: fino a 4 righe da un solo commento.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2468880" cy="1188720"/>
          </a:xfrm>
          <a:prstGeom prst="roundRect">
            <a:avLst/>
          </a:prstGeom>
          <a:solidFill>
            <a:srgbClr val="F6E3DD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82296" cy="1188720"/>
          </a:xfrm>
          <a:prstGeom prst="rect">
            <a:avLst/>
          </a:prstGeom>
          <a:solidFill>
            <a:srgbClr val="C14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219456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200" b="1" i="0">
                <a:solidFill>
                  <a:srgbClr val="1B334A"/>
                </a:solidFill>
                <a:latin typeface="Calibri"/>
              </a:rPr>
              <a:t>Commento panel</a:t>
            </a:r>
          </a:p>
          <a:p>
            <a:r>
              <a:rPr sz="1500" b="1" i="1">
                <a:solidFill>
                  <a:srgbClr val="C1492E"/>
                </a:solidFill>
                <a:latin typeface="Georgia"/>
              </a:rPr>
              <a:t>«Crauti»</a:t>
            </a:r>
          </a:p>
          <a:p>
            <a:r>
              <a:rPr sz="1050" b="0" i="0">
                <a:solidFill>
                  <a:srgbClr val="8A8A84"/>
                </a:solidFill>
                <a:latin typeface="Calibri"/>
              </a:rPr>
              <a:t>(Profumo · TN_306)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560320"/>
            <a:ext cx="2468880" cy="566928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560320"/>
            <a:ext cx="73152" cy="56692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560320"/>
            <a:ext cx="22860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250" b="1" i="0">
                <a:solidFill>
                  <a:srgbClr val="2B2A26"/>
                </a:solidFill>
                <a:latin typeface="Calibri"/>
              </a:rPr>
              <a:t>P3a — Fetta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246120" y="2843784"/>
            <a:ext cx="1280160" cy="1133856"/>
          </a:xfrm>
          <a:prstGeom prst="bentConnector3">
            <a:avLst/>
          </a:prstGeom>
          <a:ln w="1905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0" y="3273552"/>
            <a:ext cx="2468880" cy="566928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3273552"/>
            <a:ext cx="73152" cy="56692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273552"/>
            <a:ext cx="22860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250" b="1" i="0">
                <a:solidFill>
                  <a:srgbClr val="2B2A26"/>
                </a:solidFill>
                <a:latin typeface="Calibri"/>
              </a:rPr>
              <a:t>P3a — Grana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246120" y="3557016"/>
            <a:ext cx="1280160" cy="420624"/>
          </a:xfrm>
          <a:prstGeom prst="bentConnector3">
            <a:avLst/>
          </a:prstGeom>
          <a:ln w="1905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0" y="3986784"/>
            <a:ext cx="2468880" cy="566928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3986784"/>
            <a:ext cx="73152" cy="56692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986784"/>
            <a:ext cx="22860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250" b="1" i="0">
                <a:solidFill>
                  <a:srgbClr val="2B2A26"/>
                </a:solidFill>
                <a:latin typeface="Calibri"/>
              </a:rPr>
              <a:t>P3b — Fetta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46120" y="3977640"/>
            <a:ext cx="1280160" cy="292608"/>
          </a:xfrm>
          <a:prstGeom prst="bentConnector3">
            <a:avLst/>
          </a:prstGeom>
          <a:ln w="1905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0" y="4700016"/>
            <a:ext cx="2468880" cy="566928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4700016"/>
            <a:ext cx="73152" cy="56692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4700016"/>
            <a:ext cx="22860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250" b="1" i="0">
                <a:solidFill>
                  <a:srgbClr val="2B2A26"/>
                </a:solidFill>
                <a:latin typeface="Calibri"/>
              </a:rPr>
              <a:t>P3b — Grana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46120" y="3977640"/>
            <a:ext cx="1280160" cy="1005840"/>
          </a:xfrm>
          <a:prstGeom prst="bentConnector3">
            <a:avLst/>
          </a:prstGeom>
          <a:ln w="1905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0" y="3383280"/>
            <a:ext cx="3017520" cy="1188720"/>
          </a:xfrm>
          <a:prstGeom prst="roundRect">
            <a:avLst/>
          </a:prstGeom>
          <a:solidFill>
            <a:srgbClr val="E3EEE3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0" y="3383280"/>
            <a:ext cx="82296" cy="118872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3429000"/>
            <a:ext cx="274320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300" b="1" i="0">
                <a:solidFill>
                  <a:srgbClr val="1B334A"/>
                </a:solidFill>
                <a:latin typeface="Calibri"/>
              </a:rPr>
              <a:t>4 righe immagine–caption</a:t>
            </a:r>
          </a:p>
          <a:p>
            <a:r>
              <a:rPr sz="1150" b="0" i="0">
                <a:solidFill>
                  <a:srgbClr val="5B8C5A"/>
                </a:solidFill>
                <a:latin typeface="Calibri"/>
              </a:rPr>
              <a:t>(stessa caption)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86600" y="2843784"/>
            <a:ext cx="1280160" cy="1133856"/>
          </a:xfrm>
          <a:prstGeom prst="bentConnector3">
            <a:avLst/>
          </a:prstGeom>
          <a:ln w="1905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086600" y="3557016"/>
            <a:ext cx="1280160" cy="420624"/>
          </a:xfrm>
          <a:prstGeom prst="bentConnector3">
            <a:avLst/>
          </a:prstGeom>
          <a:ln w="1905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086600" y="3977640"/>
            <a:ext cx="1280160" cy="292608"/>
          </a:xfrm>
          <a:prstGeom prst="bentConnector3">
            <a:avLst/>
          </a:prstGeom>
          <a:ln w="1905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086600" y="3977640"/>
            <a:ext cx="1280160" cy="1005840"/>
          </a:xfrm>
          <a:prstGeom prst="bentConnector3">
            <a:avLst/>
          </a:prstGeom>
          <a:ln w="1905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1520" y="4892040"/>
            <a:ext cx="10698480" cy="640080"/>
          </a:xfrm>
          <a:prstGeom prst="roundRect">
            <a:avLst/>
          </a:prstGeom>
          <a:solidFill>
            <a:srgbClr val="1B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892040"/>
            <a:ext cx="103327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250" b="1" i="0">
                <a:solidFill>
                  <a:srgbClr val="E0A458"/>
                </a:solidFill>
                <a:latin typeface="Calibri"/>
              </a:rPr>
              <a:t>Effetto netto:  </a:t>
            </a:r>
            <a:r>
              <a:rPr sz="1250" b="0" i="0">
                <a:solidFill>
                  <a:srgbClr val="F7F1E3"/>
                </a:solidFill>
                <a:latin typeface="Calibri"/>
              </a:rPr>
              <a:t>51.988 righe (immagine × panelista × attributo) · 39.510 con commento · tasso di pairing ≈ 76%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L'ARCHITETTURA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Una pipeline in 11 fasi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350" b="1" i="0">
                <a:solidFill>
                  <a:srgbClr val="2B2A26"/>
                </a:solidFill>
                <a:latin typeface="Calibri"/>
              </a:rPr>
              <a:t>Principio guida: </a:t>
            </a:r>
            <a:r>
              <a:rPr sz="1350" b="0" i="0">
                <a:solidFill>
                  <a:srgbClr val="2B2A26"/>
                </a:solidFill>
                <a:latin typeface="Calibri"/>
              </a:rPr>
              <a:t>deterministico-prima-dell'LLM — tutto ciò che si può fare con codice riproducibile e gratuito viene fatto prima di interpellare il modello.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2788920"/>
            <a:ext cx="530352" cy="530352"/>
          </a:xfrm>
          <a:prstGeom prst="ellipse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788920"/>
            <a:ext cx="530352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660904"/>
            <a:ext cx="260604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350" b="1" i="0">
                <a:solidFill>
                  <a:srgbClr val="1B334A"/>
                </a:solidFill>
                <a:latin typeface="Georgia"/>
              </a:rPr>
              <a:t>Tabella unificata</a:t>
            </a:r>
          </a:p>
          <a:p>
            <a:r>
              <a:rPr sz="1200" b="1" i="0">
                <a:solidFill>
                  <a:srgbClr val="2C5F8A"/>
                </a:solidFill>
                <a:latin typeface="Calibri"/>
              </a:rPr>
              <a:t>51.988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514600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53712" y="2788920"/>
            <a:ext cx="530352" cy="530352"/>
          </a:xfrm>
          <a:prstGeom prst="ellipse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788920"/>
            <a:ext cx="530352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660904"/>
            <a:ext cx="260604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350" b="1" i="0">
                <a:solidFill>
                  <a:srgbClr val="1B334A"/>
                </a:solidFill>
                <a:latin typeface="Georgia"/>
              </a:rPr>
              <a:t>Prep deterministica</a:t>
            </a:r>
          </a:p>
          <a:p>
            <a:r>
              <a:rPr sz="1200" b="1" i="0">
                <a:solidFill>
                  <a:srgbClr val="2C5F8A"/>
                </a:solidFill>
                <a:latin typeface="Calibri"/>
              </a:rPr>
              <a:t>39.356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514600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2788920"/>
            <a:ext cx="530352" cy="530352"/>
          </a:xfrm>
          <a:prstGeom prst="ellipse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2788920"/>
            <a:ext cx="530352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2–3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2660904"/>
            <a:ext cx="260604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350" b="1" i="0">
                <a:solidFill>
                  <a:srgbClr val="1B334A"/>
                </a:solidFill>
                <a:latin typeface="Georgia"/>
              </a:rPr>
              <a:t>Vocabolario + audit</a:t>
            </a:r>
          </a:p>
          <a:p>
            <a:r>
              <a:rPr sz="1200" b="1" i="0">
                <a:solidFill>
                  <a:srgbClr val="2C5F8A"/>
                </a:solidFill>
                <a:latin typeface="Calibri"/>
              </a:rPr>
              <a:t>7 attr.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58184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" y="4032504"/>
            <a:ext cx="530352" cy="530352"/>
          </a:xfrm>
          <a:prstGeom prst="ellipse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032504"/>
            <a:ext cx="530352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3904488"/>
            <a:ext cx="260604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350" b="1" i="0">
                <a:solidFill>
                  <a:srgbClr val="1B334A"/>
                </a:solidFill>
                <a:latin typeface="Georgia"/>
              </a:rPr>
              <a:t>Pulizia + qualitativo</a:t>
            </a:r>
          </a:p>
          <a:p>
            <a:r>
              <a:rPr sz="1200" b="1" i="0">
                <a:solidFill>
                  <a:srgbClr val="2C5F8A"/>
                </a:solidFill>
                <a:latin typeface="Calibri"/>
              </a:rPr>
              <a:t>7.705 uniche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58184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3712" y="4032504"/>
            <a:ext cx="530352" cy="530352"/>
          </a:xfrm>
          <a:prstGeom prst="ellipse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032504"/>
            <a:ext cx="530352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3904488"/>
            <a:ext cx="260604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350" b="1" i="0">
                <a:solidFill>
                  <a:srgbClr val="1B334A"/>
                </a:solidFill>
                <a:latin typeface="Georgia"/>
              </a:rPr>
              <a:t>Drop rumore</a:t>
            </a:r>
          </a:p>
          <a:p>
            <a:r>
              <a:rPr sz="1200" b="1" i="0">
                <a:solidFill>
                  <a:srgbClr val="2C5F8A"/>
                </a:solidFill>
                <a:latin typeface="Calibri"/>
              </a:rPr>
              <a:t>7.689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758184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57032" y="4032504"/>
            <a:ext cx="530352" cy="530352"/>
          </a:xfrm>
          <a:prstGeom prst="ellipse">
            <a:avLst/>
          </a:prstGeom>
          <a:solidFill>
            <a:srgbClr val="C88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2" y="4032504"/>
            <a:ext cx="530352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6–7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3688" y="3904488"/>
            <a:ext cx="260604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350" b="1" i="0">
                <a:solidFill>
                  <a:srgbClr val="1B334A"/>
                </a:solidFill>
                <a:latin typeface="Georgia"/>
              </a:rPr>
              <a:t>Prompt + pilot</a:t>
            </a:r>
          </a:p>
          <a:p>
            <a:r>
              <a:rPr sz="1200" b="1" i="0">
                <a:solidFill>
                  <a:srgbClr val="C88836"/>
                </a:solidFill>
                <a:latin typeface="Calibri"/>
              </a:rPr>
              <a:t>105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001768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0392" y="5276088"/>
            <a:ext cx="530352" cy="530352"/>
          </a:xfrm>
          <a:prstGeom prst="ellipse">
            <a:avLst/>
          </a:prstGeom>
          <a:solidFill>
            <a:srgbClr val="C88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" y="5276088"/>
            <a:ext cx="530352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5148072"/>
            <a:ext cx="260604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350" b="1" i="0">
                <a:solidFill>
                  <a:srgbClr val="1B334A"/>
                </a:solidFill>
                <a:latin typeface="Georgia"/>
              </a:rPr>
              <a:t>Batch LLM</a:t>
            </a:r>
          </a:p>
          <a:p>
            <a:r>
              <a:rPr sz="1200" b="1" i="0">
                <a:solidFill>
                  <a:srgbClr val="C88836"/>
                </a:solidFill>
                <a:latin typeface="Calibri"/>
              </a:rPr>
              <a:t>7.689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0" y="5001768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553712" y="5276088"/>
            <a:ext cx="530352" cy="530352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3712" y="5276088"/>
            <a:ext cx="530352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0368" y="5148072"/>
            <a:ext cx="260604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350" b="1" i="0">
                <a:solidFill>
                  <a:srgbClr val="1B334A"/>
                </a:solidFill>
                <a:latin typeface="Georgia"/>
              </a:rPr>
              <a:t>Salvage manuale</a:t>
            </a:r>
          </a:p>
          <a:p>
            <a:r>
              <a:rPr sz="1200" b="1" i="0">
                <a:solidFill>
                  <a:srgbClr val="5B8C5A"/>
                </a:solidFill>
                <a:latin typeface="Calibri"/>
              </a:rPr>
              <a:t>+916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5001768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57032" y="5276088"/>
            <a:ext cx="530352" cy="530352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2" y="5276088"/>
            <a:ext cx="530352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33688" y="5148072"/>
            <a:ext cx="260604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350" b="1" i="0">
                <a:solidFill>
                  <a:srgbClr val="1B334A"/>
                </a:solidFill>
                <a:latin typeface="Georgia"/>
              </a:rPr>
              <a:t>Broadcast + frase</a:t>
            </a:r>
          </a:p>
          <a:p>
            <a:r>
              <a:rPr sz="1200" b="1" i="0">
                <a:solidFill>
                  <a:srgbClr val="5B8C5A"/>
                </a:solidFill>
                <a:latin typeface="Calibri"/>
              </a:rPr>
              <a:t>38.437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227064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300" b="1" i="0">
                <a:solidFill>
                  <a:srgbClr val="2C5F8A"/>
                </a:solidFill>
                <a:latin typeface="Calibri"/>
              </a:rPr>
              <a:t>■ </a:t>
            </a:r>
            <a:r>
              <a:rPr sz="1150" b="0" i="0">
                <a:solidFill>
                  <a:srgbClr val="2B2A26"/>
                </a:solidFill>
                <a:latin typeface="Calibri"/>
              </a:rPr>
              <a:t>deterministico (gratis)    </a:t>
            </a:r>
            <a:r>
              <a:rPr sz="1300" b="1" i="0">
                <a:solidFill>
                  <a:srgbClr val="C88836"/>
                </a:solidFill>
                <a:latin typeface="Calibri"/>
              </a:rPr>
              <a:t>■ </a:t>
            </a:r>
            <a:r>
              <a:rPr sz="1150" b="0" i="0">
                <a:solidFill>
                  <a:srgbClr val="2B2A26"/>
                </a:solidFill>
                <a:latin typeface="Calibri"/>
              </a:rPr>
              <a:t>con LLM    </a:t>
            </a:r>
            <a:r>
              <a:rPr sz="1300" b="1" i="0">
                <a:solidFill>
                  <a:srgbClr val="5B8C5A"/>
                </a:solidFill>
                <a:latin typeface="Calibri"/>
              </a:rPr>
              <a:t>■ </a:t>
            </a:r>
            <a:r>
              <a:rPr sz="1150" b="0" i="0">
                <a:solidFill>
                  <a:srgbClr val="2B2A26"/>
                </a:solidFill>
                <a:latin typeface="Calibri"/>
              </a:rPr>
              <a:t>assemblaggio finale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IL FLUSSO DEI DATI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L'imbuto: dove si perdono (e si tengono) le righe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013"/>
            <a:ext cx="7040880" cy="347581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2011680"/>
            <a:ext cx="3611880" cy="374903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79" y="2011680"/>
            <a:ext cx="82296" cy="3749039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1" y="2157984"/>
            <a:ext cx="3191256" cy="34747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Lettura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50" b="1" i="0">
                <a:solidFill>
                  <a:srgbClr val="2B2A26"/>
                </a:solidFill>
                <a:latin typeface="Calibri"/>
              </a:rPr>
              <a:t>−12.632</a:t>
            </a:r>
            <a:r>
              <a:rPr sz="1250" b="0" i="0">
                <a:solidFill>
                  <a:srgbClr val="2B2A26"/>
                </a:solidFill>
                <a:latin typeface="Calibri"/>
              </a:rPr>
              <a:t> righe nella prep deterministica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50" b="1" i="0">
                <a:solidFill>
                  <a:srgbClr val="2B2A26"/>
                </a:solidFill>
                <a:latin typeface="Calibri"/>
              </a:rPr>
              <a:t>12.478</a:t>
            </a:r>
            <a:r>
              <a:rPr sz="1250" b="0" i="0">
                <a:solidFill>
                  <a:srgbClr val="2B2A26"/>
                </a:solidFill>
                <a:latin typeface="Calibri"/>
              </a:rPr>
              <a:t> vuoti / null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50" b="1" i="0">
                <a:solidFill>
                  <a:srgbClr val="2B2A26"/>
                </a:solidFill>
                <a:latin typeface="Calibri"/>
              </a:rPr>
              <a:t>86</a:t>
            </a:r>
            <a:r>
              <a:rPr sz="1250" b="0" i="0">
                <a:solidFill>
                  <a:srgbClr val="2B2A26"/>
                </a:solidFill>
                <a:latin typeface="Calibri"/>
              </a:rPr>
              <a:t> meta-commenti  ·  68 quasi-vuoti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50" b="1" i="0">
                <a:solidFill>
                  <a:srgbClr val="2B2A26"/>
                </a:solidFill>
                <a:latin typeface="Calibri"/>
              </a:rPr>
              <a:t>75,7%</a:t>
            </a:r>
            <a:r>
              <a:rPr sz="1250" b="0" i="0">
                <a:solidFill>
                  <a:srgbClr val="2B2A26"/>
                </a:solidFill>
                <a:latin typeface="Calibri"/>
              </a:rPr>
              <a:t> di retention dopo la fase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Preparazione deterministica: pulire senza riformulare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49240" cy="329184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82296" cy="32918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66544"/>
            <a:ext cx="4928616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50" b="1" i="0">
                <a:solidFill>
                  <a:srgbClr val="1B334A"/>
                </a:solidFill>
                <a:latin typeface="Georgia"/>
              </a:rPr>
              <a:t>Operazioni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300" b="1" i="0">
                <a:solidFill>
                  <a:srgbClr val="2B2A26"/>
                </a:solidFill>
                <a:latin typeface="Calibri"/>
              </a:rPr>
              <a:t/>
            </a:r>
            <a:r>
              <a:rPr sz="1300" b="0" i="0">
                <a:solidFill>
                  <a:srgbClr val="2B2A26"/>
                </a:solidFill>
                <a:latin typeface="Calibri"/>
              </a:rPr>
              <a:t>Filtro vuoti/N-A + normalizzazione Unicode (NFC)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300" b="1" i="0">
                <a:solidFill>
                  <a:srgbClr val="2B2A26"/>
                </a:solidFill>
                <a:latin typeface="Calibri"/>
              </a:rPr>
              <a:t/>
            </a:r>
            <a:r>
              <a:rPr sz="1300" b="0" i="0">
                <a:solidFill>
                  <a:srgbClr val="2B2A26"/>
                </a:solidFill>
                <a:latin typeface="Calibri"/>
              </a:rPr>
              <a:t>Rimozione spazi indivisibili, zero-width, tab, a-capo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300" b="1" i="0">
                <a:solidFill>
                  <a:srgbClr val="2B2A26"/>
                </a:solidFill>
                <a:latin typeface="Calibri"/>
              </a:rPr>
              <a:t/>
            </a:r>
            <a:r>
              <a:rPr sz="1300" b="0" i="0">
                <a:solidFill>
                  <a:srgbClr val="2B2A26"/>
                </a:solidFill>
                <a:latin typeface="Calibri"/>
              </a:rPr>
              <a:t>Drop meta-commenti (blacklist piccola e conservativa)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300" b="1" i="0">
                <a:solidFill>
                  <a:srgbClr val="2B2A26"/>
                </a:solidFill>
                <a:latin typeface="Calibri"/>
              </a:rPr>
              <a:t/>
            </a:r>
            <a:r>
              <a:rPr sz="1300" b="0" i="0">
                <a:solidFill>
                  <a:srgbClr val="2B2A26"/>
                </a:solidFill>
                <a:latin typeface="Calibri"/>
              </a:rPr>
              <a:t>Drop rumore quasi-vuoto (&lt; 2 caratteri alfanumerici)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300" b="1" i="0">
                <a:solidFill>
                  <a:srgbClr val="2B2A26"/>
                </a:solidFill>
                <a:latin typeface="Calibri"/>
              </a:rPr>
              <a:t/>
            </a:r>
            <a:r>
              <a:rPr sz="1300" b="0" i="0">
                <a:solidFill>
                  <a:srgbClr val="2B2A26"/>
                </a:solidFill>
                <a:latin typeface="Calibri"/>
              </a:rPr>
              <a:t>Doppia colonna raw / norm → reversibilità e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20240"/>
            <a:ext cx="5440680" cy="3291840"/>
          </a:xfrm>
          <a:prstGeom prst="roundRect">
            <a:avLst/>
          </a:prstGeom>
          <a:solidFill>
            <a:srgbClr val="1B334A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920240"/>
            <a:ext cx="82296" cy="32918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066544"/>
            <a:ext cx="5020056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50" b="1" i="0">
                <a:solidFill>
                  <a:srgbClr val="E0A458"/>
                </a:solidFill>
                <a:latin typeface="Georgia"/>
              </a:rPr>
              <a:t>Filosofia</a:t>
            </a:r>
          </a:p>
          <a:p>
            <a:r>
              <a:rPr sz="1300" b="0" i="0">
                <a:solidFill>
                  <a:srgbClr val="F7F1E3"/>
                </a:solidFill>
                <a:latin typeface="Calibri"/>
              </a:rPr>
              <a:t>«I drop devono essere certi». L'LLM gestirà meglio le ambiguità: una negazione con descrittore — «non penalizzo, ma sa di stalla» — porta informazione reale e viene mantenuta.
Risultato: 39.356 righe (75,7% retention), 12.632 drop, di cui 12.478 vuoti, 86 meta, 68 quasi-vuoti.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FASI 2–3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Un vocabolario controllato, su misura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o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8755"/>
            <a:ext cx="7040880" cy="336633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2011680"/>
            <a:ext cx="3611880" cy="374903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79" y="2011680"/>
            <a:ext cx="82296" cy="3749039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1" y="2157984"/>
            <a:ext cx="3191256" cy="34747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Perché custom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Le NLP italiane sbagliano: panna→panno, latte→latto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Stopword utili qui: «molto», «poco», «leggermente»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Lemmatizzatore deterministico + merge sing./plur.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Doppio uso: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base per l'audit + àncora stilistica nel prompt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FASE 4 · REQUISITO CHIAVE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Da numeri a qualità: la crosta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350" b="0" i="0">
                <a:solidFill>
                  <a:srgbClr val="2B2A26"/>
                </a:solidFill>
                <a:latin typeface="Calibri"/>
              </a:rPr>
              <a:t>Centinaia di caption erano solo misure («10», «1 cm», «8-10 mm»). Una funzione deterministica converte tutto in mm e assegna un bucket.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560320"/>
          <a:ext cx="4297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</a:tblGrid>
              <a:tr h="5181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Soglia (mm)</a:t>
                      </a:r>
                    </a:p>
                  </a:txBody>
                  <a:tcPr anchor="ctr" marL="101600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Bucket</a:t>
                      </a:r>
                    </a:p>
                  </a:txBody>
                  <a:tcPr anchor="ctr" marL="101600">
                    <a:solidFill>
                      <a:srgbClr val="1B334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&lt; 8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B2A26"/>
                          </a:solidFill>
                          <a:latin typeface="Calibri"/>
                        </a:rPr>
                        <a:t>Molto sottile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8 ≤ x &lt; 10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B2A26"/>
                          </a:solidFill>
                          <a:latin typeface="Calibri"/>
                        </a:rPr>
                        <a:t>Sottile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10 ≤ x &lt; 14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B2A26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14 ≤ x &lt; 18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B2A26"/>
                          </a:solidFill>
                          <a:latin typeface="Calibri"/>
                        </a:rPr>
                        <a:t>Spessa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≥ 18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B2A26"/>
                          </a:solidFill>
                          <a:latin typeface="Calibri"/>
                        </a:rPr>
                        <a:t>Molto spessa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257800" y="2514600"/>
            <a:ext cx="630936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spess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249" y="2651760"/>
            <a:ext cx="5000461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FASE 4 · L'ACCORGIMENTO DECISIVO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Deduplicazione: compressione 5,1×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d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8755"/>
            <a:ext cx="7040880" cy="336633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2011680"/>
            <a:ext cx="3611880" cy="374903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79" y="2011680"/>
            <a:ext cx="82296" cy="3749039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1" y="2157984"/>
            <a:ext cx="3191256" cy="34747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Perché conta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5B8C5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Il broadcast replica lo stesso testo molte volte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5B8C5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39.356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righe → 7.705 caption uniche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5B8C5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5,1×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di compressione per chiave (caption, attributo)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5B8C5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Pattern dominante 4×: 6.595 caption esattamente 4 volte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5B8C5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→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riduce di ~5× il costo dell'LLM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FASI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Riscrittura con LLM: il lavoro davvero difficile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520440" cy="329184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82296" cy="32918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66544"/>
            <a:ext cx="3099816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6 · Design prompt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Prompt di sistema per attributo (~5 KB)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11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regole (zero invenzione, escape NON_DESCRITTO)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Top-60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lemmi come àncora di stile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6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esempi few-shot reali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520440" cy="329184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82296" cy="32918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066544"/>
            <a:ext cx="3099816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7 · Pilot run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105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caption (15 per attributo)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Scoperti 2 fallimenti: 1cm vs 10mm; formato vuoti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Entrambi corretti nel prompt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3 worker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= ottimo; 8 → tempeste di 429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920240"/>
            <a:ext cx="3611880" cy="329184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920240"/>
            <a:ext cx="82296" cy="329184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1" y="2066544"/>
            <a:ext cx="3191256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8 · Batch completo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5B8C5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7.689 / 7.689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completate, 0 errori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5B8C5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~25–30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minuti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5B8C5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Haiku 4.5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· Anthropic Batch API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5B8C5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~$4,50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per il batch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LA SCELTA DEL MODELLO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Perché Haiku 4.5: stesso lavoro, frazione del costo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965960"/>
          <a:ext cx="67665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5240" y="2011680"/>
            <a:ext cx="3931920" cy="37947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2011680"/>
            <a:ext cx="82296" cy="379476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2" y="2157984"/>
            <a:ext cx="3511296" cy="3520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50" b="1" i="0">
                <a:solidFill>
                  <a:srgbClr val="1B334A"/>
                </a:solidFill>
                <a:latin typeface="Georgia"/>
              </a:rPr>
              <a:t>Il verdetto del pilot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5B8C5A"/>
                </a:solidFill>
                <a:latin typeface="Calibri"/>
              </a:rPr>
              <a:t>● </a:t>
            </a:r>
            <a:r>
              <a:rPr sz="1300" b="1" i="0">
                <a:solidFill>
                  <a:srgbClr val="2B2A26"/>
                </a:solidFill>
                <a:latin typeface="Calibri"/>
              </a:rPr>
              <a:t>2,4×</a:t>
            </a:r>
            <a:r>
              <a:rPr sz="1300" b="0" i="0">
                <a:solidFill>
                  <a:srgbClr val="2B2A26"/>
                </a:solidFill>
                <a:latin typeface="Calibri"/>
              </a:rPr>
              <a:t> più economico di Sonnet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5B8C5A"/>
                </a:solidFill>
                <a:latin typeface="Calibri"/>
              </a:rPr>
              <a:t>● </a:t>
            </a:r>
            <a:r>
              <a:rPr sz="1300" b="1" i="0">
                <a:solidFill>
                  <a:srgbClr val="2B2A26"/>
                </a:solidFill>
                <a:latin typeface="Calibri"/>
              </a:rPr>
              <a:t>12×</a:t>
            </a:r>
            <a:r>
              <a:rPr sz="1300" b="0" i="0">
                <a:solidFill>
                  <a:srgbClr val="2B2A26"/>
                </a:solidFill>
                <a:latin typeface="Calibri"/>
              </a:rPr>
              <a:t> più economico di Opus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5B8C5A"/>
                </a:solidFill>
                <a:latin typeface="Calibri"/>
              </a:rPr>
              <a:t>● </a:t>
            </a:r>
            <a:r>
              <a:rPr sz="1300" b="1" i="0">
                <a:solidFill>
                  <a:srgbClr val="2B2A26"/>
                </a:solidFill>
                <a:latin typeface="Calibri"/>
              </a:rPr>
              <a:t/>
            </a:r>
            <a:r>
              <a:rPr sz="1300" b="0" i="0">
                <a:solidFill>
                  <a:srgbClr val="2B2A26"/>
                </a:solidFill>
                <a:latin typeface="Calibri"/>
              </a:rPr>
              <a:t>Sul task verificato, i modelli grandi non davano qualità misurabile in più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5B8C5A"/>
                </a:solidFill>
                <a:latin typeface="Calibri"/>
              </a:rPr>
              <a:t>● </a:t>
            </a:r>
            <a:r>
              <a:rPr sz="1300" b="1" i="0">
                <a:solidFill>
                  <a:srgbClr val="2B2A26"/>
                </a:solidFill>
                <a:latin typeface="Calibri"/>
              </a:rPr>
              <a:t>$5,60</a:t>
            </a:r>
            <a:r>
              <a:rPr sz="1300" b="0" i="0">
                <a:solidFill>
                  <a:srgbClr val="2B2A26"/>
                </a:solidFill>
                <a:latin typeface="Calibri"/>
              </a:rPr>
              <a:t> costo LLM totale del progetto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VALIDAZIONE PROGRAMMATICA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Il Passo 1 è soddisfatto al 100%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65960"/>
          <a:ext cx="7040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554480"/>
              </a:tblGrid>
              <a:tr h="509451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Controllo</a:t>
                      </a:r>
                    </a:p>
                  </a:txBody>
                  <a:tcPr anchor="ctr" marL="127000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Violazioni</a:t>
                      </a:r>
                    </a:p>
                  </a:txBody>
                  <a:tcPr anchor="ctr" marL="127000">
                    <a:solidFill>
                      <a:srgbClr val="1B334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A26"/>
                          </a:solidFill>
                          <a:latin typeface="Calibri"/>
                        </a:rPr>
                        <a:t>Output inizia col prefisso d'attributo atteso</a:t>
                      </a:r>
                    </a:p>
                  </a:txBody>
                  <a:tcPr anchor="ctr" marL="1270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88836"/>
                          </a:solidFill>
                          <a:latin typeface="Calibri"/>
                        </a:rPr>
                        <a:t>1*</a:t>
                      </a:r>
                    </a:p>
                  </a:txBody>
                  <a:tcPr anchor="ctr" marL="127000">
                    <a:solidFill>
                      <a:srgbClr val="FBF7EE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A26"/>
                          </a:solidFill>
                          <a:latin typeface="Calibri"/>
                        </a:rPr>
                        <a:t>Output contiene cifre</a:t>
                      </a:r>
                    </a:p>
                  </a:txBody>
                  <a:tcPr anchor="ctr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5B8C5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127000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A26"/>
                          </a:solidFill>
                          <a:latin typeface="Calibri"/>
                        </a:rPr>
                        <a:t>Output contiene unità (mm / cm / %)</a:t>
                      </a:r>
                    </a:p>
                  </a:txBody>
                  <a:tcPr anchor="ctr" marL="1270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5B8C5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127000">
                    <a:solidFill>
                      <a:srgbClr val="FBF7EE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A26"/>
                          </a:solidFill>
                          <a:latin typeface="Calibri"/>
                        </a:rPr>
                        <a:t>Output più lungo di 25 parole</a:t>
                      </a:r>
                    </a:p>
                  </a:txBody>
                  <a:tcPr anchor="ctr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5B8C5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127000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A26"/>
                          </a:solidFill>
                          <a:latin typeface="Calibri"/>
                        </a:rPr>
                        <a:t>Output vuoto</a:t>
                      </a:r>
                    </a:p>
                  </a:txBody>
                  <a:tcPr anchor="ctr" marL="1270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5B8C5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127000">
                    <a:solidFill>
                      <a:srgbClr val="FBF7EE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A26"/>
                          </a:solidFill>
                          <a:latin typeface="Calibri"/>
                        </a:rPr>
                        <a:t>Output multi-riga o con markup</a:t>
                      </a:r>
                    </a:p>
                  </a:txBody>
                  <a:tcPr anchor="ctr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5B8C5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127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955279" y="1965960"/>
            <a:ext cx="3611880" cy="3611880"/>
          </a:xfrm>
          <a:prstGeom prst="roundRect">
            <a:avLst/>
          </a:prstGeom>
          <a:solidFill>
            <a:srgbClr val="1B334A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79" y="1965960"/>
            <a:ext cx="82296" cy="361188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1" y="2112264"/>
            <a:ext cx="3191256" cy="3337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800" b="1" i="0">
                <a:solidFill>
                  <a:srgbClr val="5B8C5A"/>
                </a:solidFill>
                <a:latin typeface="Georgia"/>
              </a:rPr>
              <a:t>Zero numeri,</a:t>
            </a:r>
          </a:p>
          <a:p>
            <a:r>
              <a:rPr sz="1800" b="1" i="0">
                <a:solidFill>
                  <a:srgbClr val="5B8C5A"/>
                </a:solidFill>
                <a:latin typeface="Georgia"/>
              </a:rPr>
              <a:t>zero unità</a:t>
            </a:r>
          </a:p>
          <a:p>
            <a:r>
              <a:rPr sz="1300" b="0" i="0">
                <a:solidFill>
                  <a:srgbClr val="F7F1E3"/>
                </a:solidFill>
                <a:latin typeface="Calibri"/>
              </a:rPr>
              <a:t>
La conversione quantitativo → qualitativo è riuscita al 100%: il requisito principale del Passo 1 è pienamente soddisfatto.
* l'unica «violazione» è un prefisso alternativo comunque valido.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FASE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Salvataggio manuale: pulire ≠ buttare via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salv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01223"/>
            <a:ext cx="6766560" cy="306139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2011680"/>
            <a:ext cx="3931920" cy="374903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2011680"/>
            <a:ext cx="82296" cy="3749039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2" y="2157984"/>
            <a:ext cx="3511296" cy="34747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Cura a mano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291/362 NON_DESCRITTO avevano un lemma del vocabolario → LLM troppo cauto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178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caption salvate a mano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«marcio, putrido,»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→ «Profumo marcio e putrido.»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362 → 184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NON_DESCRITTO unici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+916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righe di addestramento recuperate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FASE 10 · IL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Il dataset finale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final_r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87814"/>
            <a:ext cx="6126480" cy="28652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257800"/>
            <a:ext cx="1965960" cy="86868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965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900" b="1" i="0">
                <a:solidFill>
                  <a:srgbClr val="2C5F8A"/>
                </a:solidFill>
                <a:latin typeface="Georgia"/>
              </a:rPr>
              <a:t>38.437</a:t>
            </a:r>
          </a:p>
          <a:p>
            <a:pPr algn="ctr"/>
            <a:r>
              <a:rPr sz="1100" b="0" i="0">
                <a:solidFill>
                  <a:srgbClr val="2B2A26"/>
                </a:solidFill>
                <a:latin typeface="Calibri"/>
              </a:rPr>
              <a:t>righe finali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5257800"/>
            <a:ext cx="1965960" cy="86868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5303520"/>
            <a:ext cx="1965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900" b="1" i="0">
                <a:solidFill>
                  <a:srgbClr val="C88836"/>
                </a:solidFill>
                <a:latin typeface="Georgia"/>
              </a:rPr>
              <a:t>1.497</a:t>
            </a:r>
          </a:p>
          <a:p>
            <a:pPr algn="ctr"/>
            <a:r>
              <a:rPr sz="1100" b="0" i="0">
                <a:solidFill>
                  <a:srgbClr val="2B2A26"/>
                </a:solidFill>
                <a:latin typeface="Calibri"/>
              </a:rPr>
              <a:t>immagini uniche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5257800"/>
            <a:ext cx="1965960" cy="86868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5303520"/>
            <a:ext cx="1965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900" b="1" i="0">
                <a:solidFill>
                  <a:srgbClr val="5B8C5A"/>
                </a:solidFill>
                <a:latin typeface="Georgia"/>
              </a:rPr>
              <a:t>2</a:t>
            </a:r>
          </a:p>
          <a:p>
            <a:pPr algn="ctr"/>
            <a:r>
              <a:rPr sz="1100" b="0" i="0">
                <a:solidFill>
                  <a:srgbClr val="2B2A26"/>
                </a:solidFill>
                <a:latin typeface="Calibri"/>
              </a:rPr>
              <a:t>forme di caption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920240"/>
            <a:ext cx="4617720" cy="420624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1920240"/>
            <a:ext cx="82296" cy="42062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2066544"/>
            <a:ext cx="4197096" cy="3931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Schema consegnato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150" b="1" i="0">
                <a:solidFill>
                  <a:srgbClr val="2B2A26"/>
                </a:solidFill>
                <a:latin typeface="Calibri"/>
              </a:rPr>
              <a:t>captions_final.csv</a:t>
            </a:r>
            <a:r>
              <a:rPr sz="1150" b="0" i="0">
                <a:solidFill>
                  <a:srgbClr val="2B2A26"/>
                </a:solidFill>
                <a:latin typeface="Calibri"/>
              </a:rPr>
              <a:t> — 38.437 × 18 col. (provenienza)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150" b="1" i="0">
                <a:solidFill>
                  <a:srgbClr val="2B2A26"/>
                </a:solidFill>
                <a:latin typeface="Calibri"/>
              </a:rPr>
              <a:t>image_caption_attribute.csv</a:t>
            </a:r>
            <a:r>
              <a:rPr sz="1150" b="0" i="0">
                <a:solidFill>
                  <a:srgbClr val="2B2A26"/>
                </a:solidFill>
                <a:latin typeface="Calibri"/>
              </a:rPr>
              <a:t> — vista a 4 colonne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150" b="1" i="0">
                <a:solidFill>
                  <a:srgbClr val="2B2A26"/>
                </a:solidFill>
                <a:latin typeface="Calibri"/>
              </a:rPr>
              <a:t>by_attribute/&lt;Attr&gt;.csv</a:t>
            </a:r>
            <a:r>
              <a:rPr sz="1150" b="0" i="0">
                <a:solidFill>
                  <a:srgbClr val="2B2A26"/>
                </a:solidFill>
                <a:latin typeface="Calibri"/>
              </a:rPr>
              <a:t> — 7 split per-attributo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150" b="1" i="0">
                <a:solidFill>
                  <a:srgbClr val="2B2A26"/>
                </a:solidFill>
                <a:latin typeface="Calibri"/>
              </a:rPr>
              <a:t>caption</a:t>
            </a:r>
            <a:r>
              <a:rPr sz="1150" b="0" i="0">
                <a:solidFill>
                  <a:srgbClr val="2B2A26"/>
                </a:solidFill>
                <a:latin typeface="Calibri"/>
              </a:rPr>
              <a:t> (compatta, ~4–8 parole)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150" b="1" i="0">
                <a:solidFill>
                  <a:srgbClr val="2B2A26"/>
                </a:solidFill>
                <a:latin typeface="Calibri"/>
              </a:rPr>
              <a:t>caption_sentence</a:t>
            </a:r>
            <a:r>
              <a:rPr sz="1150" b="0" i="0">
                <a:solidFill>
                  <a:srgbClr val="2B2A26"/>
                </a:solidFill>
                <a:latin typeface="Calibri"/>
              </a:rPr>
              <a:t> (frase italiana, ~7–15 parole)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150" b="1" i="0">
                <a:solidFill>
                  <a:srgbClr val="2B2A26"/>
                </a:solidFill>
                <a:latin typeface="Calibri"/>
              </a:rPr>
              <a:t/>
            </a:r>
            <a:r>
              <a:rPr sz="1150" b="0" i="0">
                <a:solidFill>
                  <a:srgbClr val="2B2A26"/>
                </a:solidFill>
                <a:latin typeface="Calibri"/>
              </a:rPr>
              <a:t>Forma di frase deterministica: 100% template, 0 round-trip LLM extra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38360" y="4800600"/>
            <a:ext cx="640080" cy="640080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40746" y="5310378"/>
            <a:ext cx="352044" cy="352044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02319" y="5488685"/>
            <a:ext cx="288036" cy="288036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64140" y="4375404"/>
            <a:ext cx="320040" cy="320040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72016" y="4700016"/>
            <a:ext cx="256031" cy="256031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83080" y="1051560"/>
            <a:ext cx="457200" cy="45720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44318" y="1520190"/>
            <a:ext cx="251460" cy="25146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6747" y="1689353"/>
            <a:ext cx="205740" cy="20574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63140" y="580644"/>
            <a:ext cx="228600" cy="22860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61872" y="896112"/>
            <a:ext cx="182880" cy="18288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00584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000" b="1" i="0" spc="400">
                <a:solidFill>
                  <a:srgbClr val="E0A458"/>
                </a:solidFill>
                <a:latin typeface="Calibri"/>
              </a:rPr>
              <a:t>PARTE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8036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4200" b="1" i="0">
                <a:solidFill>
                  <a:srgbClr val="F7F1E3"/>
                </a:solidFill>
                <a:latin typeface="Georgia"/>
              </a:rPr>
              <a:t>Selezione dei modelli e 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14800"/>
            <a:ext cx="2194560" cy="508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98755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700" b="0" i="1">
                <a:solidFill>
                  <a:srgbClr val="D9D2C2"/>
                </a:solidFill>
                <a:latin typeface="Calibri"/>
              </a:rPr>
              <a:t>Tre metodi encoder–decoder, un solo determinante: l'encoder visivo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LE ARCHITETTURE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Tre metodi, due assi di variazione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E07A5F"/>
                </a:solidFill>
                <a:latin typeface="Georgia"/>
              </a:rPr>
              <a:t>m1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51760"/>
            <a:ext cx="3291840" cy="10515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651760"/>
            <a:ext cx="3291840" cy="914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301752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 spc="150">
                <a:solidFill>
                  <a:srgbClr val="2C5F8A"/>
                </a:solidFill>
                <a:latin typeface="Calibri"/>
              </a:rPr>
              <a:t>ENCODER</a:t>
            </a:r>
          </a:p>
          <a:p>
            <a:pPr algn="ctr"/>
            <a:r>
              <a:rPr sz="1300" b="1" i="0">
                <a:solidFill>
                  <a:srgbClr val="1B334A"/>
                </a:solidFill>
                <a:latin typeface="Calibri"/>
              </a:rPr>
              <a:t>ResNet-50</a:t>
            </a:r>
          </a:p>
          <a:p>
            <a:pPr algn="ctr"/>
            <a:r>
              <a:rPr sz="1300" b="1" i="0">
                <a:solidFill>
                  <a:srgbClr val="1B334A"/>
                </a:solidFill>
                <a:latin typeface="Calibri"/>
              </a:rPr>
              <a:t>(CNN, congelato)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600.0" y="3749040"/>
            <a:ext cx="0.0" cy="274319"/>
          </a:xfrm>
          <a:prstGeom prst="bentConnector3">
            <a:avLst/>
          </a:prstGeom>
          <a:ln w="2540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" y="4069080"/>
            <a:ext cx="3291840" cy="10515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4069080"/>
            <a:ext cx="329184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301752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 spc="150">
                <a:solidFill>
                  <a:srgbClr val="C88836"/>
                </a:solidFill>
                <a:latin typeface="Calibri"/>
              </a:rPr>
              <a:t>DECODER</a:t>
            </a:r>
          </a:p>
          <a:p>
            <a:pPr algn="ctr"/>
            <a:r>
              <a:rPr sz="1250" b="1" i="0">
                <a:solidFill>
                  <a:srgbClr val="1B334A"/>
                </a:solidFill>
                <a:latin typeface="Calibri"/>
              </a:rPr>
              <a:t>LSTM</a:t>
            </a:r>
          </a:p>
          <a:p>
            <a:pPr algn="ctr"/>
            <a:r>
              <a:rPr sz="1250" b="1" i="0">
                <a:solidFill>
                  <a:srgbClr val="1B334A"/>
                </a:solidFill>
                <a:latin typeface="Calibri"/>
              </a:rPr>
              <a:t>da 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14884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3D7068"/>
                </a:solidFill>
                <a:latin typeface="Georgia"/>
              </a:rPr>
              <a:t>m3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651760"/>
            <a:ext cx="3291840" cy="10515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2651760"/>
            <a:ext cx="3291840" cy="914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697480"/>
            <a:ext cx="301752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 spc="150">
                <a:solidFill>
                  <a:srgbClr val="2C5F8A"/>
                </a:solidFill>
                <a:latin typeface="Calibri"/>
              </a:rPr>
              <a:t>ENCODER</a:t>
            </a:r>
          </a:p>
          <a:p>
            <a:pPr algn="ctr"/>
            <a:r>
              <a:rPr sz="1300" b="1" i="0">
                <a:solidFill>
                  <a:srgbClr val="1B334A"/>
                </a:solidFill>
                <a:latin typeface="Calibri"/>
              </a:rPr>
              <a:t>ViT-B/16</a:t>
            </a:r>
          </a:p>
          <a:p>
            <a:pPr algn="ctr"/>
            <a:r>
              <a:rPr sz="1300" b="1" i="0">
                <a:solidFill>
                  <a:srgbClr val="1B334A"/>
                </a:solidFill>
                <a:latin typeface="Calibri"/>
              </a:rPr>
              <a:t>(congelato)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09360.0" y="3749040"/>
            <a:ext cx="0.0" cy="274319"/>
          </a:xfrm>
          <a:prstGeom prst="bentConnector3">
            <a:avLst/>
          </a:prstGeom>
          <a:ln w="2540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663440" y="4069080"/>
            <a:ext cx="3291840" cy="10515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4069080"/>
            <a:ext cx="329184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4114800"/>
            <a:ext cx="301752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 spc="150">
                <a:solidFill>
                  <a:srgbClr val="C88836"/>
                </a:solidFill>
                <a:latin typeface="Calibri"/>
              </a:rPr>
              <a:t>DECODER</a:t>
            </a:r>
          </a:p>
          <a:p>
            <a:pPr algn="ctr"/>
            <a:r>
              <a:rPr sz="1250" b="1" i="0">
                <a:solidFill>
                  <a:srgbClr val="1B334A"/>
                </a:solidFill>
                <a:latin typeface="Calibri"/>
              </a:rPr>
              <a:t>Transformer</a:t>
            </a:r>
          </a:p>
          <a:p>
            <a:pPr algn="ctr"/>
            <a:r>
              <a:rPr sz="1250" b="1" i="0">
                <a:solidFill>
                  <a:srgbClr val="1B334A"/>
                </a:solidFill>
                <a:latin typeface="Calibri"/>
              </a:rPr>
              <a:t>da zero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14884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8A5082"/>
                </a:solidFill>
                <a:latin typeface="Georgia"/>
              </a:rPr>
              <a:t>m6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2651760"/>
            <a:ext cx="3291840" cy="10515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58200" y="2651760"/>
            <a:ext cx="3291840" cy="914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2697480"/>
            <a:ext cx="301752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 spc="150">
                <a:solidFill>
                  <a:srgbClr val="2C5F8A"/>
                </a:solidFill>
                <a:latin typeface="Calibri"/>
              </a:rPr>
              <a:t>ENCODER</a:t>
            </a:r>
          </a:p>
          <a:p>
            <a:pPr algn="ctr"/>
            <a:r>
              <a:rPr sz="1300" b="1" i="0">
                <a:solidFill>
                  <a:srgbClr val="1B334A"/>
                </a:solidFill>
                <a:latin typeface="Calibri"/>
              </a:rPr>
              <a:t>ViT-B/16</a:t>
            </a:r>
          </a:p>
          <a:p>
            <a:pPr algn="ctr"/>
            <a:r>
              <a:rPr sz="1300" b="1" i="0">
                <a:solidFill>
                  <a:srgbClr val="1B334A"/>
                </a:solidFill>
                <a:latin typeface="Calibri"/>
              </a:rPr>
              <a:t>(congelato)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104120.0" y="3749040"/>
            <a:ext cx="0.0" cy="274319"/>
          </a:xfrm>
          <a:prstGeom prst="bentConnector3">
            <a:avLst/>
          </a:prstGeom>
          <a:ln w="2540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458200" y="4069080"/>
            <a:ext cx="3291840" cy="10515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58200" y="4069080"/>
            <a:ext cx="329184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4114800"/>
            <a:ext cx="301752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 spc="150">
                <a:solidFill>
                  <a:srgbClr val="C88836"/>
                </a:solidFill>
                <a:latin typeface="Calibri"/>
              </a:rPr>
              <a:t>DECODER</a:t>
            </a:r>
          </a:p>
          <a:p>
            <a:pPr algn="ctr"/>
            <a:r>
              <a:rPr sz="1250" b="1" i="0">
                <a:solidFill>
                  <a:srgbClr val="1B334A"/>
                </a:solidFill>
                <a:latin typeface="Calibri"/>
              </a:rPr>
              <a:t>GePpeTto</a:t>
            </a:r>
          </a:p>
          <a:p>
            <a:pPr algn="ctr"/>
            <a:r>
              <a:rPr sz="1250" b="1" i="0">
                <a:solidFill>
                  <a:srgbClr val="1B334A"/>
                </a:solidFill>
                <a:latin typeface="Calibri"/>
              </a:rPr>
              <a:t>GPT-2 IT pre-addestrato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303520"/>
            <a:ext cx="7406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50" b="1" i="0">
                <a:solidFill>
                  <a:srgbClr val="C1492E"/>
                </a:solidFill>
                <a:latin typeface="Calibri"/>
              </a:rPr>
              <a:t>↔ m1 vs m3 isola l'ENCODER        ↔ m3 vs m6 isola il DECODER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7150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 i="1">
                <a:solidFill>
                  <a:srgbClr val="2B2A26"/>
                </a:solidFill>
                <a:latin typeface="Calibri"/>
              </a:rPr>
              <a:t>Tutti gli encoder sono congelati: si addestrano solo decoder e proiezione di cross-attention → confronto equo.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SETUP SPERIMENTALE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Addestramento su Kaggle, confronto equo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6949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914400"/>
                <a:gridCol w="1005840"/>
                <a:gridCol w="1097280"/>
                <a:gridCol w="914400"/>
              </a:tblGrid>
              <a:tr h="4800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Modello</a:t>
                      </a:r>
                    </a:p>
                  </a:txBody>
                  <a:tcPr anchor="ctr" marL="76200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epoche</a:t>
                      </a:r>
                    </a:p>
                  </a:txBody>
                  <a:tcPr anchor="ctr" marL="76200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 anchor="ctr" marL="76200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anchor="ctr" marL="76200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scheduler</a:t>
                      </a:r>
                    </a:p>
                  </a:txBody>
                  <a:tcPr anchor="ctr" marL="76200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patience</a:t>
                      </a:r>
                    </a:p>
                  </a:txBody>
                  <a:tcPr anchor="ctr" marL="76200">
                    <a:solidFill>
                      <a:srgbClr val="1B334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B2A26"/>
                          </a:solidFill>
                          <a:latin typeface="Calibri"/>
                        </a:rPr>
                        <a:t>m1 · CNN+LSTM</a:t>
                      </a:r>
                    </a:p>
                  </a:txBody>
                  <a:tcPr anchor="ctr" marL="762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762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762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3e-4</a:t>
                      </a:r>
                    </a:p>
                  </a:txBody>
                  <a:tcPr anchor="ctr" marL="762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StepLR</a:t>
                      </a:r>
                    </a:p>
                  </a:txBody>
                  <a:tcPr anchor="ctr" marL="762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6200">
                    <a:solidFill>
                      <a:srgbClr val="FBF7E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B2A26"/>
                          </a:solidFill>
                          <a:latin typeface="Calibri"/>
                        </a:rPr>
                        <a:t>m3 · ViT+Transf.</a:t>
                      </a:r>
                    </a:p>
                  </a:txBody>
                  <a:tcPr anchor="ctr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cosine</a:t>
                      </a:r>
                    </a:p>
                  </a:txBody>
                  <a:tcPr anchor="ctr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62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B2A26"/>
                          </a:solidFill>
                          <a:latin typeface="Calibri"/>
                        </a:rPr>
                        <a:t>m6 · ViT+GePpeTto</a:t>
                      </a:r>
                    </a:p>
                  </a:txBody>
                  <a:tcPr anchor="ctr" marL="762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762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62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5e-5</a:t>
                      </a:r>
                    </a:p>
                  </a:txBody>
                  <a:tcPr anchor="ctr" marL="762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cosine</a:t>
                      </a:r>
                    </a:p>
                  </a:txBody>
                  <a:tcPr anchor="ctr" marL="762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6200">
                    <a:solidFill>
                      <a:srgbClr val="FBF7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069080"/>
            <a:ext cx="6949440" cy="178308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069080"/>
            <a:ext cx="82296" cy="178308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215384"/>
            <a:ext cx="6528816" cy="1508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450" b="1" i="0">
                <a:solidFill>
                  <a:srgbClr val="1B334A"/>
                </a:solidFill>
                <a:latin typeface="Georgia"/>
              </a:rPr>
              <a:t>Scelte di valutazione equa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Split sample-disjoint: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674 train / 143 val / 147 test — no leak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Nucleus sampling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(top-p 0,9, T 0,7): il beam collassa sulla caption modale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Curve sane: nessun overfitting, NaN o collasso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920240"/>
            <a:ext cx="3840480" cy="3931920"/>
          </a:xfrm>
          <a:prstGeom prst="roundRect">
            <a:avLst/>
          </a:prstGeom>
          <a:solidFill>
            <a:srgbClr val="1B334A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1920240"/>
            <a:ext cx="82296" cy="393192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1" y="2066544"/>
            <a:ext cx="3419856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E0A458"/>
                </a:solidFill>
                <a:latin typeface="Georgia"/>
              </a:rPr>
              <a:t>Lezione Kaggle</a:t>
            </a:r>
          </a:p>
          <a:p>
            <a:r>
              <a:rPr sz="1250" b="0" i="0">
                <a:solidFill>
                  <a:srgbClr val="F7F1E3"/>
                </a:solidFill>
                <a:latin typeface="Calibri"/>
              </a:rPr>
              <a:t>Il flag enable_gpu nei metadati NON abilita davvero la GPU: va attivata a mano.
Il tier gratuito tende alla P100 (sm_60): la PyTorch preinstallata va reinstallata da wheel cu118.
Tutto il training: GPU gratuita T4 / P100.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RISULTATI · PER-ATTRIBUTO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BLEU-4: i modelli vincono dove le caption sono diverse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bleu_at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54228"/>
            <a:ext cx="7406640" cy="35553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2011680"/>
            <a:ext cx="3337560" cy="374903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2011680"/>
            <a:ext cx="82296" cy="3749039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2157984"/>
            <a:ext cx="2916936" cy="34747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Lettura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Vincono: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Struttura (+0,128), Profumo, Texture, Colore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Pari/perdono: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Aroma, Sapore, Spessore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Non per debolezza: BLEU premia il predittore modale su caption poco diverse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4 / 7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attributi battono la baseline costante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RISULTATI · MODELLO GLOBALE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Un solo modello su tutti gli attributi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920240"/>
          <a:ext cx="75895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66760" y="2011680"/>
            <a:ext cx="3200400" cy="374903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66760" y="2011680"/>
            <a:ext cx="82296" cy="3749039"/>
          </a:xfrm>
          <a:prstGeom prst="rect">
            <a:avLst/>
          </a:prstGeom>
          <a:solidFill>
            <a:srgbClr val="8A5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2" y="2157984"/>
            <a:ext cx="2779776" cy="34747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m6 vince di misura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8A5082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m6 primo su BLEU-1/4, ROUGE-L, METEOR≈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8A5082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m3 primo su CIDEr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8A5082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0,007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di spread su BLEU-4: cluster strettissimo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8A5082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⚠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most_frequent ha il BLEU-1 più alto ma BLEU-4 peggiore: degenere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ATTENZIONE ALL'INTERPRETAZIONE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Per-attributo vs globale: due righelli diversi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perattr_vs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15245"/>
            <a:ext cx="6949440" cy="32333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2011680"/>
            <a:ext cx="3794760" cy="374903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2011680"/>
            <a:ext cx="82296" cy="3749039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2" y="2157984"/>
            <a:ext cx="3374136" cy="34747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Perché il salto 3–4×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NON significa che i per-attributo apprendano meglio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/>
            </a:r>
            <a:r>
              <a:rPr sz="1200" b="0" i="0">
                <a:solidFill>
                  <a:srgbClr val="2B2A26"/>
                </a:solidFill>
                <a:latin typeface="Calibri"/>
              </a:rPr>
              <a:t>La valutazione per-attributo gira su distribuzione più stretta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~80–140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parole di vocabolario vs ~600+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Scaffolding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condiviso: ~5 parole di 4-gram costante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B2A26"/>
                </a:solidFill>
                <a:latin typeface="Calibri"/>
              </a:rPr>
              <a:t>→</a:t>
            </a:r>
            <a:r>
              <a:rPr sz="1200" b="0" i="0">
                <a:solidFill>
                  <a:srgbClr val="2B2A26"/>
                </a:solidFill>
                <a:latin typeface="Calibri"/>
              </a:rPr>
              <a:t> misurano performance su distribuzioni diverse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IL RISULTATO CHIAVE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Lo shuffle test: il modello usa l'immagine?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shuff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52" y="1920240"/>
            <a:ext cx="4806495" cy="4023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920240"/>
            <a:ext cx="5577840" cy="187451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920240"/>
            <a:ext cx="82296" cy="1874519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2066544"/>
            <a:ext cx="5157216" cy="160019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50" b="1" i="0">
                <a:solidFill>
                  <a:srgbClr val="1B334A"/>
                </a:solidFill>
                <a:latin typeface="Georgia"/>
              </a:rPr>
              <a:t>Come funziona</a:t>
            </a:r>
          </a:p>
          <a:p>
            <a:r>
              <a:rPr sz="1300" b="0" i="0">
                <a:solidFill>
                  <a:srgbClr val="2B2A26"/>
                </a:solidFill>
                <a:latin typeface="Calibri"/>
              </a:rPr>
              <a:t>Si mescolano le predizioni tra le righe di test, rompendo l'allineamento predizione↔immagine. Si ricalcola 100 volte → distribuzione nulla → z-score. z &gt; 3 ⟺ p &lt; 0,001: forte evidenza di image-conditioning.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931920"/>
            <a:ext cx="5577840" cy="2194560"/>
          </a:xfrm>
          <a:prstGeom prst="roundRect">
            <a:avLst/>
          </a:prstGeom>
          <a:solidFill>
            <a:srgbClr val="1B334A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3931920"/>
            <a:ext cx="82296" cy="2194560"/>
          </a:xfrm>
          <a:prstGeom prst="rect">
            <a:avLst/>
          </a:prstGeom>
          <a:solidFill>
            <a:srgbClr val="C14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4078224"/>
            <a:ext cx="5157216" cy="1920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50" b="1" i="0">
                <a:solidFill>
                  <a:srgbClr val="E0A458"/>
                </a:solidFill>
                <a:latin typeface="Georgia"/>
              </a:rPr>
              <a:t>Cosa dice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C1492E"/>
                </a:solidFill>
                <a:latin typeface="Calibri"/>
              </a:rPr>
              <a:t>● </a:t>
            </a:r>
            <a:r>
              <a:rPr sz="1250" b="1" i="0">
                <a:solidFill>
                  <a:srgbClr val="F7F1E3"/>
                </a:solidFill>
                <a:latin typeface="Calibri"/>
              </a:rPr>
              <a:t>m1 (ResNet):</a:t>
            </a:r>
            <a:r>
              <a:rPr sz="1250" b="0" i="0">
                <a:solidFill>
                  <a:srgbClr val="D9D2C2"/>
                </a:solidFill>
                <a:latin typeface="Calibri"/>
              </a:rPr>
              <a:t> z≈0 ovunque → puro modello linguistico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C1492E"/>
                </a:solidFill>
                <a:latin typeface="Calibri"/>
              </a:rPr>
              <a:t>● </a:t>
            </a:r>
            <a:r>
              <a:rPr sz="1250" b="1" i="0">
                <a:solidFill>
                  <a:srgbClr val="F7F1E3"/>
                </a:solidFill>
                <a:latin typeface="Calibri"/>
              </a:rPr>
              <a:t>m3 / m6 (ViT):</a:t>
            </a:r>
            <a:r>
              <a:rPr sz="1250" b="0" i="0">
                <a:solidFill>
                  <a:srgbClr val="D9D2C2"/>
                </a:solidFill>
                <a:latin typeface="Calibri"/>
              </a:rPr>
              <a:t> usano l'immagine su 4/7 attributi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C1492E"/>
                </a:solidFill>
                <a:latin typeface="Calibri"/>
              </a:rPr>
              <a:t>● </a:t>
            </a:r>
            <a:r>
              <a:rPr sz="1250" b="1" i="0">
                <a:solidFill>
                  <a:srgbClr val="F7F1E3"/>
                </a:solidFill>
                <a:latin typeface="Calibri"/>
              </a:rPr>
              <a:t>Profumo, Spessore, Colore, Struttura</a:t>
            </a:r>
            <a:r>
              <a:rPr sz="1250" b="0" i="0">
                <a:solidFill>
                  <a:srgbClr val="D9D2C2"/>
                </a:solidFill>
                <a:latin typeface="Calibri"/>
              </a:rPr>
              <a:t> → riescono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C1492E"/>
                </a:solidFill>
                <a:latin typeface="Calibri"/>
              </a:rPr>
              <a:t>● </a:t>
            </a:r>
            <a:r>
              <a:rPr sz="1250" b="1" i="0">
                <a:solidFill>
                  <a:srgbClr val="F7F1E3"/>
                </a:solidFill>
                <a:latin typeface="Calibri"/>
              </a:rPr>
              <a:t>Aroma</a:t>
            </a:r>
            <a:r>
              <a:rPr sz="1250" b="0" i="0">
                <a:solidFill>
                  <a:srgbClr val="D9D2C2"/>
                </a:solidFill>
                <a:latin typeface="Calibri"/>
              </a:rPr>
              <a:t> → nessun modello usa l'immagine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L'INTERPRETAZIONE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Conta l'encoder, non il decoder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5394960" cy="320040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82296" cy="3200400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57984"/>
            <a:ext cx="4974336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600" b="1" i="0">
                <a:solidFill>
                  <a:srgbClr val="1B334A"/>
                </a:solidFill>
                <a:latin typeface="Georgia"/>
              </a:rPr>
              <a:t>m1 vs m3 — isola l'encoder</a:t>
            </a:r>
          </a:p>
          <a:p>
            <a:r>
              <a:rPr sz="1400" b="0" i="0">
                <a:solidFill>
                  <a:srgbClr val="2B2A26"/>
                </a:solidFill>
                <a:latin typeface="Calibri"/>
              </a:rPr>
              <a:t>m1 (ResNet) non si condiziona MAI all'immagine.
m3 (ViT) lo fa sulla maggior parte degli attributi.
→ Le feature di un ResNet-50 congelato non bastano a questa scala di dati; quelle di un ViT-B/16 congelato sì.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11680"/>
            <a:ext cx="5394960" cy="320040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82296" cy="3200400"/>
          </a:xfrm>
          <a:prstGeom prst="rect">
            <a:avLst/>
          </a:prstGeom>
          <a:solidFill>
            <a:srgbClr val="8A5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157984"/>
            <a:ext cx="4974336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600" b="1" i="0">
                <a:solidFill>
                  <a:srgbClr val="1B334A"/>
                </a:solidFill>
                <a:latin typeface="Georgia"/>
              </a:rPr>
              <a:t>m3 vs m6 — isola il decoder</a:t>
            </a:r>
          </a:p>
          <a:p>
            <a:r>
              <a:rPr sz="1400" b="0" i="0">
                <a:solidFill>
                  <a:srgbClr val="2B2A26"/>
                </a:solidFill>
                <a:latin typeface="Calibri"/>
              </a:rPr>
              <a:t>Producono output diversi (mai la stessa caption), ma hanno lo STESSO profilo di image-conditioning: gli stessi attributi riescono, gli stessi falliscono.
→ Il decoder cambia lo stile, non se l'immagine viene usata.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94960"/>
            <a:ext cx="10927080" cy="685800"/>
          </a:xfrm>
          <a:prstGeom prst="roundRect">
            <a:avLst/>
          </a:prstGeom>
          <a:solidFill>
            <a:srgbClr val="1B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5156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350" b="1" i="0">
                <a:solidFill>
                  <a:srgbClr val="E0A458"/>
                </a:solidFill>
                <a:latin typeface="Calibri"/>
              </a:rPr>
              <a:t>Il «cancello binario» dell'image-conditioning è l'encoder visivo — non il decoder, non la scala dati, non gli iperparametri.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VALUTAZIONE ONESTA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Oltre BLEU: sette metriche complementari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109270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537960"/>
                <a:gridCol w="2011680"/>
              </a:tblGrid>
              <a:tr h="49149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Metrica</a:t>
                      </a:r>
                    </a:p>
                  </a:txBody>
                  <a:tcPr anchor="ctr" marL="101600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Cosa misura</a:t>
                      </a:r>
                    </a:p>
                  </a:txBody>
                  <a:tcPr anchor="ctr" marL="101600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Famiglia</a:t>
                      </a:r>
                    </a:p>
                  </a:txBody>
                  <a:tcPr anchor="ctr" marL="101600">
                    <a:solidFill>
                      <a:srgbClr val="1B334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B2A26"/>
                          </a:solidFill>
                          <a:latin typeface="Calibri"/>
                        </a:rPr>
                        <a:t>BLEU-1/4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precisione n-gram (parole / fraseologia esatta)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testo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B2A26"/>
                          </a:solidFill>
                          <a:latin typeface="Calibri"/>
                        </a:rPr>
                        <a:t>METEOR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sovrapposizione con stemming e sinonimi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testo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B2A26"/>
                          </a:solidFill>
                          <a:latin typeface="Calibri"/>
                        </a:rPr>
                        <a:t>ROUGE-L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più lunga sottosequenza comune (ordine)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testo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B2A26"/>
                          </a:solidFill>
                          <a:latin typeface="Calibri"/>
                        </a:rPr>
                        <a:t>CIDEr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n-gram pesati TF-IDF: premia i termini rari salienti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testo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B2A26"/>
                          </a:solidFill>
                          <a:latin typeface="Calibri"/>
                        </a:rPr>
                        <a:t>BERTScore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similarità semantica via embedding (BERT it)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semantica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B2A26"/>
                          </a:solidFill>
                          <a:latin typeface="Calibri"/>
                        </a:rPr>
                        <a:t>Conformità Vocab.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% parole nel lessico sensoriale attestato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A26"/>
                          </a:solidFill>
                          <a:latin typeface="Calibri"/>
                        </a:rPr>
                        <a:t>dominio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C88836"/>
                          </a:solidFill>
                          <a:latin typeface="Calibri"/>
                        </a:rPr>
                        <a:t>CLIPScore</a:t>
                      </a:r>
                    </a:p>
                  </a:txBody>
                  <a:tcPr anchor="ctr" marL="101600">
                    <a:solidFill>
                      <a:srgbClr val="ECE3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C88836"/>
                          </a:solidFill>
                          <a:latin typeface="Calibri"/>
                        </a:rPr>
                        <a:t>appropriatezza caption–immagine (coseno CLIP)</a:t>
                      </a:r>
                    </a:p>
                  </a:txBody>
                  <a:tcPr anchor="ctr" marL="101600">
                    <a:solidFill>
                      <a:srgbClr val="EC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88836"/>
                          </a:solidFill>
                          <a:latin typeface="Calibri"/>
                        </a:rPr>
                        <a:t>immagine</a:t>
                      </a:r>
                    </a:p>
                  </a:txBody>
                  <a:tcPr anchor="ctr" marL="101600">
                    <a:solidFill>
                      <a:srgbClr val="EC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CIDER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Discrimina dove BLEU appiattisce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920240"/>
          <a:ext cx="704088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0" y="2011680"/>
            <a:ext cx="3794760" cy="374903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2011680"/>
            <a:ext cx="82296" cy="3749039"/>
          </a:xfrm>
          <a:prstGeom prst="rect">
            <a:avLst/>
          </a:prstGeom>
          <a:solidFill>
            <a:srgbClr val="8A5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2" y="2157984"/>
            <a:ext cx="3374136" cy="34747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00" b="1" i="0">
                <a:solidFill>
                  <a:srgbClr val="1B334A"/>
                </a:solidFill>
                <a:latin typeface="Georgia"/>
              </a:rPr>
              <a:t>Lettura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8A5082"/>
                </a:solidFill>
                <a:latin typeface="Calibri"/>
              </a:rPr>
              <a:t>● </a:t>
            </a:r>
            <a:r>
              <a:rPr sz="1150" b="1" i="0">
                <a:solidFill>
                  <a:srgbClr val="2B2A26"/>
                </a:solidFill>
                <a:latin typeface="Calibri"/>
              </a:rPr>
              <a:t>Ordina i modelli:</a:t>
            </a:r>
            <a:r>
              <a:rPr sz="1150" b="0" i="0">
                <a:solidFill>
                  <a:srgbClr val="2B2A26"/>
                </a:solidFill>
                <a:latin typeface="Calibri"/>
              </a:rPr>
              <a:t> random &lt; freq &lt; m1 &lt; m3 &lt; m6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8A5082"/>
                </a:solidFill>
                <a:latin typeface="Calibri"/>
              </a:rPr>
              <a:t>● </a:t>
            </a:r>
            <a:r>
              <a:rPr sz="1150" b="1" i="0">
                <a:solidFill>
                  <a:srgbClr val="2B2A26"/>
                </a:solidFill>
                <a:latin typeface="Calibri"/>
              </a:rPr>
              <a:t/>
            </a:r>
            <a:r>
              <a:rPr sz="1150" b="0" i="0">
                <a:solidFill>
                  <a:srgbClr val="2B2A26"/>
                </a:solidFill>
                <a:latin typeface="Calibri"/>
              </a:rPr>
              <a:t>I modelli addestrati battono nettamente le baseline casuali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8A5082"/>
                </a:solidFill>
                <a:latin typeface="Calibri"/>
              </a:rPr>
              <a:t>● </a:t>
            </a:r>
            <a:r>
              <a:rPr sz="1150" b="1" i="0">
                <a:solidFill>
                  <a:srgbClr val="2B2A26"/>
                </a:solidFill>
                <a:latin typeface="Calibri"/>
              </a:rPr>
              <a:t>m6</a:t>
            </a:r>
            <a:r>
              <a:rPr sz="1150" b="0" i="0">
                <a:solidFill>
                  <a:srgbClr val="2B2A26"/>
                </a:solidFill>
                <a:latin typeface="Calibri"/>
              </a:rPr>
              <a:t> è il migliore tra i modelli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8A5082"/>
                </a:solidFill>
                <a:latin typeface="Calibri"/>
              </a:rPr>
              <a:t>● </a:t>
            </a:r>
            <a:r>
              <a:rPr sz="1150" b="1" i="0">
                <a:solidFill>
                  <a:srgbClr val="2B2A26"/>
                </a:solidFill>
                <a:latin typeface="Calibri"/>
              </a:rPr>
              <a:t>most_frequent (0,79)</a:t>
            </a:r>
            <a:r>
              <a:rPr sz="1150" b="0" i="0">
                <a:solidFill>
                  <a:srgbClr val="2B2A26"/>
                </a:solidFill>
                <a:latin typeface="Calibri"/>
              </a:rPr>
              <a:t> in testa solo perché il riferimento È spesso la frase frequente: artefatto, non qualità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CLIPSCORE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Conferma indipendente dello shuffle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2148840"/>
          <a:ext cx="53949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1874520"/>
            <a:ext cx="53949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1B334A"/>
                </a:solidFill>
                <a:latin typeface="Calibri"/>
              </a:rPr>
              <a:t>Per MODELLO → tutti uguali (scarto &lt; 0,004)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63640" y="2148840"/>
          <a:ext cx="530352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1874520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1B334A"/>
                </a:solidFill>
                <a:latin typeface="Calibri"/>
              </a:rPr>
              <a:t>Per ATTRIBUTO → visivi alti, olfatto/gusto bassi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23560"/>
            <a:ext cx="10927080" cy="548640"/>
          </a:xfrm>
          <a:prstGeom prst="roundRect">
            <a:avLst/>
          </a:prstGeom>
          <a:solidFill>
            <a:srgbClr val="1B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5156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250" b="1" i="0">
                <a:solidFill>
                  <a:srgbClr val="E0A458"/>
                </a:solidFill>
                <a:latin typeface="Calibri"/>
              </a:rPr>
              <a:t>Con encoder congelato l'immagine non viene sfruttata: i modelli fanno language modeling. La variazione vera è per attributo.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LA MORALE METODOLOGICA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Il tranello di BLEU, visualizzato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_bleu_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24841"/>
            <a:ext cx="7498079" cy="321415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21040" y="2011680"/>
            <a:ext cx="3246120" cy="3749039"/>
          </a:xfrm>
          <a:prstGeom prst="roundRect">
            <a:avLst/>
          </a:prstGeom>
          <a:solidFill>
            <a:srgbClr val="1B334A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2011680"/>
            <a:ext cx="82296" cy="3749039"/>
          </a:xfrm>
          <a:prstGeom prst="rect">
            <a:avLst/>
          </a:prstGeom>
          <a:solidFill>
            <a:srgbClr val="C14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7072" y="2157984"/>
            <a:ext cx="2825496" cy="34747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50" b="1" i="0">
                <a:solidFill>
                  <a:srgbClr val="E0A458"/>
                </a:solidFill>
                <a:latin typeface="Georgia"/>
              </a:rPr>
              <a:t>Una metrica mente</a:t>
            </a:r>
          </a:p>
          <a:p>
            <a:r>
              <a:rPr sz="1350" b="0" i="0">
                <a:solidFill>
                  <a:srgbClr val="F7F1E3"/>
                </a:solidFill>
                <a:latin typeface="Calibri"/>
              </a:rPr>
              <a:t>A sinistra BLEU-1: la caption costante most_frequent VINCE.
A destra CLIPScore: i due modelli sono praticamente uguali.
→ BLEU-1 da solo è fuorviante. Le metriche vanno lette insieme.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 —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ESEMPI QUALITATIVI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Cosa genera davvero m6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10927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572000"/>
                <a:gridCol w="4617720"/>
              </a:tblGrid>
              <a:tr h="50292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Attributo</a:t>
                      </a:r>
                    </a:p>
                  </a:txBody>
                  <a:tcPr anchor="ctr" marL="101600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Predizione (m6)</a:t>
                      </a:r>
                    </a:p>
                  </a:txBody>
                  <a:tcPr anchor="ctr" marL="101600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Riferimento (panel)</a:t>
                      </a:r>
                    </a:p>
                  </a:txBody>
                  <a:tcPr anchor="ctr" marL="101600">
                    <a:solidFill>
                      <a:srgbClr val="1B33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B2A26"/>
                          </a:solidFill>
                          <a:latin typeface="Calibri"/>
                        </a:rPr>
                        <a:t>Aroma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B2A26"/>
                          </a:solidFill>
                          <a:latin typeface="Calibri"/>
                        </a:rPr>
                        <a:t>Il formaggio ha un aroma di panna.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B8C5A"/>
                          </a:solidFill>
                          <a:latin typeface="Calibri"/>
                        </a:rPr>
                        <a:t>Il formaggio ha un aroma di panna.  ✓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B2A26"/>
                          </a:solidFill>
                          <a:latin typeface="Calibri"/>
                        </a:rPr>
                        <a:t>Sapore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B2A26"/>
                          </a:solidFill>
                          <a:latin typeface="Calibri"/>
                        </a:rPr>
                        <a:t>…sapore leggermente salato e piccante.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B2A26"/>
                          </a:solidFill>
                          <a:latin typeface="Calibri"/>
                        </a:rPr>
                        <a:t>Il formaggio ha un sapore salato.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B2A26"/>
                          </a:solidFill>
                          <a:latin typeface="Calibri"/>
                        </a:rPr>
                        <a:t>Spessore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B2A26"/>
                          </a:solidFill>
                          <a:latin typeface="Calibri"/>
                        </a:rPr>
                        <a:t>La crosta è mediamente spessa.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5B8C5A"/>
                          </a:solidFill>
                          <a:latin typeface="Calibri"/>
                        </a:rPr>
                        <a:t>La crosta è mediamente spessa.  ✓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B2A26"/>
                          </a:solidFill>
                          <a:latin typeface="Calibri"/>
                        </a:rPr>
                        <a:t>Colore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B2A26"/>
                          </a:solidFill>
                          <a:latin typeface="Calibri"/>
                        </a:rPr>
                        <a:t>…colore giallo carico omogeneo.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B2A26"/>
                          </a:solidFill>
                          <a:latin typeface="Calibri"/>
                        </a:rPr>
                        <a:t>…colore giallo troppo carico.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B2A26"/>
                          </a:solidFill>
                          <a:latin typeface="Calibri"/>
                        </a:rPr>
                        <a:t>Struttura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B2A26"/>
                          </a:solidFill>
                          <a:latin typeface="Calibri"/>
                        </a:rPr>
                        <a:t>…frattura irregolare e grana fine.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B2A26"/>
                          </a:solidFill>
                          <a:latin typeface="Calibri"/>
                        </a:rPr>
                        <a:t>…stirata e poca grana a tratti.</a:t>
                      </a:r>
                    </a:p>
                  </a:txBody>
                  <a:tcPr anchor="ctr" marL="101600">
                    <a:solidFill>
                      <a:srgbClr val="FBF7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074920"/>
            <a:ext cx="10927080" cy="8229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074920"/>
            <a:ext cx="82296" cy="82296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221224"/>
            <a:ext cx="1050645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50" b="0" i="0">
                <a:solidFill>
                  <a:srgbClr val="2B2A26"/>
                </a:solidFill>
                <a:latin typeface="Calibri"/>
              </a:rPr>
              <a:t>Quattro pattern ricorrenti: (1) lo scaffolding è sempre corretto e vale ~50% del BLEU-4; (2) la lingua è fluente grazie al LM pre-addestrato; (3) il descrittore è spesso valido ma per un altro formaggio; (4) i riferimenti tra degustatori variano enormemente → tetto al BLEU.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55580" y="754380"/>
            <a:ext cx="502920" cy="502920"/>
          </a:xfrm>
          <a:prstGeom prst="ellipse">
            <a:avLst/>
          </a:prstGeom>
          <a:solidFill>
            <a:srgbClr val="E0A4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27105" y="1233297"/>
            <a:ext cx="276606" cy="276606"/>
          </a:xfrm>
          <a:prstGeom prst="ellipse">
            <a:avLst/>
          </a:prstGeom>
          <a:solidFill>
            <a:srgbClr val="E0A4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81820" y="1404746"/>
            <a:ext cx="226314" cy="226314"/>
          </a:xfrm>
          <a:prstGeom prst="ellipse">
            <a:avLst/>
          </a:prstGeom>
          <a:solidFill>
            <a:srgbClr val="E0A4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47070" y="294894"/>
            <a:ext cx="251460" cy="251460"/>
          </a:xfrm>
          <a:prstGeom prst="ellipse">
            <a:avLst/>
          </a:prstGeom>
          <a:solidFill>
            <a:srgbClr val="E0A4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48088" y="612648"/>
            <a:ext cx="201168" cy="201168"/>
          </a:xfrm>
          <a:prstGeom prst="ellipse">
            <a:avLst/>
          </a:prstGeom>
          <a:solidFill>
            <a:srgbClr val="E0A4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864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3400" b="1" i="0">
                <a:solidFill>
                  <a:srgbClr val="F7F1E3"/>
                </a:solidFill>
                <a:latin typeface="Georgia"/>
              </a:rPr>
              <a:t>Conclusioni &amp; lavori futuri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1371600"/>
            <a:ext cx="1828800" cy="508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20440" cy="3108960"/>
          </a:xfrm>
          <a:prstGeom prst="roundRect">
            <a:avLst/>
          </a:prstGeom>
          <a:solidFill>
            <a:srgbClr val="244059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91640"/>
            <a:ext cx="3520440" cy="9144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28800"/>
            <a:ext cx="3108960" cy="2880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50" b="1" i="0">
                <a:solidFill>
                  <a:srgbClr val="5B8C5A"/>
                </a:solidFill>
                <a:latin typeface="Georgia"/>
              </a:rPr>
              <a:t>Risultato scientifico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5B8C5A"/>
                </a:solidFill>
                <a:latin typeface="Calibri"/>
              </a:rPr>
              <a:t>● </a:t>
            </a:r>
            <a:r>
              <a:rPr sz="1250" b="1" i="0">
                <a:solidFill>
                  <a:srgbClr val="F7F1E3"/>
                </a:solidFill>
                <a:latin typeface="Calibri"/>
              </a:rPr>
              <a:t>Conta l'encoder:</a:t>
            </a:r>
            <a:r>
              <a:rPr sz="1250" b="0" i="0">
                <a:solidFill>
                  <a:srgbClr val="D9D2C2"/>
                </a:solidFill>
                <a:latin typeface="Calibri"/>
              </a:rPr>
              <a:t> ResNet ignora l'immagine, ViT la usa su 4/7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5B8C5A"/>
                </a:solidFill>
                <a:latin typeface="Calibri"/>
              </a:rPr>
              <a:t>● </a:t>
            </a:r>
            <a:r>
              <a:rPr sz="1250" b="1" i="0">
                <a:solidFill>
                  <a:srgbClr val="F7F1E3"/>
                </a:solidFill>
                <a:latin typeface="Calibri"/>
              </a:rPr>
              <a:t/>
            </a:r>
            <a:r>
              <a:rPr sz="1250" b="0" i="0">
                <a:solidFill>
                  <a:srgbClr val="D9D2C2"/>
                </a:solidFill>
                <a:latin typeface="Calibri"/>
              </a:rPr>
              <a:t>Indipendente da decoder, scala dati, iperparametri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5B8C5A"/>
                </a:solidFill>
                <a:latin typeface="Calibri"/>
              </a:rPr>
              <a:t>● </a:t>
            </a:r>
            <a:r>
              <a:rPr sz="1250" b="1" i="0">
                <a:solidFill>
                  <a:srgbClr val="F7F1E3"/>
                </a:solidFill>
                <a:latin typeface="Calibri"/>
              </a:rPr>
              <a:t/>
            </a:r>
            <a:r>
              <a:rPr sz="1250" b="0" i="0">
                <a:solidFill>
                  <a:srgbClr val="D9D2C2"/>
                </a:solidFill>
                <a:latin typeface="Calibri"/>
              </a:rPr>
              <a:t>Confermato da shuffle test + CLIPScore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691640"/>
            <a:ext cx="3520440" cy="3108960"/>
          </a:xfrm>
          <a:prstGeom prst="roundRect">
            <a:avLst/>
          </a:prstGeom>
          <a:solidFill>
            <a:srgbClr val="244059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691640"/>
            <a:ext cx="352044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1828800"/>
            <a:ext cx="3108960" cy="2880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50" b="1" i="0">
                <a:solidFill>
                  <a:srgbClr val="E0A458"/>
                </a:solidFill>
                <a:latin typeface="Georgia"/>
              </a:rPr>
              <a:t>Risultato pratico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50" b="1" i="0">
                <a:solidFill>
                  <a:srgbClr val="F7F1E3"/>
                </a:solidFill>
                <a:latin typeface="Calibri"/>
              </a:rPr>
              <a:t>4/7</a:t>
            </a:r>
            <a:r>
              <a:rPr sz="1250" b="0" i="0">
                <a:solidFill>
                  <a:srgbClr val="D9D2C2"/>
                </a:solidFill>
                <a:latin typeface="Calibri"/>
              </a:rPr>
              <a:t> attributi battono la baseline (max Struttura +0,128)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50" b="1" i="0">
                <a:solidFill>
                  <a:srgbClr val="F7F1E3"/>
                </a:solidFill>
                <a:latin typeface="Calibri"/>
              </a:rPr>
              <a:t>m6 (ViT+GePpeTto)</a:t>
            </a:r>
            <a:r>
              <a:rPr sz="1250" b="0" i="0">
                <a:solidFill>
                  <a:srgbClr val="D9D2C2"/>
                </a:solidFill>
                <a:latin typeface="Calibri"/>
              </a:rPr>
              <a:t> vince di misura quasi ovunque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E0A458"/>
                </a:solidFill>
                <a:latin typeface="Calibri"/>
              </a:rPr>
              <a:t>● </a:t>
            </a:r>
            <a:r>
              <a:rPr sz="1250" b="1" i="0">
                <a:solidFill>
                  <a:srgbClr val="F7F1E3"/>
                </a:solidFill>
                <a:latin typeface="Calibri"/>
              </a:rPr>
              <a:t>$5,60</a:t>
            </a:r>
            <a:r>
              <a:rPr sz="1250" b="0" i="0">
                <a:solidFill>
                  <a:srgbClr val="D9D2C2"/>
                </a:solidFill>
                <a:latin typeface="Calibri"/>
              </a:rPr>
              <a:t> costo dati · 38.437 coppie consegnate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691640"/>
            <a:ext cx="3538728" cy="3108960"/>
          </a:xfrm>
          <a:prstGeom prst="roundRect">
            <a:avLst/>
          </a:prstGeom>
          <a:solidFill>
            <a:srgbClr val="244059"/>
          </a:solidFill>
          <a:ln>
            <a:noFill/>
          </a:ln>
          <a:effectLst/>
          <a:effectLst>
            <a:outerShdw blurRad="90000" dist="40000" dir="5400000" rotWithShape="0">
              <a:srgbClr val="1B334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691640"/>
            <a:ext cx="3538728" cy="914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828800"/>
            <a:ext cx="3127248" cy="2880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550" b="1" i="0">
                <a:solidFill>
                  <a:srgbClr val="2C5F8A"/>
                </a:solidFill>
                <a:latin typeface="Georgia"/>
              </a:rPr>
              <a:t>Lavori futuri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50" b="1" i="0">
                <a:solidFill>
                  <a:srgbClr val="F7F1E3"/>
                </a:solidFill>
                <a:latin typeface="Calibri"/>
              </a:rPr>
              <a:t>Fine-tuning dell'encoder</a:t>
            </a:r>
            <a:r>
              <a:rPr sz="1250" b="0" i="0">
                <a:solidFill>
                  <a:srgbClr val="D9D2C2"/>
                </a:solidFill>
                <a:latin typeface="Calibri"/>
              </a:rPr>
              <a:t> e ri-misura di CLIPScore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50" b="1" i="0">
                <a:solidFill>
                  <a:srgbClr val="F7F1E3"/>
                </a:solidFill>
                <a:latin typeface="Calibri"/>
              </a:rPr>
              <a:t/>
            </a:r>
            <a:r>
              <a:rPr sz="1250" b="0" i="0">
                <a:solidFill>
                  <a:srgbClr val="D9D2C2"/>
                </a:solidFill>
                <a:latin typeface="Calibri"/>
              </a:rPr>
              <a:t>Baseline di retrieval k-NN come «pavimento» image-aware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C5F8A"/>
                </a:solidFill>
                <a:latin typeface="Calibri"/>
              </a:rPr>
              <a:t>● </a:t>
            </a:r>
            <a:r>
              <a:rPr sz="1250" b="1" i="0">
                <a:solidFill>
                  <a:srgbClr val="F7F1E3"/>
                </a:solidFill>
                <a:latin typeface="Calibri"/>
              </a:rPr>
              <a:t/>
            </a:r>
            <a:r>
              <a:rPr sz="1250" b="0" i="0">
                <a:solidFill>
                  <a:srgbClr val="D9D2C2"/>
                </a:solidFill>
                <a:latin typeface="Calibri"/>
              </a:rPr>
              <a:t>Se i modelli si staccano dalla baseline → immagine sfruttata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83480"/>
            <a:ext cx="1088136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300" b="1" i="0">
                <a:solidFill>
                  <a:srgbClr val="E0A458"/>
                </a:solidFill>
                <a:latin typeface="Calibri"/>
              </a:rPr>
              <a:t>Framing onesto:  </a:t>
            </a:r>
            <a:r>
              <a:rPr sz="1300" b="0" i="0">
                <a:solidFill>
                  <a:srgbClr val="F7F1E3"/>
                </a:solidFill>
                <a:latin typeface="Calibri"/>
              </a:rPr>
              <a:t>nessun modello sostituirebbe un degustatore. Hanno appreso il vocabolario e una mappa parziale immagine→descrittore — coerente con la scala dati e il rumore dell'annotazione multi-degustatore.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800" b="1" i="0">
                <a:solidFill>
                  <a:srgbClr val="E0A458"/>
                </a:solidFill>
                <a:latin typeface="Georgia"/>
              </a:rPr>
              <a:t>Grazie. — 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