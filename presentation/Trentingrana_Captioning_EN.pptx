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3.xml" ContentType="application/vnd.openxmlformats-officedocument.drawingml.chart+xml"/>
  <Override PartName="/ppt/notesSlides/notesSlide29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317" r:id="rId2"/>
    <p:sldId id="318" r:id="rId3"/>
    <p:sldId id="351" r:id="rId4"/>
    <p:sldId id="290" r:id="rId5"/>
    <p:sldId id="260" r:id="rId6"/>
    <p:sldId id="320" r:id="rId7"/>
    <p:sldId id="321" r:id="rId8"/>
    <p:sldId id="322" r:id="rId9"/>
    <p:sldId id="323" r:id="rId10"/>
    <p:sldId id="324" r:id="rId11"/>
    <p:sldId id="325" r:id="rId12"/>
    <p:sldId id="346" r:id="rId13"/>
    <p:sldId id="298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350" r:id="rId23"/>
    <p:sldId id="336" r:id="rId24"/>
    <p:sldId id="337" r:id="rId25"/>
    <p:sldId id="309" r:id="rId26"/>
    <p:sldId id="338" r:id="rId27"/>
    <p:sldId id="339" r:id="rId28"/>
    <p:sldId id="340" r:id="rId29"/>
    <p:sldId id="341" r:id="rId30"/>
    <p:sldId id="345" r:id="rId31"/>
    <p:sldId id="344" r:id="rId32"/>
    <p:sldId id="342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14" autoAdjust="0"/>
    <p:restoredTop sz="71870" autoAdjust="0"/>
  </p:normalViewPr>
  <p:slideViewPr>
    <p:cSldViewPr snapToGrid="0" snapToObjects="1">
      <p:cViewPr varScale="1">
        <p:scale>
          <a:sx n="80" d="100"/>
          <a:sy n="80" d="100"/>
        </p:scale>
        <p:origin x="18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2712"/>
    </p:cViewPr>
  </p:notesTextViewPr>
  <p:notesViewPr>
    <p:cSldViewPr snapToGrid="0" snapToObjects="1">
      <p:cViewPr varScale="1">
        <p:scale>
          <a:sx n="122" d="100"/>
          <a:sy n="122" d="100"/>
        </p:scale>
        <p:origin x="5004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115-4AF1-A412-1AC1B3399834}"/>
              </c:ext>
            </c:extLst>
          </c:dPt>
          <c:dPt>
            <c:idx val="1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2115-4AF1-A412-1AC1B3399834}"/>
              </c:ext>
            </c:extLst>
          </c:dPt>
          <c:dPt>
            <c:idx val="2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2115-4AF1-A412-1AC1B3399834}"/>
              </c:ext>
            </c:extLst>
          </c:dPt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B334A"/>
                    </a:solidFill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115-4AF1-A412-1AC1B339983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0.35010000000000002</c:v>
                </c:pt>
                <c:pt idx="1">
                  <c:v>0.1283</c:v>
                </c:pt>
                <c:pt idx="2">
                  <c:v>0.29380000000000001</c:v>
                </c:pt>
                <c:pt idx="3">
                  <c:v>0.29509999999999997</c:v>
                </c:pt>
                <c:pt idx="4">
                  <c:v>0.25169999999999998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C9D-4D35-BEBC-F4776DBDD0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0.28749999999999998</c:v>
                </c:pt>
                <c:pt idx="3">
                  <c:v>0.29809999999999998</c:v>
                </c:pt>
                <c:pt idx="4">
                  <c:v>0.28560000000000002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C9D-4D35-BEBC-F4776DBDD0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0.36570000000000003</c:v>
                </c:pt>
                <c:pt idx="1">
                  <c:v>0.13070000000000001</c:v>
                </c:pt>
                <c:pt idx="2">
                  <c:v>0.2928</c:v>
                </c:pt>
                <c:pt idx="3">
                  <c:v>0.30070000000000002</c:v>
                </c:pt>
                <c:pt idx="4">
                  <c:v>0.27410000000000001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C9D-4D35-BEBC-F4776DBDD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FFA-43ED-9718-248898CDF650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8FFA-43ED-9718-248898CDF650}"/>
              </c:ext>
            </c:extLst>
          </c:dPt>
          <c:dPt>
            <c:idx val="2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8FFA-43ED-9718-248898CDF650}"/>
              </c:ext>
            </c:extLst>
          </c:dPt>
          <c:dPt>
            <c:idx val="3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8FFA-43ED-9718-248898CDF650}"/>
              </c:ext>
            </c:extLst>
          </c:dPt>
          <c:dPt>
            <c:idx val="4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8FFA-43ED-9718-248898CDF650}"/>
              </c:ext>
            </c:extLst>
          </c:dPt>
          <c:dPt>
            <c:idx val="5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8FFA-43ED-9718-248898CDF65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0.23400000000000001</c:v>
                </c:pt>
                <c:pt idx="1">
                  <c:v>0.37</c:v>
                </c:pt>
                <c:pt idx="2">
                  <c:v>0.58599999999999997</c:v>
                </c:pt>
                <c:pt idx="3">
                  <c:v>0.64600000000000002</c:v>
                </c:pt>
                <c:pt idx="4">
                  <c:v>0.70399999999999996</c:v>
                </c:pt>
                <c:pt idx="5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FFA-43ED-9718-248898CDF6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74-4716-AD5F-3C5E9D0B2246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4B74-4716-AD5F-3C5E9D0B2246}"/>
              </c:ext>
            </c:extLst>
          </c:dPt>
          <c:dPt>
            <c:idx val="2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4B74-4716-AD5F-3C5E9D0B224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4B74-4716-AD5F-3C5E9D0B2246}"/>
              </c:ext>
            </c:extLst>
          </c:dPt>
          <c:dPt>
            <c:idx val="4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4B74-4716-AD5F-3C5E9D0B2246}"/>
              </c:ext>
            </c:extLst>
          </c:dPt>
          <c:dPt>
            <c:idx val="5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4B74-4716-AD5F-3C5E9D0B2246}"/>
              </c:ext>
            </c:extLst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0.19020000000000001</c:v>
                </c:pt>
                <c:pt idx="1">
                  <c:v>0.1913</c:v>
                </c:pt>
                <c:pt idx="2">
                  <c:v>0.19189999999999999</c:v>
                </c:pt>
                <c:pt idx="3">
                  <c:v>0.1925</c:v>
                </c:pt>
                <c:pt idx="4">
                  <c:v>0.19209999999999999</c:v>
                </c:pt>
                <c:pt idx="5">
                  <c:v>0.1933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74-4716-AD5F-3C5E9D0B22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19500000000000001"/>
          <c:min val="0.18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366-4EA8-BA27-6BB7A10AE28F}"/>
              </c:ext>
            </c:extLst>
          </c:dPt>
          <c:dPt>
            <c:idx val="1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366-4EA8-BA27-6BB7A10AE28F}"/>
              </c:ext>
            </c:extLst>
          </c:dPt>
          <c:dPt>
            <c:idx val="2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366-4EA8-BA27-6BB7A10AE28F}"/>
              </c:ext>
            </c:extLst>
          </c:dPt>
          <c:dPt>
            <c:idx val="3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5366-4EA8-BA27-6BB7A10AE28F}"/>
              </c:ext>
            </c:extLst>
          </c:dPt>
          <c:dPt>
            <c:idx val="4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5366-4EA8-BA27-6BB7A10AE28F}"/>
              </c:ext>
            </c:extLst>
          </c:dPt>
          <c:dPt>
            <c:idx val="5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5366-4EA8-BA27-6BB7A10AE28F}"/>
              </c:ext>
            </c:extLst>
          </c:dPt>
          <c:dPt>
            <c:idx val="6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5366-4EA8-BA27-6BB7A10AE28F}"/>
              </c:ext>
            </c:extLst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0.18099999999999999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0.19700000000000001</c:v>
                </c:pt>
                <c:pt idx="5">
                  <c:v>0.20599999999999999</c:v>
                </c:pt>
                <c:pt idx="6">
                  <c:v>0.20799999999999999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366-4EA8-BA27-6BB7A10AE2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17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40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welcome. Today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Trentingrana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generate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from images of 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model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slice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clear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scientific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drives a model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the image.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certified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taste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aroma,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flavor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 on.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slow,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hard to scale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support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with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system.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feed the model an image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IRIS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electronic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the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produce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dimensions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panel rates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aroma and taste.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Please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mind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second part.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 and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intrinsically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image.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Smell, aroma and taste,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photograph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taste.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occupies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slice,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struggles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"weight"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taxonomy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decorative: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image,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sanity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check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-processing: take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telegraphic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occasionally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 and turn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form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recurring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accounts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70% of the work: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compare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encoder-decoder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conceptually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weights,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devote the first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talk to building the dataset, and the second to the models.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data.</a:t>
            </a:r>
            <a:endParaRPr lang="it-IT" b="1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first part: building the dataset.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journey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one line: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heterogeneous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arrive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-stage pipeline and a precise strategy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an AI cost of just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60 cents.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project from an engineering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standpoint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deceptively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misaligned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2,750 high-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resolution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BMP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slice and a close-up of the grain;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Excel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workbooks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one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2018 to 2021, with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sheet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codebook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mapping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quantity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alignment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Images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practice,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photo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filename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precise sample ID,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"product".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-by-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photo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codebook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top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obstacles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ways; the Excel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scores use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decimal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comma.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field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propagated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downstream,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stays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join?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broadcast.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propagate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coherent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session.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word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TN_306,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and b,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slice and grain. 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join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obtained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39,500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non-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around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76%,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2021 sessions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some fields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blank.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pipeline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full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zero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own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script, explicit inputs and outputs.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first part 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LLM".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reproducible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free code,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blue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stages: from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building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cleanup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stages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involve the LLM: prompt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design, the pilot and the full batch. In green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assembly.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stages: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reduced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7,700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subset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reaches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cost to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key stages one by one.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story,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funnel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shows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pipeline.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drop, over 12,600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happens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stage 1.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majority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12,500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86 are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68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near-empty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retention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after stage 1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75.7%.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deliberate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stress: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stage, drops must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small and conservative by design.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 1,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golden rule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mechanical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N/A,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Unicode to NFC form,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non-breaking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width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newlines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deliberately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near-empty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after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always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text,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philosophy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key: drops must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ambiguous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39,356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the drops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99%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Stages 2 and 3 build one controlled vocabulary for each of the seven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attributes: the most frequent lemmas and the most frequent bigrams,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obtained with a tailor-made Italian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lemmatisation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Why not a standard NLP library? Because on the sensory lexicon they err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systematically — "panna" (cream) becomes 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(cloth), "latte" (milk)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becomes 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— and, worse, they treat as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stopwords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very words that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carry meaning here: "molto", "poco", 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leggermente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— very, little, slightly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— are sensory intensifiers, not noise. So the pipeline is fully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deterministic and reproducible: an accent-aware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tokeniser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hand-built maps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that expand abbreviations and fix audit-found typos, removal of pure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measurement tokens (mm, cm, %), and accent restoration applied only when the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accented form already exists in the corpus, to avoid false positives.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Lemmatisation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deliberately avoids generic suffix-stripping. A curated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dictionary handles the ambiguous cases, and singular-plural / gender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variants are merged only when both forms are actually attested in the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corpus, with the more frequent form winning. This single rule is what keeps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antonyms apart — 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carico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is never merged with 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scarico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equilibrato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never with 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squilibrato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— while still collapsing "cotto/cotta/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cotti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cotte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into one lemma. Adverbs in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kept whole, since they are meaningful.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The chart shows the vocabulary breadth per attribute: paste structure is the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richest, with around 780 lemmas over more than 40,000 tokens; rind thickness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is the poorest, around 250 lemmas, consistent with its narrower descriptive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range. Each vocabulary keeps the top-200 lemmas (frequency ≥ 3) and top-80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bigrams. It serves two purposes: a quantitative basis for the audit, and a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stylistic anchor in the LLM prompt — the top-60 lemmas per attribute — used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to suggest the panel's real wording, not as a closed dictionary, since the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model already speaks Italian.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4 tackles head-on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explicit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emblematic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hundreds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"10", "1 cm", "on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 mm", "8-10 mm".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recognises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heuristic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reading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assigns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qualitative bucket per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up to 10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and so on up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beyond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18.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LLM?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eliminates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root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source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inconsistency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"1 cm" and "10 mm",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chart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424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collapsed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buckets.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Mixed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reasoning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economics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Remember the broadcast?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across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paying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time. 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makes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So,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key: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-plus-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over 39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7,705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5.1-fold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chart shows,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versus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pattern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broadcast's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6,600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practical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consequence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cutting the cost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illustration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for free,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component's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by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"smart" core of the pipeline: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stages 6, 7 and 8.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work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faithfully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expanding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"Smell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preserving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6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prompt design: a system prompt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kilobytes,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"zero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rule and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escape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NON_DESCRITTO,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contentless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inputs.  </a:t>
            </a: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frequent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stylistic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anchor,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-shot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7, the pilot on 105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discover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spending: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centimetre-millimetre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inconsistency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some format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Both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prompt. A concrete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parallel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workers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triggered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8, the full batch: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7,689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single job.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7,689 out of 7,689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hour,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Haiku?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pragmatic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For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well-bounded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task,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already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pilot,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model?</a:t>
            </a:r>
            <a:endParaRPr lang="it-IT" b="0" dirty="0">
              <a:effectLst/>
            </a:endParaRPr>
          </a:p>
          <a:p>
            <a:r>
              <a:rPr lang="it-IT" b="0" dirty="0">
                <a:effectLst/>
              </a:rPr>
              <a:t> </a:t>
            </a: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60 with Haiku 4.5, versus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13.50 with Sonnet and over 67 with Opus.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Haiku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2.4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Sonnet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twelve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Opus.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cheap model 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pilot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task the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expensive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gain. Spending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throwing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money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cost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project, pilot plus batch,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60 cents. </a:t>
            </a: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proof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good upstream data engineering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expensive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 model.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know Step 1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satisfied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Not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7,689 model outputs.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summarises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checks. The output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always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starts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prefix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 single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alternative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prefix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brief: zero outputs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outputs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like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long outputs,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outputs, zero outputs with markup. 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quantitative to qualitative, the core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first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hundred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remains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fulfilment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deliverable,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promise.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reviewer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opinion.</a:t>
            </a:r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separate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 from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one.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the batch,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291 of the 362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NON_DESCRITTO, i.e.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lemma from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cautious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escape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 on borderline inputs,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mixing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judgement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salvage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178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faithful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"marcio, putrido,"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"Smell of rot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putridity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"; "Sangue,,,"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"Aroma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blood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the chart: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NON_DESCRITTO drop from 362 to 184,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916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throwing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little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care, on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targeted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subset,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round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first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deliverable. Stage 10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reconnects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broadcast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dataset: 38,437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 1,497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shows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note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significant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double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imbalance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comparison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second part.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format side,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made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flexibility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carries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 compact one,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anchored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"Smell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 And a complete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declarative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suited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encoder-decoders and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metrics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further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round.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dataset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delivered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full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four-column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serve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close the data part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to the models.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Second part: the models.</a:t>
            </a:r>
          </a:p>
          <a:p>
            <a:r>
              <a:rPr dirty="0"/>
              <a:t>Here the brief's goal is the comparison of methods, and let me give you the conclusion upfront, so</a:t>
            </a:r>
          </a:p>
          <a:p>
            <a:r>
              <a:rPr dirty="0"/>
              <a:t>you can follow the data with the right key. Among everything we could change — the decoder, the</a:t>
            </a:r>
          </a:p>
          <a:p>
            <a:r>
              <a:rPr dirty="0"/>
              <a:t>amount of data, the hyperparameters — the single factor that decides whether the model truly uses</a:t>
            </a:r>
          </a:p>
          <a:p>
            <a:r>
              <a:rPr dirty="0"/>
              <a:t>the image is one: the visual encoder.</a:t>
            </a:r>
          </a:p>
          <a:p>
            <a:r>
              <a:rPr dirty="0"/>
              <a:t>We'll build this conclusion step by step, and verify it with two independent tools: the shuffle test</a:t>
            </a:r>
          </a:p>
          <a:p>
            <a:r>
              <a:rPr dirty="0"/>
              <a:t>and the </a:t>
            </a:r>
            <a:r>
              <a:rPr dirty="0" err="1"/>
              <a:t>CLIPScore</a:t>
            </a:r>
            <a:r>
              <a:rPr dirty="0"/>
              <a:t>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brief asks for three methods "as conceptually different as possible". We chose them to isolate</a:t>
            </a:r>
          </a:p>
          <a:p>
            <a:r>
              <a:rPr dirty="0"/>
              <a:t>the three main axes of variation in captioning.</a:t>
            </a:r>
          </a:p>
          <a:p>
            <a:r>
              <a:rPr dirty="0"/>
              <a:t>m1 is the classic: a convolutional encoder, ResNet-50, with an LSTM decoder trained from scratch.</a:t>
            </a:r>
          </a:p>
          <a:p>
            <a:r>
              <a:rPr dirty="0"/>
              <a:t>m3 changes the encoder: a Vision Transformer, </a:t>
            </a:r>
            <a:r>
              <a:rPr dirty="0" err="1"/>
              <a:t>ViT</a:t>
            </a:r>
            <a:r>
              <a:rPr dirty="0"/>
              <a:t>-B/16, with a Transformer decoder, still from</a:t>
            </a:r>
          </a:p>
          <a:p>
            <a:r>
              <a:rPr dirty="0"/>
              <a:t>scratch. m6 changes the decoder: the same </a:t>
            </a:r>
            <a:r>
              <a:rPr dirty="0" err="1"/>
              <a:t>ViT</a:t>
            </a:r>
            <a:r>
              <a:rPr dirty="0"/>
              <a:t>, but the decoder is </a:t>
            </a:r>
            <a:r>
              <a:rPr dirty="0" err="1"/>
              <a:t>GePpeTto</a:t>
            </a:r>
            <a:r>
              <a:rPr dirty="0"/>
              <a:t>, an already-pretrained</a:t>
            </a:r>
          </a:p>
          <a:p>
            <a:r>
              <a:rPr dirty="0"/>
              <a:t>Italian GPT-2.</a:t>
            </a:r>
          </a:p>
          <a:p>
            <a:r>
              <a:rPr dirty="0"/>
              <a:t>The beauty of this design is in the axes, at the bottom. Comparing m1 with m3 isolates the encoder's</a:t>
            </a:r>
          </a:p>
          <a:p>
            <a:r>
              <a:rPr dirty="0"/>
              <a:t>effect, because the decoder stays the same "from scratch" type. Comparing m3 with m6 isolates the</a:t>
            </a:r>
          </a:p>
          <a:p>
            <a:r>
              <a:rPr dirty="0"/>
              <a:t>decoder's effect, because the encoder is identical. It's a small controlled experiment.</a:t>
            </a:r>
          </a:p>
          <a:p>
            <a:r>
              <a:rPr dirty="0"/>
              <a:t>A crucial choice for fairness: all encoders are frozen. We train only the decoder and the</a:t>
            </a:r>
          </a:p>
          <a:p>
            <a:r>
              <a:rPr dirty="0"/>
              <a:t>cross-attention projection. So each decoder receives exactly the same visual features, and the</a:t>
            </a:r>
          </a:p>
          <a:p>
            <a:r>
              <a:rPr dirty="0"/>
              <a:t>differences we observe are attributable to architecture, not to a lucky encoder. This, we'll see,</a:t>
            </a:r>
          </a:p>
          <a:p>
            <a:r>
              <a:rPr dirty="0"/>
              <a:t>is also the main limitation,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experimental setup, briefly. All training ran on Kaggle's free GPU tier, with T4 or P100. The</a:t>
            </a:r>
          </a:p>
          <a:p>
            <a:r>
              <a:rPr dirty="0"/>
              <a:t>hyperparameters in the table are reasonable defaults for each architecture, not the fruit of an</a:t>
            </a:r>
          </a:p>
          <a:p>
            <a:r>
              <a:rPr dirty="0"/>
              <a:t>exhaustive search: m1 more epochs and a higher learning rate, m6 few epochs and a small learning</a:t>
            </a:r>
          </a:p>
          <a:p>
            <a:r>
              <a:rPr dirty="0"/>
              <a:t>rate, as is natural for a pretrained model that only needs fine-tuning.</a:t>
            </a:r>
          </a:p>
          <a:p>
            <a:r>
              <a:rPr dirty="0"/>
              <a:t>Two choices ensure a fair comparison. First, the split is sample-disjoint: the same cheese never</a:t>
            </a:r>
          </a:p>
          <a:p>
            <a:r>
              <a:rPr dirty="0"/>
              <a:t>appears both in training and in test, so we avoid leakage. Second, at inference we use nucleus</a:t>
            </a:r>
          </a:p>
          <a:p>
            <a:r>
              <a:rPr dirty="0"/>
              <a:t>sampling instead of beam search, because on small datasets beam collapses to the most frequent</a:t>
            </a:r>
          </a:p>
          <a:p>
            <a:r>
              <a:rPr dirty="0"/>
              <a:t>caption, artificially inflating BLEU but reducing diversity.</a:t>
            </a:r>
          </a:p>
          <a:p>
            <a:r>
              <a:rPr dirty="0"/>
              <a:t>The training curves are healthy across all three models, no overfitting, no </a:t>
            </a:r>
            <a:r>
              <a:rPr dirty="0" err="1"/>
              <a:t>NaN</a:t>
            </a:r>
            <a:r>
              <a:rPr dirty="0"/>
              <a:t>, no collapse, so</a:t>
            </a:r>
          </a:p>
          <a:p>
            <a:r>
              <a:rPr dirty="0"/>
              <a:t>the differences in results are not due to training pathologies.</a:t>
            </a:r>
          </a:p>
          <a:p>
            <a:r>
              <a:rPr dirty="0"/>
              <a:t>On the right, a Kaggle lesson learned the hard way, for anyone wanting to reproduce: the </a:t>
            </a:r>
            <a:r>
              <a:rPr dirty="0" err="1"/>
              <a:t>enable_gpu</a:t>
            </a:r>
            <a:endParaRPr dirty="0"/>
          </a:p>
          <a:p>
            <a:r>
              <a:rPr dirty="0"/>
              <a:t>flag in the metadata is not enough, and the preinstalled </a:t>
            </a:r>
            <a:r>
              <a:rPr dirty="0" err="1"/>
              <a:t>PyTorch</a:t>
            </a:r>
            <a:r>
              <a:rPr dirty="0"/>
              <a:t> on P100s must be reinstalled.</a:t>
            </a:r>
          </a:p>
          <a:p>
            <a:r>
              <a:rPr dirty="0"/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see the first results, in the per-attribute regime: seven separate models, one per sensory</a:t>
            </a:r>
          </a:p>
          <a:p>
            <a:r>
              <a:rPr dirty="0"/>
              <a:t>dimension. The chart shows BLEU-4 per attribute, compared with the </a:t>
            </a:r>
            <a:r>
              <a:rPr dirty="0" err="1"/>
              <a:t>most_frequent</a:t>
            </a:r>
            <a:r>
              <a:rPr dirty="0"/>
              <a:t> baseline, the one</a:t>
            </a:r>
          </a:p>
          <a:p>
            <a:r>
              <a:rPr dirty="0"/>
              <a:t>that always emits the most frequent caption.</a:t>
            </a:r>
          </a:p>
          <a:p>
            <a:r>
              <a:rPr dirty="0"/>
              <a:t>The picture is sharp and two-sided. The trained models clearly beat the constant baseline on four</a:t>
            </a:r>
          </a:p>
          <a:p>
            <a:r>
              <a:rPr dirty="0"/>
              <a:t>attributes: paste structure, with a notable margin of over 0.12 points, then smell, texture and</a:t>
            </a:r>
          </a:p>
          <a:p>
            <a:r>
              <a:rPr dirty="0" err="1"/>
              <a:t>colour</a:t>
            </a:r>
            <a:r>
              <a:rPr dirty="0"/>
              <a:t>. On the other three, aroma, taste and rind thickness, they tie or lose.</a:t>
            </a:r>
          </a:p>
          <a:p>
            <a:r>
              <a:rPr dirty="0"/>
              <a:t>Be careful not to misread this "lose". It does not mean the models are poor on those attributes. It</a:t>
            </a:r>
          </a:p>
          <a:p>
            <a:r>
              <a:rPr dirty="0"/>
              <a:t>means that there the reference captions are not very diverse, very template-heavy, and under those</a:t>
            </a:r>
          </a:p>
          <a:p>
            <a:r>
              <a:rPr dirty="0"/>
              <a:t>conditions BLEU rewards whoever always predicts the majority. It's a flaw of the metric, not of the</a:t>
            </a:r>
          </a:p>
          <a:p>
            <a:r>
              <a:rPr dirty="0"/>
              <a:t>model, and we'll prove it shortly with the shuffle test, which on thickness confirms m3 and m6 do</a:t>
            </a:r>
          </a:p>
          <a:p>
            <a:r>
              <a:rPr dirty="0"/>
              <a:t>use the image.</a:t>
            </a:r>
          </a:p>
          <a:p>
            <a:r>
              <a:rPr dirty="0"/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move to the global regime: a single model trained across all attributes together. It's an</a:t>
            </a:r>
          </a:p>
          <a:p>
            <a:r>
              <a:rPr dirty="0"/>
              <a:t>intrinsically harder task, because the model must also choose which sensory dimension to describe,</a:t>
            </a:r>
          </a:p>
          <a:p>
            <a:r>
              <a:rPr dirty="0"/>
              <a:t>and it works with a much larger vocabulary.</a:t>
            </a:r>
          </a:p>
          <a:p>
            <a:r>
              <a:rPr dirty="0"/>
              <a:t>The chart compares the three models on five metrics. Two observations. First, m6, the </a:t>
            </a:r>
            <a:r>
              <a:rPr dirty="0" err="1"/>
              <a:t>ViT</a:t>
            </a:r>
            <a:r>
              <a:rPr dirty="0"/>
              <a:t> with</a:t>
            </a:r>
          </a:p>
          <a:p>
            <a:r>
              <a:rPr dirty="0" err="1"/>
              <a:t>GePpeTto</a:t>
            </a:r>
            <a:r>
              <a:rPr dirty="0"/>
              <a:t>, wins narrowly almost everywhere: it's first on BLEU-1, BLEU-4 and ROUGE-L, and</a:t>
            </a:r>
          </a:p>
          <a:p>
            <a:r>
              <a:rPr dirty="0"/>
              <a:t>essentially tied on METEOR; m3 only beats it on </a:t>
            </a:r>
            <a:r>
              <a:rPr dirty="0" err="1"/>
              <a:t>CIDEr</a:t>
            </a:r>
            <a:r>
              <a:rPr dirty="0"/>
              <a:t>. Second, and equally important, the three</a:t>
            </a:r>
          </a:p>
          <a:p>
            <a:r>
              <a:rPr dirty="0"/>
              <a:t>models are in a very tight cluster: the BLEU-4 spread is just seven thousandths. They are very close.</a:t>
            </a:r>
          </a:p>
          <a:p>
            <a:r>
              <a:rPr dirty="0"/>
              <a:t>A note on the baseline, which I left out of the chart for readability but is crucial: </a:t>
            </a:r>
            <a:r>
              <a:rPr dirty="0" err="1"/>
              <a:t>most_frequent</a:t>
            </a:r>
            <a:r>
              <a:rPr dirty="0"/>
              <a:t>,</a:t>
            </a:r>
          </a:p>
          <a:p>
            <a:r>
              <a:rPr dirty="0"/>
              <a:t>the constant sentence, would have the highest BLEU-1 of all but the worst BLEU-4. It's the</a:t>
            </a:r>
          </a:p>
          <a:p>
            <a:r>
              <a:rPr dirty="0"/>
              <a:t>degenerate </a:t>
            </a:r>
            <a:r>
              <a:rPr dirty="0" err="1"/>
              <a:t>behaviour</a:t>
            </a:r>
            <a:r>
              <a:rPr dirty="0"/>
              <a:t> of "always predict the majority": you guess many single words, but you never</a:t>
            </a:r>
          </a:p>
          <a:p>
            <a:r>
              <a:rPr dirty="0"/>
              <a:t>compose a correct four-word sequence different from the template. Keep this anomaly in mind: it's</a:t>
            </a:r>
          </a:p>
          <a:p>
            <a:r>
              <a:rPr dirty="0"/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slide of methodological caution, because it's easy to draw the wrong conclusion.</a:t>
            </a:r>
          </a:p>
          <a:p>
            <a:r>
              <a:rPr dirty="0"/>
              <a:t>You'll have noticed that the per-attribute numbers, BLEU-4 from 0.33 to 0.47, are much higher than</a:t>
            </a:r>
          </a:p>
          <a:p>
            <a:r>
              <a:rPr dirty="0"/>
              <a:t>the global BLEU-4, around 0.13. A three- or four-fold jump. The temptation is to say: "so the</a:t>
            </a:r>
          </a:p>
          <a:p>
            <a:r>
              <a:rPr dirty="0"/>
              <a:t>per-attribute models are much better". Wrong.</a:t>
            </a:r>
          </a:p>
          <a:p>
            <a:r>
              <a:rPr dirty="0"/>
              <a:t>That jump doesn't reflect better learning, but the fact that per-attribute evaluation runs on a much</a:t>
            </a:r>
          </a:p>
          <a:p>
            <a:r>
              <a:rPr dirty="0"/>
              <a:t>narrower distribution. When you focus on a single attribute, the vocabulary collapses from over 600</a:t>
            </a:r>
          </a:p>
          <a:p>
            <a:r>
              <a:rPr dirty="0"/>
              <a:t>words to about 80-140, and the shared scaffolding — "the cheese has a such-and-such attribute of..."</a:t>
            </a:r>
          </a:p>
          <a:p>
            <a:r>
              <a:rPr dirty="0"/>
              <a:t>— alone contributes five words of constant 4-gram that send BLEU soaring.</a:t>
            </a:r>
          </a:p>
          <a:p>
            <a:r>
              <a:rPr dirty="0"/>
              <a:t>They are two different rulers measuring performance on different distributions. The global model is</a:t>
            </a:r>
          </a:p>
          <a:p>
            <a:r>
              <a:rPr dirty="0"/>
              <a:t>intrinsically harder because it must also choose which dimension to describe. Comparing the two</a:t>
            </a:r>
          </a:p>
          <a:p>
            <a:r>
              <a:rPr dirty="0"/>
              <a:t>numbers as if on the same scale would be a mistake, and it's the kind of subtlety that separates an</a:t>
            </a:r>
          </a:p>
          <a:p>
            <a:r>
              <a:rPr dirty="0"/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We're at the most important result of the whole project. The question is as simple as it is</a:t>
            </a:r>
          </a:p>
          <a:p>
            <a:r>
              <a:rPr dirty="0"/>
              <a:t>fundamental: is the model actually using the image, or just mimicking the caption distribution?</a:t>
            </a:r>
          </a:p>
          <a:p>
            <a:r>
              <a:rPr dirty="0"/>
              <a:t>The tool is the shuffle test. The idea: if a model is truly conditioned on the image, its prediction</a:t>
            </a:r>
          </a:p>
          <a:p>
            <a:r>
              <a:rPr dirty="0"/>
              <a:t>for image </a:t>
            </a:r>
            <a:r>
              <a:rPr dirty="0" err="1"/>
              <a:t>i</a:t>
            </a:r>
            <a:r>
              <a:rPr dirty="0"/>
              <a:t> must match the reference of </a:t>
            </a:r>
            <a:r>
              <a:rPr dirty="0" err="1"/>
              <a:t>i</a:t>
            </a:r>
            <a:r>
              <a:rPr dirty="0"/>
              <a:t> better than a randomly picked prediction. So we shuffle the</a:t>
            </a:r>
          </a:p>
          <a:p>
            <a:r>
              <a:rPr dirty="0"/>
              <a:t>predictions across test rows, breaking the alignment, recompute the overlap a hundred times to get a</a:t>
            </a:r>
          </a:p>
          <a:p>
            <a:r>
              <a:rPr dirty="0"/>
              <a:t>null distribution, and measure the z-score. A z above 3 corresponds to p below 0.001: strong</a:t>
            </a:r>
          </a:p>
          <a:p>
            <a:r>
              <a:rPr dirty="0"/>
              <a:t>evidence.</a:t>
            </a:r>
          </a:p>
          <a:p>
            <a:r>
              <a:rPr dirty="0"/>
              <a:t>The verdict, in the chart, is crystal clear. m1, the </a:t>
            </a:r>
            <a:r>
              <a:rPr dirty="0" err="1"/>
              <a:t>ResNet</a:t>
            </a:r>
            <a:r>
              <a:rPr dirty="0"/>
              <a:t> model, has z near zero everywhere: it</a:t>
            </a:r>
          </a:p>
          <a:p>
            <a:r>
              <a:rPr dirty="0"/>
              <a:t>never uses the image, it's effectively a pure language model guessing from the distribution. m3 and</a:t>
            </a:r>
          </a:p>
          <a:p>
            <a:r>
              <a:rPr dirty="0"/>
              <a:t>m6, the </a:t>
            </a:r>
            <a:r>
              <a:rPr dirty="0" err="1"/>
              <a:t>ViT</a:t>
            </a:r>
            <a:r>
              <a:rPr dirty="0"/>
              <a:t> models, clearly use the image on four attributes out of seven: smell, thickness, </a:t>
            </a:r>
            <a:r>
              <a:rPr dirty="0" err="1"/>
              <a:t>colour</a:t>
            </a:r>
            <a:endParaRPr dirty="0"/>
          </a:p>
          <a:p>
            <a:r>
              <a:rPr dirty="0"/>
              <a:t>and structure. The only one where no model uses the image is aroma.</a:t>
            </a:r>
          </a:p>
          <a:p>
            <a:r>
              <a:rPr dirty="0"/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Put the shuffle test together with the two-axis design from the architectures slide, and the</a:t>
            </a:r>
          </a:p>
          <a:p>
            <a:r>
              <a:rPr dirty="0"/>
              <a:t>conclusion writes itself.</a:t>
            </a:r>
          </a:p>
          <a:p>
            <a:r>
              <a:rPr dirty="0"/>
              <a:t>Comparing m1 with m3, which isolates the encoder: m1 with </a:t>
            </a:r>
            <a:r>
              <a:rPr dirty="0" err="1"/>
              <a:t>ResNet</a:t>
            </a:r>
            <a:r>
              <a:rPr dirty="0"/>
              <a:t> never conditions on the image, m3</a:t>
            </a:r>
          </a:p>
          <a:p>
            <a:r>
              <a:rPr dirty="0"/>
              <a:t>with </a:t>
            </a:r>
            <a:r>
              <a:rPr dirty="0" err="1"/>
              <a:t>ViT</a:t>
            </a:r>
            <a:r>
              <a:rPr dirty="0"/>
              <a:t> does on most attributes. By changing only the encoder, image use switches on. The reading</a:t>
            </a:r>
          </a:p>
          <a:p>
            <a:r>
              <a:rPr dirty="0"/>
              <a:t>is that a frozen ResNet-50's features aren't informative enough at this data scale, while a frozen</a:t>
            </a:r>
          </a:p>
          <a:p>
            <a:r>
              <a:rPr dirty="0" err="1"/>
              <a:t>ViT</a:t>
            </a:r>
            <a:r>
              <a:rPr dirty="0"/>
              <a:t>-B/16's are.</a:t>
            </a:r>
          </a:p>
          <a:p>
            <a:r>
              <a:rPr dirty="0"/>
              <a:t>Comparing m3 with m6, which isolates the decoder: they produce different outputs, they never give</a:t>
            </a:r>
          </a:p>
          <a:p>
            <a:r>
              <a:rPr dirty="0"/>
              <a:t>the same caption for the same image, yet they have exactly the same image-conditioning profile. The</a:t>
            </a:r>
          </a:p>
          <a:p>
            <a:r>
              <a:rPr dirty="0"/>
              <a:t>same attributes succeed, the same fail. Changing the decoder changes the sentence's style, not</a:t>
            </a:r>
          </a:p>
          <a:p>
            <a:r>
              <a:rPr dirty="0"/>
              <a:t>whether the image is used.</a:t>
            </a:r>
          </a:p>
          <a:p>
            <a:r>
              <a:rPr dirty="0"/>
              <a:t>The synthesis is at the bottom: the binary gate of image-conditioning, on this dataset, is the</a:t>
            </a:r>
          </a:p>
          <a:p>
            <a:r>
              <a:rPr dirty="0"/>
              <a:t>visual encoder. Not the decoder, not the amount of data, not the hyperparameters. It's a clean</a:t>
            </a:r>
          </a:p>
          <a:p>
            <a:r>
              <a:rPr dirty="0"/>
              <a:t>result, and it also tells us where to act in future: on the encoder. Now let's reinforce this</a:t>
            </a:r>
          </a:p>
          <a:p>
            <a:r>
              <a:rPr dirty="0"/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We've seen that BLEU, on its own, misleads: it rewards template repetition and never looks at the</a:t>
            </a:r>
          </a:p>
          <a:p>
            <a:r>
              <a:rPr dirty="0"/>
              <a:t>image. To read the models more honestly, we paired BLEU with six complementary metrics, groupable</a:t>
            </a:r>
          </a:p>
          <a:p>
            <a:r>
              <a:rPr dirty="0"/>
              <a:t>into three families.</a:t>
            </a:r>
          </a:p>
          <a:p>
            <a:r>
              <a:rPr dirty="0"/>
              <a:t>The text metrics compare the prediction with the textual reference: besides BLEU, METEOR, which is</a:t>
            </a:r>
          </a:p>
          <a:p>
            <a:r>
              <a:rPr dirty="0"/>
              <a:t>more lenient because it aligns with stemming and synonyms, ROUGE-L, which rewards word order, and</a:t>
            </a:r>
          </a:p>
          <a:p>
            <a:r>
              <a:rPr dirty="0" err="1"/>
              <a:t>CIDEr</a:t>
            </a:r>
            <a:r>
              <a:rPr dirty="0"/>
              <a:t>, designed specifically for captioning, which weights n-grams with TF-IDF and so rewards rare,</a:t>
            </a:r>
          </a:p>
          <a:p>
            <a:r>
              <a:rPr dirty="0"/>
              <a:t>informative sensory terms like "eyes" (</a:t>
            </a:r>
            <a:r>
              <a:rPr dirty="0" err="1"/>
              <a:t>occhiatura</a:t>
            </a:r>
            <a:r>
              <a:rPr dirty="0"/>
              <a:t>) over common words.</a:t>
            </a:r>
          </a:p>
          <a:p>
            <a:r>
              <a:rPr dirty="0"/>
              <a:t>Then a semantic metric, </a:t>
            </a:r>
            <a:r>
              <a:rPr dirty="0" err="1"/>
              <a:t>BERTScore</a:t>
            </a:r>
            <a:r>
              <a:rPr dirty="0"/>
              <a:t>, measuring meaning similarity via embeddings. A domain metric,</a:t>
            </a:r>
          </a:p>
          <a:p>
            <a:r>
              <a:rPr dirty="0"/>
              <a:t>vocabulary conformity, which asks: does the model "speak cheese" in the certified register?</a:t>
            </a:r>
          </a:p>
          <a:p>
            <a:r>
              <a:rPr dirty="0"/>
              <a:t>And finally, highlighted at the bottom, the most important for captioning: </a:t>
            </a:r>
            <a:r>
              <a:rPr dirty="0" err="1"/>
              <a:t>CLIPScore</a:t>
            </a:r>
            <a:r>
              <a:rPr dirty="0"/>
              <a:t>, the only one</a:t>
            </a:r>
          </a:p>
          <a:p>
            <a:r>
              <a:rPr dirty="0"/>
              <a:t>that truly looks at the image. It compares the caption with the slice in CLIP space, ignoring the</a:t>
            </a:r>
          </a:p>
          <a:p>
            <a:r>
              <a:rPr dirty="0"/>
              <a:t>panel reference. The next two slides show what </a:t>
            </a:r>
            <a:r>
              <a:rPr dirty="0" err="1"/>
              <a:t>CIDEr</a:t>
            </a:r>
            <a:r>
              <a:rPr dirty="0"/>
              <a:t> and </a:t>
            </a:r>
            <a:r>
              <a:rPr dirty="0" err="1"/>
              <a:t>CLIPScore</a:t>
            </a:r>
            <a:r>
              <a:rPr dirty="0"/>
              <a:t>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start with </a:t>
            </a:r>
            <a:r>
              <a:rPr dirty="0" err="1"/>
              <a:t>CIDEr</a:t>
            </a:r>
            <a:r>
              <a:rPr dirty="0"/>
              <a:t>, the metric designed specifically for captioning. Unlike BLEU, which</a:t>
            </a:r>
          </a:p>
          <a:p>
            <a:r>
              <a:rPr dirty="0"/>
              <a:t>flattened the models onto close values, </a:t>
            </a:r>
            <a:r>
              <a:rPr dirty="0" err="1"/>
              <a:t>CIDEr</a:t>
            </a:r>
            <a:r>
              <a:rPr dirty="0"/>
              <a:t> weights rare terms with TF-IDF and so separates them.</a:t>
            </a:r>
          </a:p>
          <a:p>
            <a:r>
              <a:rPr dirty="0"/>
              <a:t>Look at the ordering in the chart, on the seven-attribute means: random 0.23, then </a:t>
            </a:r>
            <a:r>
              <a:rPr dirty="0" err="1"/>
              <a:t>freq_weighted</a:t>
            </a:r>
            <a:endParaRPr dirty="0"/>
          </a:p>
          <a:p>
            <a:r>
              <a:rPr dirty="0"/>
              <a:t>0.37, then the trained models rising clearly: m1 at 0.59, m3 at 0.65, m6 at 0.70. </a:t>
            </a:r>
            <a:r>
              <a:rPr dirty="0" err="1"/>
              <a:t>CIDEr</a:t>
            </a:r>
            <a:r>
              <a:rPr dirty="0"/>
              <a:t> orders the</a:t>
            </a:r>
          </a:p>
          <a:p>
            <a:r>
              <a:rPr dirty="0"/>
              <a:t>models correctly, and confirms m6 is the best. It's exactly the information BLEU couldn't give us: a</a:t>
            </a:r>
          </a:p>
          <a:p>
            <a:r>
              <a:rPr dirty="0"/>
              <a:t>clean ranking.</a:t>
            </a:r>
          </a:p>
          <a:p>
            <a:r>
              <a:rPr dirty="0"/>
              <a:t>There's one column taller than all, in gold: </a:t>
            </a:r>
            <a:r>
              <a:rPr dirty="0" err="1"/>
              <a:t>most_frequent</a:t>
            </a:r>
            <a:r>
              <a:rPr dirty="0"/>
              <a:t>, at 0.79. Don't be fooled: the constant</a:t>
            </a:r>
          </a:p>
          <a:p>
            <a:r>
              <a:rPr dirty="0"/>
              <a:t>baseline leads only because, on this dataset, the panel reference is often the frequent sentence</a:t>
            </a:r>
          </a:p>
          <a:p>
            <a:r>
              <a:rPr dirty="0"/>
              <a:t>itself. It's an artifact of the single reference, not real quality. On an extreme case like rind</a:t>
            </a:r>
          </a:p>
          <a:p>
            <a:r>
              <a:rPr dirty="0"/>
              <a:t>thickness, where BLEU gave 0.39 for everyone, </a:t>
            </a:r>
            <a:r>
              <a:rPr dirty="0" err="1"/>
              <a:t>CIDEr</a:t>
            </a:r>
            <a:r>
              <a:rPr dirty="0"/>
              <a:t> ranges from 1.04 to 2.29: a rich ordering BLEU</a:t>
            </a:r>
          </a:p>
          <a:p>
            <a:r>
              <a:rPr dirty="0"/>
              <a:t>simply did not see.</a:t>
            </a:r>
          </a:p>
          <a:p>
            <a:r>
              <a:rPr dirty="0"/>
              <a:t>Conclusion: </a:t>
            </a:r>
            <a:r>
              <a:rPr dirty="0" err="1"/>
              <a:t>CIDEr</a:t>
            </a:r>
            <a:r>
              <a:rPr dirty="0"/>
              <a:t>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Now </a:t>
            </a:r>
            <a:r>
              <a:rPr dirty="0" err="1"/>
              <a:t>CLIPScore</a:t>
            </a:r>
            <a:r>
              <a:rPr dirty="0"/>
              <a:t>, the only metric that looks at the image, and the independent confirmation of the</a:t>
            </a:r>
          </a:p>
          <a:p>
            <a:r>
              <a:rPr dirty="0"/>
              <a:t>shuffle test. Two charts, two messages.</a:t>
            </a:r>
          </a:p>
          <a:p>
            <a:r>
              <a:rPr dirty="0"/>
              <a:t>On the left, mean </a:t>
            </a:r>
            <a:r>
              <a:rPr dirty="0" err="1"/>
              <a:t>CLIPScore</a:t>
            </a:r>
            <a:r>
              <a:rPr dirty="0"/>
              <a:t> by model. Note the axis: I deliberately zoomed in, and despite the zoom</a:t>
            </a:r>
          </a:p>
          <a:p>
            <a:r>
              <a:rPr dirty="0"/>
              <a:t>the bars are practically identical. The trained models m1, m3, m6 do not beat the constant baseline</a:t>
            </a:r>
          </a:p>
          <a:p>
            <a:r>
              <a:rPr dirty="0" err="1"/>
              <a:t>most_frequent</a:t>
            </a:r>
            <a:r>
              <a:rPr dirty="0"/>
              <a:t>, the one that always fires the same sentence ignoring the image. The gap is below</a:t>
            </a:r>
          </a:p>
          <a:p>
            <a:r>
              <a:rPr dirty="0"/>
              <a:t>0.004, within the noise. It's the quantitative, independent confirmation of what the shuffle test</a:t>
            </a:r>
          </a:p>
          <a:p>
            <a:r>
              <a:rPr dirty="0"/>
              <a:t>already told us: with a frozen encoder, the models don't anchor the caption to the visual content,</a:t>
            </a:r>
          </a:p>
          <a:p>
            <a:r>
              <a:rPr dirty="0"/>
              <a:t>they do language modeling on the caption distribution.</a:t>
            </a:r>
          </a:p>
          <a:p>
            <a:r>
              <a:rPr dirty="0"/>
              <a:t>On the right, the real variation: it's per attribute, not per model. CLIP "sees" that texture,</a:t>
            </a:r>
          </a:p>
          <a:p>
            <a:r>
              <a:rPr dirty="0" err="1"/>
              <a:t>colour</a:t>
            </a:r>
            <a:r>
              <a:rPr dirty="0"/>
              <a:t> and structure, the visual attributes, get higher scores, while aroma, taste and smell stay</a:t>
            </a:r>
          </a:p>
          <a:p>
            <a:r>
              <a:rPr dirty="0"/>
              <a:t>low for everyone, because no image can reveal a taste. It's a sanity check that validates the metric.</a:t>
            </a:r>
          </a:p>
          <a:p>
            <a:r>
              <a:rPr dirty="0"/>
              <a:t>And remember the exception: rind thickness is visible but low, because the rind is a small portion</a:t>
            </a:r>
          </a:p>
          <a:p>
            <a:r>
              <a:rPr dirty="0"/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numbers tell half the story; the generated captions tell the other half. Here you see real</a:t>
            </a:r>
          </a:p>
          <a:p>
            <a:r>
              <a:rPr dirty="0"/>
              <a:t>predictions from m6 alongside the panel reference, on test-set samples.</a:t>
            </a:r>
          </a:p>
          <a:p>
            <a:r>
              <a:rPr dirty="0"/>
              <a:t>Sometimes it's an exact match: on the aroma of cream, prediction and reference coincide word for</a:t>
            </a:r>
          </a:p>
          <a:p>
            <a:r>
              <a:rPr dirty="0"/>
              <a:t>word. On thickness, "the rind is medium-thick", again perfect. But look at the other cases: on taste</a:t>
            </a:r>
          </a:p>
          <a:p>
            <a:r>
              <a:rPr dirty="0"/>
              <a:t>the model says "slightly salty and spicy" where the panel said just "salty"; on structure it</a:t>
            </a:r>
          </a:p>
          <a:p>
            <a:r>
              <a:rPr dirty="0"/>
              <a:t>proposes "irregular fracture and fine grain" while the reference talks about stretched paste.</a:t>
            </a:r>
          </a:p>
          <a:p>
            <a:r>
              <a:rPr dirty="0"/>
              <a:t>From these examples four patterns emerge, </a:t>
            </a:r>
            <a:r>
              <a:rPr dirty="0" err="1"/>
              <a:t>summarised</a:t>
            </a:r>
            <a:r>
              <a:rPr dirty="0"/>
              <a:t> at the bottom. First: the scaffolding, "the</a:t>
            </a:r>
          </a:p>
          <a:p>
            <a:r>
              <a:rPr dirty="0"/>
              <a:t>cheese has a...", is always correct and alone worth about half the BLEU-4, which is why the numbers</a:t>
            </a:r>
          </a:p>
          <a:p>
            <a:r>
              <a:rPr dirty="0"/>
              <a:t>aren't tiny. Second: the language is fluent and grammatical, thanks to the pretrained model. Third,</a:t>
            </a:r>
          </a:p>
          <a:p>
            <a:r>
              <a:rPr dirty="0"/>
              <a:t>and most telling: the descriptor is often plausible but refers to another cheese, exactly what we</a:t>
            </a:r>
          </a:p>
          <a:p>
            <a:r>
              <a:rPr dirty="0"/>
              <a:t>expect from a model only partially conditioned on the image. Fourth: the variability across tasters</a:t>
            </a:r>
          </a:p>
          <a:p>
            <a:r>
              <a:rPr dirty="0"/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wrap up. The project delivers two results and one promise for the future.</a:t>
            </a:r>
          </a:p>
          <a:p>
            <a:r>
              <a:rPr dirty="0"/>
              <a:t>The scientific result is the most solid: on this dataset, the determinant of image use is the visual</a:t>
            </a:r>
          </a:p>
          <a:p>
            <a:r>
              <a:rPr dirty="0"/>
              <a:t>encoder. </a:t>
            </a:r>
            <a:r>
              <a:rPr dirty="0" err="1"/>
              <a:t>ResNet</a:t>
            </a:r>
            <a:r>
              <a:rPr dirty="0"/>
              <a:t> ignores the image on all seven attributes, </a:t>
            </a:r>
            <a:r>
              <a:rPr dirty="0" err="1"/>
              <a:t>ViT</a:t>
            </a:r>
            <a:r>
              <a:rPr dirty="0"/>
              <a:t> uses it on four out of seven,</a:t>
            </a:r>
          </a:p>
          <a:p>
            <a:r>
              <a:rPr dirty="0"/>
              <a:t>independent of the decoder, the data scale and the hyperparameters. And it's not an isolated claim:</a:t>
            </a:r>
          </a:p>
          <a:p>
            <a:r>
              <a:rPr dirty="0"/>
              <a:t>two independent tools, the shuffle test and </a:t>
            </a:r>
            <a:r>
              <a:rPr dirty="0" err="1"/>
              <a:t>CLIPScore</a:t>
            </a:r>
            <a:r>
              <a:rPr dirty="0"/>
              <a:t>, converge on the same conclusion.</a:t>
            </a:r>
          </a:p>
          <a:p>
            <a:r>
              <a:rPr dirty="0"/>
              <a:t>The practical result: the trained models beat the constant baseline on four attributes out of seven,</a:t>
            </a:r>
          </a:p>
          <a:p>
            <a:r>
              <a:rPr dirty="0"/>
              <a:t>with the maximum on structure. m6, the </a:t>
            </a:r>
            <a:r>
              <a:rPr dirty="0" err="1"/>
              <a:t>ViT</a:t>
            </a:r>
            <a:r>
              <a:rPr dirty="0"/>
              <a:t> with </a:t>
            </a:r>
            <a:r>
              <a:rPr dirty="0" err="1"/>
              <a:t>GePpeTto</a:t>
            </a:r>
            <a:r>
              <a:rPr dirty="0"/>
              <a:t>, wins narrowly almost everywhere. And all</a:t>
            </a:r>
          </a:p>
          <a:p>
            <a:r>
              <a:rPr dirty="0"/>
              <a:t>this rests on a 38-thousand-pair dataset built with just 5 dollars and 60 cents of LLM cost.</a:t>
            </a:r>
          </a:p>
          <a:p>
            <a:r>
              <a:rPr dirty="0"/>
              <a:t>Future work follows directly from the diagnosis: since the bottleneck is the frozen encoder, the</a:t>
            </a:r>
          </a:p>
          <a:p>
            <a:r>
              <a:rPr dirty="0"/>
              <a:t>natural next experiment is fine-tuning the encoder and re-measuring </a:t>
            </a:r>
            <a:r>
              <a:rPr dirty="0" err="1"/>
              <a:t>CLIPScore</a:t>
            </a:r>
            <a:r>
              <a:rPr dirty="0"/>
              <a:t>. If the models start</a:t>
            </a:r>
          </a:p>
          <a:p>
            <a:r>
              <a:rPr dirty="0"/>
              <a:t>pulling away from the constant baseline, we'll have direct proof that the image is finally being</a:t>
            </a:r>
          </a:p>
          <a:p>
            <a:r>
              <a:rPr dirty="0"/>
              <a:t>exploited.</a:t>
            </a:r>
          </a:p>
          <a:p>
            <a:r>
              <a:rPr dirty="0"/>
              <a:t>I'll close with an honest framing: none of these models would replace a taster today. They learned</a:t>
            </a:r>
          </a:p>
          <a:p>
            <a:r>
              <a:rPr dirty="0"/>
              <a:t>the sensory vocabulary and a partial map from image to descriptor, a result consistent with the</a:t>
            </a:r>
          </a:p>
          <a:p>
            <a:r>
              <a:rPr dirty="0"/>
              <a:t>data scale and the intrinsic noise of multi-taster annotation. But the path is mapped, and we know</a:t>
            </a:r>
          </a:p>
          <a:p>
            <a:r>
              <a:rPr dirty="0"/>
              <a:t>exactly where to act.</a:t>
            </a:r>
          </a:p>
          <a:p>
            <a:r>
              <a:rPr dirty="0"/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slide is the methodological moral of the whole evaluation, condensed into one image.</a:t>
            </a:r>
          </a:p>
          <a:p>
            <a:r>
              <a:rPr dirty="0"/>
              <a:t>Look at the same pair of models, the constant baseline </a:t>
            </a:r>
            <a:r>
              <a:rPr dirty="0" err="1"/>
              <a:t>most_frequent</a:t>
            </a:r>
            <a:r>
              <a:rPr dirty="0"/>
              <a:t> against m6, seen by two</a:t>
            </a:r>
          </a:p>
          <a:p>
            <a:r>
              <a:rPr dirty="0"/>
              <a:t>different metrics. On the left, with BLEU-1, the constant caption wins: it always emits the same</a:t>
            </a:r>
          </a:p>
          <a:p>
            <a:r>
              <a:rPr dirty="0"/>
              <a:t>sentence and matches on the prefix. On the right, with </a:t>
            </a:r>
            <a:r>
              <a:rPr dirty="0" err="1"/>
              <a:t>CLIPScore</a:t>
            </a:r>
            <a:r>
              <a:rPr dirty="0"/>
              <a:t>, the two are practically</a:t>
            </a:r>
          </a:p>
          <a:p>
            <a:r>
              <a:rPr dirty="0"/>
              <a:t>indistinguishable.</a:t>
            </a:r>
          </a:p>
          <a:p>
            <a:r>
              <a:rPr dirty="0"/>
              <a:t>The exact same comparison, two opposite verdicts. This vividly demonstrates that a single metric, on</a:t>
            </a:r>
          </a:p>
          <a:p>
            <a:r>
              <a:rPr dirty="0"/>
              <a:t>its own, can lie. Had we looked only at BLEU-1, we'd have concluded that a constant sentence beats a</a:t>
            </a:r>
          </a:p>
          <a:p>
            <a:r>
              <a:rPr dirty="0"/>
              <a:t>trained model: an absurd conclusion. This is exactly why we built a battery of metrics and read</a:t>
            </a:r>
          </a:p>
          <a:p>
            <a:r>
              <a:rPr dirty="0"/>
              <a:t>them together: BLEU for phrasing, </a:t>
            </a:r>
            <a:r>
              <a:rPr dirty="0" err="1"/>
              <a:t>CIDEr</a:t>
            </a:r>
            <a:r>
              <a:rPr dirty="0"/>
              <a:t> for salient terms, </a:t>
            </a:r>
            <a:r>
              <a:rPr dirty="0" err="1"/>
              <a:t>BERTScore</a:t>
            </a:r>
            <a:r>
              <a:rPr dirty="0"/>
              <a:t> for meaning, and </a:t>
            </a:r>
            <a:r>
              <a:rPr dirty="0" err="1"/>
              <a:t>CLIPScore</a:t>
            </a:r>
            <a:r>
              <a:rPr dirty="0"/>
              <a:t> for</a:t>
            </a:r>
          </a:p>
          <a:p>
            <a:r>
              <a:rPr dirty="0"/>
              <a:t>image grounding.</a:t>
            </a:r>
          </a:p>
          <a:p>
            <a:r>
              <a:rPr dirty="0" err="1"/>
              <a:t>BERTScore</a:t>
            </a:r>
            <a:r>
              <a:rPr dirty="0"/>
              <a:t>, for completeness, is poorly discriminating here: all values fall between 0.83 and 0.92,</a:t>
            </a:r>
          </a:p>
          <a:p>
            <a:r>
              <a:rPr dirty="0"/>
              <a:t>because all sentences talk about cheese with the same structure. It's useful as a sanity check, not</a:t>
            </a:r>
          </a:p>
          <a:p>
            <a:r>
              <a:rPr dirty="0"/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32929" y="0"/>
            <a:ext cx="1373884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 dirty="0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  <p:extLst>
      <p:ext uri="{BB962C8B-B14F-4D97-AF65-F5344CB8AC3E}">
        <p14:creationId xmlns:p14="http://schemas.microsoft.com/office/powerpoint/2010/main" val="344040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1336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Input: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Output: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Value: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1" dirty="0">
                <a:solidFill>
                  <a:srgbClr val="8A8A84"/>
                </a:solidFill>
                <a:latin typeface="Calibri"/>
              </a:rPr>
              <a:t>Close-up of the grain </a:t>
            </a:r>
            <a:r>
              <a:rPr lang="it-IT" sz="1200" b="0" i="1" dirty="0">
                <a:solidFill>
                  <a:srgbClr val="8A8A84"/>
                </a:solidFill>
                <a:latin typeface="Calibri"/>
              </a:rPr>
              <a:t>-</a:t>
            </a:r>
            <a:r>
              <a:rPr sz="1200" b="0" i="1" dirty="0">
                <a:solidFill>
                  <a:srgbClr val="8A8A84"/>
                </a:solidFill>
                <a:latin typeface="Calibri"/>
              </a:rPr>
              <a:t> IRIS electronic visual analyzer</a:t>
            </a:r>
          </a:p>
        </p:txBody>
      </p:sp>
    </p:spTree>
    <p:extLst>
      <p:ext uri="{BB962C8B-B14F-4D97-AF65-F5344CB8AC3E}">
        <p14:creationId xmlns:p14="http://schemas.microsoft.com/office/powerpoint/2010/main" val="2825581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343295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389888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0" i="0" dirty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</a:t>
            </a:r>
            <a:r>
              <a:rPr lang="it-IT" sz="20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2000" b="0" i="0" dirty="0">
                <a:solidFill>
                  <a:srgbClr val="2B2A26"/>
                </a:solidFill>
                <a:latin typeface="Calibri"/>
              </a:rPr>
              <a:t>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dirty="0">
                <a:solidFill>
                  <a:srgbClr val="1B334A"/>
                </a:solidFill>
                <a:latin typeface="Georgia"/>
              </a:rPr>
              <a:t>Colore della pasta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5B8C5A"/>
                </a:solidFill>
                <a:latin typeface="Calibri"/>
              </a:rPr>
              <a:t>VIS</a:t>
            </a:r>
            <a:r>
              <a:rPr lang="it-IT" sz="1600" b="1" spc="150" dirty="0">
                <a:solidFill>
                  <a:srgbClr val="5B8C5A"/>
                </a:solidFill>
                <a:latin typeface="Calibri"/>
              </a:rPr>
              <a:t>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i="0" dirty="0">
                <a:solidFill>
                  <a:srgbClr val="1B334A"/>
                </a:solidFill>
                <a:latin typeface="Georgia"/>
              </a:rPr>
              <a:t>Struttura della pasta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Spessore della crosta</a:t>
            </a:r>
          </a:p>
          <a:p>
            <a:pPr>
              <a:spcBef>
                <a:spcPts val="400"/>
              </a:spcBef>
            </a:pPr>
            <a:r>
              <a:rPr lang="it-IT" sz="1600" b="1" i="0" spc="150" dirty="0">
                <a:solidFill>
                  <a:srgbClr val="C88836"/>
                </a:solidFill>
                <a:latin typeface="Calibri"/>
              </a:rPr>
              <a:t>VISUAL</a:t>
            </a:r>
            <a:r>
              <a:rPr sz="1600" b="1" i="0" spc="150" dirty="0">
                <a:solidFill>
                  <a:srgbClr val="C88836"/>
                </a:solidFill>
                <a:latin typeface="Calibri"/>
              </a:rPr>
              <a:t>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Odore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2C5F8A"/>
                </a:solidFill>
                <a:latin typeface="Calibri"/>
              </a:rPr>
              <a:t>OLFA</a:t>
            </a:r>
            <a:r>
              <a:rPr lang="it-IT" sz="1600" b="1" i="0" spc="150" dirty="0">
                <a:solidFill>
                  <a:srgbClr val="2C5F8A"/>
                </a:solidFill>
                <a:latin typeface="Calibri"/>
              </a:rPr>
              <a:t>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2C5F8A"/>
                </a:solidFill>
              </a:rPr>
              <a:t>OLFACTORY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 err="1">
                <a:solidFill>
                  <a:srgbClr val="1B334A"/>
                </a:solidFill>
                <a:latin typeface="Georgia"/>
              </a:rPr>
              <a:t>Sapore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C1492E"/>
                </a:solidFill>
                <a:latin typeface="Calibri"/>
              </a:rPr>
              <a:t>GUSTATI</a:t>
            </a:r>
            <a:r>
              <a:rPr lang="it-IT" sz="1600" b="1" spc="150" dirty="0">
                <a:solidFill>
                  <a:srgbClr val="C1492E"/>
                </a:solidFill>
                <a:latin typeface="Calibri"/>
              </a:rPr>
              <a:t>VE</a:t>
            </a:r>
            <a:endParaRPr sz="1600" b="1" i="0" spc="150" dirty="0">
              <a:solidFill>
                <a:srgbClr val="C1492E"/>
              </a:solidFill>
              <a:latin typeface="Calibr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83356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  <p:extLst>
      <p:ext uri="{BB962C8B-B14F-4D97-AF65-F5344CB8AC3E}">
        <p14:creationId xmlns:p14="http://schemas.microsoft.com/office/powerpoint/2010/main" val="4185221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505340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125059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1 · Text pre-processing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Clean and normalize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70%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Apply three «as conceptually different as possible»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 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encoder–decoders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Multi-metric evaluation beyond BLEU alone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30%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  <p:extLst>
      <p:ext uri="{BB962C8B-B14F-4D97-AF65-F5344CB8AC3E}">
        <p14:creationId xmlns:p14="http://schemas.microsoft.com/office/powerpoint/2010/main" val="2048947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600" b="1" i="0" dirty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1" dirty="0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2992982" cy="20261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2,745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Excel workbooks (201</a:t>
            </a:r>
            <a:r>
              <a:rPr lang="it-IT" sz="1600" dirty="0">
                <a:solidFill>
                  <a:srgbClr val="2B2A26"/>
                </a:solidFill>
                <a:latin typeface="Calibri"/>
              </a:rPr>
              <a:t>8-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2021), one sheet per attribute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14930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join problem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Images and comments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«spoke different languages»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The filename identifies the single wheel; the comment only the taster's tray. No row-level join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  <p:extLst>
      <p:ext uri="{BB962C8B-B14F-4D97-AF65-F5344CB8AC3E}">
        <p14:creationId xmlns:p14="http://schemas.microsoft.com/office/powerpoint/2010/main" val="160343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Dairy-level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0" dirty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914400" y="3610874"/>
            <a:ext cx="2194560" cy="73353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b="1" i="1" dirty="0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200" b="0" i="0" dirty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754880" y="2707850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4754880" y="3421082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4754880" y="4134314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4754880" y="4847546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8595360" y="3733984"/>
            <a:ext cx="2743200" cy="48731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4 image</a:t>
            </a:r>
            <a:r>
              <a:rPr lang="it-IT" sz="1600" b="1" i="0" dirty="0">
                <a:solidFill>
                  <a:srgbClr val="1B334A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1B334A"/>
                </a:solidFill>
                <a:latin typeface="Calibri"/>
              </a:rPr>
              <a:t>caption rows</a:t>
            </a:r>
          </a:p>
          <a:p>
            <a:r>
              <a:rPr sz="1400" b="0" i="0" dirty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417E1E9B-2FE2-82B9-DCD6-8C068B39B11A}"/>
              </a:ext>
            </a:extLst>
          </p:cNvPr>
          <p:cNvGrpSpPr/>
          <p:nvPr/>
        </p:nvGrpSpPr>
        <p:grpSpPr>
          <a:xfrm>
            <a:off x="723418" y="5413248"/>
            <a:ext cx="10698480" cy="640080"/>
            <a:chOff x="731520" y="4892040"/>
            <a:chExt cx="10698480" cy="640080"/>
          </a:xfrm>
        </p:grpSpPr>
        <p:sp>
          <p:nvSpPr>
            <p:cNvPr id="35" name="Rounded Rectangle 34"/>
            <p:cNvSpPr/>
            <p:nvPr/>
          </p:nvSpPr>
          <p:spPr>
            <a:xfrm>
              <a:off x="731520" y="4892040"/>
              <a:ext cx="10698480" cy="640080"/>
            </a:xfrm>
            <a:prstGeom prst="roundRect">
              <a:avLst/>
            </a:prstGeom>
            <a:solidFill>
              <a:srgbClr val="1B3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9640" y="4993850"/>
              <a:ext cx="10332720" cy="271869"/>
            </a:xfrm>
            <a:prstGeom prst="rect">
              <a:avLst/>
            </a:prstGeom>
            <a:noFill/>
          </p:spPr>
          <p:txBody>
            <a:bodyPr wrap="square" lIns="25400" tIns="12700" rIns="25400" bIns="12700" anchor="ctr">
              <a:spAutoFit/>
            </a:bodyPr>
            <a:lstStyle/>
            <a:p>
              <a:r>
                <a:rPr sz="1600" b="1" i="0" dirty="0">
                  <a:solidFill>
                    <a:srgbClr val="E0A458"/>
                  </a:solidFill>
                  <a:latin typeface="Calibri"/>
                </a:rPr>
                <a:t>Net effect:  </a:t>
              </a:r>
              <a:r>
                <a:rPr sz="1600" b="0" i="0" dirty="0">
                  <a:solidFill>
                    <a:srgbClr val="F7F1E3"/>
                  </a:solidFill>
                  <a:latin typeface="Calibri"/>
                </a:rPr>
                <a:t>51,988 rows (image × panelist × attribute) · 39,510 with a comment · pairing rate ≈ 76%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56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deterministic-before-the-LLM</a:t>
            </a:r>
            <a:r>
              <a:rPr lang="it-IT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85039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55371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25703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5039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55371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25703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85039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455371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825703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137491"/>
            <a:ext cx="107899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6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6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  <p:extLst>
      <p:ext uri="{BB962C8B-B14F-4D97-AF65-F5344CB8AC3E}">
        <p14:creationId xmlns:p14="http://schemas.microsoft.com/office/powerpoint/2010/main" val="3734075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12,632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12,478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86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75.7%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  <p:extLst>
      <p:ext uri="{BB962C8B-B14F-4D97-AF65-F5344CB8AC3E}">
        <p14:creationId xmlns:p14="http://schemas.microsoft.com/office/powerpoint/2010/main" val="1496007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188256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Filter empties/N-A + Unicode normalization (NFC)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187230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600" b="1" i="0" dirty="0">
                <a:solidFill>
                  <a:srgbClr val="F7F1E3"/>
                </a:solidFill>
                <a:latin typeface="Calibri"/>
              </a:rPr>
              <a:t>«Drops must be certain».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LLM will handle ambiguity better: a negation with a descriptor: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«I don't penalize it, but it smells of barn»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carries real information and is kept.
Result: 39,356 rows (75.7% retention), 12,632 drops, of which 12,478 empty, 86 meta, 68 near-empty.</a:t>
            </a:r>
          </a:p>
        </p:txBody>
      </p:sp>
    </p:spTree>
    <p:extLst>
      <p:ext uri="{BB962C8B-B14F-4D97-AF65-F5344CB8AC3E}">
        <p14:creationId xmlns:p14="http://schemas.microsoft.com/office/powerpoint/2010/main" val="1748979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A controlled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vocabulary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55" y="2250226"/>
            <a:ext cx="6418446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84719" y="2058871"/>
            <a:ext cx="4618818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284718" y="2058871"/>
            <a:ext cx="90195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40750" y="2205175"/>
            <a:ext cx="4280195" cy="346248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dirty="0"/>
              <a:t>I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talian NLP tools err: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panna→panno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latte→latto</a:t>
            </a:r>
            <a:r>
              <a:rPr lang="en-US" sz="1600" b="1" dirty="0">
                <a:solidFill>
                  <a:srgbClr val="2C5F8A"/>
                </a:solidFill>
              </a:rPr>
              <a:t>.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 Our </a:t>
            </a:r>
            <a:r>
              <a:rPr lang="en-US" sz="1600" b="1" i="0" dirty="0" err="1">
                <a:solidFill>
                  <a:srgbClr val="2B2A26"/>
                </a:solidFill>
                <a:latin typeface="Calibri"/>
              </a:rPr>
              <a:t>stoplist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 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keeps the intensifiers that matter: «molto», «poco», «</a:t>
            </a:r>
            <a:r>
              <a:rPr lang="en-US" sz="1600" b="0" i="0" dirty="0" err="1">
                <a:solidFill>
                  <a:srgbClr val="2B2A26"/>
                </a:solidFill>
                <a:latin typeface="Calibri"/>
              </a:rPr>
              <a:t>leggermente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»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Deterministic normalization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: abbreviation + typo maps, accent restoration, measurement units dropped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dirty="0" err="1">
                <a:solidFill>
                  <a:srgbClr val="2B2A26"/>
                </a:solidFill>
                <a:latin typeface="Calibri"/>
              </a:rPr>
              <a:t>Singular↔plural</a:t>
            </a:r>
            <a:r>
              <a:rPr lang="en-US" sz="1600" b="1" dirty="0">
                <a:solidFill>
                  <a:srgbClr val="2B2A26"/>
                </a:solidFill>
                <a:latin typeface="Calibri"/>
              </a:rPr>
              <a:t> merge 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only when both forms are attested → antonyms stay split (</a:t>
            </a:r>
            <a:r>
              <a:rPr lang="en-US" sz="1600" dirty="0" err="1">
                <a:solidFill>
                  <a:srgbClr val="2B2A26"/>
                </a:solidFill>
                <a:latin typeface="Calibri"/>
              </a:rPr>
              <a:t>carico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 ≠ </a:t>
            </a:r>
            <a:r>
              <a:rPr lang="en-US" sz="1600" dirty="0" err="1">
                <a:solidFill>
                  <a:srgbClr val="2B2A26"/>
                </a:solidFill>
                <a:latin typeface="Calibri"/>
              </a:rPr>
              <a:t>scarico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)</a:t>
            </a:r>
            <a:endParaRPr lang="it-IT" sz="160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dirty="0">
                <a:solidFill>
                  <a:srgbClr val="2B2A26"/>
                </a:solidFill>
              </a:rPr>
              <a:t>Top-200 lemmas + top-80 bigrams per attribute (</a:t>
            </a:r>
            <a:r>
              <a:rPr lang="en-US" sz="1600" dirty="0" err="1">
                <a:solidFill>
                  <a:srgbClr val="2B2A26"/>
                </a:solidFill>
              </a:rPr>
              <a:t>freq</a:t>
            </a:r>
            <a:r>
              <a:rPr lang="en-US" sz="1600" dirty="0">
                <a:solidFill>
                  <a:srgbClr val="2B2A26"/>
                </a:solidFill>
              </a:rPr>
              <a:t> ≥ 3): audit basis + style anchor in the prompt, never a closed dictionary</a:t>
            </a:r>
            <a:endParaRPr sz="160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174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From numbers to quality: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Hundreds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Molto sottile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Sottile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Spessa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2B2A26"/>
                          </a:solidFill>
                          <a:latin typeface="Calibri"/>
                        </a:rPr>
                        <a:t>Molto spessa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9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THE DECISIVE TRICK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39,356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5.1×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cuts the LLM cost ~5×</a:t>
            </a:r>
            <a:endParaRPr sz="1200" b="0" i="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007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10999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LLM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0041" y="1920240"/>
            <a:ext cx="412675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1" y="1920240"/>
            <a:ext cx="96469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168" y="2066544"/>
            <a:ext cx="4000359" cy="301108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system prompt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rules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Faithfulness:</a:t>
            </a:r>
            <a:r>
              <a:rPr lang="en-US" sz="1600" dirty="0"/>
              <a:t> zero invention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Normalization: </a:t>
            </a:r>
            <a:r>
              <a:rPr lang="en-US" sz="1600" dirty="0" err="1"/>
              <a:t>numbers→quality</a:t>
            </a:r>
            <a:r>
              <a:rPr lang="en-US" sz="1600" dirty="0"/>
              <a:t>, </a:t>
            </a:r>
            <a:r>
              <a:rPr lang="en-US" sz="1600" dirty="0" err="1"/>
              <a:t>synonyms→controlled</a:t>
            </a:r>
            <a:r>
              <a:rPr lang="en-US" sz="1600" dirty="0"/>
              <a:t> lexicon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Cleanup: </a:t>
            </a:r>
            <a:r>
              <a:rPr lang="en-US" sz="1600" dirty="0"/>
              <a:t>remove pure meta comments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Safety:</a:t>
            </a:r>
            <a:r>
              <a:rPr lang="en-US" sz="1600" dirty="0"/>
              <a:t> NON_DESCRITTO escape when no descriptor is present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Top-60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97F420-A9C4-6AB6-15C8-4F7102E387DC}"/>
              </a:ext>
            </a:extLst>
          </p:cNvPr>
          <p:cNvGrpSpPr/>
          <p:nvPr/>
        </p:nvGrpSpPr>
        <p:grpSpPr>
          <a:xfrm>
            <a:off x="4620527" y="1920240"/>
            <a:ext cx="3520440" cy="3291840"/>
            <a:chOff x="4297680" y="1920240"/>
            <a:chExt cx="3520440" cy="3291840"/>
          </a:xfrm>
        </p:grpSpPr>
        <p:sp>
          <p:nvSpPr>
            <p:cNvPr id="11" name="Rounded Rectangle 10"/>
            <p:cNvSpPr/>
            <p:nvPr/>
          </p:nvSpPr>
          <p:spPr>
            <a:xfrm>
              <a:off x="4297680" y="1920240"/>
              <a:ext cx="3520440" cy="3291840"/>
            </a:xfrm>
            <a:prstGeom prst="roundRect">
              <a:avLst/>
            </a:prstGeom>
            <a:solidFill>
              <a:srgbClr val="FBF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97680" y="1920240"/>
              <a:ext cx="82296" cy="3291840"/>
            </a:xfrm>
            <a:prstGeom prst="rect">
              <a:avLst/>
            </a:prstGeom>
            <a:solidFill>
              <a:srgbClr val="2C5F8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553712" y="2066544"/>
              <a:ext cx="3099816" cy="2077492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r>
                <a:rPr sz="2400" b="1" i="0" dirty="0">
                  <a:solidFill>
                    <a:srgbClr val="1B334A"/>
                  </a:solidFill>
                  <a:latin typeface="Georgia"/>
                </a:rPr>
                <a:t>7 · Pilot run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1" i="0" dirty="0">
                  <a:solidFill>
                    <a:srgbClr val="2B2A26"/>
                  </a:solidFill>
                  <a:latin typeface="Calibri"/>
                </a:rPr>
                <a:t>105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 captions (15 per attribute)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Found 2 failure modes: 1cm vs 10mm; empty format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Both fixed in the prompt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1" i="0" dirty="0">
                  <a:solidFill>
                    <a:srgbClr val="2B2A26"/>
                  </a:solidFill>
                  <a:latin typeface="Calibri"/>
                </a:rPr>
                <a:t>3 workers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 = optimal; 8 → storms of 429s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E2E734-BB27-A729-532E-79BAFB908D74}"/>
              </a:ext>
            </a:extLst>
          </p:cNvPr>
          <p:cNvGrpSpPr/>
          <p:nvPr/>
        </p:nvGrpSpPr>
        <p:grpSpPr>
          <a:xfrm>
            <a:off x="8372374" y="1920240"/>
            <a:ext cx="3611880" cy="3291840"/>
            <a:chOff x="7955279" y="1920240"/>
            <a:chExt cx="3611880" cy="3291840"/>
          </a:xfrm>
        </p:grpSpPr>
        <p:sp>
          <p:nvSpPr>
            <p:cNvPr id="14" name="Rounded Rectangle 13"/>
            <p:cNvSpPr/>
            <p:nvPr/>
          </p:nvSpPr>
          <p:spPr>
            <a:xfrm>
              <a:off x="7955279" y="1920240"/>
              <a:ext cx="3611880" cy="3291840"/>
            </a:xfrm>
            <a:prstGeom prst="roundRect">
              <a:avLst/>
            </a:prstGeom>
            <a:solidFill>
              <a:srgbClr val="FBF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955279" y="1920240"/>
              <a:ext cx="82296" cy="3291840"/>
            </a:xfrm>
            <a:prstGeom prst="rect">
              <a:avLst/>
            </a:prstGeom>
            <a:solidFill>
              <a:srgbClr val="5B8C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211311" y="2066544"/>
              <a:ext cx="3191256" cy="1985159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r>
                <a:rPr sz="2400" b="1" i="0" dirty="0">
                  <a:solidFill>
                    <a:srgbClr val="1B334A"/>
                  </a:solidFill>
                  <a:latin typeface="Georgia"/>
                </a:rPr>
                <a:t>8 · Full batch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7,689 / 7,689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completed, 0 errors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~25</a:t>
              </a:r>
              <a:r>
                <a:rPr lang="it-IT" b="1" i="0" dirty="0">
                  <a:solidFill>
                    <a:srgbClr val="2B2A26"/>
                  </a:solidFill>
                  <a:latin typeface="Calibri"/>
                </a:rPr>
                <a:t>-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30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minutes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Haiku 4.5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· Anthropic Batch API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~$4.50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for the batch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0065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Why Haiku 4.5: same job, a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fraction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2.4×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2525160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PROGRAMMATIC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Step 1 is satisfied 100%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Violations</a:t>
                      </a:r>
                      <a:endParaRPr sz="140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starts with the expected attribute prefix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C88836"/>
                          </a:solidFill>
                          <a:latin typeface="Calibri"/>
                        </a:rPr>
                        <a:t>1*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digits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units (mm / cm / %)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longer than 25 words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empty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multi-line or with markup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955279" y="1965960"/>
            <a:ext cx="3611880" cy="36118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1965960"/>
            <a:ext cx="82296" cy="361188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12264"/>
            <a:ext cx="3191256" cy="26879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numbers,</a:t>
            </a:r>
          </a:p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units</a:t>
            </a:r>
          </a:p>
          <a:p>
            <a:r>
              <a:rPr sz="1300" b="0" i="0" dirty="0">
                <a:solidFill>
                  <a:srgbClr val="F7F1E3"/>
                </a:solidFill>
                <a:latin typeface="Calibri"/>
              </a:rPr>
              <a:t>
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quantitative → qualitative conversion succeeded 100%: the main requirement of Step 1 is fully met.
* the only «violation» is an alternative, still-valid prefix.</a:t>
            </a:r>
            <a:endParaRPr sz="1300" b="0" i="0" dirty="0">
              <a:solidFill>
                <a:srgbClr val="F7F1E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0919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231345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marcio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putrido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+916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  <p:extLst>
      <p:ext uri="{BB962C8B-B14F-4D97-AF65-F5344CB8AC3E}">
        <p14:creationId xmlns:p14="http://schemas.microsoft.com/office/powerpoint/2010/main" val="684870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950" b="0" i="1" noProof="0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1100" b="1" i="0" noProof="0" dirty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1250" b="1" i="0" spc="220" noProof="0" dirty="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3600" b="1" i="0" noProof="0" dirty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4008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74320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84632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29187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2400" b="1" i="0" noProof="0" dirty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lang="en-US" sz="10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by_attribute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/&lt;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Attr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&gt;.csv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caption_sentence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  <p:extLst>
      <p:ext uri="{BB962C8B-B14F-4D97-AF65-F5344CB8AC3E}">
        <p14:creationId xmlns:p14="http://schemas.microsoft.com/office/powerpoint/2010/main" val="3635043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200" b="1" i="0" dirty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  <p:extLst>
      <p:ext uri="{BB962C8B-B14F-4D97-AF65-F5344CB8AC3E}">
        <p14:creationId xmlns:p14="http://schemas.microsoft.com/office/powerpoint/2010/main" val="4232887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80060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80060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 dirty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59536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859536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  <p:extLst>
      <p:ext uri="{BB962C8B-B14F-4D97-AF65-F5344CB8AC3E}">
        <p14:creationId xmlns:p14="http://schemas.microsoft.com/office/powerpoint/2010/main" val="205977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7654735"/>
              </p:ext>
            </p:extLst>
          </p:nvPr>
        </p:nvGraphicFramePr>
        <p:xfrm>
          <a:off x="640080" y="1920240"/>
          <a:ext cx="103271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5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7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06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79" y="4069080"/>
            <a:ext cx="10327177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82296" cy="1783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215384"/>
            <a:ext cx="652881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Fair-evaluation choices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Sample-disjoint split: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674 train / 143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val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/ 147 test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no leak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Nucleus sampling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(top-p 0.9, T 0.7): beam collapses to the modal caption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Healthy curves: no overfitting,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NaN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or collapse</a:t>
            </a:r>
          </a:p>
        </p:txBody>
      </p:sp>
    </p:spTree>
    <p:extLst>
      <p:ext uri="{BB962C8B-B14F-4D97-AF65-F5344CB8AC3E}">
        <p14:creationId xmlns:p14="http://schemas.microsoft.com/office/powerpoint/2010/main" val="1593879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1328144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28161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Win: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Struttura (+0.128), Profumo, Texture, Colore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Tie/lose: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Aroma, Sapore, Spessore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4 / 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  <p:extLst>
      <p:ext uri="{BB962C8B-B14F-4D97-AF65-F5344CB8AC3E}">
        <p14:creationId xmlns:p14="http://schemas.microsoft.com/office/powerpoint/2010/main" val="3670338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293926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m3 first on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CIDEr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0.007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⚠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has the highest BLEU-1 but worst BLEU-4: degenerate</a:t>
            </a:r>
          </a:p>
        </p:txBody>
      </p:sp>
    </p:spTree>
    <p:extLst>
      <p:ext uri="{BB962C8B-B14F-4D97-AF65-F5344CB8AC3E}">
        <p14:creationId xmlns:p14="http://schemas.microsoft.com/office/powerpoint/2010/main" val="3648157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~80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140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0453689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37986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Predictions are shuffled across test rows, breaking the prediction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↔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image alignment.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58504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m1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ResNet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m3 / 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F7F1E3"/>
                </a:solidFill>
                <a:latin typeface="Calibri"/>
              </a:rPr>
              <a:t>Odore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Spessore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Co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lore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Stru</a:t>
            </a:r>
            <a:r>
              <a:rPr lang="it-IT" sz="1600" b="1" i="0" dirty="0" err="1">
                <a:solidFill>
                  <a:srgbClr val="F7F1E3"/>
                </a:solidFill>
                <a:latin typeface="Calibri"/>
              </a:rPr>
              <a:t>ttura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Aroma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  <p:extLst>
      <p:ext uri="{BB962C8B-B14F-4D97-AF65-F5344CB8AC3E}">
        <p14:creationId xmlns:p14="http://schemas.microsoft.com/office/powerpoint/2010/main" val="11889265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199541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m1 vs m3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encoder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m1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NEVER conditions on the image.
m3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does on most attributes.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
→ A frozen ResNet-50's features aren't enough at this data scale; a frozen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184153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m3 vs m6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decoder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448038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 dirty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  <p:extLst>
      <p:ext uri="{BB962C8B-B14F-4D97-AF65-F5344CB8AC3E}">
        <p14:creationId xmlns:p14="http://schemas.microsoft.com/office/powerpoint/2010/main" val="2564263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224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56993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random &lt;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freq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&lt; m1 &lt; m3 &lt; m6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m6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(0.79)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  <p:extLst>
      <p:ext uri="{BB962C8B-B14F-4D97-AF65-F5344CB8AC3E}">
        <p14:creationId xmlns:p14="http://schemas.microsoft.com/office/powerpoint/2010/main" val="2917709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 dirty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761945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  <p:extLst>
      <p:ext uri="{BB962C8B-B14F-4D97-AF65-F5344CB8AC3E}">
        <p14:creationId xmlns:p14="http://schemas.microsoft.com/office/powerpoint/2010/main" val="33901831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Attributo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Prediction (m6)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Reference (panel)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an aroma of cream.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cheese has an aroma of cream.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Gusto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…taste slightly salty and spicy.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 salty taste.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rind is medium-thick.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rind is medium-thick.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Colore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…deep, even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…overly deep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Struttura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…irregular fracture and fine grain.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…stretched, with sparse grain in places.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</p:spTree>
    <p:extLst>
      <p:ext uri="{BB962C8B-B14F-4D97-AF65-F5344CB8AC3E}">
        <p14:creationId xmlns:p14="http://schemas.microsoft.com/office/powerpoint/2010/main" val="4213987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ignores the image,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uses it on 4/7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Independent of decoder, data scale, hyperparameters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Confirmed by shuffle test +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4/7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ViT+GePpeTto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and re-measure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no model would replace a taster. They learned the vocabulary and a partial image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→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descriptor map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A458"/>
                </a:solidFill>
                <a:latin typeface="Georgia"/>
              </a:rPr>
              <a:t>Thank you. Questions?</a:t>
            </a:r>
          </a:p>
        </p:txBody>
      </p:sp>
    </p:spTree>
    <p:extLst>
      <p:ext uri="{BB962C8B-B14F-4D97-AF65-F5344CB8AC3E}">
        <p14:creationId xmlns:p14="http://schemas.microsoft.com/office/powerpoint/2010/main" val="19688469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BLEU trap, visualized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236475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Left, BLEU-1: the constant caption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WINS.
Right,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CLIPScore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: the two models are practically equal.
→ BLEU-1 alone is misleading. Metrics must be read together.</a:t>
            </a:r>
          </a:p>
        </p:txBody>
      </p:sp>
    </p:spTree>
    <p:extLst>
      <p:ext uri="{BB962C8B-B14F-4D97-AF65-F5344CB8AC3E}">
        <p14:creationId xmlns:p14="http://schemas.microsoft.com/office/powerpoint/2010/main" val="3861128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B094F68-EA9A-4AEB-AB68-A8948F3628C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4f756ff-e9dd-44c3-a091-26b1d22725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3361</TotalTime>
  <Words>8807</Words>
  <Application>Microsoft Macintosh PowerPoint</Application>
  <PresentationFormat>Widescreen</PresentationFormat>
  <Paragraphs>838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Nicolò Fadigà</dc:creator>
  <cp:keywords/>
  <dc:description>generated using python-pptx</dc:description>
  <cp:lastModifiedBy>Fadigà, Nicolò</cp:lastModifiedBy>
  <cp:revision>17</cp:revision>
  <cp:lastPrinted>2026-06-23T09:13:01Z</cp:lastPrinted>
  <dcterms:created xsi:type="dcterms:W3CDTF">2013-01-27T09:14:16Z</dcterms:created>
  <dcterms:modified xsi:type="dcterms:W3CDTF">2026-06-24T15:51:52Z</dcterms:modified>
  <cp:category/>
</cp:coreProperties>
</file>