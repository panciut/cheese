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dPt>
            <c:idx val="0"/>
            <c:spPr>
              <a:solidFill>
                <a:srgbClr val="5B8C5A"/>
              </a:solidFill>
              <a:ln>
                <a:noFill/>
              </a:ln>
            </c:spPr>
          </c:dPt>
          <c:dPt>
            <c:idx val="1"/>
            <c:spPr>
              <a:solidFill>
                <a:srgbClr val="E0A458"/>
              </a:solidFill>
              <a:ln>
                <a:noFill/>
              </a:ln>
            </c:spPr>
          </c:dPt>
          <c:dPt>
            <c:idx val="2"/>
            <c:spPr>
              <a:solidFill>
                <a:srgbClr val="C1492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67.0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sz="1300" b="1">
                  <a:solidFill>
                    <a:srgbClr val="1B334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</c:v>
                </c:pt>
                <c:pt idx="1">
                  <c:v>0.1283</c:v>
                </c:pt>
                <c:pt idx="2">
                  <c:v>0.2938</c:v>
                </c:pt>
                <c:pt idx="3">
                  <c:v>0.2951</c:v>
                </c:pt>
                <c:pt idx="4">
                  <c:v>0.2517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0.2875</c:v>
                </c:pt>
                <c:pt idx="3">
                  <c:v>0.2981</c:v>
                </c:pt>
                <c:pt idx="4">
                  <c:v>0.2856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</c:v>
                </c:pt>
                <c:pt idx="1">
                  <c:v>0.1307</c:v>
                </c:pt>
                <c:pt idx="2">
                  <c:v>0.2928</c:v>
                </c:pt>
                <c:pt idx="3">
                  <c:v>0.3007</c:v>
                </c:pt>
                <c:pt idx="4">
                  <c:v>0.2741</c:v>
                </c:pt>
              </c:numCache>
            </c:numRef>
          </c:val>
        </c:ser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dPt>
            <c:idx val="0"/>
            <c:spPr>
              <a:solidFill>
                <a:srgbClr val="8A8A84"/>
              </a:solidFill>
              <a:ln>
                <a:noFill/>
              </a:ln>
            </c:spPr>
          </c:dPt>
          <c:dPt>
            <c:idx val="1"/>
            <c:spPr>
              <a:solidFill>
                <a:srgbClr val="8A8A84"/>
              </a:solidFill>
              <a:ln>
                <a:noFill/>
              </a:ln>
            </c:spPr>
          </c:dPt>
          <c:dPt>
            <c:idx val="2"/>
            <c:spPr>
              <a:solidFill>
                <a:srgbClr val="E07A5F"/>
              </a:solidFill>
              <a:ln>
                <a:noFill/>
              </a:ln>
            </c:spPr>
          </c:dPt>
          <c:dPt>
            <c:idx val="3"/>
            <c:spPr>
              <a:solidFill>
                <a:srgbClr val="3D7068"/>
              </a:solidFill>
              <a:ln>
                <a:noFill/>
              </a:ln>
            </c:spPr>
          </c:dPt>
          <c:dPt>
            <c:idx val="4"/>
            <c:spPr>
              <a:solidFill>
                <a:srgbClr val="8A5082"/>
              </a:solidFill>
              <a:ln>
                <a:noFill/>
              </a:ln>
            </c:spPr>
          </c:dPt>
          <c:dPt>
            <c:idx val="5"/>
            <c:spPr>
              <a:solidFill>
                <a:srgbClr val="E0A458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</c:v>
                </c:pt>
                <c:pt idx="1">
                  <c:v>0.37</c:v>
                </c:pt>
                <c:pt idx="2">
                  <c:v>0.586</c:v>
                </c:pt>
                <c:pt idx="3">
                  <c:v>0.646</c:v>
                </c:pt>
                <c:pt idx="4">
                  <c:v>0.704</c:v>
                </c:pt>
                <c:pt idx="5">
                  <c:v>0.79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dPt>
            <c:idx val="0"/>
            <c:spPr>
              <a:solidFill>
                <a:srgbClr val="E0A458"/>
              </a:solidFill>
              <a:ln>
                <a:noFill/>
              </a:ln>
            </c:spPr>
          </c:dPt>
          <c:dPt>
            <c:idx val="1"/>
            <c:spPr>
              <a:solidFill>
                <a:srgbClr val="8A8A84"/>
              </a:solidFill>
              <a:ln>
                <a:noFill/>
              </a:ln>
            </c:spPr>
          </c:dPt>
          <c:dPt>
            <c:idx val="2"/>
            <c:spPr>
              <a:solidFill>
                <a:srgbClr val="8A8A84"/>
              </a:solidFill>
              <a:ln>
                <a:noFill/>
              </a:ln>
            </c:spPr>
          </c:dPt>
          <c:dPt>
            <c:idx val="3"/>
            <c:spPr>
              <a:solidFill>
                <a:srgbClr val="E07A5F"/>
              </a:solidFill>
              <a:ln>
                <a:noFill/>
              </a:ln>
            </c:spPr>
          </c:dPt>
          <c:dPt>
            <c:idx val="4"/>
            <c:spPr>
              <a:solidFill>
                <a:srgbClr val="3D7068"/>
              </a:solidFill>
              <a:ln>
                <a:noFill/>
              </a:ln>
            </c:spPr>
          </c:dPt>
          <c:dPt>
            <c:idx val="5"/>
            <c:spPr>
              <a:solidFill>
                <a:srgbClr val="8A5082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</c:v>
                </c:pt>
                <c:pt idx="1">
                  <c:v>0.1913</c:v>
                </c:pt>
                <c:pt idx="2">
                  <c:v>0.1919</c:v>
                </c:pt>
                <c:pt idx="3">
                  <c:v>0.1925</c:v>
                </c:pt>
                <c:pt idx="4">
                  <c:v>0.1921</c:v>
                </c:pt>
                <c:pt idx="5">
                  <c:v>0.1933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195"/>
          <c:min val="0.185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dPt>
            <c:idx val="0"/>
            <c:spPr>
              <a:solidFill>
                <a:srgbClr val="2C5F8A"/>
              </a:solidFill>
              <a:ln>
                <a:noFill/>
              </a:ln>
            </c:spPr>
          </c:dPt>
          <c:dPt>
            <c:idx val="1"/>
            <c:spPr>
              <a:solidFill>
                <a:srgbClr val="C1492E"/>
              </a:solidFill>
              <a:ln>
                <a:noFill/>
              </a:ln>
            </c:spPr>
          </c:dPt>
          <c:dPt>
            <c:idx val="2"/>
            <c:spPr>
              <a:solidFill>
                <a:srgbClr val="E0A458"/>
              </a:solidFill>
              <a:ln>
                <a:noFill/>
              </a:ln>
            </c:spPr>
          </c:dPt>
          <c:dPt>
            <c:idx val="3"/>
            <c:spPr>
              <a:solidFill>
                <a:srgbClr val="2C5F8A"/>
              </a:solidFill>
              <a:ln>
                <a:noFill/>
              </a:ln>
            </c:spPr>
          </c:dPt>
          <c:dPt>
            <c:idx val="4"/>
            <c:spPr>
              <a:solidFill>
                <a:srgbClr val="5B8C5A"/>
              </a:solidFill>
              <a:ln>
                <a:noFill/>
              </a:ln>
            </c:spPr>
          </c:dPt>
          <c:dPt>
            <c:idx val="5"/>
            <c:spPr>
              <a:solidFill>
                <a:srgbClr val="5B8C5A"/>
              </a:solidFill>
              <a:ln>
                <a:noFill/>
              </a:ln>
            </c:spPr>
          </c:dPt>
          <c:dPt>
            <c:idx val="6"/>
            <c:spPr>
              <a:solidFill>
                <a:srgbClr val="5B8C5A"/>
              </a:solidFill>
              <a:ln>
                <a:noFill/>
              </a:ln>
            </c:spPr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0.181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</c:v>
                </c:pt>
                <c:pt idx="5">
                  <c:v>0.206</c:v>
                </c:pt>
                <c:pt idx="6">
                  <c:v>0.208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17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everyone, and welcome. Today I'm presenting our project on the sensory captioning of</a:t>
            </a:r>
          </a:p>
          <a:p>
            <a:r>
              <a:t>Trentingrana cheese, developed within the AI4FQC initiative — Artificial Intelligence for Food</a:t>
            </a:r>
          </a:p>
          <a:p>
            <a:r>
              <a:t>Quality Control, Project 07.</a:t>
            </a:r>
          </a:p>
          <a:p>
            <a:r>
              <a:t>The starting idea is simple to state but surprisingly rich to deliver: automatically generate</a:t>
            </a:r>
          </a:p>
          <a:p>
            <a:r>
              <a:t>sensory descriptions, in Italian, from images of grana cheese cross-sections. In other words,</a:t>
            </a:r>
          </a:p>
          <a:p>
            <a:r>
              <a:t>teach a model to "tell the story" of a cheese by looking at a slice of it.</a:t>
            </a:r>
          </a:p>
          <a:p>
            <a:r>
              <a:t>The work has two pillars: building the dataset — the most original and demanding part, to which</a:t>
            </a:r>
          </a:p>
          <a:p>
            <a:r>
              <a:t>I'll devote roughly 70% of the time — and comparing three conceptually different encoder-decoder</a:t>
            </a:r>
          </a:p>
          <a:p>
            <a:r>
              <a:t>architectures. We'll look at concrete numbers: 38 thousand image-caption pairs, three models,</a:t>
            </a:r>
          </a:p>
          <a:p>
            <a:r>
              <a:t>seven sensory attributes, and above all a clear scientific result about what truly drives a model</a:t>
            </a:r>
          </a:p>
          <a:p>
            <a:r>
              <a:t>to actually use the image.</a:t>
            </a:r>
          </a:p>
          <a:p>
            <a:r>
              <a:t>Let's start with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begin with the real problem. Grana quality is certified by tasting panels: experts who</a:t>
            </a:r>
          </a:p>
          <a:p>
            <a:r>
              <a:t>smell, taste and observe each wheel, describing aroma, flavor, structure and so on. It is a wealth</a:t>
            </a:r>
          </a:p>
          <a:p>
            <a:r>
              <a:t>of expertise, but it has three limits: it is slow, it is subjective — two panelists describe the</a:t>
            </a:r>
          </a:p>
          <a:p>
            <a:r>
              <a:t>same wheel with different words — and it is hard to scale when there are thousands of wheels.</a:t>
            </a:r>
          </a:p>
          <a:p>
            <a:r>
              <a:t>The project's idea is to support this work with an automatic system. We feed the model an image</a:t>
            </a:r>
          </a:p>
          <a:p>
            <a:r>
              <a:t>captured with the IRIS electronic visual analyzer, under controlled lighting, like the one you see</a:t>
            </a:r>
          </a:p>
          <a:p>
            <a:r>
              <a:t>on the right, and we ask it to produce a sensory description in Italian for each attribute.</a:t>
            </a:r>
          </a:p>
          <a:p>
            <a:r>
              <a:t>Important: the goal is not to replace the taster, but to offer objective, reproducible support. As</a:t>
            </a:r>
          </a:p>
          <a:p>
            <a:r>
              <a:t>we'll see, some attributes — the visible ones — lend themselves far better than others, and this</a:t>
            </a:r>
          </a:p>
          <a:p>
            <a:r>
              <a:t>very distinction will be one of the most interesting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seven sensory dimensions the panel rates for each wheel: paste colour, texture,</a:t>
            </a:r>
          </a:p>
          <a:p>
            <a:r>
              <a:t>paste structure, rind thickness, smell, aroma and taste.</a:t>
            </a:r>
          </a:p>
          <a:p>
            <a:r>
              <a:t>Please keep in mind a distinction that will become central in the second part. Three attributes —</a:t>
            </a:r>
          </a:p>
          <a:p>
            <a:r>
              <a:t>paste colour, texture and paste structure — are intrinsically visual: they can be read from the</a:t>
            </a:r>
          </a:p>
          <a:p>
            <a:r>
              <a:t>image. Three — smell, aroma and taste — belong to olfaction and gustation: no photograph can</a:t>
            </a:r>
          </a:p>
          <a:p>
            <a:r>
              <a:t>reveal a taste. And then there is an instructive case, rind thickness: it is physically visible,</a:t>
            </a:r>
          </a:p>
          <a:p>
            <a:r>
              <a:t>yet the rind occupies a small portion of the slice, and we'll see that the model struggles to</a:t>
            </a:r>
          </a:p>
          <a:p>
            <a:r>
              <a:t>"weight" it.</a:t>
            </a:r>
          </a:p>
          <a:p>
            <a:r>
              <a:t>This taxonomy is not decorative: when we measure whether the model truly uses the image, we'll</a:t>
            </a:r>
          </a:p>
          <a:p>
            <a:r>
              <a:t>find it succeeds exactly on the visible attributes and fails on the olfactory and gustatory ones.</a:t>
            </a:r>
          </a:p>
          <a:p>
            <a:r>
              <a:t>It is a sanity check that validates the whole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AI4FQC brief explicitly asks for two deliverables.</a:t>
            </a:r>
          </a:p>
          <a:p>
            <a:r>
              <a:t>The first step is text pre-processing: take the tasters' descriptions — often telegraphic,</a:t>
            </a:r>
          </a:p>
          <a:p>
            <a:r>
              <a:t>sometimes in dialect, occasionally inconsistent — and turn them into clean, normalised captions in</a:t>
            </a:r>
          </a:p>
          <a:p>
            <a:r>
              <a:t>the form of Italian sentences. A specific, recurring requirement is to replace quantitative</a:t>
            </a:r>
          </a:p>
          <a:p>
            <a:r>
              <a:t>measures, the rind's millimetres and centimetres, with qualitative descriptions. This step, as you</a:t>
            </a:r>
          </a:p>
          <a:p>
            <a:r>
              <a:t>see, accounts for about 70% of the work: it is the most original part.</a:t>
            </a:r>
          </a:p>
          <a:p>
            <a:r>
              <a:t>The second step is to apply and compare three encoder-decoder methods that are "as conceptually</a:t>
            </a:r>
          </a:p>
          <a:p>
            <a:r>
              <a:t>different as possible". Note the emphasis: the brief does not ask for the best model, but for a</a:t>
            </a:r>
          </a:p>
          <a:p>
            <a:r>
              <a:t>comparison of approaches. To do this honestly, we paired BLEU with a battery of complementary</a:t>
            </a:r>
          </a:p>
          <a:p>
            <a:r>
              <a:t>metrics.</a:t>
            </a:r>
          </a:p>
          <a:p>
            <a:r>
              <a:t>Consistently with these weights, I'll devote the first and larger part of the talk to building the</a:t>
            </a:r>
          </a:p>
          <a:p>
            <a:r>
              <a:t>dataset, and the second to the models. Let's start with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enter the first part: building the dataset.</a:t>
            </a:r>
          </a:p>
          <a:p>
            <a:r>
              <a:t>Here's the journey in one line: we start from nearly 52 thousand raw, heterogeneous and at times</a:t>
            </a:r>
          </a:p>
          <a:p>
            <a:r>
              <a:t>dialectal rows, and we arrive at 38 thousand clean, normalised image-caption pairs in sentence</a:t>
            </a:r>
          </a:p>
          <a:p>
            <a:r>
              <a:t>form. In between there's an eleven-stage pipeline and a precise strategy that let us do all this</a:t>
            </a:r>
          </a:p>
          <a:p>
            <a:r>
              <a:t>for an AI cost of just 5 dollars and 60 cents.</a:t>
            </a:r>
          </a:p>
          <a:p>
            <a:r>
              <a:t>This, in my view, is the most interesting part of the project from an engineering standpoint,</a:t>
            </a:r>
          </a:p>
          <a:p>
            <a:r>
              <a:t>because the raw data was deceptively rich but deeply misaligned. Let's see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starting material looked rich: nearly 2,750 high-resolution BMP photos of cheese sections, in</a:t>
            </a:r>
          </a:p>
          <a:p>
            <a:r>
              <a:t>two views — the whole slice and a close-up of the grain; four Excel workbooks, one per year from</a:t>
            </a:r>
          </a:p>
          <a:p>
            <a:r>
              <a:t>2018 to 2021, with one sheet per attribute; and a codebook mapping the sixteen dairies.</a:t>
            </a:r>
          </a:p>
          <a:p>
            <a:r>
              <a:t>The problem, however, was not quantity but alignment. Images and comments, in practice, spoke</a:t>
            </a:r>
          </a:p>
          <a:p>
            <a:r>
              <a:t>different languages. The photo filename identifies the single wheel — a precise sample ID — while</a:t>
            </a:r>
          </a:p>
          <a:p>
            <a:r>
              <a:t>the taster's comment identifies only the tray, the "product". So there was no row-by-row join</a:t>
            </a:r>
          </a:p>
          <a:p>
            <a:r>
              <a:t>between a photo and its comment: there was only a dairy-level join, going through the codebook.</a:t>
            </a:r>
          </a:p>
          <a:p>
            <a:r>
              <a:t>On top of that, three concrete obstacles that cost real time: the same dairy appears written three</a:t>
            </a:r>
          </a:p>
          <a:p>
            <a:r>
              <a:t>different ways; the Excel headers change from year to year; and the numeric scores use the Italian</a:t>
            </a:r>
          </a:p>
          <a:p>
            <a:r>
              <a:t>decimal comma. Every provenance field is propagated downstream, so each final row stays traceable</a:t>
            </a:r>
          </a:p>
          <a:p>
            <a:r>
              <a:t>back to the original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 we solve the lack of a wheel-level join? With what we called a dairy-level broadcast. The</a:t>
            </a:r>
          </a:p>
          <a:p>
            <a:r>
              <a:t>idea is to propagate each taster's comment to all coherent images of that dairy in that session.</a:t>
            </a:r>
          </a:p>
          <a:p>
            <a:r>
              <a:t>Look at the example. A single comment about smell — the word "Sauerkraut" for dairy TN_306 —</a:t>
            </a:r>
          </a:p>
          <a:p>
            <a:r>
              <a:t>becomes the caption of four different images: replicas a and b, each in the two views, slice and</a:t>
            </a:r>
          </a:p>
          <a:p>
            <a:r>
              <a:t>grain. From one comment we get up to four image-caption rows, with the same caption.</a:t>
            </a:r>
          </a:p>
          <a:p>
            <a:r>
              <a:t>One might object: isn't this artificial duplication? Actually no — for training it's an advantage:</a:t>
            </a:r>
          </a:p>
          <a:p>
            <a:r>
              <a:t>more examples of the same visual-textual association make the signal more robust.</a:t>
            </a:r>
          </a:p>
          <a:p>
            <a:r>
              <a:t>The net effect of the join is nearly 52 thousand rows, obtained as image times panelist times</a:t>
            </a:r>
          </a:p>
          <a:p>
            <a:r>
              <a:t>attribute, of which about 39,500 have a non-empty comment: a pairing rate around 76%, lower in the</a:t>
            </a:r>
          </a:p>
          <a:p>
            <a:r>
              <a:t>2021 sessions where some fields were left blank. From here the pipeline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full map: eleven stages, numbered zero to ten, each with its own Python script, explicit</a:t>
            </a:r>
          </a:p>
          <a:p>
            <a:r>
              <a:t>inputs and outputs, and an inspectable report.</a:t>
            </a:r>
          </a:p>
          <a:p>
            <a:r>
              <a:t>The guiding principle — and this is the most important architectural decision of the first part —</a:t>
            </a:r>
          </a:p>
          <a:p>
            <a:r>
              <a:t>is "deterministic before the LLM". It means: everything that can be done with reproducible,</a:t>
            </a:r>
          </a:p>
          <a:p>
            <a:r>
              <a:t>verifiable, free code, we do before calling the language model.</a:t>
            </a:r>
          </a:p>
          <a:p>
            <a:r>
              <a:t>In blue you see the deterministic stages: from the unified table, to text preparation, to building</a:t>
            </a:r>
          </a:p>
          <a:p>
            <a:r>
              <a:t>the vocabulary, to cleanup and deduplication. In gold the stages that involve the LLM: prompt</a:t>
            </a:r>
          </a:p>
          <a:p>
            <a:r>
              <a:t>design, the pilot and the full batch. In green the final assembly.</a:t>
            </a:r>
          </a:p>
          <a:p>
            <a:r>
              <a:t>Follow the numbers along the stages: 52 thousand initial rows, reduced and normalised, then</a:t>
            </a:r>
          </a:p>
          <a:p>
            <a:r>
              <a:t>compressed to about 7,700 unique captions — and only this subset reaches the paid model. It is</a:t>
            </a:r>
          </a:p>
          <a:p>
            <a:r>
              <a:t>exactly this compression that keeps the cost to a few dollars. Let's look at the key stages one by</a:t>
            </a:r>
          </a:p>
          <a:p>
            <a:r>
              <a:t>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same story, seen as a funnel. The axis shows the number of training rows as they move</a:t>
            </a:r>
          </a:p>
          <a:p>
            <a:r>
              <a:t>through the pipeline.</a:t>
            </a:r>
          </a:p>
          <a:p>
            <a:r>
              <a:t>The biggest drop — over 12,600 rows — happens entirely in the deterministic preparation of stage 1.</a:t>
            </a:r>
          </a:p>
          <a:p>
            <a:r>
              <a:t>But watch what we discard: the vast majority, nearly 12,500 rows, are empty or null values. Only 86</a:t>
            </a:r>
          </a:p>
          <a:p>
            <a:r>
              <a:t>are meta-comments and 68 are near-empty fragments. In other words, we are not discarding sensory</a:t>
            </a:r>
          </a:p>
          <a:p>
            <a:r>
              <a:t>content: we are removing certain noise.</a:t>
            </a:r>
          </a:p>
          <a:p>
            <a:r>
              <a:t>The retention rate after stage 1 is 75.7%. And here's a deliberate choice I want to stress: at this</a:t>
            </a:r>
          </a:p>
          <a:p>
            <a:r>
              <a:t>stage, drops must be certain. A sentence like "I don't penalise it, but it smells of barn" contains</a:t>
            </a:r>
          </a:p>
          <a:p>
            <a:r>
              <a:t>a real descriptor and must NOT be discarded by a regex — that kind of ambiguity is better handled</a:t>
            </a:r>
          </a:p>
          <a:p>
            <a:r>
              <a:t>by the LLM later. The deterministic blacklist is therefore small and conservative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enter stage 1, the deterministic preparation. The golden rule here is: clean without</a:t>
            </a:r>
          </a:p>
          <a:p>
            <a:r>
              <a:t>rewriting. We don't change the taster's words, we only clean them.</a:t>
            </a:r>
          </a:p>
          <a:p>
            <a:r>
              <a:t>The operations are all mechanical and verifiable: we filter empties and N/A, normalise Unicode to</a:t>
            </a:r>
          </a:p>
          <a:p>
            <a:r>
              <a:t>NFC form, remove non-breaking spaces, zero-width characters, tabs and newlines. Then we remove</a:t>
            </a:r>
          </a:p>
          <a:p>
            <a:r>
              <a:t>meta-comments with a deliberately small blacklist, and near-empty fragments, those with fewer than</a:t>
            </a:r>
          </a:p>
          <a:p>
            <a:r>
              <a:t>two alphanumeric characters after cleaning. We always keep two columns, raw text and normalised</a:t>
            </a:r>
          </a:p>
          <a:p>
            <a:r>
              <a:t>text, so every transformation is reversible and auditable.</a:t>
            </a:r>
          </a:p>
          <a:p>
            <a:r>
              <a:t>The philosophy, on the right, is the key: drops must be certain. Anything ambiguous passes through,</a:t>
            </a:r>
          </a:p>
          <a:p>
            <a:r>
              <a:t>because the LLM will handle it better than any fixed rule. The net result is 39,356 rows, with the</a:t>
            </a:r>
          </a:p>
          <a:p>
            <a:r>
              <a:t>drops that — I repeat because it matters — are 99% simply empties.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Stages 2 and 3 build a controlled vocabulary for each of the seven attributes: the most frequent</a:t>
            </a:r>
          </a:p>
          <a:p>
            <a:r>
              <a:t>lemmas and bigrams, with a tailor-made Italian lemmatisation.</a:t>
            </a:r>
          </a:p>
          <a:p>
            <a:r>
              <a:t>Why not use a standard NLP library? Because on the sensory lexicon they err systematically: they</a:t>
            </a:r>
          </a:p>
          <a:p>
            <a:r>
              <a:t>turn "panna" (cream) into "panno" (cloth), "latte" (milk) into "latto". And above all they include</a:t>
            </a:r>
          </a:p>
          <a:p>
            <a:r>
              <a:t>among the stopwords words that here are informative: "molto", "poco", "leggermente" — very, little,</a:t>
            </a:r>
          </a:p>
          <a:p>
            <a:r>
              <a:t>slightly — are sensory intensifiers, not noise. So we wrote a deterministic lemmatiser, with maps</a:t>
            </a:r>
          </a:p>
          <a:p>
            <a:r>
              <a:t>of abbreviations and typos and a singular-plural merge that fires only when both forms are attested</a:t>
            </a:r>
          </a:p>
          <a:p>
            <a:r>
              <a:t>in the corpus.</a:t>
            </a:r>
          </a:p>
          <a:p>
            <a:r>
              <a:t>In the chart you see the vocabulary breadth per attribute: paste structure is the richest, with</a:t>
            </a:r>
          </a:p>
          <a:p>
            <a:r>
              <a:t>nearly 800 lemmas and over 40 thousand tokens; rind thickness is the poorest, consistent with its</a:t>
            </a:r>
          </a:p>
          <a:p>
            <a:r>
              <a:t>lower descriptive variety. The vocabulary serves two purposes: as a basis for the audit, and as a</a:t>
            </a:r>
          </a:p>
          <a:p>
            <a:r>
              <a:t>stylistic anchor in the LLM prompt — not as a closed dictionary, since the model already speaks</a:t>
            </a:r>
          </a:p>
          <a:p>
            <a:r>
              <a:t>Italian.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4 tackles head-on the brief's explicit requirement: replacing quantitative descriptions with</a:t>
            </a:r>
          </a:p>
          <a:p>
            <a:r>
              <a:t>qualitative ones. The emblematic case is rind thickness, where hundreds of captions were plain</a:t>
            </a:r>
          </a:p>
          <a:p>
            <a:r>
              <a:t>numbers: "10", "1 cm", "on average 9 mm", "8-10 mm".</a:t>
            </a:r>
          </a:p>
          <a:p>
            <a:r>
              <a:t>The solution is a deterministic function that recognises fully numeric captions, converts</a:t>
            </a:r>
          </a:p>
          <a:p>
            <a:r>
              <a:t>everything to millimetres — with a heuristic reading values below 5 as centimetres — and assigns a</a:t>
            </a:r>
          </a:p>
          <a:p>
            <a:r>
              <a:t>qualitative bucket per the table you see: below 8 millimetres "very thin", up to 10 "thin", and so</a:t>
            </a:r>
          </a:p>
          <a:p>
            <a:r>
              <a:t>on up to "very thick" beyond 18.</a:t>
            </a:r>
          </a:p>
          <a:p>
            <a:r>
              <a:t>Why do it deterministically and not with the LLM? Because it eliminates at the root the model's main</a:t>
            </a:r>
          </a:p>
          <a:p>
            <a:r>
              <a:t>source of inconsistency, which otherwise bucketed "1 cm" and "10 mm" — the exact same physical</a:t>
            </a:r>
          </a:p>
          <a:p>
            <a:r>
              <a:t>measure — differently. In the chart on the right you see the result: 424 numeric rows neatly</a:t>
            </a:r>
          </a:p>
          <a:p>
            <a:r>
              <a:t>collapsed into five buckets. Mixed captions, those blending numbers and description, are instead</a:t>
            </a:r>
          </a:p>
          <a:p>
            <a:r>
              <a:t>left to the LLM because they require contextual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trick for the project's economics: deduplication.</a:t>
            </a:r>
          </a:p>
          <a:p>
            <a:r>
              <a:t>Remember the broadcast? By replicating each comment across four images, the exact same text would</a:t>
            </a:r>
          </a:p>
          <a:p>
            <a:r>
              <a:t>have been sent to the LLM many times, paying for it each time. That makes no sense. So, before</a:t>
            </a:r>
          </a:p>
          <a:p>
            <a:r>
              <a:t>calling the model, we deduplicate by key: the caption-plus-attribute pair.</a:t>
            </a:r>
          </a:p>
          <a:p>
            <a:r>
              <a:t>The result is sharp: over 39 thousand rows compress into 7,705 unique captions, a 5.1-fold</a:t>
            </a:r>
          </a:p>
          <a:p>
            <a:r>
              <a:t>compression. The chart shows, per attribute, prepared rows versus unique captions. The dominant</a:t>
            </a:r>
          </a:p>
          <a:p>
            <a:r>
              <a:t>pattern is exactly the broadcast's factor of four: nearly 6,600 captions appear precisely four</a:t>
            </a:r>
          </a:p>
          <a:p>
            <a:r>
              <a:t>times.</a:t>
            </a:r>
          </a:p>
          <a:p>
            <a:r>
              <a:t>The practical consequence is enormous: we send the LLM only the unique captions, cutting the cost</a:t>
            </a:r>
          </a:p>
          <a:p>
            <a:r>
              <a:t>by about five times. It's the perfect illustration of the "deterministic before the LLM" principle:</a:t>
            </a:r>
          </a:p>
          <a:p>
            <a:r>
              <a:t>a simple deduplication, for free, cuts the paid component's cost by a factor of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reach the "smart" core of the pipeline: LLM rewriting, stages 6, 7 and 8. Here the LLM does the</a:t>
            </a:r>
          </a:p>
          <a:p>
            <a:r>
              <a:t>work no regex could do faithfully: expanding "Sauerkraut" into "Smell of sauerkraut", normalising</a:t>
            </a:r>
          </a:p>
          <a:p>
            <a:r>
              <a:t>dialect, removing meta-comments while preserving the descriptor, turning questions into statements.</a:t>
            </a:r>
          </a:p>
          <a:p>
            <a:r>
              <a:t>Stage 6 is prompt design: a system prompt for each attribute, about 5 kilobytes, with eleven rules</a:t>
            </a:r>
          </a:p>
          <a:p>
            <a:r>
              <a:t>— including a "zero invention" rule and an escape, NON_DESCRITTO, for contentless inputs — the</a:t>
            </a:r>
          </a:p>
          <a:p>
            <a:r>
              <a:t>sixty most frequent lemmas as a stylistic anchor, and six real few-shot examples.</a:t>
            </a:r>
          </a:p>
          <a:p>
            <a:r>
              <a:t>Stage 7, the pilot on 105 captions, served to discover two failure modes before spending: the</a:t>
            </a:r>
          </a:p>
          <a:p>
            <a:r>
              <a:t>centimetre-millimetre inconsistency and some format violations. Both fixed in the prompt. A concrete</a:t>
            </a:r>
          </a:p>
          <a:p>
            <a:r>
              <a:t>operational lesson: three parallel workers were optimal, eight triggered rate-limit storms.</a:t>
            </a:r>
          </a:p>
          <a:p>
            <a:r>
              <a:t>Stage 8, the full batch: all 7,689 unique captions sent as a single job. Result: 7,689 out of 7,689</a:t>
            </a:r>
          </a:p>
          <a:p>
            <a:r>
              <a:t>completed, zero errors, in half an hour, for about four and a half dollars. Which brings us to the</a:t>
            </a:r>
          </a:p>
          <a:p>
            <a:r>
              <a:t>question: why Haiku?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of the project's most pragmatic decisions. For a well-bounded rewriting task, already verified</a:t>
            </a:r>
          </a:p>
          <a:p>
            <a:r>
              <a:t>on the pilot, which is the right model?</a:t>
            </a:r>
          </a:p>
          <a:p>
            <a:r>
              <a:t>The chart answers. The same work would cost about 5 dollars 60 with Haiku 4.5, versus about 13.50</a:t>
            </a:r>
          </a:p>
          <a:p>
            <a:r>
              <a:t>with Sonnet and over 67 with Opus. Haiku is 2.4 times cheaper than Sonnet and twelve times cheaper</a:t>
            </a:r>
          </a:p>
          <a:p>
            <a:r>
              <a:t>than Opus.</a:t>
            </a:r>
          </a:p>
          <a:p>
            <a:r>
              <a:t>The real question, though, is not "which is cheapest" but "is the cheap model good enough?". This is</a:t>
            </a:r>
          </a:p>
          <a:p>
            <a:r>
              <a:t>where the pilot comes in: having tested it on a stratified sample, we verified that for this narrow</a:t>
            </a:r>
          </a:p>
          <a:p>
            <a:r>
              <a:t>task the more expensive models offered no measurable quality gain. Spending more would have been</a:t>
            </a:r>
          </a:p>
          <a:p>
            <a:r>
              <a:t>throwing money away.</a:t>
            </a:r>
          </a:p>
          <a:p>
            <a:r>
              <a:t>The total LLM cost of the entire project — pilot plus batch — was 5 dollars and 60 cents. It is</a:t>
            </a:r>
          </a:p>
          <a:p>
            <a:r>
              <a:t>concrete proof that good upstream data engineering is worth more than an expensive downstream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 we know Step 1 is truly satisfied? Not by impression, but with programmatic validation on all</a:t>
            </a:r>
          </a:p>
          <a:p>
            <a:r>
              <a:t>7,689 model outputs.</a:t>
            </a:r>
          </a:p>
          <a:p>
            <a:r>
              <a:t>The table summarises the checks. The output always starts with the expected attribute prefix — with</a:t>
            </a:r>
          </a:p>
          <a:p>
            <a:r>
              <a:t>a single "violation" that is actually a valid alternative prefix. Above all, look at the numbers</a:t>
            </a:r>
          </a:p>
          <a:p>
            <a:r>
              <a:t>that matter for the brief: zero outputs with digits, zero outputs with units like millimetres or</a:t>
            </a:r>
          </a:p>
          <a:p>
            <a:r>
              <a:t>centimetres, zero overly long outputs, zero empty outputs, zero outputs with markup. All zeros.</a:t>
            </a:r>
          </a:p>
          <a:p>
            <a:r>
              <a:t>This means the conversion from quantitative to qualitative — the core requirement of the first step</a:t>
            </a:r>
          </a:p>
          <a:p>
            <a:r>
              <a:t>— succeeded one hundred percent: in the final captions there remains no number and no unit of</a:t>
            </a:r>
          </a:p>
          <a:p>
            <a:r>
              <a:t>measure. It's a clean, verifiable fulfilment of the deliverable, not a promise. And when a reviewer</a:t>
            </a:r>
          </a:p>
          <a:p>
            <a:r>
              <a:t>asks "but are you sure you removed all the measures?", the answer is a table, not an 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9 is one of those that separate a curated dataset from a merely "cleaned" one. After the</a:t>
            </a:r>
          </a:p>
          <a:p>
            <a:r>
              <a:t>batch, a scan revealed something interesting: 291 of the 362 captions the LLM had labelled</a:t>
            </a:r>
          </a:p>
          <a:p>
            <a:r>
              <a:t>NON_DESCRITTO — i.e. "there's no description here" — actually contained at least one lemma from the</a:t>
            </a:r>
          </a:p>
          <a:p>
            <a:r>
              <a:t>controlled vocabulary. A sign the model had been overly cautious with the escape rule on borderline</a:t>
            </a:r>
          </a:p>
          <a:p>
            <a:r>
              <a:t>inputs, those mixing a judgement and a descriptor.</a:t>
            </a:r>
          </a:p>
          <a:p>
            <a:r>
              <a:t>So we hand-curated a salvage map of 178 captions where the descriptor was real and faithful.</a:t>
            </a:r>
          </a:p>
          <a:p>
            <a:r>
              <a:t>Examples: "marcio, putrido," becomes "Smell of rot and putridity"; "Sangue,,," becomes "Aroma of</a:t>
            </a:r>
          </a:p>
          <a:p>
            <a:r>
              <a:t>blood".</a:t>
            </a:r>
          </a:p>
          <a:p>
            <a:r>
              <a:t>The effect, in the chart: unique NON_DESCRITTO drop from 362 to 184, and this recovers 916 training</a:t>
            </a:r>
          </a:p>
          <a:p>
            <a:r>
              <a:t>rows we would otherwise have lost. The message is simple: cleaning data does not mean throwing it</a:t>
            </a:r>
          </a:p>
          <a:p>
            <a:r>
              <a:t>away. A little manual care, on a targeted subset, cost less than another LLM round and returned</a:t>
            </a:r>
          </a:p>
          <a:p>
            <a:r>
              <a:t>nearly a thousand valid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are at the first part's deliverable. Stage 10 reconnects the clean captions to the broadcast</a:t>
            </a:r>
          </a:p>
          <a:p>
            <a:r>
              <a:t>table and produces the final dataset: 38,437 training rows over 1,497 unique images.</a:t>
            </a:r>
          </a:p>
          <a:p>
            <a:r>
              <a:t>The chart shows the row distribution per attribute, and note there's significant variance — paste</a:t>
            </a:r>
          </a:p>
          <a:p>
            <a:r>
              <a:t>structure has nearly double the rows of rind thickness. This imbalance will matter in the</a:t>
            </a:r>
          </a:p>
          <a:p>
            <a:r>
              <a:t>cross-attribute comparison of the second part.</a:t>
            </a:r>
          </a:p>
          <a:p>
            <a:r>
              <a:t>On the format side, we made a flexibility choice: each row carries two caption forms. A compact one,</a:t>
            </a:r>
          </a:p>
          <a:p>
            <a:r>
              <a:t>four to eight words, anchored to the attribute, like "Smell of cream". And a complete declarative</a:t>
            </a:r>
          </a:p>
          <a:p>
            <a:r>
              <a:t>Italian sentence, "The cheese has a smell of cream", better suited to encoder-decoders and to</a:t>
            </a:r>
          </a:p>
          <a:p>
            <a:r>
              <a:t>captioning metrics. This sentence transformation is fully deterministic, with no further LLM round.</a:t>
            </a:r>
          </a:p>
          <a:p>
            <a:r>
              <a:t>The dataset is delivered in several forms — full table with all provenance, simplified four-column</a:t>
            </a:r>
          </a:p>
          <a:p>
            <a:r>
              <a:t>view, and seven per-attribute splits — to serve any downstream architecture. With this we close the</a:t>
            </a:r>
          </a:p>
          <a:p>
            <a:r>
              <a:t>data part and move on to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part: the models.</a:t>
            </a:r>
          </a:p>
          <a:p>
            <a:r>
              <a:t>Here the brief's goal is the comparison of methods, and let me give you the conclusion upfront, so</a:t>
            </a:r>
          </a:p>
          <a:p>
            <a:r>
              <a:t>you can follow the data with the right key. Among everything we could change — the decoder, the</a:t>
            </a:r>
          </a:p>
          <a:p>
            <a:r>
              <a:t>amount of data, the hyperparameters — the single factor that decides whether the model truly uses</a:t>
            </a:r>
          </a:p>
          <a:p>
            <a:r>
              <a:t>the image is one: the visual encoder.</a:t>
            </a:r>
          </a:p>
          <a:p>
            <a:r>
              <a:t>We'll build this conclusion step by step, and verify it with two independent tools: the shuffle test</a:t>
            </a:r>
          </a:p>
          <a:p>
            <a:r>
              <a:t>and the CLIPScore.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asks for three methods "as conceptually different as possible". We chose them to isolate</a:t>
            </a:r>
          </a:p>
          <a:p>
            <a:r>
              <a:t>the three main axes of variation in captioning.</a:t>
            </a:r>
          </a:p>
          <a:p>
            <a:r>
              <a:t>m1 is the classic: a convolutional encoder, ResNet-50, with an LSTM decoder trained from scratch.</a:t>
            </a:r>
          </a:p>
          <a:p>
            <a:r>
              <a:t>m3 changes the encoder: a Vision Transformer, ViT-B/16, with a Transformer decoder, still from</a:t>
            </a:r>
          </a:p>
          <a:p>
            <a:r>
              <a:t>scratch. m6 changes the decoder: the same ViT, but the decoder is GePpeTto, an already-pretrained</a:t>
            </a:r>
          </a:p>
          <a:p>
            <a:r>
              <a:t>Italian GPT-2.</a:t>
            </a:r>
          </a:p>
          <a:p>
            <a:r>
              <a:t>The beauty of this design is in the axes, at the bottom. Comparing m1 with m3 isolates the encoder's</a:t>
            </a:r>
          </a:p>
          <a:p>
            <a:r>
              <a:t>effect, because the decoder stays the same "from scratch" type. Comparing m3 with m6 isolates the</a:t>
            </a:r>
          </a:p>
          <a:p>
            <a:r>
              <a:t>decoder's effect, because the encoder is identical. It's a small controlled experiment.</a:t>
            </a:r>
          </a:p>
          <a:p>
            <a:r>
              <a:t>A crucial choice for fairness: all encoders are frozen. We train only the decoder and the</a:t>
            </a:r>
          </a:p>
          <a:p>
            <a:r>
              <a:t>cross-attention projection. So each decoder receives exactly the same visual features, and the</a:t>
            </a:r>
          </a:p>
          <a:p>
            <a:r>
              <a:t>differences we observe are attributable to architecture, not to a lucky encoder. This, we'll see,</a:t>
            </a:r>
          </a:p>
          <a:p>
            <a:r>
              <a:t>is also the main limitation —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experimental setup, briefly. All training ran on Kaggle's free GPU tier, with T4 or P100. The</a:t>
            </a:r>
          </a:p>
          <a:p>
            <a:r>
              <a:t>hyperparameters in the table are reasonable defaults for each architecture, not the fruit of an</a:t>
            </a:r>
          </a:p>
          <a:p>
            <a:r>
              <a:t>exhaustive search: m1 more epochs and a higher learning rate, m6 few epochs and a small learning</a:t>
            </a:r>
          </a:p>
          <a:p>
            <a:r>
              <a:t>rate, as is natural for a pretrained model that only needs fine-tuning.</a:t>
            </a:r>
          </a:p>
          <a:p>
            <a:r>
              <a:t>Two choices ensure a fair comparison. First, the split is sample-disjoint: the same cheese never</a:t>
            </a:r>
          </a:p>
          <a:p>
            <a:r>
              <a:t>appears both in training and in test, so we avoid leakage. Second, at inference we use nucleus</a:t>
            </a:r>
          </a:p>
          <a:p>
            <a:r>
              <a:t>sampling instead of beam search, because on small datasets beam collapses to the most frequent</a:t>
            </a:r>
          </a:p>
          <a:p>
            <a:r>
              <a:t>caption, artificially inflating BLEU but reducing diversity.</a:t>
            </a:r>
          </a:p>
          <a:p>
            <a:r>
              <a:t>The training curves are healthy across all three models — no overfitting, no NaN, no collapse — so</a:t>
            </a:r>
          </a:p>
          <a:p>
            <a:r>
              <a:t>the differences in results are not due to training pathologies.</a:t>
            </a:r>
          </a:p>
          <a:p>
            <a:r>
              <a:t>On the right, a Kaggle lesson learned the hard way, for anyone wanting to reproduce: the enable_gpu</a:t>
            </a:r>
          </a:p>
          <a:p>
            <a:r>
              <a:t>flag in the metadata is not enough, and the preinstalled PyTorch on P100s must be reinstalled.</a:t>
            </a:r>
          </a:p>
          <a:p>
            <a:r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see the first results, in the per-attribute regime: seven separate models, one per sensory</a:t>
            </a:r>
          </a:p>
          <a:p>
            <a:r>
              <a:t>dimension. The chart shows BLEU-4 per attribute, compared with the most_frequent baseline — the one</a:t>
            </a:r>
          </a:p>
          <a:p>
            <a:r>
              <a:t>that always emits the most frequent caption.</a:t>
            </a:r>
          </a:p>
          <a:p>
            <a:r>
              <a:t>The picture is sharp and two-sided. The trained models clearly beat the constant baseline on four</a:t>
            </a:r>
          </a:p>
          <a:p>
            <a:r>
              <a:t>attributes: paste structure, with a notable margin of over 0.12 points, then smell, texture and</a:t>
            </a:r>
          </a:p>
          <a:p>
            <a:r>
              <a:t>colour. On the other three — aroma, taste and rind thickness — they tie or lose.</a:t>
            </a:r>
          </a:p>
          <a:p>
            <a:r>
              <a:t>Be careful not to misread this "lose". It does not mean the models are poor on those attributes. It</a:t>
            </a:r>
          </a:p>
          <a:p>
            <a:r>
              <a:t>means that there the reference captions are not very diverse, very template-heavy, and under those</a:t>
            </a:r>
          </a:p>
          <a:p>
            <a:r>
              <a:t>conditions BLEU rewards whoever always predicts the majority. It's a flaw of the metric, not of the</a:t>
            </a:r>
          </a:p>
          <a:p>
            <a:r>
              <a:t>model — and we'll prove it shortly with the shuffle test, which on thickness confirms m3 and m6 do</a:t>
            </a:r>
          </a:p>
          <a:p>
            <a:r>
              <a:t>use the image.</a:t>
            </a:r>
          </a:p>
          <a:p>
            <a:r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move to the global regime: a single model trained across all attributes together. It's an</a:t>
            </a:r>
          </a:p>
          <a:p>
            <a:r>
              <a:t>intrinsically harder task, because the model must also choose which sensory dimension to describe,</a:t>
            </a:r>
          </a:p>
          <a:p>
            <a:r>
              <a:t>and it works with a much larger vocabulary.</a:t>
            </a:r>
          </a:p>
          <a:p>
            <a:r>
              <a:t>The chart compares the three models on five metrics. Two observations. First, m6 — the ViT with</a:t>
            </a:r>
          </a:p>
          <a:p>
            <a:r>
              <a:t>GePpeTto — wins narrowly almost everywhere: it's first on BLEU-1, BLEU-4 and ROUGE-L, and</a:t>
            </a:r>
          </a:p>
          <a:p>
            <a:r>
              <a:t>essentially tied on METEOR; m3 only beats it on CIDEr. Second, and equally important, the three</a:t>
            </a:r>
          </a:p>
          <a:p>
            <a:r>
              <a:t>models are in a very tight cluster: the BLEU-4 spread is just seven thousandths. They are very close.</a:t>
            </a:r>
          </a:p>
          <a:p>
            <a:r>
              <a:t>A note on the baseline, which I left out of the chart for readability but is crucial: most_frequent,</a:t>
            </a:r>
          </a:p>
          <a:p>
            <a:r>
              <a:t>the constant sentence, would have the highest BLEU-1 of all but the worst BLEU-4. It's the</a:t>
            </a:r>
          </a:p>
          <a:p>
            <a:r>
              <a:t>degenerate behaviour of "always predict the majority": you guess many single words, but you never</a:t>
            </a:r>
          </a:p>
          <a:p>
            <a:r>
              <a:t>compose a correct four-word sequence different from the template. Keep this anomaly in mind: it's</a:t>
            </a:r>
          </a:p>
          <a:p>
            <a:r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slide of methodological caution, because it's easy to draw the wrong conclusion.</a:t>
            </a:r>
          </a:p>
          <a:p>
            <a:r>
              <a:t>You'll have noticed that the per-attribute numbers — BLEU-4 from 0.33 to 0.47 — are much higher than</a:t>
            </a:r>
          </a:p>
          <a:p>
            <a:r>
              <a:t>the global BLEU-4, around 0.13. A three- or four-fold jump. The temptation is to say: "so the</a:t>
            </a:r>
          </a:p>
          <a:p>
            <a:r>
              <a:t>per-attribute models are much better". Wrong.</a:t>
            </a:r>
          </a:p>
          <a:p>
            <a:r>
              <a:t>That jump doesn't reflect better learning, but the fact that per-attribute evaluation runs on a much</a:t>
            </a:r>
          </a:p>
          <a:p>
            <a:r>
              <a:t>narrower distribution. When you focus on a single attribute, the vocabulary collapses from over 600</a:t>
            </a:r>
          </a:p>
          <a:p>
            <a:r>
              <a:t>words to about 80-140, and the shared scaffolding — "the cheese has a such-and-such attribute of..."</a:t>
            </a:r>
          </a:p>
          <a:p>
            <a:r>
              <a:t>— alone contributes five words of constant 4-gram that send BLEU soaring.</a:t>
            </a:r>
          </a:p>
          <a:p>
            <a:r>
              <a:t>They are two different rulers measuring performance on different distributions. The global model is</a:t>
            </a:r>
          </a:p>
          <a:p>
            <a:r>
              <a:t>intrinsically harder because it must also choose which dimension to describe. Comparing the two</a:t>
            </a:r>
          </a:p>
          <a:p>
            <a:r>
              <a:t>numbers as if on the same scale would be a mistake — and it's the kind of subtlety that separates an</a:t>
            </a:r>
          </a:p>
          <a:p>
            <a:r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at the most important result of the whole project. The question is as simple as it is</a:t>
            </a:r>
          </a:p>
          <a:p>
            <a:r>
              <a:t>fundamental: is the model actually using the image, or just mimicking the caption distribution?</a:t>
            </a:r>
          </a:p>
          <a:p>
            <a:r>
              <a:t>The tool is the shuffle test. The idea: if a model is truly conditioned on the image, its prediction</a:t>
            </a:r>
          </a:p>
          <a:p>
            <a:r>
              <a:t>for image i must match the reference of i better than a randomly picked prediction. So we shuffle the</a:t>
            </a:r>
          </a:p>
          <a:p>
            <a:r>
              <a:t>predictions across test rows, breaking the alignment, recompute the overlap a hundred times to get a</a:t>
            </a:r>
          </a:p>
          <a:p>
            <a:r>
              <a:t>null distribution, and measure the z-score. A z above 3 corresponds to p below 0.001: strong</a:t>
            </a:r>
          </a:p>
          <a:p>
            <a:r>
              <a:t>evidence.</a:t>
            </a:r>
          </a:p>
          <a:p>
            <a:r>
              <a:t>The verdict, in the chart, is crystal clear. m1, the ResNet model, has z near zero everywhere: it</a:t>
            </a:r>
          </a:p>
          <a:p>
            <a:r>
              <a:t>never uses the image, it's effectively a pure language model guessing from the distribution. m3 and</a:t>
            </a:r>
          </a:p>
          <a:p>
            <a:r>
              <a:t>m6, the ViT models, clearly use the image on four attributes out of seven: smell, thickness, colour</a:t>
            </a:r>
          </a:p>
          <a:p>
            <a:r>
              <a:t>and structure. The only one where no model uses the image is aroma.</a:t>
            </a:r>
          </a:p>
          <a:p>
            <a:r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the shuffle test together with the two-axis design from the architectures slide, and the</a:t>
            </a:r>
          </a:p>
          <a:p>
            <a:r>
              <a:t>conclusion writes itself.</a:t>
            </a:r>
          </a:p>
          <a:p>
            <a:r>
              <a:t>Comparing m1 with m3, which isolates the encoder: m1 with ResNet never conditions on the image, m3</a:t>
            </a:r>
          </a:p>
          <a:p>
            <a:r>
              <a:t>with ViT does on most attributes. By changing only the encoder, image use switches on. The reading</a:t>
            </a:r>
          </a:p>
          <a:p>
            <a:r>
              <a:t>is that a frozen ResNet-50's features aren't informative enough at this data scale, while a frozen</a:t>
            </a:r>
          </a:p>
          <a:p>
            <a:r>
              <a:t>ViT-B/16's are.</a:t>
            </a:r>
          </a:p>
          <a:p>
            <a:r>
              <a:t>Comparing m3 with m6, which isolates the decoder: they produce different outputs — they never give</a:t>
            </a:r>
          </a:p>
          <a:p>
            <a:r>
              <a:t>the same caption for the same image — yet they have exactly the same image-conditioning profile. The</a:t>
            </a:r>
          </a:p>
          <a:p>
            <a:r>
              <a:t>same attributes succeed, the same fail. Changing the decoder changes the sentence's style, not</a:t>
            </a:r>
          </a:p>
          <a:p>
            <a:r>
              <a:t>whether the image is used.</a:t>
            </a:r>
          </a:p>
          <a:p>
            <a:r>
              <a:t>The synthesis is at the bottom: the binary gate of image-conditioning, on this dataset, is the</a:t>
            </a:r>
          </a:p>
          <a:p>
            <a:r>
              <a:t>visual encoder. Not the decoder, not the amount of data, not the hyperparameters. It's a clean</a:t>
            </a:r>
          </a:p>
          <a:p>
            <a:r>
              <a:t>result, and it also tells us where to act in future: on the encoder. Now let's reinforce this</a:t>
            </a:r>
          </a:p>
          <a:p>
            <a:r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We've seen that BLEU, on its own, misleads: it rewards template repetition and never looks at the</a:t>
            </a:r>
          </a:p>
          <a:p>
            <a:r>
              <a:t>image. To read the models more honestly, we paired BLEU with six complementary metrics, groupable</a:t>
            </a:r>
          </a:p>
          <a:p>
            <a:r>
              <a:t>into three families.</a:t>
            </a:r>
          </a:p>
          <a:p>
            <a:r>
              <a:t>The text metrics compare the prediction with the textual reference: besides BLEU, METEOR — which is</a:t>
            </a:r>
          </a:p>
          <a:p>
            <a:r>
              <a:t>more lenient because it aligns with stemming and synonyms — ROUGE-L, which rewards word order, and</a:t>
            </a:r>
          </a:p>
          <a:p>
            <a:r>
              <a:t>CIDEr, designed specifically for captioning, which weights n-grams with TF-IDF and so rewards rare,</a:t>
            </a:r>
          </a:p>
          <a:p>
            <a:r>
              <a:t>informative sensory terms like "eyes" (occhiatura) over common words.</a:t>
            </a:r>
          </a:p>
          <a:p>
            <a:r>
              <a:t>Then a semantic metric, BERTScore, measuring meaning similarity via embeddings. A domain metric,</a:t>
            </a:r>
          </a:p>
          <a:p>
            <a:r>
              <a:t>vocabulary conformity, which asks: does the model "speak cheese" in the certified register?</a:t>
            </a:r>
          </a:p>
          <a:p>
            <a:r>
              <a:t>And finally, highlighted at the bottom, the most important for captioning: CLIPScore, the only one</a:t>
            </a:r>
          </a:p>
          <a:p>
            <a:r>
              <a:t>that truly looks at the image. It compares the caption with the slice in CLIP space, ignoring the</a:t>
            </a:r>
          </a:p>
          <a:p>
            <a:r>
              <a:t>panel reference. The next two slides show what CIDEr and CLIPScore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start with CIDEr, the metric designed specifically for captioning. Unlike BLEU, which</a:t>
            </a:r>
          </a:p>
          <a:p>
            <a:r>
              <a:t>flattened the models onto close values, CIDEr weights rare terms with TF-IDF and so separates them.</a:t>
            </a:r>
          </a:p>
          <a:p>
            <a:r>
              <a:t>Look at the ordering in the chart, on the seven-attribute means: random 0.23, then freq_weighted</a:t>
            </a:r>
          </a:p>
          <a:p>
            <a:r>
              <a:t>0.37, then the trained models rising clearly — m1 at 0.59, m3 at 0.65, m6 at 0.70. CIDEr orders the</a:t>
            </a:r>
          </a:p>
          <a:p>
            <a:r>
              <a:t>models correctly, and confirms m6 is the best. It's exactly the information BLEU couldn't give us: a</a:t>
            </a:r>
          </a:p>
          <a:p>
            <a:r>
              <a:t>clean ranking.</a:t>
            </a:r>
          </a:p>
          <a:p>
            <a:r>
              <a:t>There's one column taller than all, in gold: most_frequent, at 0.79. Don't be fooled: the constant</a:t>
            </a:r>
          </a:p>
          <a:p>
            <a:r>
              <a:t>baseline leads only because, on this dataset, the panel reference is often the frequent sentence</a:t>
            </a:r>
          </a:p>
          <a:p>
            <a:r>
              <a:t>itself. It's an artifact of the single reference, not real quality. On an extreme case like rind</a:t>
            </a:r>
          </a:p>
          <a:p>
            <a:r>
              <a:t>thickness, where BLEU gave 0.39 for everyone, CIDEr ranges from 1.04 to 2.29: a rich ordering BLEU</a:t>
            </a:r>
          </a:p>
          <a:p>
            <a:r>
              <a:t>simply did not see.</a:t>
            </a:r>
          </a:p>
          <a:p>
            <a:r>
              <a:t>Conclusion: CIDEr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CLIPScore, the only metric that looks at the image, and the independent confirmation of the</a:t>
            </a:r>
          </a:p>
          <a:p>
            <a:r>
              <a:t>shuffle test. Two charts, two messages.</a:t>
            </a:r>
          </a:p>
          <a:p>
            <a:r>
              <a:t>On the left, mean CLIPScore by model. Note the axis: I deliberately zoomed in, and despite the zoom</a:t>
            </a:r>
          </a:p>
          <a:p>
            <a:r>
              <a:t>the bars are practically identical. The trained models m1, m3, m6 do not beat the constant baseline</a:t>
            </a:r>
          </a:p>
          <a:p>
            <a:r>
              <a:t>most_frequent — the one that always fires the same sentence ignoring the image. The gap is below</a:t>
            </a:r>
          </a:p>
          <a:p>
            <a:r>
              <a:t>0.004, within the noise. It's the quantitative, independent confirmation of what the shuffle test</a:t>
            </a:r>
          </a:p>
          <a:p>
            <a:r>
              <a:t>already told us: with a frozen encoder, the models don't anchor the caption to the visual content,</a:t>
            </a:r>
          </a:p>
          <a:p>
            <a:r>
              <a:t>they do language modeling on the caption distribution.</a:t>
            </a:r>
          </a:p>
          <a:p>
            <a:r>
              <a:t>On the right, the real variation: it's per attribute, not per model. CLIP "sees" that texture,</a:t>
            </a:r>
          </a:p>
          <a:p>
            <a:r>
              <a:t>colour and structure — the visual attributes — get higher scores, while aroma, taste and smell stay</a:t>
            </a:r>
          </a:p>
          <a:p>
            <a:r>
              <a:t>low for everyone, because no image can reveal a taste. It's a sanity check that validates the metric.</a:t>
            </a:r>
          </a:p>
          <a:p>
            <a:r>
              <a:t>And remember the exception: rind thickness is visible but low, because the rind is a small portion</a:t>
            </a:r>
          </a:p>
          <a:p>
            <a:r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moral of the whole evaluation, condensed into one image.</a:t>
            </a:r>
          </a:p>
          <a:p>
            <a:r>
              <a:t>Look at the same pair of models — the constant baseline most_frequent against m6 — seen by two</a:t>
            </a:r>
          </a:p>
          <a:p>
            <a:r>
              <a:t>different metrics. On the left, with BLEU-1, the constant caption wins: it always emits the same</a:t>
            </a:r>
          </a:p>
          <a:p>
            <a:r>
              <a:t>sentence and matches on the prefix. On the right, with CLIPScore, the two are practically</a:t>
            </a:r>
          </a:p>
          <a:p>
            <a:r>
              <a:t>indistinguishable.</a:t>
            </a:r>
          </a:p>
          <a:p>
            <a:r>
              <a:t>The exact same comparison, two opposite verdicts. This vividly demonstrates that a single metric, on</a:t>
            </a:r>
          </a:p>
          <a:p>
            <a:r>
              <a:t>its own, can lie. Had we looked only at BLEU-1, we'd have concluded that a constant sentence beats a</a:t>
            </a:r>
          </a:p>
          <a:p>
            <a:r>
              <a:t>trained model — an absurd conclusion. This is exactly why we built a battery of metrics and read</a:t>
            </a:r>
          </a:p>
          <a:p>
            <a:r>
              <a:t>them together: BLEU for phrasing, CIDEr for salient terms, BERTScore for meaning, and CLIPScore for</a:t>
            </a:r>
          </a:p>
          <a:p>
            <a:r>
              <a:t>image grounding.</a:t>
            </a:r>
          </a:p>
          <a:p>
            <a:r>
              <a:t>BERTScore, for completeness, is poorly discriminating here: all values fall between 0.83 and 0.92,</a:t>
            </a:r>
          </a:p>
          <a:p>
            <a:r>
              <a:t>because all sentences talk about cheese with the same structure. It's useful as a sanity check, not</a:t>
            </a:r>
          </a:p>
          <a:p>
            <a:r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 tell half the story; the generated captions tell the other half. Here you see real</a:t>
            </a:r>
          </a:p>
          <a:p>
            <a:r>
              <a:t>predictions from m6 alongside the panel reference, on test-set samples.</a:t>
            </a:r>
          </a:p>
          <a:p>
            <a:r>
              <a:t>Sometimes it's an exact match: on the aroma of cream, prediction and reference coincide word for</a:t>
            </a:r>
          </a:p>
          <a:p>
            <a:r>
              <a:t>word. On thickness, "the rind is medium-thick", again perfect. But look at the other cases: on taste</a:t>
            </a:r>
          </a:p>
          <a:p>
            <a:r>
              <a:t>the model says "slightly salty and spicy" where the panel said just "salty"; on structure it</a:t>
            </a:r>
          </a:p>
          <a:p>
            <a:r>
              <a:t>proposes "irregular fracture and fine grain" while the reference talks about stretched paste.</a:t>
            </a:r>
          </a:p>
          <a:p>
            <a:r>
              <a:t>From these examples four patterns emerge, summarised at the bottom. First: the scaffolding, "the</a:t>
            </a:r>
          </a:p>
          <a:p>
            <a:r>
              <a:t>cheese has a...", is always correct and alone worth about half the BLEU-4 — which is why the numbers</a:t>
            </a:r>
          </a:p>
          <a:p>
            <a:r>
              <a:t>aren't tiny. Second: the language is fluent and grammatical, thanks to the pretrained model. Third,</a:t>
            </a:r>
          </a:p>
          <a:p>
            <a:r>
              <a:t>and most telling: the descriptor is often plausible but refers to another cheese — exactly what we</a:t>
            </a:r>
          </a:p>
          <a:p>
            <a:r>
              <a:t>expect from a model only partially conditioned on the image. Fourth: the variability across tasters</a:t>
            </a:r>
          </a:p>
          <a:p>
            <a:r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wrap up. The project delivers two results and one promise for the future.</a:t>
            </a:r>
          </a:p>
          <a:p>
            <a:r>
              <a:t>The scientific result is the most solid: on this dataset, the determinant of image use is the visual</a:t>
            </a:r>
          </a:p>
          <a:p>
            <a:r>
              <a:t>encoder. ResNet ignores the image on all seven attributes, ViT uses it on four out of seven,</a:t>
            </a:r>
          </a:p>
          <a:p>
            <a:r>
              <a:t>independent of the decoder, the data scale and the hyperparameters. And it's not an isolated claim:</a:t>
            </a:r>
          </a:p>
          <a:p>
            <a:r>
              <a:t>two independent tools — the shuffle test and CLIPScore — converge on the same conclusion.</a:t>
            </a:r>
          </a:p>
          <a:p>
            <a:r>
              <a:t>The practical result: the trained models beat the constant baseline on four attributes out of seven,</a:t>
            </a:r>
          </a:p>
          <a:p>
            <a:r>
              <a:t>with the maximum on structure. m6, the ViT with GePpeTto, wins narrowly almost everywhere. And all</a:t>
            </a:r>
          </a:p>
          <a:p>
            <a:r>
              <a:t>this rests on a 38-thousand-pair dataset built with just 5 dollars and 60 cents of LLM cost.</a:t>
            </a:r>
          </a:p>
          <a:p>
            <a:r>
              <a:t>Future work follows directly from the diagnosis: since the bottleneck is the frozen encoder, the</a:t>
            </a:r>
          </a:p>
          <a:p>
            <a:r>
              <a:t>natural next experiment is fine-tuning the encoder and re-measuring CLIPScore. If the models start</a:t>
            </a:r>
          </a:p>
          <a:p>
            <a:r>
              <a:t>pulling away from the constant baseline, we'll have direct proof that the image is finally being</a:t>
            </a:r>
          </a:p>
          <a:p>
            <a:r>
              <a:t>exploited.</a:t>
            </a:r>
          </a:p>
          <a:p>
            <a:r>
              <a:t>I'll close with an honest framing: none of these models would replace a taster today. They learned</a:t>
            </a:r>
          </a:p>
          <a:p>
            <a:r>
              <a:t>the sensory vocabulary and a partial map from image to descriptor — a result consistent with the</a:t>
            </a:r>
          </a:p>
          <a:p>
            <a:r>
              <a:t>data scale and the intrinsic noise of multi-taster annotation. But the path is mapped, and we know</a:t>
            </a:r>
          </a:p>
          <a:p>
            <a:r>
              <a:t>exactly where to act.</a:t>
            </a:r>
          </a:p>
          <a:p>
            <a:r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0" y="0"/>
            <a:ext cx="1280160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250" b="0" i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Input: 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Output: 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Value: 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50" b="0" i="1">
                <a:solidFill>
                  <a:srgbClr val="8A8A84"/>
                </a:solidFill>
                <a:latin typeface="Calibri"/>
              </a:rPr>
              <a:t>Close-up of the grain — IRIS electronic visual analyzer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50" b="0" i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 —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Paste Colour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30428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Paste Structure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30428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Rind Thickness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C88836"/>
                </a:solidFill>
                <a:latin typeface="Calibri"/>
              </a:rPr>
              <a:t>VISUAL*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Smell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2C5F8A"/>
                </a:solidFill>
                <a:latin typeface="Calibri"/>
              </a:rPr>
              <a:t>OLFACTORY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2C5F8A"/>
                </a:solidFill>
                <a:latin typeface="Calibri"/>
              </a:rPr>
              <a:t>OLFACTORY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Taste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C1492E"/>
                </a:solidFill>
                <a:latin typeface="Calibri"/>
              </a:rPr>
              <a:t>GUSTATORY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00"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15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650" b="1" i="0">
                <a:solidFill>
                  <a:srgbClr val="1B334A"/>
                </a:solidFill>
                <a:latin typeface="Georgia"/>
              </a:rPr>
              <a:t>Step 1 · Text pre-processing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/>
            </a:r>
            <a:r>
              <a:rPr sz="1350" b="0" i="0">
                <a:solidFill>
                  <a:srgbClr val="2B2A26"/>
                </a:solidFill>
                <a:latin typeface="Calibri"/>
              </a:rPr>
              <a:t>Clean and normalise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/>
            </a:r>
            <a:r>
              <a:rPr sz="1350" b="0" i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/>
            </a:r>
            <a:r>
              <a:rPr sz="1350" b="0" i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>≈ 70%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650" b="1" i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/>
            </a:r>
            <a:r>
              <a:rPr sz="1350" b="0" i="0">
                <a:solidFill>
                  <a:srgbClr val="2B2A26"/>
                </a:solidFill>
                <a:latin typeface="Calibri"/>
              </a:rPr>
              <a:t>Apply three «as conceptually different as possible» encoder–decoders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/>
            </a:r>
            <a:r>
              <a:rPr sz="1350" b="0" i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/>
            </a:r>
            <a:r>
              <a:rPr sz="1350" b="0" i="0">
                <a:solidFill>
                  <a:srgbClr val="2B2A26"/>
                </a:solidFill>
                <a:latin typeface="Calibri"/>
              </a:rPr>
              <a:t>Multi-metric evaluation beyond BLEU alone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>≈ 30%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4600" b="1" i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3099816" cy="2971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2,745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4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Excel workbooks (2018–2021), one sheet per attribute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1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971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The join problem</a:t>
            </a:r>
          </a:p>
          <a:p>
            <a:r>
              <a:rPr sz="1250" b="0" i="0">
                <a:solidFill>
                  <a:srgbClr val="2B2A26"/>
                </a:solidFill>
                <a:latin typeface="Calibri"/>
              </a:rPr>
              <a:t>Images and comments «spoke different languages». The filename identifies the single wheel; the comment only the taster's tray. No row-level join —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2971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Dairy-level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50" b="0" i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219456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sz="1500" b="1" i="1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050" b="0" i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50" b="1" i="0">
                <a:solidFill>
                  <a:srgbClr val="2B2A26"/>
                </a:solidFill>
                <a:latin typeface="Calibri"/>
              </a:rPr>
              <a:t>P3a —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273552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50" b="1" i="0">
                <a:solidFill>
                  <a:srgbClr val="2B2A26"/>
                </a:solidFill>
                <a:latin typeface="Calibri"/>
              </a:rPr>
              <a:t>P3a —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986784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50" b="1" i="0">
                <a:solidFill>
                  <a:srgbClr val="2B2A26"/>
                </a:solidFill>
                <a:latin typeface="Calibri"/>
              </a:rPr>
              <a:t>P3b —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4700016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50" b="1" i="0">
                <a:solidFill>
                  <a:srgbClr val="2B2A26"/>
                </a:solidFill>
                <a:latin typeface="Calibri"/>
              </a:rPr>
              <a:t>P3b —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3429000"/>
            <a:ext cx="27432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00" b="1" i="0">
                <a:solidFill>
                  <a:srgbClr val="1B334A"/>
                </a:solidFill>
                <a:latin typeface="Calibri"/>
              </a:rPr>
              <a:t>4 image–caption rows</a:t>
            </a:r>
          </a:p>
          <a:p>
            <a:r>
              <a:rPr sz="1150" b="0" i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31520" y="4892040"/>
            <a:ext cx="10698480" cy="6400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892040"/>
            <a:ext cx="1033272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50" b="1" i="0">
                <a:solidFill>
                  <a:srgbClr val="E0A458"/>
                </a:solidFill>
                <a:latin typeface="Calibri"/>
              </a:rPr>
              <a:t>Net effect:  </a:t>
            </a:r>
            <a:r>
              <a:rPr sz="1250" b="0" i="0">
                <a:solidFill>
                  <a:srgbClr val="F7F1E3"/>
                </a:solidFill>
                <a:latin typeface="Calibri"/>
              </a:rPr>
              <a:t>51,988 rows (image × panelist × attribute) · 39,510 with a comment · pairing rate ≈ 76%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50" b="1" i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deterministic-before-the-LLM —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788920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660904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788920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660904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2788920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660904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4032504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904488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4032504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3904488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2" y="4032504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3904488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sz="1200"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" y="5276088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148072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sz="1200"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3712" y="5276088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148072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sz="1200"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57032" y="5276088"/>
            <a:ext cx="530352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148072"/>
            <a:ext cx="26060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sz="1200"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227064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3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3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−12,632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12,478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86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75.7%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/>
            </a:r>
            <a:r>
              <a:rPr sz="1300" b="0" i="0">
                <a:solidFill>
                  <a:srgbClr val="2B2A26"/>
                </a:solidFill>
                <a:latin typeface="Calibri"/>
              </a:rPr>
              <a:t>Filter empties/N-A + Unicode normalisation (NFC)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/>
            </a:r>
            <a:r>
              <a:rPr sz="1300" b="0" i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/>
            </a:r>
            <a:r>
              <a:rPr sz="1300" b="0" i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/>
            </a:r>
            <a:r>
              <a:rPr sz="1300" b="0" i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/>
            </a:r>
            <a:r>
              <a:rPr sz="1300" b="0" i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300" b="0" i="0">
                <a:solidFill>
                  <a:srgbClr val="F7F1E3"/>
                </a:solidFill>
                <a:latin typeface="Calibri"/>
              </a:rPr>
              <a:t>«Drops must be certain». The LLM will handle ambiguity better: a negation with a descriptor — «I don't penalise it, but it smells of barn» — carries real information and is kept.
Result: 39,356 rows (75.7% retention), 12,632 drops, of which 12,478 empty, 86 meta, 68 near-empty.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controlled vocabulary,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Italian NLP tools err: panna→panno, latte→latto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Useful stopwords here: «molto», «poco», «leggermente»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Deterministic lemmatiser + sing./plur. merge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Dual use: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audit basis + stylistic anchor in the prompt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From numbers to quality: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50" b="0" i="0">
                <a:solidFill>
                  <a:srgbClr val="2B2A26"/>
                </a:solidFill>
                <a:latin typeface="Calibri"/>
              </a:rPr>
              <a:t>Hundreds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</a:tblGrid>
              <a:tr h="5181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anchor="ctr" marL="1016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anchor="ctr" marL="101600">
                    <a:solidFill>
                      <a:srgbClr val="1B334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Very thin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Thin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Thick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Very thick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THE DECISIVE TRICK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39,356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5.1×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→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cuts the LLM cost ~5×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LLM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3099816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Per-attribute system prompt (~5 KB)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11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rules (zero invention, NON_DESCRITTO escape)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Top-60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6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7 · Pilot run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105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captions (15 per attribute)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Found 2 failure modes: 1cm vs 10mm; empty format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Both fixed in the prompt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3 workers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= optimal; 8 → storms of 429s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918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8 · Full batch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7,689 / 7,689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completed, 0 errors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~25–30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minutes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Haiku 4.5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· Anthropic Batch API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~$4.50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for the batch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Why Haiku 4.5: same job, a fraction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3520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>2.4×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>12×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/>
            </a:r>
            <a:r>
              <a:rPr sz="1300" b="0" i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>$5.60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PROGRAMMATIC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Step 1 is satisfied 100%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554480"/>
              </a:tblGrid>
              <a:tr h="509451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anchor="ctr" marL="1270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Violations</a:t>
                      </a:r>
                    </a:p>
                  </a:txBody>
                  <a:tcPr anchor="ctr" marL="127000">
                    <a:solidFill>
                      <a:srgbClr val="1B334A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starts with the expected attribute prefix</a:t>
                      </a:r>
                    </a:p>
                  </a:txBody>
                  <a:tcPr anchor="ctr" marL="1270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1*</a:t>
                      </a:r>
                    </a:p>
                  </a:txBody>
                  <a:tcPr anchor="ctr" marL="127000">
                    <a:solidFill>
                      <a:srgbClr val="FBF7EE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digits</a:t>
                      </a:r>
                    </a:p>
                  </a:txBody>
                  <a:tcPr anchor="ctr" marL="127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1270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units (mm / cm / %)</a:t>
                      </a:r>
                    </a:p>
                  </a:txBody>
                  <a:tcPr anchor="ctr" marL="1270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127000">
                    <a:solidFill>
                      <a:srgbClr val="FBF7EE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longer than 25 words</a:t>
                      </a:r>
                    </a:p>
                  </a:txBody>
                  <a:tcPr anchor="ctr" marL="127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1270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empty</a:t>
                      </a:r>
                    </a:p>
                  </a:txBody>
                  <a:tcPr anchor="ctr" marL="1270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127000">
                    <a:solidFill>
                      <a:srgbClr val="FBF7EE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multi-line or with markup</a:t>
                      </a:r>
                    </a:p>
                  </a:txBody>
                  <a:tcPr anchor="ctr" marL="127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127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955279" y="1965960"/>
            <a:ext cx="3611880" cy="36118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1965960"/>
            <a:ext cx="82296" cy="361188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2112264"/>
            <a:ext cx="3191256" cy="3337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800" b="1" i="0">
                <a:solidFill>
                  <a:srgbClr val="5B8C5A"/>
                </a:solidFill>
                <a:latin typeface="Georgia"/>
              </a:rPr>
              <a:t>Zero numbers,</a:t>
            </a:r>
          </a:p>
          <a:p>
            <a:r>
              <a:rPr sz="1800" b="1" i="0">
                <a:solidFill>
                  <a:srgbClr val="5B8C5A"/>
                </a:solidFill>
                <a:latin typeface="Georgia"/>
              </a:rPr>
              <a:t>zero units</a:t>
            </a:r>
          </a:p>
          <a:p>
            <a:r>
              <a:rPr sz="1300" b="0" i="0">
                <a:solidFill>
                  <a:srgbClr val="F7F1E3"/>
                </a:solidFill>
                <a:latin typeface="Calibri"/>
              </a:rPr>
              <a:t>
The quantitative → qualitative conversion succeeded 100%: the main requirement of Step 1 is fully met.
* the only «violation» is an alternative, still-valid prefix.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178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«marcio, putrido,»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+916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965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sz="1100" b="0" i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5303520"/>
            <a:ext cx="1965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sz="1100" b="0" i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5303520"/>
            <a:ext cx="1965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sz="1100" b="0" i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by_attribute/&lt;Attr&gt;.csv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caption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caption_sentence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/>
            </a:r>
            <a:r>
              <a:rPr sz="1150" b="0" i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4200" b="1" i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301752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.0" y="3749040"/>
            <a:ext cx="0.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301752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2697480"/>
            <a:ext cx="301752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09360.0" y="3749040"/>
            <a:ext cx="0.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114800"/>
            <a:ext cx="301752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0" y="2697480"/>
            <a:ext cx="301752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104120.0" y="3749040"/>
            <a:ext cx="0.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4114800"/>
            <a:ext cx="301752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5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1005840"/>
                <a:gridCol w="1097280"/>
                <a:gridCol w="914400"/>
              </a:tblGrid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62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anchor="ctr" marL="762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anchor="ctr" marL="762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anchor="ctr" marL="762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anchor="ctr" marL="762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anchor="ctr" marL="76200">
                    <a:solidFill>
                      <a:srgbClr val="1B33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anchor="ctr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anchor="ctr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anchor="ctr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620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6200">
                    <a:solidFill>
                      <a:srgbClr val="FBF7E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069080"/>
            <a:ext cx="694944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82296" cy="1783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215384"/>
            <a:ext cx="6528816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450" b="1" i="0">
                <a:solidFill>
                  <a:srgbClr val="1B334A"/>
                </a:solidFill>
                <a:latin typeface="Georgia"/>
              </a:rPr>
              <a:t>Fair-evaluation choices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Sample-disjoint split: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674 train / 143 val / 147 test — no leak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Nucleus sampling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(top-p 0.9, T 0.7): beam collapses to the modal caption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Healthy curves: no overfitting, NaN or collapse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920240"/>
            <a:ext cx="3840480" cy="39319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920240"/>
            <a:ext cx="82296" cy="39319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82711" y="2066544"/>
            <a:ext cx="3419856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E0A458"/>
                </a:solidFill>
                <a:latin typeface="Georgia"/>
              </a:rPr>
              <a:t>Kaggle lesson</a:t>
            </a:r>
          </a:p>
          <a:p>
            <a:r>
              <a:rPr sz="1250" b="0" i="0">
                <a:solidFill>
                  <a:srgbClr val="F7F1E3"/>
                </a:solidFill>
                <a:latin typeface="Calibri"/>
              </a:rPr>
              <a:t>The enable_gpu flag in the metadata does NOT actually enable the GPU: it must be turned on manually.
The free tier tends to the P100 (sm_60): the preinstalled PyTorch must be reinstalled from a cu118 wheel.
All training: free T4 / P100 GPU.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Win: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Structure (+0.128), Smell, Texture, Colour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Tie/lose: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Aroma, Taste, Thickness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4 / 7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m3 first on CIDEr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0.007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⚠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most_frequent has the highest BLEU-1 but worst BLEU-4: degenerate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/>
            </a:r>
            <a:r>
              <a:rPr sz="1200" b="0" i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~80–140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→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60019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300" b="0" i="0">
                <a:solidFill>
                  <a:srgbClr val="2B2A26"/>
                </a:solidFill>
                <a:latin typeface="Calibri"/>
              </a:rPr>
              <a:t>Predictions are shuffled across test rows, breaking the prediction↔image alignment. 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C1492E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m1 (ResNet):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C1492E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m3 / m6 (ViT):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C1492E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Smell, Thickness, Colour, Structure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C1492E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Aroma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600" b="1" i="0">
                <a:solidFill>
                  <a:srgbClr val="1B334A"/>
                </a:solidFill>
                <a:latin typeface="Georgia"/>
              </a:rPr>
              <a:t>m1 vs m3 — isolates the encoder</a:t>
            </a:r>
          </a:p>
          <a:p>
            <a:r>
              <a:rPr sz="1400" b="0" i="0">
                <a:solidFill>
                  <a:srgbClr val="2B2A26"/>
                </a:solidFill>
                <a:latin typeface="Calibri"/>
              </a:rPr>
              <a:t>m1 (ResNet) NEVER conditions on the image.
m3 (ViT) does on most attributes.
→ A frozen ResNet-50's features aren't enough at this data scale; a frozen ViT-B/16's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600" b="1" i="0">
                <a:solidFill>
                  <a:srgbClr val="1B334A"/>
                </a:solidFill>
                <a:latin typeface="Georgia"/>
              </a:rPr>
              <a:t>m3 vs m6 — isolates the decoder</a:t>
            </a:r>
          </a:p>
          <a:p>
            <a:r>
              <a:rPr sz="1400" b="0" i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51560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350" b="1" i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537960"/>
                <a:gridCol w="2011680"/>
              </a:tblGrid>
              <a:tr h="49149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1016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 marL="1016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 marL="101600">
                    <a:solidFill>
                      <a:srgbClr val="1B334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anchor="ctr" marL="101600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anchor="ctr" marL="101600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anchor="ctr" marL="101600">
                    <a:solidFill>
                      <a:srgbClr val="EC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random &lt; freq &lt; m1 &lt; m3 &lt; m6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/>
            </a:r>
            <a:r>
              <a:rPr sz="1150" b="0" i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m6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most_frequent (0.79)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00" b="1" i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50" b="1" i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BLEU trap, visualised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34747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350" b="0" i="0">
                <a:solidFill>
                  <a:srgbClr val="F7F1E3"/>
                </a:solidFill>
                <a:latin typeface="Calibri"/>
              </a:rPr>
              <a:t>Left, BLEU-1: the constant caption most_frequent WINS.
Right, CLIPScore: the two models are practically equal.
→ BLEU-1 alone is misleading. Metrics must be read together.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572000"/>
                <a:gridCol w="4617720"/>
              </a:tblGrid>
              <a:tr h="50292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anchor="ctr" marL="1016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Prediction (m6)</a:t>
                      </a:r>
                    </a:p>
                  </a:txBody>
                  <a:tcPr anchor="ctr" marL="101600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Reference (panel)</a:t>
                      </a:r>
                    </a:p>
                  </a:txBody>
                  <a:tcPr anchor="ctr" marL="101600">
                    <a:solidFill>
                      <a:srgbClr val="1B33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an aroma of cream.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5B8C5A"/>
                          </a:solidFill>
                          <a:latin typeface="Calibri"/>
                        </a:rPr>
                        <a:t>The cheese has an aroma of cream.  ✓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Taste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…taste slightly salty and spicy.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 salty taste.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Thickness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The rind is medium-thick.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5B8C5A"/>
                          </a:solidFill>
                          <a:latin typeface="Calibri"/>
                        </a:rPr>
                        <a:t>The rind is medium-thick.  ✓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…deep, even yellow colour.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…overly deep yellow colour.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…irregular fracture and fine grain.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…stretched, with sparse grain in places.</a:t>
                      </a:r>
                    </a:p>
                  </a:txBody>
                  <a:tcPr anchor="ctr" marL="101600">
                    <a:solidFill>
                      <a:srgbClr val="FBF7E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250" b="0" i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400" b="1" i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2880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ResNet ignores the image, ViT uses it on 4/7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/>
            </a:r>
            <a:r>
              <a:rPr sz="1250" b="0" i="0">
                <a:solidFill>
                  <a:srgbClr val="D9D2C2"/>
                </a:solidFill>
                <a:latin typeface="Calibri"/>
              </a:rPr>
              <a:t>Independent of decoder, data scale, hyperparameters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/>
            </a:r>
            <a:r>
              <a:rPr sz="1250" b="0" i="0">
                <a:solidFill>
                  <a:srgbClr val="D9D2C2"/>
                </a:solidFill>
                <a:latin typeface="Calibri"/>
              </a:rPr>
              <a:t>Confirmed by shuffle test + CLIPScore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880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4/7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m6 (ViT+GePpeTto)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$5.60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  <a:effectLst>
            <a:outerShdw blurRad="90000" dist="40000" dir="5400000" rotWithShape="0">
              <a:srgbClr val="1B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880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50" b="1" i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and re-measure CLIPScore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/>
            </a:r>
            <a:r>
              <a:rPr sz="1250" b="0" i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/>
            </a:r>
            <a:r>
              <a:rPr sz="1250" b="0" i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00" b="1" i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300" b="0" i="0">
                <a:solidFill>
                  <a:srgbClr val="F7F1E3"/>
                </a:solidFill>
                <a:latin typeface="Calibri"/>
              </a:rPr>
              <a:t>no model would replace a taster. They learned the vocabulary and a partial image→descriptor map —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E0A458"/>
                </a:solidFill>
                <a:latin typeface="Georgia"/>
              </a:rPr>
              <a:t>Thank you.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