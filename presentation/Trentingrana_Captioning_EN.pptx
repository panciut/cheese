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2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3.xml" ContentType="application/vnd.openxmlformats-officedocument.drawingml.chart+xml"/>
  <Override PartName="/ppt/notesSlides/notesSlide2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317" r:id="rId2"/>
    <p:sldId id="318" r:id="rId3"/>
    <p:sldId id="319" r:id="rId4"/>
    <p:sldId id="290" r:id="rId5"/>
    <p:sldId id="260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298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09" r:id="rId26"/>
    <p:sldId id="338" r:id="rId27"/>
    <p:sldId id="339" r:id="rId28"/>
    <p:sldId id="340" r:id="rId29"/>
    <p:sldId id="341" r:id="rId30"/>
    <p:sldId id="342" r:id="rId31"/>
    <p:sldId id="343" r:id="rId32"/>
    <p:sldId id="344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1829" autoAdjust="0"/>
  </p:normalViewPr>
  <p:slideViewPr>
    <p:cSldViewPr snapToGrid="0" snapToObjects="1">
      <p:cViewPr varScale="1">
        <p:scale>
          <a:sx n="116" d="100"/>
          <a:sy n="116" d="100"/>
        </p:scale>
        <p:origin x="20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2" d="100"/>
          <a:sy n="122" d="100"/>
        </p:scale>
        <p:origin x="5004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cost ($)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5B8C5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115-4AF1-A412-1AC1B3399834}"/>
              </c:ext>
            </c:extLst>
          </c:dPt>
          <c:dPt>
            <c:idx val="1"/>
            <c:invertIfNegative val="1"/>
            <c:bubble3D val="0"/>
            <c:spPr>
              <a:solidFill>
                <a:srgbClr val="E0A45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115-4AF1-A412-1AC1B3399834}"/>
              </c:ext>
            </c:extLst>
          </c:dPt>
          <c:dPt>
            <c:idx val="2"/>
            <c:invertIfNegative val="1"/>
            <c:bubble3D val="0"/>
            <c:spPr>
              <a:solidFill>
                <a:srgbClr val="C1492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115-4AF1-A412-1AC1B3399834}"/>
              </c:ext>
            </c:extLst>
          </c:dPt>
          <c:dLbls>
            <c:numFmt formatCode="&quot;$&quot;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B334A"/>
                    </a:solidFill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Haiku 4.5</c:v>
                </c:pt>
                <c:pt idx="1">
                  <c:v>Sonnet</c:v>
                </c:pt>
                <c:pt idx="2">
                  <c:v>Opus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</c:v>
                </c:pt>
                <c:pt idx="1">
                  <c:v>13.5</c:v>
                </c:pt>
                <c:pt idx="2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115-4AF1-A412-1AC1B339983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m1 · CNN+LSTM</c:v>
                </c:pt>
              </c:strCache>
            </c:strRef>
          </c:tx>
          <c:spPr>
            <a:solidFill>
              <a:srgbClr val="E07A5F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BLEU-1</c:v>
                </c:pt>
                <c:pt idx="1">
                  <c:v>BLEU-4</c:v>
                </c:pt>
                <c:pt idx="2">
                  <c:v>METEOR</c:v>
                </c:pt>
                <c:pt idx="3">
                  <c:v>ROUGE-L</c:v>
                </c:pt>
                <c:pt idx="4">
                  <c:v>CIDEr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0.35010000000000002</c:v>
                </c:pt>
                <c:pt idx="1">
                  <c:v>0.1283</c:v>
                </c:pt>
                <c:pt idx="2">
                  <c:v>0.29380000000000001</c:v>
                </c:pt>
                <c:pt idx="3">
                  <c:v>0.29509999999999997</c:v>
                </c:pt>
                <c:pt idx="4">
                  <c:v>0.25169999999999998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C9D-4D35-BEBC-F4776DBDD0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m3 · ViT+Transf.</c:v>
                </c:pt>
              </c:strCache>
            </c:strRef>
          </c:tx>
          <c:spPr>
            <a:solidFill>
              <a:srgbClr val="3D7068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BLEU-1</c:v>
                </c:pt>
                <c:pt idx="1">
                  <c:v>BLEU-4</c:v>
                </c:pt>
                <c:pt idx="2">
                  <c:v>METEOR</c:v>
                </c:pt>
                <c:pt idx="3">
                  <c:v>ROUGE-L</c:v>
                </c:pt>
                <c:pt idx="4">
                  <c:v>CIDEr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0.3649</c:v>
                </c:pt>
                <c:pt idx="1">
                  <c:v>0.1237</c:v>
                </c:pt>
                <c:pt idx="2">
                  <c:v>0.28749999999999998</c:v>
                </c:pt>
                <c:pt idx="3">
                  <c:v>0.29809999999999998</c:v>
                </c:pt>
                <c:pt idx="4">
                  <c:v>0.28560000000000002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C9D-4D35-BEBC-F4776DBDD0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m6 · ViT+GePpeTto</c:v>
                </c:pt>
              </c:strCache>
            </c:strRef>
          </c:tx>
          <c:spPr>
            <a:solidFill>
              <a:srgbClr val="8A5082"/>
            </a:solidFill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BLEU-1</c:v>
                </c:pt>
                <c:pt idx="1">
                  <c:v>BLEU-4</c:v>
                </c:pt>
                <c:pt idx="2">
                  <c:v>METEOR</c:v>
                </c:pt>
                <c:pt idx="3">
                  <c:v>ROUGE-L</c:v>
                </c:pt>
                <c:pt idx="4">
                  <c:v>CIDEr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0.36570000000000003</c:v>
                </c:pt>
                <c:pt idx="1">
                  <c:v>0.13070000000000001</c:v>
                </c:pt>
                <c:pt idx="2">
                  <c:v>0.2928</c:v>
                </c:pt>
                <c:pt idx="3">
                  <c:v>0.30070000000000002</c:v>
                </c:pt>
                <c:pt idx="4">
                  <c:v>0.27410000000000001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3C9D-4D35-BEBC-F4776DBDD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  <a:endParaRPr lang="it-IT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Mean CIDEr (7 attributes)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8A8A8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FFA-43ED-9718-248898CDF650}"/>
              </c:ext>
            </c:extLst>
          </c:dPt>
          <c:dPt>
            <c:idx val="1"/>
            <c:invertIfNegative val="1"/>
            <c:bubble3D val="0"/>
            <c:spPr>
              <a:solidFill>
                <a:srgbClr val="8A8A8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8FFA-43ED-9718-248898CDF650}"/>
              </c:ext>
            </c:extLst>
          </c:dPt>
          <c:dPt>
            <c:idx val="2"/>
            <c:invertIfNegative val="1"/>
            <c:bubble3D val="0"/>
            <c:spPr>
              <a:solidFill>
                <a:srgbClr val="E07A5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8FFA-43ED-9718-248898CDF650}"/>
              </c:ext>
            </c:extLst>
          </c:dPt>
          <c:dPt>
            <c:idx val="3"/>
            <c:invertIfNegative val="1"/>
            <c:bubble3D val="0"/>
            <c:spPr>
              <a:solidFill>
                <a:srgbClr val="3D706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8FFA-43ED-9718-248898CDF650}"/>
              </c:ext>
            </c:extLst>
          </c:dPt>
          <c:dPt>
            <c:idx val="4"/>
            <c:invertIfNegative val="1"/>
            <c:bubble3D val="0"/>
            <c:spPr>
              <a:solidFill>
                <a:srgbClr val="8A508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8FFA-43ED-9718-248898CDF650}"/>
              </c:ext>
            </c:extLst>
          </c:dPt>
          <c:dPt>
            <c:idx val="5"/>
            <c:invertIfNegative val="1"/>
            <c:bubble3D val="0"/>
            <c:spPr>
              <a:solidFill>
                <a:srgbClr val="E0A45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8FFA-43ED-9718-248898CDF65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random</c:v>
                </c:pt>
                <c:pt idx="1">
                  <c:v>freq_weighted</c:v>
                </c:pt>
                <c:pt idx="2">
                  <c:v>m1</c:v>
                </c:pt>
                <c:pt idx="3">
                  <c:v>m3</c:v>
                </c:pt>
                <c:pt idx="4">
                  <c:v>m6</c:v>
                </c:pt>
                <c:pt idx="5">
                  <c:v>most_frequent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0.23400000000000001</c:v>
                </c:pt>
                <c:pt idx="1">
                  <c:v>0.37</c:v>
                </c:pt>
                <c:pt idx="2">
                  <c:v>0.58599999999999997</c:v>
                </c:pt>
                <c:pt idx="3">
                  <c:v>0.64600000000000002</c:v>
                </c:pt>
                <c:pt idx="4">
                  <c:v>0.70399999999999996</c:v>
                </c:pt>
                <c:pt idx="5">
                  <c:v>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FFA-43ED-9718-248898CDF65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Mean CLIPScore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E0A45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B74-4716-AD5F-3C5E9D0B2246}"/>
              </c:ext>
            </c:extLst>
          </c:dPt>
          <c:dPt>
            <c:idx val="1"/>
            <c:invertIfNegative val="1"/>
            <c:bubble3D val="0"/>
            <c:spPr>
              <a:solidFill>
                <a:srgbClr val="8A8A8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B74-4716-AD5F-3C5E9D0B2246}"/>
              </c:ext>
            </c:extLst>
          </c:dPt>
          <c:dPt>
            <c:idx val="2"/>
            <c:invertIfNegative val="1"/>
            <c:bubble3D val="0"/>
            <c:spPr>
              <a:solidFill>
                <a:srgbClr val="8A8A8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4B74-4716-AD5F-3C5E9D0B2246}"/>
              </c:ext>
            </c:extLst>
          </c:dPt>
          <c:dPt>
            <c:idx val="3"/>
            <c:invertIfNegative val="1"/>
            <c:bubble3D val="0"/>
            <c:spPr>
              <a:solidFill>
                <a:srgbClr val="E07A5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4B74-4716-AD5F-3C5E9D0B2246}"/>
              </c:ext>
            </c:extLst>
          </c:dPt>
          <c:dPt>
            <c:idx val="4"/>
            <c:invertIfNegative val="1"/>
            <c:bubble3D val="0"/>
            <c:spPr>
              <a:solidFill>
                <a:srgbClr val="3D706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4B74-4716-AD5F-3C5E9D0B2246}"/>
              </c:ext>
            </c:extLst>
          </c:dPt>
          <c:dPt>
            <c:idx val="5"/>
            <c:invertIfNegative val="1"/>
            <c:bubble3D val="0"/>
            <c:spPr>
              <a:solidFill>
                <a:srgbClr val="8A508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4B74-4716-AD5F-3C5E9D0B2246}"/>
              </c:ext>
            </c:extLst>
          </c:dPt>
          <c:cat>
            <c:strRef>
              <c:f>Sheet1!$A$2:$A$7</c:f>
              <c:strCache>
                <c:ptCount val="6"/>
                <c:pt idx="0">
                  <c:v>most_freq</c:v>
                </c:pt>
                <c:pt idx="1">
                  <c:v>random</c:v>
                </c:pt>
                <c:pt idx="2">
                  <c:v>freq_w</c:v>
                </c:pt>
                <c:pt idx="3">
                  <c:v>m1</c:v>
                </c:pt>
                <c:pt idx="4">
                  <c:v>m3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0.19020000000000001</c:v>
                </c:pt>
                <c:pt idx="1">
                  <c:v>0.1913</c:v>
                </c:pt>
                <c:pt idx="2">
                  <c:v>0.19189999999999999</c:v>
                </c:pt>
                <c:pt idx="3">
                  <c:v>0.1925</c:v>
                </c:pt>
                <c:pt idx="4">
                  <c:v>0.19209999999999999</c:v>
                </c:pt>
                <c:pt idx="5">
                  <c:v>0.1933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B74-4716-AD5F-3C5E9D0B22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19500000000000001"/>
          <c:min val="0.18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CLIPScore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C5F8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366-4EA8-BA27-6BB7A10AE28F}"/>
              </c:ext>
            </c:extLst>
          </c:dPt>
          <c:dPt>
            <c:idx val="1"/>
            <c:invertIfNegative val="1"/>
            <c:bubble3D val="0"/>
            <c:spPr>
              <a:solidFill>
                <a:srgbClr val="C1492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366-4EA8-BA27-6BB7A10AE28F}"/>
              </c:ext>
            </c:extLst>
          </c:dPt>
          <c:dPt>
            <c:idx val="2"/>
            <c:invertIfNegative val="1"/>
            <c:bubble3D val="0"/>
            <c:spPr>
              <a:solidFill>
                <a:srgbClr val="E0A45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366-4EA8-BA27-6BB7A10AE28F}"/>
              </c:ext>
            </c:extLst>
          </c:dPt>
          <c:dPt>
            <c:idx val="3"/>
            <c:invertIfNegative val="1"/>
            <c:bubble3D val="0"/>
            <c:spPr>
              <a:solidFill>
                <a:srgbClr val="2C5F8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5366-4EA8-BA27-6BB7A10AE28F}"/>
              </c:ext>
            </c:extLst>
          </c:dPt>
          <c:dPt>
            <c:idx val="4"/>
            <c:invertIfNegative val="1"/>
            <c:bubble3D val="0"/>
            <c:spPr>
              <a:solidFill>
                <a:srgbClr val="5B8C5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5366-4EA8-BA27-6BB7A10AE28F}"/>
              </c:ext>
            </c:extLst>
          </c:dPt>
          <c:dPt>
            <c:idx val="5"/>
            <c:invertIfNegative val="1"/>
            <c:bubble3D val="0"/>
            <c:spPr>
              <a:solidFill>
                <a:srgbClr val="5B8C5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5366-4EA8-BA27-6BB7A10AE28F}"/>
              </c:ext>
            </c:extLst>
          </c:dPt>
          <c:dPt>
            <c:idx val="6"/>
            <c:invertIfNegative val="1"/>
            <c:bubble3D val="0"/>
            <c:spPr>
              <a:solidFill>
                <a:srgbClr val="5B8C5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5366-4EA8-BA27-6BB7A10AE28F}"/>
              </c:ext>
            </c:extLst>
          </c:dPt>
          <c:cat>
            <c:strRef>
              <c:f>Sheet1!$A$2:$A$8</c:f>
              <c:strCache>
                <c:ptCount val="7"/>
                <c:pt idx="0">
                  <c:v>Aroma</c:v>
                </c:pt>
                <c:pt idx="1">
                  <c:v>Taste</c:v>
                </c:pt>
                <c:pt idx="2">
                  <c:v>Thickness</c:v>
                </c:pt>
                <c:pt idx="3">
                  <c:v>Smell</c:v>
                </c:pt>
                <c:pt idx="4">
                  <c:v>Structure</c:v>
                </c:pt>
                <c:pt idx="5">
                  <c:v>Colour</c:v>
                </c:pt>
                <c:pt idx="6">
                  <c:v>Texture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0.18099999999999999</c:v>
                </c:pt>
                <c:pt idx="1">
                  <c:v>0.184</c:v>
                </c:pt>
                <c:pt idx="2">
                  <c:v>0.184</c:v>
                </c:pt>
                <c:pt idx="3">
                  <c:v>0.185</c:v>
                </c:pt>
                <c:pt idx="4">
                  <c:v>0.19700000000000001</c:v>
                </c:pt>
                <c:pt idx="5">
                  <c:v>0.20599999999999999</c:v>
                </c:pt>
                <c:pt idx="6">
                  <c:v>0.20799999999999999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366-4EA8-BA27-6BB7A10AE2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  <a:endParaRPr lang="it-IT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.17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A26"/>
                </a:solidFill>
                <a:latin typeface="Calibri"/>
              </a:defRPr>
            </a:pPr>
            <a:endParaRPr lang="it-IT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2406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morning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everyone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welcome. Today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 on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sensory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Trentingrana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cheese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generate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sensory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Italian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from images of grana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cheese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cross-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pPr rtl="0"/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words,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model to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describe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cheese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slice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work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pillars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building the dataset,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demanding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part,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devote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roughly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70% of the time,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conceptually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encoder-decoder</a:t>
            </a: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0" dirty="0">
              <a:effectLst/>
            </a:endParaRPr>
          </a:p>
          <a:p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look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concrete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38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thousand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image-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sensory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clear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scientific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drives a model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the image.</a:t>
            </a:r>
            <a:endParaRPr lang="it-IT" b="0" dirty="0">
              <a:effectLst/>
            </a:endParaRPr>
          </a:p>
          <a:p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 with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br>
              <a:rPr lang="it-IT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Grana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certified by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panels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smell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taste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wheel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describing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aroma,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flavor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so on. </a:t>
            </a:r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slow,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subjective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panelists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describe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wheel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words,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hard to scale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thousands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wheels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support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work with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system.</a:t>
            </a:r>
          </a:p>
          <a:p>
            <a:pPr rtl="0"/>
            <a:endParaRPr lang="it-I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feed the model an image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captured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the IRIS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electronic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visual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analyzer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like the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produce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sensory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Italian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</a:t>
            </a:r>
            <a:endParaRPr lang="it-IT" b="0" dirty="0">
              <a:effectLst/>
            </a:endParaRPr>
          </a:p>
          <a:p>
            <a:br>
              <a:rPr lang="it-IT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sensory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dimensions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panel rates for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wheel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paste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texture, paste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thickness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smell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aroma and taste.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mind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distinction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second part. </a:t>
            </a: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paste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texture and paste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intrinsically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visual: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the image.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Smell, aroma and taste,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olfaction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gustation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no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photograph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taste.</a:t>
            </a:r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instructive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case,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thickness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occupies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small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slice,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model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struggles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"weight"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taxonomy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decorative: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model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image,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we'llfind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succeeds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olfactory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gustatory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check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br>
              <a:rPr lang="it-IT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step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text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-processing: take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tasters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often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telegraphic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sometimes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dialect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occasionally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inconsistent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, and turn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form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Italian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sentences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1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recurring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quantitative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rind's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millimetres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centimetres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qualitative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1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step,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accounts for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70% of the work: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part.</a:t>
            </a:r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second step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compare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encoder-decoder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conceptually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possible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</a:t>
            </a:r>
            <a:endParaRPr lang="it-IT" b="1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Consistently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weights,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devote the first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 of the talk to building the dataset, and the second to the models.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 with the data.</a:t>
            </a:r>
            <a:endParaRPr lang="it-IT" b="1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first part: building the dataset.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journey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one line: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 from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52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thousand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heterogeneous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dialectal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arrive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38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thousand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image-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sentence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form.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eleven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-stage pipeline and a precise strategy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an AI cost of just 5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dollars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60 cents.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 of the project from an engineering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standpoint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deceptively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misaligned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rtl="0"/>
            <a:endParaRPr lang="it-I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br>
              <a:rPr lang="it-IT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material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2,750 high-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resolution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BMP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cheese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slice and a close-up of the grain;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Excel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workbooks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one per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2018 to 2021, with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sheet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and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codebook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mapping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sixteen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dairies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alignment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practice,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spoke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photo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filename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single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wheel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precise sample ID,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taster's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"product". So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-by-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join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photo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dairy-level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join,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codebook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top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concrete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obstacles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cost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time: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dairy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appears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ways; the Excel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and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scores use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Italian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decimal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comma. </a:t>
            </a:r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provenance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field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propagated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downstream, so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stays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 to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solve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lack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wheel-level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join?</a:t>
            </a: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dairy-level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broadcast. </a:t>
            </a:r>
          </a:p>
          <a:p>
            <a:pPr rtl="0"/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idea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propagate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taster's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coherent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images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dairy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session. Look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smell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word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Sauerkraut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for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dairy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TN_306,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images: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replicas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and b,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slice and grain. </a:t>
            </a:r>
            <a:endParaRPr lang="it-IT" b="0" dirty="0">
              <a:effectLst/>
            </a:endParaRPr>
          </a:p>
          <a:p>
            <a:pPr rtl="0"/>
            <a:endParaRPr lang="it-I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image-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br>
              <a:rPr lang="it-IT" b="0" dirty="0">
                <a:effectLst/>
              </a:rPr>
            </a:b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might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isn't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artificial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duplication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no: for training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advantage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more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visual-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textual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make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robust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join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52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thousand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obtained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image times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panelist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39,500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non-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around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76%,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2021 sessions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some fields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blank. From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pipeline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br>
              <a:rPr lang="it-IT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full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eleven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stages,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zero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Python script, explicit inputs and outputs, and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inspectable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report.</a:t>
            </a:r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first part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deterministic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LLM". </a:t>
            </a:r>
            <a:endParaRPr lang="it-IT" b="0" dirty="0">
              <a:effectLst/>
            </a:endParaRPr>
          </a:p>
          <a:p>
            <a:br>
              <a:rPr lang="it-IT" b="0" dirty="0">
                <a:effectLst/>
              </a:rPr>
            </a:b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be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reproducible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free code,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blue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deterministic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stages: from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unified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 text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 building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cleanup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deduplication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stages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involve the LLM: prompt</a:t>
            </a: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design, the pilot and the full batch. In green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assembly.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stages: 52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thousand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compressed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7,700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unique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subset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model. </a:t>
            </a:r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compression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cost to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dollars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look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key stages one by one.</a:t>
            </a:r>
            <a:endParaRPr lang="it-IT" b="0" dirty="0">
              <a:effectLst/>
            </a:endParaRPr>
          </a:p>
          <a:p>
            <a:br>
              <a:rPr lang="it-IT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story,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funnel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shows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training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movethrough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pipeline.</a:t>
            </a:r>
          </a:p>
          <a:p>
            <a:pPr rtl="0"/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biggest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drop, over 12,600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happens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entirely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deterministic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stage 1.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discard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12,500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86 are meta-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68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near-empty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fragments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words,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discarding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sensory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certain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 after stage 1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75.7%.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deliberate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choice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stress: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stage, drops must be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certain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sentence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like "I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penalise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smells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barn"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descriptor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must NOT be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discarded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regex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ambiguity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the LLM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deterministic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blacklist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small and conservative by design.</a:t>
            </a:r>
            <a:endParaRPr lang="it-IT" b="0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stage 1,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deterministic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golden rule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rewriting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taster's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words,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mechanical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filter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N/A,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Unicode to NFC form,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non-breaking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zero-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characters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newlines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meta-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deliberately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small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blacklist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near-empty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fragments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fewer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alphanumeric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characters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after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columns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text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text, so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reversible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pPr rtl="0"/>
            <a:endParaRPr lang="it-I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philosophy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key: drops must be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certain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ambiguous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LLM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handle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rule.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39,356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the drops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repeat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are 99%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br>
              <a:rPr lang="it-IT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Stages 2 and 3 build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frequent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lemmas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bigrams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tailor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-made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Italian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lemmatisation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a standard NLP library?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sensory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lexicon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systematically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turn "panna" (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"panno" (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cloth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"latte" (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milk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"latto".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include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stopwords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words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informative: "molto", "poco", "leggermente",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little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slightly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sensory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intensifiers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wrote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deterministic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lemmatiser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abbreviations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typos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singular-plural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merge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attested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corpus.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chart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breadth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paste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800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lemmas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over 40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thousand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tokens;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thickness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poorest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variety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the audit,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stylistic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anchor in the LLM prompt,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dictionary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model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already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Italian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br>
              <a:rPr lang="it-IT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 4 tackles head-on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brief's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explicit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quantitative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qualitative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emblematic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case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thickness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hundreds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plain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"10", "1 cm", "on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 mm", "8-10 mm".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deterministic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recognises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millimetres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heuristic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reading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centimetres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qualitative bucket per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millimetres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up to 10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and so on up to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thick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18.</a:t>
            </a:r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deterministically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the LLM?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eliminates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root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source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inconsistency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otherwise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bucketed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"1 cm" and "10 mm",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chart on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424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neatly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collapsed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buckets.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Mixed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blending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LLM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contextual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reasoning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br>
              <a:rPr lang="it-IT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single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trick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economics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deduplication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Remember the broadcast? By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replicating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images,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text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LLM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time. </a:t>
            </a:r>
            <a:endParaRPr lang="it-IT" b="0" dirty="0">
              <a:effectLst/>
            </a:endParaRPr>
          </a:p>
          <a:p>
            <a:pPr rtl="0"/>
            <a:endParaRPr lang="it-I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makes no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So,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model,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deduplicate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key: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-plus-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sharp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over 39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thousand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compress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7,705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unique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5.1-fold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compression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chart shows, per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versus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unique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dominant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pattern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broadcast's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6,600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appear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precisely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times.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practical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consequence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enormous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LLM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unique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cutting the cost by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times. </a:t>
            </a:r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perfect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illustration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deterministic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LLM"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deduplication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for free,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component's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cost by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br>
              <a:rPr lang="it-IT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"smart" core of the pipeline: LLM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rewriting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stages 6, 7 and 8. </a:t>
            </a:r>
          </a:p>
          <a:p>
            <a:pPr rtl="0"/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the LLM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work no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regex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faithfully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expanding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Sauerkraut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"Smell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sauerkraut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normalising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dialect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meta-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preserving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descriptor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statements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br>
              <a:rPr lang="it-IT" b="0" dirty="0">
                <a:effectLst/>
              </a:rPr>
            </a:b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 6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prompt design: a system prompt for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kilobytes,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eleven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rules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"zero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rule and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escape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NON_DESCRITTO, for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contentless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inputs.  </a:t>
            </a: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sixty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frequent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lemmas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stylistic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anchor,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six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-shot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 7, the pilot on 105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discover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failure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spending: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centimetre-millimetre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inconsistency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some format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violations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Both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prompt. A concrete</a:t>
            </a: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workers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eight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rate-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storms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 8, the full batch: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7,689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unique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single job. </a:t>
            </a:r>
          </a:p>
          <a:p>
            <a:pPr rtl="0"/>
            <a:endParaRPr lang="it-I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7,689 out of 7,689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zero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hour, for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dollars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Haiku?</a:t>
            </a:r>
            <a:endParaRPr lang="it-IT" b="0" dirty="0">
              <a:effectLst/>
            </a:endParaRPr>
          </a:p>
          <a:p>
            <a:br>
              <a:rPr lang="it-IT" dirty="0"/>
            </a:b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of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pragmatic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For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well-bounded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rewriting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task,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already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the pilot,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model?</a:t>
            </a:r>
            <a:endParaRPr lang="it-IT" b="0" dirty="0">
              <a:effectLst/>
            </a:endParaRPr>
          </a:p>
          <a:p>
            <a:r>
              <a:rPr lang="it-IT" b="0" dirty="0">
                <a:effectLst/>
              </a:rPr>
              <a:t> </a:t>
            </a: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chart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work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cost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dollars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60 with Haiku 4.5, versus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13.50 with Sonnet and over 67 with Opus.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Haiku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2.4 times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cheaper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Sonnet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twelve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cheaper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Opus.</a:t>
            </a:r>
            <a:endParaRPr lang="it-IT" b="0" dirty="0">
              <a:effectLst/>
            </a:endParaRPr>
          </a:p>
          <a:p>
            <a:br>
              <a:rPr lang="it-IT" b="0" dirty="0">
                <a:effectLst/>
              </a:rPr>
            </a:b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though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cheapest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cheap model good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enough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pilot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stratified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sample,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narrow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task the more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expensive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models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offered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gain. Spending more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throwing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money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LLM cost of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project, pilot plus batch,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dollars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60 cents. </a:t>
            </a: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concrete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proof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good upstream data engineering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worth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expensive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downstream model.</a:t>
            </a:r>
            <a:endParaRPr lang="it-IT" b="0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know Step 1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satisfied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Not by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impression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programmatic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7,689 model outputs.</a:t>
            </a:r>
            <a:endParaRPr lang="it-IT" b="0" dirty="0">
              <a:effectLst/>
            </a:endParaRPr>
          </a:p>
          <a:p>
            <a:br>
              <a:rPr lang="it-IT" b="0" dirty="0">
                <a:effectLst/>
              </a:rPr>
            </a:b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summarises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checks. The output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starts with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prefix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 single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violation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alternative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prefix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Above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look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the brief: zero outputs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zero outputs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like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millimetres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centimetres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zero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long outputs, zero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outputs, zero outputs with markup. All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rtl="0"/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conversion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quantitative to qualitative, the core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first step,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succeeded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hundred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remains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no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fulfilment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deliverable,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promise.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?",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opinion.</a:t>
            </a:r>
            <a:endParaRPr lang="it-IT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 9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separate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curated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 from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merely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one.</a:t>
            </a: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the batch,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revealed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something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interesting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291 of the 362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LLM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labelled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NON_DESCRITTO, i.e. "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lemma from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model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cautious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escape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rule on borderline inputs,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mixing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judgement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descriptor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hand-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curated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salvage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178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descriptor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faithful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"marcio, putrido,"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"Smell of rot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putridity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"; "Sangue,,,"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"Aroma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 the chart: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unique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NON_DESCRITTO drop from 362 to 184,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recovers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916 training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otherwise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throwing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little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care, on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subset, cost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LLM round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thousand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first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deliverable. Stage 10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reconnects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broadcast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dataset: 38,437 training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1,497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unique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images.</a:t>
            </a:r>
            <a:endParaRPr lang="it-IT" b="0" dirty="0">
              <a:effectLst/>
            </a:endParaRPr>
          </a:p>
          <a:p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chart shows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note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paste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nearly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double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rind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thickness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imbalance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cross-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comparison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second part.</a:t>
            </a: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format side,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made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flexibility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choice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carries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compact one,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eight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words,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anchored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like "Smell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 And a complete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declarative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Italian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sentence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"The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cheese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smell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suited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encoder-decoders and to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captioning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0" dirty="0">
              <a:effectLst/>
            </a:endParaRPr>
          </a:p>
          <a:p>
            <a:br>
              <a:rPr lang="it-IT" b="0" dirty="0">
                <a:effectLst/>
              </a:rPr>
            </a:b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sentence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deterministic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no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further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LLM round.</a:t>
            </a:r>
            <a:endParaRPr lang="it-IT" b="0" dirty="0">
              <a:effectLst/>
            </a:endParaRPr>
          </a:p>
          <a:p>
            <a:br>
              <a:rPr lang="it-IT" b="0" dirty="0">
                <a:effectLst/>
              </a:rPr>
            </a:b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dataset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several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full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provenance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simplified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four-column</a:t>
            </a:r>
            <a:endParaRPr lang="it-IT" b="0" dirty="0">
              <a:effectLst/>
            </a:endParaRPr>
          </a:p>
          <a:p>
            <a:pPr rtl="0"/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per-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splits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serve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downstream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it-IT" b="0" dirty="0">
              <a:effectLst/>
            </a:endParaRPr>
          </a:p>
          <a:p>
            <a:br>
              <a:rPr lang="it-IT" b="0" dirty="0">
                <a:effectLst/>
              </a:rPr>
            </a:b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close the data part and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to the models.</a:t>
            </a:r>
            <a:endParaRPr lang="it-IT" b="0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Second part: the models.</a:t>
            </a:r>
          </a:p>
          <a:p>
            <a:r>
              <a:rPr dirty="0"/>
              <a:t>Here the brief's goal is the comparison of methods, and let me give you the conclusion upfront, so</a:t>
            </a:r>
          </a:p>
          <a:p>
            <a:r>
              <a:rPr dirty="0"/>
              <a:t>you can follow the data with the right key. Among everything we could change — the decoder, the</a:t>
            </a:r>
          </a:p>
          <a:p>
            <a:r>
              <a:rPr dirty="0"/>
              <a:t>amount of data, the hyperparameters — the single factor that decides whether the model truly uses</a:t>
            </a:r>
          </a:p>
          <a:p>
            <a:r>
              <a:rPr dirty="0"/>
              <a:t>the image is one: the visual encoder.</a:t>
            </a:r>
          </a:p>
          <a:p>
            <a:r>
              <a:rPr dirty="0"/>
              <a:t>We'll build this conclusion step by step, and verify it with two independent tools: the shuffle test</a:t>
            </a:r>
          </a:p>
          <a:p>
            <a:r>
              <a:rPr dirty="0"/>
              <a:t>and the </a:t>
            </a:r>
            <a:r>
              <a:rPr dirty="0" err="1"/>
              <a:t>CLIPScore</a:t>
            </a:r>
            <a:r>
              <a:rPr dirty="0"/>
              <a:t>. Let's start with the three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brief asks for three methods "as conceptually different as possible". We chose them to isolate</a:t>
            </a:r>
          </a:p>
          <a:p>
            <a:r>
              <a:rPr dirty="0"/>
              <a:t>the three main axes of variation in captioning.</a:t>
            </a:r>
          </a:p>
          <a:p>
            <a:r>
              <a:rPr dirty="0"/>
              <a:t>m1 is the classic: a convolutional encoder, ResNet-50, with an LSTM decoder trained from scratch.</a:t>
            </a:r>
          </a:p>
          <a:p>
            <a:r>
              <a:rPr dirty="0"/>
              <a:t>m3 changes the encoder: a Vision Transformer, </a:t>
            </a:r>
            <a:r>
              <a:rPr dirty="0" err="1"/>
              <a:t>ViT</a:t>
            </a:r>
            <a:r>
              <a:rPr dirty="0"/>
              <a:t>-B/16, with a Transformer decoder, still from</a:t>
            </a:r>
          </a:p>
          <a:p>
            <a:r>
              <a:rPr dirty="0"/>
              <a:t>scratch. m6 changes the decoder: the same </a:t>
            </a:r>
            <a:r>
              <a:rPr dirty="0" err="1"/>
              <a:t>ViT</a:t>
            </a:r>
            <a:r>
              <a:rPr dirty="0"/>
              <a:t>, but the decoder is </a:t>
            </a:r>
            <a:r>
              <a:rPr dirty="0" err="1"/>
              <a:t>GePpeTto</a:t>
            </a:r>
            <a:r>
              <a:rPr dirty="0"/>
              <a:t>, an already-pretrained</a:t>
            </a:r>
          </a:p>
          <a:p>
            <a:r>
              <a:rPr dirty="0"/>
              <a:t>Italian GPT-2.</a:t>
            </a:r>
          </a:p>
          <a:p>
            <a:r>
              <a:rPr dirty="0"/>
              <a:t>The beauty of this design is in the axes, at the bottom. Comparing m1 with m3 isolates the encoder's</a:t>
            </a:r>
          </a:p>
          <a:p>
            <a:r>
              <a:rPr dirty="0"/>
              <a:t>effect, because the decoder stays the same "from scratch" type. Comparing m3 with m6 isolates the</a:t>
            </a:r>
          </a:p>
          <a:p>
            <a:r>
              <a:rPr dirty="0"/>
              <a:t>decoder's effect, because the encoder is identical. It's a small controlled experiment.</a:t>
            </a:r>
          </a:p>
          <a:p>
            <a:r>
              <a:rPr dirty="0"/>
              <a:t>A crucial choice for fairness: all encoders are frozen. We train only the decoder and the</a:t>
            </a:r>
          </a:p>
          <a:p>
            <a:r>
              <a:rPr dirty="0"/>
              <a:t>cross-attention projection. So each decoder receives exactly the same visual features, and the</a:t>
            </a:r>
          </a:p>
          <a:p>
            <a:r>
              <a:rPr dirty="0"/>
              <a:t>differences we observe are attributable to architecture, not to a lucky encoder. This, we'll see,</a:t>
            </a:r>
          </a:p>
          <a:p>
            <a:r>
              <a:rPr dirty="0"/>
              <a:t>is also the main limitation, and the main pointer to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experimental setup, briefly. All training ran on Kaggle's free GPU tier, with T4 or P100. The</a:t>
            </a:r>
          </a:p>
          <a:p>
            <a:r>
              <a:rPr dirty="0"/>
              <a:t>hyperparameters in the table are reasonable defaults for each architecture, not the fruit of an</a:t>
            </a:r>
          </a:p>
          <a:p>
            <a:r>
              <a:rPr dirty="0"/>
              <a:t>exhaustive search: m1 more epochs and a higher learning rate, m6 few epochs and a small learning</a:t>
            </a:r>
          </a:p>
          <a:p>
            <a:r>
              <a:rPr dirty="0"/>
              <a:t>rate, as is natural for a pretrained model that only needs fine-tuning.</a:t>
            </a:r>
          </a:p>
          <a:p>
            <a:r>
              <a:rPr dirty="0"/>
              <a:t>Two choices ensure a fair comparison. First, the split is sample-disjoint: the same cheese never</a:t>
            </a:r>
          </a:p>
          <a:p>
            <a:r>
              <a:rPr dirty="0"/>
              <a:t>appears both in training and in test, so we avoid leakage. Second, at inference we use nucleus</a:t>
            </a:r>
          </a:p>
          <a:p>
            <a:r>
              <a:rPr dirty="0"/>
              <a:t>sampling instead of beam search, because on small datasets beam collapses to the most frequent</a:t>
            </a:r>
          </a:p>
          <a:p>
            <a:r>
              <a:rPr dirty="0"/>
              <a:t>caption, artificially inflating BLEU but reducing diversity.</a:t>
            </a:r>
          </a:p>
          <a:p>
            <a:r>
              <a:rPr dirty="0"/>
              <a:t>The training curves are healthy across all three models, no overfitting, no </a:t>
            </a:r>
            <a:r>
              <a:rPr dirty="0" err="1"/>
              <a:t>NaN</a:t>
            </a:r>
            <a:r>
              <a:rPr dirty="0"/>
              <a:t>, no collapse, so</a:t>
            </a:r>
          </a:p>
          <a:p>
            <a:r>
              <a:rPr dirty="0"/>
              <a:t>the differences in results are not due to training pathologies.</a:t>
            </a:r>
          </a:p>
          <a:p>
            <a:r>
              <a:rPr dirty="0"/>
              <a:t>On the right, a Kaggle lesson learned the hard way, for anyone wanting to reproduce: the </a:t>
            </a:r>
            <a:r>
              <a:rPr dirty="0" err="1"/>
              <a:t>enable_gpu</a:t>
            </a:r>
            <a:endParaRPr dirty="0"/>
          </a:p>
          <a:p>
            <a:r>
              <a:rPr dirty="0"/>
              <a:t>flag in the metadata is not enough, and the preinstalled </a:t>
            </a:r>
            <a:r>
              <a:rPr dirty="0" err="1"/>
              <a:t>PyTorch</a:t>
            </a:r>
            <a:r>
              <a:rPr dirty="0"/>
              <a:t> on P100s must be reinstalled.</a:t>
            </a:r>
          </a:p>
          <a:p>
            <a:r>
              <a:rPr dirty="0"/>
              <a:t>Details, but the kind that cost you an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Let's see the first results, in the per-attribute regime: seven separate models, one per sensory</a:t>
            </a:r>
          </a:p>
          <a:p>
            <a:r>
              <a:rPr dirty="0"/>
              <a:t>dimension. The chart shows BLEU-4 per attribute, compared with the </a:t>
            </a:r>
            <a:r>
              <a:rPr dirty="0" err="1"/>
              <a:t>most_frequent</a:t>
            </a:r>
            <a:r>
              <a:rPr dirty="0"/>
              <a:t> baseline, the one</a:t>
            </a:r>
          </a:p>
          <a:p>
            <a:r>
              <a:rPr dirty="0"/>
              <a:t>that always emits the most frequent caption.</a:t>
            </a:r>
          </a:p>
          <a:p>
            <a:r>
              <a:rPr dirty="0"/>
              <a:t>The picture is sharp and two-sided. The trained models clearly beat the constant baseline on four</a:t>
            </a:r>
          </a:p>
          <a:p>
            <a:r>
              <a:rPr dirty="0"/>
              <a:t>attributes: paste structure, with a notable margin of over 0.12 points, then smell, texture and</a:t>
            </a:r>
          </a:p>
          <a:p>
            <a:r>
              <a:rPr dirty="0" err="1"/>
              <a:t>colour</a:t>
            </a:r>
            <a:r>
              <a:rPr dirty="0"/>
              <a:t>. On the other three, aroma, taste and rind thickness, they tie or lose.</a:t>
            </a:r>
          </a:p>
          <a:p>
            <a:r>
              <a:rPr dirty="0"/>
              <a:t>Be careful not to misread this "lose". It does not mean the models are poor on those attributes. It</a:t>
            </a:r>
          </a:p>
          <a:p>
            <a:r>
              <a:rPr dirty="0"/>
              <a:t>means that there the reference captions are not very diverse, very template-heavy, and under those</a:t>
            </a:r>
          </a:p>
          <a:p>
            <a:r>
              <a:rPr dirty="0"/>
              <a:t>conditions BLEU rewards whoever always predicts the majority. It's a flaw of the metric, not of the</a:t>
            </a:r>
          </a:p>
          <a:p>
            <a:r>
              <a:rPr dirty="0"/>
              <a:t>model, and we'll prove it shortly with the shuffle test, which on thickness confirms m3 and m6 do</a:t>
            </a:r>
          </a:p>
          <a:p>
            <a:r>
              <a:rPr dirty="0"/>
              <a:t>use the image.</a:t>
            </a:r>
          </a:p>
          <a:p>
            <a:r>
              <a:rPr dirty="0"/>
              <a:t>In short: 4 of 7 attributes beat the baseline, and the 3 "lost" ones are a BLEU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Let's move to the global regime: a single model trained across all attributes together. It's an</a:t>
            </a:r>
          </a:p>
          <a:p>
            <a:r>
              <a:rPr dirty="0"/>
              <a:t>intrinsically harder task, because the model must also choose which sensory dimension to describe,</a:t>
            </a:r>
          </a:p>
          <a:p>
            <a:r>
              <a:rPr dirty="0"/>
              <a:t>and it works with a much larger vocabulary.</a:t>
            </a:r>
          </a:p>
          <a:p>
            <a:r>
              <a:rPr dirty="0"/>
              <a:t>The chart compares the three models on five metrics. Two observations. First, m6, the </a:t>
            </a:r>
            <a:r>
              <a:rPr dirty="0" err="1"/>
              <a:t>ViT</a:t>
            </a:r>
            <a:r>
              <a:rPr dirty="0"/>
              <a:t> with</a:t>
            </a:r>
          </a:p>
          <a:p>
            <a:r>
              <a:rPr dirty="0" err="1"/>
              <a:t>GePpeTto</a:t>
            </a:r>
            <a:r>
              <a:rPr dirty="0"/>
              <a:t>, wins narrowly almost everywhere: it's first on BLEU-1, BLEU-4 and ROUGE-L, and</a:t>
            </a:r>
          </a:p>
          <a:p>
            <a:r>
              <a:rPr dirty="0"/>
              <a:t>essentially tied on METEOR; m3 only beats it on </a:t>
            </a:r>
            <a:r>
              <a:rPr dirty="0" err="1"/>
              <a:t>CIDEr</a:t>
            </a:r>
            <a:r>
              <a:rPr dirty="0"/>
              <a:t>. Second, and equally important, the three</a:t>
            </a:r>
          </a:p>
          <a:p>
            <a:r>
              <a:rPr dirty="0"/>
              <a:t>models are in a very tight cluster: the BLEU-4 spread is just seven thousandths. They are very close.</a:t>
            </a:r>
          </a:p>
          <a:p>
            <a:r>
              <a:rPr dirty="0"/>
              <a:t>A note on the baseline, which I left out of the chart for readability but is crucial: </a:t>
            </a:r>
            <a:r>
              <a:rPr dirty="0" err="1"/>
              <a:t>most_frequent</a:t>
            </a:r>
            <a:r>
              <a:rPr dirty="0"/>
              <a:t>,</a:t>
            </a:r>
          </a:p>
          <a:p>
            <a:r>
              <a:rPr dirty="0"/>
              <a:t>the constant sentence, would have the highest BLEU-1 of all but the worst BLEU-4. It's the</a:t>
            </a:r>
          </a:p>
          <a:p>
            <a:r>
              <a:rPr dirty="0"/>
              <a:t>degenerate </a:t>
            </a:r>
            <a:r>
              <a:rPr dirty="0" err="1"/>
              <a:t>behaviour</a:t>
            </a:r>
            <a:r>
              <a:rPr dirty="0"/>
              <a:t> of "always predict the majority": you guess many single words, but you never</a:t>
            </a:r>
          </a:p>
          <a:p>
            <a:r>
              <a:rPr dirty="0"/>
              <a:t>compose a correct four-word sequence different from the template. Keep this anomaly in mind: it's</a:t>
            </a:r>
          </a:p>
          <a:p>
            <a:r>
              <a:rPr dirty="0"/>
              <a:t>the first clue that BLEU, on its own, is misleading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 slide of methodological caution, because it's easy to draw the wrong conclusion.</a:t>
            </a:r>
          </a:p>
          <a:p>
            <a:r>
              <a:rPr dirty="0"/>
              <a:t>You'll have noticed that the per-attribute numbers, BLEU-4 from 0.33 to 0.47, are much higher than</a:t>
            </a:r>
          </a:p>
          <a:p>
            <a:r>
              <a:rPr dirty="0"/>
              <a:t>the global BLEU-4, around 0.13. A three- or four-fold jump. The temptation is to say: "so the</a:t>
            </a:r>
          </a:p>
          <a:p>
            <a:r>
              <a:rPr dirty="0"/>
              <a:t>per-attribute models are much better". Wrong.</a:t>
            </a:r>
          </a:p>
          <a:p>
            <a:r>
              <a:rPr dirty="0"/>
              <a:t>That jump doesn't reflect better learning, but the fact that per-attribute evaluation runs on a much</a:t>
            </a:r>
          </a:p>
          <a:p>
            <a:r>
              <a:rPr dirty="0"/>
              <a:t>narrower distribution. When you focus on a single attribute, the vocabulary collapses from over 600</a:t>
            </a:r>
          </a:p>
          <a:p>
            <a:r>
              <a:rPr dirty="0"/>
              <a:t>words to about 80-140, and the shared scaffolding — "the cheese has a such-and-such attribute of..."</a:t>
            </a:r>
          </a:p>
          <a:p>
            <a:r>
              <a:rPr dirty="0"/>
              <a:t>— alone contributes five words of constant 4-gram that send BLEU soaring.</a:t>
            </a:r>
          </a:p>
          <a:p>
            <a:r>
              <a:rPr dirty="0"/>
              <a:t>They are two different rulers measuring performance on different distributions. The global model is</a:t>
            </a:r>
          </a:p>
          <a:p>
            <a:r>
              <a:rPr dirty="0"/>
              <a:t>intrinsically harder because it must also choose which dimension to describe. Comparing the two</a:t>
            </a:r>
          </a:p>
          <a:p>
            <a:r>
              <a:rPr dirty="0"/>
              <a:t>numbers as if on the same scale would be a mistake, and it's the kind of subtlety that separates an</a:t>
            </a:r>
          </a:p>
          <a:p>
            <a:r>
              <a:rPr dirty="0"/>
              <a:t>honest analysis from one that fools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We're at the most important result of the whole project. The question is as simple as it is</a:t>
            </a:r>
          </a:p>
          <a:p>
            <a:r>
              <a:rPr dirty="0"/>
              <a:t>fundamental: is the model actually using the image, or just mimicking the caption distribution?</a:t>
            </a:r>
          </a:p>
          <a:p>
            <a:r>
              <a:rPr dirty="0"/>
              <a:t>The tool is the shuffle test. The idea: if a model is truly conditioned on the image, its prediction</a:t>
            </a:r>
          </a:p>
          <a:p>
            <a:r>
              <a:rPr dirty="0"/>
              <a:t>for image </a:t>
            </a:r>
            <a:r>
              <a:rPr dirty="0" err="1"/>
              <a:t>i</a:t>
            </a:r>
            <a:r>
              <a:rPr dirty="0"/>
              <a:t> must match the reference of </a:t>
            </a:r>
            <a:r>
              <a:rPr dirty="0" err="1"/>
              <a:t>i</a:t>
            </a:r>
            <a:r>
              <a:rPr dirty="0"/>
              <a:t> better than a randomly picked prediction. So we shuffle the</a:t>
            </a:r>
          </a:p>
          <a:p>
            <a:r>
              <a:rPr dirty="0"/>
              <a:t>predictions across test rows, breaking the alignment, recompute the overlap a hundred times to get a</a:t>
            </a:r>
          </a:p>
          <a:p>
            <a:r>
              <a:rPr dirty="0"/>
              <a:t>null distribution, and measure the z-score. A z above 3 corresponds to p below 0.001: strong</a:t>
            </a:r>
          </a:p>
          <a:p>
            <a:r>
              <a:rPr dirty="0"/>
              <a:t>evidence.</a:t>
            </a:r>
          </a:p>
          <a:p>
            <a:r>
              <a:rPr dirty="0"/>
              <a:t>The verdict, in the chart, is crystal clear. m1, the </a:t>
            </a:r>
            <a:r>
              <a:rPr dirty="0" err="1"/>
              <a:t>ResNet</a:t>
            </a:r>
            <a:r>
              <a:rPr dirty="0"/>
              <a:t> model, has z near zero everywhere: it</a:t>
            </a:r>
          </a:p>
          <a:p>
            <a:r>
              <a:rPr dirty="0"/>
              <a:t>never uses the image, it's effectively a pure language model guessing from the distribution. m3 and</a:t>
            </a:r>
          </a:p>
          <a:p>
            <a:r>
              <a:rPr dirty="0"/>
              <a:t>m6, the </a:t>
            </a:r>
            <a:r>
              <a:rPr dirty="0" err="1"/>
              <a:t>ViT</a:t>
            </a:r>
            <a:r>
              <a:rPr dirty="0"/>
              <a:t> models, clearly use the image on four attributes out of seven: smell, thickness, </a:t>
            </a:r>
            <a:r>
              <a:rPr dirty="0" err="1"/>
              <a:t>colour</a:t>
            </a:r>
            <a:endParaRPr dirty="0"/>
          </a:p>
          <a:p>
            <a:r>
              <a:rPr dirty="0"/>
              <a:t>and structure. The only one where no model uses the image is aroma.</a:t>
            </a:r>
          </a:p>
          <a:p>
            <a:r>
              <a:rPr dirty="0"/>
              <a:t>Keep this chart in mind: the next slide draws the architectural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Put the shuffle test together with the two-axis design from the architectures slide, and the</a:t>
            </a:r>
          </a:p>
          <a:p>
            <a:r>
              <a:rPr dirty="0"/>
              <a:t>conclusion writes itself.</a:t>
            </a:r>
          </a:p>
          <a:p>
            <a:r>
              <a:rPr dirty="0"/>
              <a:t>Comparing m1 with m3, which isolates the encoder: m1 with </a:t>
            </a:r>
            <a:r>
              <a:rPr dirty="0" err="1"/>
              <a:t>ResNet</a:t>
            </a:r>
            <a:r>
              <a:rPr dirty="0"/>
              <a:t> never conditions on the image, m3</a:t>
            </a:r>
          </a:p>
          <a:p>
            <a:r>
              <a:rPr dirty="0"/>
              <a:t>with </a:t>
            </a:r>
            <a:r>
              <a:rPr dirty="0" err="1"/>
              <a:t>ViT</a:t>
            </a:r>
            <a:r>
              <a:rPr dirty="0"/>
              <a:t> does on most attributes. By changing only the encoder, image use switches on. The reading</a:t>
            </a:r>
          </a:p>
          <a:p>
            <a:r>
              <a:rPr dirty="0"/>
              <a:t>is that a frozen ResNet-50's features aren't informative enough at this data scale, while a frozen</a:t>
            </a:r>
          </a:p>
          <a:p>
            <a:r>
              <a:rPr dirty="0" err="1"/>
              <a:t>ViT</a:t>
            </a:r>
            <a:r>
              <a:rPr dirty="0"/>
              <a:t>-B/16's are.</a:t>
            </a:r>
          </a:p>
          <a:p>
            <a:r>
              <a:rPr dirty="0"/>
              <a:t>Comparing m3 with m6, which isolates the decoder: they produce different outputs, they never give</a:t>
            </a:r>
          </a:p>
          <a:p>
            <a:r>
              <a:rPr dirty="0"/>
              <a:t>the same caption for the same image, yet they have exactly the same image-conditioning profile. The</a:t>
            </a:r>
          </a:p>
          <a:p>
            <a:r>
              <a:rPr dirty="0"/>
              <a:t>same attributes succeed, the same fail. Changing the decoder changes the sentence's style, not</a:t>
            </a:r>
          </a:p>
          <a:p>
            <a:r>
              <a:rPr dirty="0"/>
              <a:t>whether the image is used.</a:t>
            </a:r>
          </a:p>
          <a:p>
            <a:r>
              <a:rPr dirty="0"/>
              <a:t>The synthesis is at the bottom: the binary gate of image-conditioning, on this dataset, is the</a:t>
            </a:r>
          </a:p>
          <a:p>
            <a:r>
              <a:rPr dirty="0"/>
              <a:t>visual encoder. Not the decoder, not the amount of data, not the hyperparameters. It's a clean</a:t>
            </a:r>
          </a:p>
          <a:p>
            <a:r>
              <a:rPr dirty="0"/>
              <a:t>result, and it also tells us where to act in future: on the encoder. Now let's reinforce this</a:t>
            </a:r>
          </a:p>
          <a:p>
            <a:r>
              <a:rPr dirty="0"/>
              <a:t>conclusion with the complementary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We've seen that BLEU, on its own, misleads: it rewards template repetition and never looks at the</a:t>
            </a:r>
          </a:p>
          <a:p>
            <a:r>
              <a:rPr dirty="0"/>
              <a:t>image. To read the models more honestly, we paired BLEU with six complementary metrics, groupable</a:t>
            </a:r>
          </a:p>
          <a:p>
            <a:r>
              <a:rPr dirty="0"/>
              <a:t>into three families.</a:t>
            </a:r>
          </a:p>
          <a:p>
            <a:r>
              <a:rPr dirty="0"/>
              <a:t>The text metrics compare the prediction with the textual reference: besides BLEU, METEOR, which is</a:t>
            </a:r>
          </a:p>
          <a:p>
            <a:r>
              <a:rPr dirty="0"/>
              <a:t>more lenient because it aligns with stemming and synonyms, ROUGE-L, which rewards word order, and</a:t>
            </a:r>
          </a:p>
          <a:p>
            <a:r>
              <a:rPr dirty="0" err="1"/>
              <a:t>CIDEr</a:t>
            </a:r>
            <a:r>
              <a:rPr dirty="0"/>
              <a:t>, designed specifically for captioning, which weights n-grams with TF-IDF and so rewards rare,</a:t>
            </a:r>
          </a:p>
          <a:p>
            <a:r>
              <a:rPr dirty="0"/>
              <a:t>informative sensory terms like "eyes" (</a:t>
            </a:r>
            <a:r>
              <a:rPr dirty="0" err="1"/>
              <a:t>occhiatura</a:t>
            </a:r>
            <a:r>
              <a:rPr dirty="0"/>
              <a:t>) over common words.</a:t>
            </a:r>
          </a:p>
          <a:p>
            <a:r>
              <a:rPr dirty="0"/>
              <a:t>Then a semantic metric, </a:t>
            </a:r>
            <a:r>
              <a:rPr dirty="0" err="1"/>
              <a:t>BERTScore</a:t>
            </a:r>
            <a:r>
              <a:rPr dirty="0"/>
              <a:t>, measuring meaning similarity via embeddings. A domain metric,</a:t>
            </a:r>
          </a:p>
          <a:p>
            <a:r>
              <a:rPr dirty="0"/>
              <a:t>vocabulary conformity, which asks: does the model "speak cheese" in the certified register?</a:t>
            </a:r>
          </a:p>
          <a:p>
            <a:r>
              <a:rPr dirty="0"/>
              <a:t>And finally, highlighted at the bottom, the most important for captioning: </a:t>
            </a:r>
            <a:r>
              <a:rPr dirty="0" err="1"/>
              <a:t>CLIPScore</a:t>
            </a:r>
            <a:r>
              <a:rPr dirty="0"/>
              <a:t>, the only one</a:t>
            </a:r>
          </a:p>
          <a:p>
            <a:r>
              <a:rPr dirty="0"/>
              <a:t>that truly looks at the image. It compares the caption with the slice in CLIP space, ignoring the</a:t>
            </a:r>
          </a:p>
          <a:p>
            <a:r>
              <a:rPr dirty="0"/>
              <a:t>panel reference. The next two slides show what </a:t>
            </a:r>
            <a:r>
              <a:rPr dirty="0" err="1"/>
              <a:t>CIDEr</a:t>
            </a:r>
            <a:r>
              <a:rPr dirty="0"/>
              <a:t> and </a:t>
            </a:r>
            <a:r>
              <a:rPr dirty="0" err="1"/>
              <a:t>CLIPScore</a:t>
            </a:r>
            <a:r>
              <a:rPr dirty="0"/>
              <a:t> add.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Let's start with </a:t>
            </a:r>
            <a:r>
              <a:rPr dirty="0" err="1"/>
              <a:t>CIDEr</a:t>
            </a:r>
            <a:r>
              <a:rPr dirty="0"/>
              <a:t>, the metric designed specifically for captioning. Unlike BLEU, which</a:t>
            </a:r>
          </a:p>
          <a:p>
            <a:r>
              <a:rPr dirty="0"/>
              <a:t>flattened the models onto close values, </a:t>
            </a:r>
            <a:r>
              <a:rPr dirty="0" err="1"/>
              <a:t>CIDEr</a:t>
            </a:r>
            <a:r>
              <a:rPr dirty="0"/>
              <a:t> weights rare terms with TF-IDF and so separates them.</a:t>
            </a:r>
          </a:p>
          <a:p>
            <a:r>
              <a:rPr dirty="0"/>
              <a:t>Look at the ordering in the chart, on the seven-attribute means: random 0.23, then </a:t>
            </a:r>
            <a:r>
              <a:rPr dirty="0" err="1"/>
              <a:t>freq_weighted</a:t>
            </a:r>
            <a:endParaRPr dirty="0"/>
          </a:p>
          <a:p>
            <a:r>
              <a:rPr dirty="0"/>
              <a:t>0.37, then the trained models rising clearly: m1 at 0.59, m3 at 0.65, m6 at 0.70. </a:t>
            </a:r>
            <a:r>
              <a:rPr dirty="0" err="1"/>
              <a:t>CIDEr</a:t>
            </a:r>
            <a:r>
              <a:rPr dirty="0"/>
              <a:t> orders the</a:t>
            </a:r>
          </a:p>
          <a:p>
            <a:r>
              <a:rPr dirty="0"/>
              <a:t>models correctly, and confirms m6 is the best. It's exactly the information BLEU couldn't give us: a</a:t>
            </a:r>
          </a:p>
          <a:p>
            <a:r>
              <a:rPr dirty="0"/>
              <a:t>clean ranking.</a:t>
            </a:r>
          </a:p>
          <a:p>
            <a:r>
              <a:rPr dirty="0"/>
              <a:t>There's one column taller than all, in gold: </a:t>
            </a:r>
            <a:r>
              <a:rPr dirty="0" err="1"/>
              <a:t>most_frequent</a:t>
            </a:r>
            <a:r>
              <a:rPr dirty="0"/>
              <a:t>, at 0.79. Don't be fooled: the constant</a:t>
            </a:r>
          </a:p>
          <a:p>
            <a:r>
              <a:rPr dirty="0"/>
              <a:t>baseline leads only because, on this dataset, the panel reference is often the frequent sentence</a:t>
            </a:r>
          </a:p>
          <a:p>
            <a:r>
              <a:rPr dirty="0"/>
              <a:t>itself. It's an artifact of the single reference, not real quality. On an extreme case like rind</a:t>
            </a:r>
          </a:p>
          <a:p>
            <a:r>
              <a:rPr dirty="0"/>
              <a:t>thickness, where BLEU gave 0.39 for everyone, </a:t>
            </a:r>
            <a:r>
              <a:rPr dirty="0" err="1"/>
              <a:t>CIDEr</a:t>
            </a:r>
            <a:r>
              <a:rPr dirty="0"/>
              <a:t> ranges from 1.04 to 2.29: a rich ordering BLEU</a:t>
            </a:r>
          </a:p>
          <a:p>
            <a:r>
              <a:rPr dirty="0"/>
              <a:t>simply did not see.</a:t>
            </a:r>
          </a:p>
          <a:p>
            <a:r>
              <a:rPr dirty="0"/>
              <a:t>Conclusion: </a:t>
            </a:r>
            <a:r>
              <a:rPr dirty="0" err="1"/>
              <a:t>CIDEr</a:t>
            </a:r>
            <a:r>
              <a:rPr dirty="0"/>
              <a:t> adds real information and separates the trained models from the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Now </a:t>
            </a:r>
            <a:r>
              <a:rPr dirty="0" err="1"/>
              <a:t>CLIPScore</a:t>
            </a:r>
            <a:r>
              <a:rPr dirty="0"/>
              <a:t>, the only metric that looks at the image, and the independent confirmation of the</a:t>
            </a:r>
          </a:p>
          <a:p>
            <a:r>
              <a:rPr dirty="0"/>
              <a:t>shuffle test. Two charts, two messages.</a:t>
            </a:r>
          </a:p>
          <a:p>
            <a:r>
              <a:rPr dirty="0"/>
              <a:t>On the left, mean </a:t>
            </a:r>
            <a:r>
              <a:rPr dirty="0" err="1"/>
              <a:t>CLIPScore</a:t>
            </a:r>
            <a:r>
              <a:rPr dirty="0"/>
              <a:t> by model. Note the axis: I deliberately zoomed in, and despite the zoom</a:t>
            </a:r>
          </a:p>
          <a:p>
            <a:r>
              <a:rPr dirty="0"/>
              <a:t>the bars are practically identical. The trained models m1, m3, m6 do not beat the constant baseline</a:t>
            </a:r>
          </a:p>
          <a:p>
            <a:r>
              <a:rPr dirty="0" err="1"/>
              <a:t>most_frequent</a:t>
            </a:r>
            <a:r>
              <a:rPr dirty="0"/>
              <a:t>, the one that always fires the same sentence ignoring the image. The gap is below</a:t>
            </a:r>
          </a:p>
          <a:p>
            <a:r>
              <a:rPr dirty="0"/>
              <a:t>0.004, within the noise. It's the quantitative, independent confirmation of what the shuffle test</a:t>
            </a:r>
          </a:p>
          <a:p>
            <a:r>
              <a:rPr dirty="0"/>
              <a:t>already told us: with a frozen encoder, the models don't anchor the caption to the visual content,</a:t>
            </a:r>
          </a:p>
          <a:p>
            <a:r>
              <a:rPr dirty="0"/>
              <a:t>they do language modeling on the caption distribution.</a:t>
            </a:r>
          </a:p>
          <a:p>
            <a:r>
              <a:rPr dirty="0"/>
              <a:t>On the right, the real variation: it's per attribute, not per model. CLIP "sees" that texture,</a:t>
            </a:r>
          </a:p>
          <a:p>
            <a:r>
              <a:rPr dirty="0" err="1"/>
              <a:t>colour</a:t>
            </a:r>
            <a:r>
              <a:rPr dirty="0"/>
              <a:t> and structure, the visual attributes, get higher scores, while aroma, taste and smell stay</a:t>
            </a:r>
          </a:p>
          <a:p>
            <a:r>
              <a:rPr dirty="0"/>
              <a:t>low for everyone, because no image can reveal a taste. It's a sanity check that validates the metric.</a:t>
            </a:r>
          </a:p>
          <a:p>
            <a:r>
              <a:rPr dirty="0"/>
              <a:t>And remember the exception: rind thickness is visible but low, because the rind is a small portion</a:t>
            </a:r>
          </a:p>
          <a:p>
            <a:r>
              <a:rPr dirty="0"/>
              <a:t>of the slice and CLIP weights it little. Everything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slide is the methodological moral of the whole evaluation, condensed into one image.</a:t>
            </a:r>
          </a:p>
          <a:p>
            <a:r>
              <a:rPr dirty="0"/>
              <a:t>Look at the same pair of models, the constant baseline </a:t>
            </a:r>
            <a:r>
              <a:rPr dirty="0" err="1"/>
              <a:t>most_frequent</a:t>
            </a:r>
            <a:r>
              <a:rPr dirty="0"/>
              <a:t> against m6, seen by two</a:t>
            </a:r>
          </a:p>
          <a:p>
            <a:r>
              <a:rPr dirty="0"/>
              <a:t>different metrics. On the left, with BLEU-1, the constant caption wins: it always emits the same</a:t>
            </a:r>
          </a:p>
          <a:p>
            <a:r>
              <a:rPr dirty="0"/>
              <a:t>sentence and matches on the prefix. On the right, with </a:t>
            </a:r>
            <a:r>
              <a:rPr dirty="0" err="1"/>
              <a:t>CLIPScore</a:t>
            </a:r>
            <a:r>
              <a:rPr dirty="0"/>
              <a:t>, the two are practically</a:t>
            </a:r>
          </a:p>
          <a:p>
            <a:r>
              <a:rPr dirty="0"/>
              <a:t>indistinguishable.</a:t>
            </a:r>
          </a:p>
          <a:p>
            <a:r>
              <a:rPr dirty="0"/>
              <a:t>The exact same comparison, two opposite verdicts. This vividly demonstrates that a single metric, on</a:t>
            </a:r>
          </a:p>
          <a:p>
            <a:r>
              <a:rPr dirty="0"/>
              <a:t>its own, can lie. Had we looked only at BLEU-1, we'd have concluded that a constant sentence beats a</a:t>
            </a:r>
          </a:p>
          <a:p>
            <a:r>
              <a:rPr dirty="0"/>
              <a:t>trained model: an absurd conclusion. This is exactly why we built a battery of metrics and read</a:t>
            </a:r>
          </a:p>
          <a:p>
            <a:r>
              <a:rPr dirty="0"/>
              <a:t>them together: BLEU for phrasing, </a:t>
            </a:r>
            <a:r>
              <a:rPr dirty="0" err="1"/>
              <a:t>CIDEr</a:t>
            </a:r>
            <a:r>
              <a:rPr dirty="0"/>
              <a:t> for salient terms, </a:t>
            </a:r>
            <a:r>
              <a:rPr dirty="0" err="1"/>
              <a:t>BERTScore</a:t>
            </a:r>
            <a:r>
              <a:rPr dirty="0"/>
              <a:t> for meaning, and </a:t>
            </a:r>
            <a:r>
              <a:rPr dirty="0" err="1"/>
              <a:t>CLIPScore</a:t>
            </a:r>
            <a:r>
              <a:rPr dirty="0"/>
              <a:t> for</a:t>
            </a:r>
          </a:p>
          <a:p>
            <a:r>
              <a:rPr dirty="0"/>
              <a:t>image grounding.</a:t>
            </a:r>
          </a:p>
          <a:p>
            <a:r>
              <a:rPr dirty="0" err="1"/>
              <a:t>BERTScore</a:t>
            </a:r>
            <a:r>
              <a:rPr dirty="0"/>
              <a:t>, for completeness, is poorly discriminating here: all values fall between 0.83 and 0.92,</a:t>
            </a:r>
          </a:p>
          <a:p>
            <a:r>
              <a:rPr dirty="0"/>
              <a:t>because all sentences talk about cheese with the same structure. It's useful as a sanity check, not</a:t>
            </a:r>
          </a:p>
          <a:p>
            <a:r>
              <a:rPr dirty="0"/>
              <a:t>for ranking. The lesson stands: never trust a single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numbers tell half the story; the generated captions tell the other half. Here you see real</a:t>
            </a:r>
          </a:p>
          <a:p>
            <a:r>
              <a:rPr dirty="0"/>
              <a:t>predictions from m6 alongside the panel reference, on test-set samples.</a:t>
            </a:r>
          </a:p>
          <a:p>
            <a:r>
              <a:rPr dirty="0"/>
              <a:t>Sometimes it's an exact match: on the aroma of cream, prediction and reference coincide word for</a:t>
            </a:r>
          </a:p>
          <a:p>
            <a:r>
              <a:rPr dirty="0"/>
              <a:t>word. On thickness, "the rind is medium-thick", again perfect. But look at the other cases: on taste</a:t>
            </a:r>
          </a:p>
          <a:p>
            <a:r>
              <a:rPr dirty="0"/>
              <a:t>the model says "slightly salty and spicy" where the panel said just "salty"; on structure it</a:t>
            </a:r>
          </a:p>
          <a:p>
            <a:r>
              <a:rPr dirty="0"/>
              <a:t>proposes "irregular fracture and fine grain" while the reference talks about stretched paste.</a:t>
            </a:r>
          </a:p>
          <a:p>
            <a:r>
              <a:rPr dirty="0"/>
              <a:t>From these examples four patterns emerge, </a:t>
            </a:r>
            <a:r>
              <a:rPr dirty="0" err="1"/>
              <a:t>summarised</a:t>
            </a:r>
            <a:r>
              <a:rPr dirty="0"/>
              <a:t> at the bottom. First: the scaffolding, "the</a:t>
            </a:r>
          </a:p>
          <a:p>
            <a:r>
              <a:rPr dirty="0"/>
              <a:t>cheese has a...", is always correct and alone worth about half the BLEU-4, which is why the numbers</a:t>
            </a:r>
          </a:p>
          <a:p>
            <a:r>
              <a:rPr dirty="0"/>
              <a:t>aren't tiny. Second: the language is fluent and grammatical, thanks to the pretrained model. Third,</a:t>
            </a:r>
          </a:p>
          <a:p>
            <a:r>
              <a:rPr dirty="0"/>
              <a:t>and most telling: the descriptor is often plausible but refers to another cheese, exactly what we</a:t>
            </a:r>
          </a:p>
          <a:p>
            <a:r>
              <a:rPr dirty="0"/>
              <a:t>expect from a model only partially conditioned on the image. Fourth: the variability across tasters</a:t>
            </a:r>
          </a:p>
          <a:p>
            <a:r>
              <a:rPr dirty="0"/>
              <a:t>is enormous and puts a ceiling on what any model can achieve with a single-reference BLEU.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Let's wrap up. The project delivers two results and one promise for the future.</a:t>
            </a:r>
          </a:p>
          <a:p>
            <a:r>
              <a:rPr dirty="0"/>
              <a:t>The scientific result is the most solid: on this dataset, the determinant of image use is the visual</a:t>
            </a:r>
          </a:p>
          <a:p>
            <a:r>
              <a:rPr dirty="0"/>
              <a:t>encoder. </a:t>
            </a:r>
            <a:r>
              <a:rPr dirty="0" err="1"/>
              <a:t>ResNet</a:t>
            </a:r>
            <a:r>
              <a:rPr dirty="0"/>
              <a:t> ignores the image on all seven attributes, </a:t>
            </a:r>
            <a:r>
              <a:rPr dirty="0" err="1"/>
              <a:t>ViT</a:t>
            </a:r>
            <a:r>
              <a:rPr dirty="0"/>
              <a:t> uses it on four out of seven,</a:t>
            </a:r>
          </a:p>
          <a:p>
            <a:r>
              <a:rPr dirty="0"/>
              <a:t>independent of the decoder, the data scale and the hyperparameters. And it's not an isolated claim:</a:t>
            </a:r>
          </a:p>
          <a:p>
            <a:r>
              <a:rPr dirty="0"/>
              <a:t>two independent tools, the shuffle test and </a:t>
            </a:r>
            <a:r>
              <a:rPr dirty="0" err="1"/>
              <a:t>CLIPScore</a:t>
            </a:r>
            <a:r>
              <a:rPr dirty="0"/>
              <a:t>, converge on the same conclusion.</a:t>
            </a:r>
          </a:p>
          <a:p>
            <a:r>
              <a:rPr dirty="0"/>
              <a:t>The practical result: the trained models beat the constant baseline on four attributes out of seven,</a:t>
            </a:r>
          </a:p>
          <a:p>
            <a:r>
              <a:rPr dirty="0"/>
              <a:t>with the maximum on structure. m6, the </a:t>
            </a:r>
            <a:r>
              <a:rPr dirty="0" err="1"/>
              <a:t>ViT</a:t>
            </a:r>
            <a:r>
              <a:rPr dirty="0"/>
              <a:t> with </a:t>
            </a:r>
            <a:r>
              <a:rPr dirty="0" err="1"/>
              <a:t>GePpeTto</a:t>
            </a:r>
            <a:r>
              <a:rPr dirty="0"/>
              <a:t>, wins narrowly almost everywhere. And all</a:t>
            </a:r>
          </a:p>
          <a:p>
            <a:r>
              <a:rPr dirty="0"/>
              <a:t>this rests on a 38-thousand-pair dataset built with just 5 dollars and 60 cents of LLM cost.</a:t>
            </a:r>
          </a:p>
          <a:p>
            <a:r>
              <a:rPr dirty="0"/>
              <a:t>Future work follows directly from the diagnosis: since the bottleneck is the frozen encoder, the</a:t>
            </a:r>
          </a:p>
          <a:p>
            <a:r>
              <a:rPr dirty="0"/>
              <a:t>natural next experiment is fine-tuning the encoder and re-measuring </a:t>
            </a:r>
            <a:r>
              <a:rPr dirty="0" err="1"/>
              <a:t>CLIPScore</a:t>
            </a:r>
            <a:r>
              <a:rPr dirty="0"/>
              <a:t>. If the models start</a:t>
            </a:r>
          </a:p>
          <a:p>
            <a:r>
              <a:rPr dirty="0"/>
              <a:t>pulling away from the constant baseline, we'll have direct proof that the image is finally being</a:t>
            </a:r>
          </a:p>
          <a:p>
            <a:r>
              <a:rPr dirty="0"/>
              <a:t>exploited.</a:t>
            </a:r>
          </a:p>
          <a:p>
            <a:r>
              <a:rPr dirty="0"/>
              <a:t>I'll close with an honest framing: none of these models would replace a taster today. They learned</a:t>
            </a:r>
          </a:p>
          <a:p>
            <a:r>
              <a:rPr dirty="0"/>
              <a:t>the sensory vocabulary and a partial map from image to descriptor, a result consistent with the</a:t>
            </a:r>
          </a:p>
          <a:p>
            <a:r>
              <a:rPr dirty="0"/>
              <a:t>data scale and the intrinsic noise of multi-taster annotation. But the path is mapped, and we know</a:t>
            </a:r>
          </a:p>
          <a:p>
            <a:r>
              <a:rPr dirty="0"/>
              <a:t>exactly where to act.</a:t>
            </a:r>
          </a:p>
          <a:p>
            <a:r>
              <a:rPr dirty="0"/>
              <a:t>Thank you for your attention.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eese_fetta_1_s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175004"/>
            <a:ext cx="4507992" cy="45079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32929" y="0"/>
            <a:ext cx="1373884" cy="6858000"/>
          </a:xfrm>
          <a:prstGeom prst="rect">
            <a:avLst/>
          </a:prstGeom>
          <a:solidFill>
            <a:srgbClr val="1B334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" y="685800"/>
            <a:ext cx="457200" cy="457200"/>
          </a:xfrm>
          <a:prstGeom prst="ellipse">
            <a:avLst/>
          </a:prstGeom>
          <a:solidFill>
            <a:srgbClr val="E0A45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38478" y="1154430"/>
            <a:ext cx="251460" cy="251460"/>
          </a:xfrm>
          <a:prstGeom prst="ellipse">
            <a:avLst/>
          </a:prstGeom>
          <a:solidFill>
            <a:srgbClr val="E0A45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90907" y="1323593"/>
            <a:ext cx="205740" cy="205740"/>
          </a:xfrm>
          <a:prstGeom prst="ellipse">
            <a:avLst/>
          </a:prstGeom>
          <a:solidFill>
            <a:srgbClr val="E0A45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57300" y="214884"/>
            <a:ext cx="228600" cy="228600"/>
          </a:xfrm>
          <a:prstGeom prst="ellipse">
            <a:avLst/>
          </a:prstGeom>
          <a:solidFill>
            <a:srgbClr val="E0A45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56032" y="530352"/>
            <a:ext cx="182880" cy="182880"/>
          </a:xfrm>
          <a:prstGeom prst="ellipse">
            <a:avLst/>
          </a:prstGeom>
          <a:solidFill>
            <a:srgbClr val="E0A45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67665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400" b="1" i="0" spc="300">
                <a:solidFill>
                  <a:srgbClr val="E0A458"/>
                </a:solidFill>
                <a:latin typeface="Calibri"/>
              </a:rPr>
              <a:t>AI4FQC · PROJECT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6949440" cy="23774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4400" b="1" i="0">
                <a:solidFill>
                  <a:srgbClr val="F7F1E3"/>
                </a:solidFill>
                <a:latin typeface="Georgia"/>
              </a:rPr>
              <a:t>Sensory captioning</a:t>
            </a:r>
          </a:p>
          <a:p>
            <a:r>
              <a:rPr sz="4400" b="1" i="0">
                <a:solidFill>
                  <a:srgbClr val="E0A458"/>
                </a:solidFill>
                <a:latin typeface="Georgia"/>
              </a:rPr>
              <a:t>of Trentingrana cheese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97680"/>
            <a:ext cx="64008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700" b="0" i="1" dirty="0">
                <a:solidFill>
                  <a:srgbClr val="D9D2C2"/>
                </a:solidFill>
                <a:latin typeface="Calibri"/>
              </a:rPr>
              <a:t>From dataset construction to comparing three encoder–decoder methods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5074920"/>
            <a:ext cx="18288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303520"/>
            <a:ext cx="64008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300" b="0" i="0">
                <a:solidFill>
                  <a:srgbClr val="C9C2B2"/>
                </a:solidFill>
                <a:latin typeface="Calibri"/>
              </a:rPr>
              <a:t>Technical report  ·  </a:t>
            </a:r>
            <a:r>
              <a:rPr sz="1300" b="1" i="0">
                <a:solidFill>
                  <a:srgbClr val="F7F1E3"/>
                </a:solidFill>
                <a:latin typeface="Calibri"/>
              </a:rPr>
              <a:t>38,437 image–caption pairs  ·  3 models  ·  7 attributes</a:t>
            </a:r>
          </a:p>
        </p:txBody>
      </p:sp>
    </p:spTree>
    <p:extLst>
      <p:ext uri="{BB962C8B-B14F-4D97-AF65-F5344CB8AC3E}">
        <p14:creationId xmlns:p14="http://schemas.microsoft.com/office/powerpoint/2010/main" val="344040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THE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Why an AI that describes cheese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943600" cy="155448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82296" cy="155448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66544"/>
            <a:ext cx="5522976" cy="11336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Sensory quality control</a:t>
            </a:r>
          </a:p>
          <a:p>
            <a:r>
              <a:rPr sz="1600" b="0" i="0" dirty="0">
                <a:solidFill>
                  <a:srgbClr val="2B2A26"/>
                </a:solidFill>
                <a:latin typeface="Calibri"/>
              </a:rPr>
              <a:t>Every wheel of grana is assessed by a panel of expert tasters. It is precious work, but it is slow, subjective and hard to scale across thousands of wheels.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11880"/>
            <a:ext cx="5943600" cy="178308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611880"/>
            <a:ext cx="82296" cy="178308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3758184"/>
            <a:ext cx="5522976" cy="12875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The idea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Input: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IRIS images of cross-sections (controlled lighting)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Output: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a sensory description in Italian, per attribute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Value: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objective, reproducible support to the human panel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1874520"/>
            <a:ext cx="4846320" cy="3566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eese_grana_1_s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993392"/>
            <a:ext cx="3108960" cy="3108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03720" y="5120640"/>
            <a:ext cx="466344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200" b="0" i="1" dirty="0">
                <a:solidFill>
                  <a:srgbClr val="8A8A84"/>
                </a:solidFill>
                <a:latin typeface="Calibri"/>
              </a:rPr>
              <a:t>Close-up of the grain </a:t>
            </a:r>
            <a:r>
              <a:rPr lang="it-IT" sz="1200" b="0" i="1" dirty="0">
                <a:solidFill>
                  <a:srgbClr val="8A8A84"/>
                </a:solidFill>
                <a:latin typeface="Calibri"/>
              </a:rPr>
              <a:t>-</a:t>
            </a:r>
            <a:r>
              <a:rPr sz="1200" b="0" i="1" dirty="0">
                <a:solidFill>
                  <a:srgbClr val="8A8A84"/>
                </a:solidFill>
                <a:latin typeface="Calibri"/>
              </a:rPr>
              <a:t> IRIS electronic visual analyzer</a:t>
            </a:r>
          </a:p>
        </p:txBody>
      </p:sp>
    </p:spTree>
    <p:extLst>
      <p:ext uri="{BB962C8B-B14F-4D97-AF65-F5344CB8AC3E}">
        <p14:creationId xmlns:p14="http://schemas.microsoft.com/office/powerpoint/2010/main" val="2825581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343295" cy="1718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389888" cy="2180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THE SUBJECT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Seven sensory attributes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0881360" cy="64120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000" b="0" i="0" dirty="0">
                <a:solidFill>
                  <a:srgbClr val="2B2A26"/>
                </a:solidFill>
                <a:latin typeface="Calibri"/>
              </a:rPr>
              <a:t>For each wheel the panel describes seven dimensions. Three are visible in the image, four are not</a:t>
            </a:r>
            <a:r>
              <a:rPr lang="it-IT" sz="2000" b="0" i="0" dirty="0">
                <a:solidFill>
                  <a:srgbClr val="2B2A26"/>
                </a:solidFill>
                <a:latin typeface="Calibri"/>
              </a:rPr>
              <a:t>,</a:t>
            </a:r>
            <a:r>
              <a:rPr sz="2000" b="0" i="0" dirty="0">
                <a:solidFill>
                  <a:srgbClr val="2B2A26"/>
                </a:solidFill>
                <a:latin typeface="Calibri"/>
              </a:rPr>
              <a:t> a distinction that returns in the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2670048" cy="14173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2670048" cy="109728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Oval 10"/>
          <p:cNvSpPr/>
          <p:nvPr/>
        </p:nvSpPr>
        <p:spPr>
          <a:xfrm>
            <a:off x="2852928" y="2898648"/>
            <a:ext cx="256032" cy="256032"/>
          </a:xfrm>
          <a:prstGeom prst="ellipse">
            <a:avLst/>
          </a:prstGeom>
          <a:solidFill>
            <a:srgbClr val="5B8C5A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841248" y="2862072"/>
            <a:ext cx="2304288" cy="6309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000" b="1" i="0" dirty="0">
                <a:solidFill>
                  <a:srgbClr val="1B334A"/>
                </a:solidFill>
                <a:latin typeface="Georgia"/>
              </a:rPr>
              <a:t>Paste </a:t>
            </a:r>
            <a:r>
              <a:rPr sz="2000" b="1" i="0" dirty="0" err="1">
                <a:solidFill>
                  <a:srgbClr val="1B334A"/>
                </a:solidFill>
                <a:latin typeface="Georgia"/>
              </a:rPr>
              <a:t>Colour</a:t>
            </a:r>
            <a:endParaRPr sz="2000" b="1" i="0" dirty="0">
              <a:solidFill>
                <a:srgbClr val="1B334A"/>
              </a:solidFill>
              <a:latin typeface="Georgia"/>
            </a:endParaRPr>
          </a:p>
          <a:p>
            <a:pPr>
              <a:spcBef>
                <a:spcPts val="400"/>
              </a:spcBef>
            </a:pPr>
            <a:r>
              <a:rPr sz="1600" b="1" i="0" spc="150" dirty="0">
                <a:solidFill>
                  <a:srgbClr val="5B8C5A"/>
                </a:solidFill>
                <a:latin typeface="Calibri"/>
              </a:rPr>
              <a:t>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606040"/>
            <a:ext cx="2670048" cy="14173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ectangle 13"/>
          <p:cNvSpPr/>
          <p:nvPr/>
        </p:nvSpPr>
        <p:spPr>
          <a:xfrm>
            <a:off x="3474720" y="2606040"/>
            <a:ext cx="2670048" cy="109728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Oval 14"/>
          <p:cNvSpPr/>
          <p:nvPr/>
        </p:nvSpPr>
        <p:spPr>
          <a:xfrm>
            <a:off x="5687568" y="2898648"/>
            <a:ext cx="256032" cy="256032"/>
          </a:xfrm>
          <a:prstGeom prst="ellipse">
            <a:avLst/>
          </a:prstGeom>
          <a:solidFill>
            <a:srgbClr val="5B8C5A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3675888" y="2862072"/>
            <a:ext cx="2304288" cy="6309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000" b="1" i="0">
                <a:solidFill>
                  <a:srgbClr val="1B334A"/>
                </a:solidFill>
                <a:latin typeface="Georgia"/>
              </a:rPr>
              <a:t>Texture</a:t>
            </a:r>
          </a:p>
          <a:p>
            <a:pPr>
              <a:spcBef>
                <a:spcPts val="400"/>
              </a:spcBef>
            </a:pPr>
            <a:r>
              <a:rPr sz="1600" b="1" i="0" spc="150">
                <a:solidFill>
                  <a:srgbClr val="5B8C5A"/>
                </a:solidFill>
                <a:latin typeface="Calibri"/>
              </a:rPr>
              <a:t>VISUAL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606040"/>
            <a:ext cx="2670048" cy="14173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ectangle 17"/>
          <p:cNvSpPr/>
          <p:nvPr/>
        </p:nvSpPr>
        <p:spPr>
          <a:xfrm>
            <a:off x="6309360" y="2606040"/>
            <a:ext cx="2670048" cy="109728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Oval 18"/>
          <p:cNvSpPr/>
          <p:nvPr/>
        </p:nvSpPr>
        <p:spPr>
          <a:xfrm>
            <a:off x="8522208" y="2898648"/>
            <a:ext cx="256032" cy="256032"/>
          </a:xfrm>
          <a:prstGeom prst="ellipse">
            <a:avLst/>
          </a:prstGeom>
          <a:solidFill>
            <a:srgbClr val="5B8C5A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6510528" y="2862072"/>
            <a:ext cx="2011680" cy="9387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000" b="1" i="0" dirty="0">
                <a:solidFill>
                  <a:srgbClr val="1B334A"/>
                </a:solidFill>
                <a:latin typeface="Georgia"/>
              </a:rPr>
              <a:t>Paste Structure</a:t>
            </a:r>
          </a:p>
          <a:p>
            <a:pPr>
              <a:spcBef>
                <a:spcPts val="400"/>
              </a:spcBef>
            </a:pPr>
            <a:r>
              <a:rPr sz="1600" b="1" i="0" spc="150" dirty="0">
                <a:solidFill>
                  <a:srgbClr val="5B8C5A"/>
                </a:solidFill>
                <a:latin typeface="Calibri"/>
              </a:rPr>
              <a:t>VISUAL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606040"/>
            <a:ext cx="2670048" cy="14173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ectangle 21"/>
          <p:cNvSpPr/>
          <p:nvPr/>
        </p:nvSpPr>
        <p:spPr>
          <a:xfrm>
            <a:off x="9144000" y="2606040"/>
            <a:ext cx="2670048" cy="109728"/>
          </a:xfrm>
          <a:prstGeom prst="rect">
            <a:avLst/>
          </a:prstGeom>
          <a:solidFill>
            <a:srgbClr val="C88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Oval 22"/>
          <p:cNvSpPr/>
          <p:nvPr/>
        </p:nvSpPr>
        <p:spPr>
          <a:xfrm>
            <a:off x="11356848" y="2898648"/>
            <a:ext cx="256032" cy="256032"/>
          </a:xfrm>
          <a:prstGeom prst="ellipse">
            <a:avLst/>
          </a:prstGeom>
          <a:solidFill>
            <a:srgbClr val="C88836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9345168" y="2862072"/>
            <a:ext cx="2011680" cy="9387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000" b="1" i="0" dirty="0">
                <a:solidFill>
                  <a:srgbClr val="1B334A"/>
                </a:solidFill>
                <a:latin typeface="Georgia"/>
              </a:rPr>
              <a:t>Rind Thickness</a:t>
            </a:r>
          </a:p>
          <a:p>
            <a:pPr>
              <a:spcBef>
                <a:spcPts val="400"/>
              </a:spcBef>
            </a:pPr>
            <a:r>
              <a:rPr sz="1600" b="1" i="0" spc="150" dirty="0">
                <a:solidFill>
                  <a:srgbClr val="C88836"/>
                </a:solidFill>
                <a:latin typeface="Calibri"/>
              </a:rPr>
              <a:t>VISUAL*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51960"/>
            <a:ext cx="2670048" cy="14173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Rectangle 25"/>
          <p:cNvSpPr/>
          <p:nvPr/>
        </p:nvSpPr>
        <p:spPr>
          <a:xfrm>
            <a:off x="640080" y="4251960"/>
            <a:ext cx="2670048" cy="10972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Oval 26"/>
          <p:cNvSpPr/>
          <p:nvPr/>
        </p:nvSpPr>
        <p:spPr>
          <a:xfrm>
            <a:off x="2852928" y="4544568"/>
            <a:ext cx="256032" cy="256032"/>
          </a:xfrm>
          <a:prstGeom prst="ellipse">
            <a:avLst/>
          </a:prstGeom>
          <a:solidFill>
            <a:srgbClr val="2C5F8A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841248" y="4507992"/>
            <a:ext cx="2304288" cy="6309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000" b="1" i="0" dirty="0">
                <a:solidFill>
                  <a:srgbClr val="1B334A"/>
                </a:solidFill>
                <a:latin typeface="Georgia"/>
              </a:rPr>
              <a:t>Smell</a:t>
            </a:r>
          </a:p>
          <a:p>
            <a:pPr>
              <a:spcBef>
                <a:spcPts val="400"/>
              </a:spcBef>
            </a:pPr>
            <a:r>
              <a:rPr sz="1600" b="1" i="0" spc="150" dirty="0">
                <a:solidFill>
                  <a:srgbClr val="2C5F8A"/>
                </a:solidFill>
                <a:latin typeface="Calibri"/>
              </a:rPr>
              <a:t>OLFACTORY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4251960"/>
            <a:ext cx="2670048" cy="14173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Rectangle 29"/>
          <p:cNvSpPr/>
          <p:nvPr/>
        </p:nvSpPr>
        <p:spPr>
          <a:xfrm>
            <a:off x="3474720" y="4251960"/>
            <a:ext cx="2670048" cy="10972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Oval 30"/>
          <p:cNvSpPr/>
          <p:nvPr/>
        </p:nvSpPr>
        <p:spPr>
          <a:xfrm>
            <a:off x="5687568" y="4544568"/>
            <a:ext cx="256032" cy="256032"/>
          </a:xfrm>
          <a:prstGeom prst="ellipse">
            <a:avLst/>
          </a:prstGeom>
          <a:solidFill>
            <a:srgbClr val="2C5F8A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3675888" y="4507992"/>
            <a:ext cx="2304288" cy="6309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000" b="1" i="0">
                <a:solidFill>
                  <a:srgbClr val="1B334A"/>
                </a:solidFill>
                <a:latin typeface="Georgia"/>
              </a:rPr>
              <a:t>Aroma</a:t>
            </a:r>
          </a:p>
          <a:p>
            <a:pPr>
              <a:spcBef>
                <a:spcPts val="400"/>
              </a:spcBef>
            </a:pPr>
            <a:r>
              <a:rPr sz="1600" b="1" i="0" spc="150">
                <a:solidFill>
                  <a:srgbClr val="2C5F8A"/>
                </a:solidFill>
                <a:latin typeface="Calibri"/>
              </a:rPr>
              <a:t>OLFACTORY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251960"/>
            <a:ext cx="2670048" cy="14173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Rectangle 33"/>
          <p:cNvSpPr/>
          <p:nvPr/>
        </p:nvSpPr>
        <p:spPr>
          <a:xfrm>
            <a:off x="6309360" y="4251960"/>
            <a:ext cx="2670048" cy="109728"/>
          </a:xfrm>
          <a:prstGeom prst="rect">
            <a:avLst/>
          </a:prstGeom>
          <a:solidFill>
            <a:srgbClr val="C14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Oval 34"/>
          <p:cNvSpPr/>
          <p:nvPr/>
        </p:nvSpPr>
        <p:spPr>
          <a:xfrm>
            <a:off x="8522208" y="4544568"/>
            <a:ext cx="256032" cy="256032"/>
          </a:xfrm>
          <a:prstGeom prst="ellipse">
            <a:avLst/>
          </a:prstGeom>
          <a:solidFill>
            <a:srgbClr val="C1492E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6510528" y="4507992"/>
            <a:ext cx="2304288" cy="6309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000" b="1" i="0">
                <a:solidFill>
                  <a:srgbClr val="1B334A"/>
                </a:solidFill>
                <a:latin typeface="Georgia"/>
              </a:rPr>
              <a:t>Taste</a:t>
            </a:r>
          </a:p>
          <a:p>
            <a:pPr>
              <a:spcBef>
                <a:spcPts val="400"/>
              </a:spcBef>
            </a:pPr>
            <a:r>
              <a:rPr sz="1600" b="1" i="0" spc="150">
                <a:solidFill>
                  <a:srgbClr val="C1492E"/>
                </a:solidFill>
                <a:latin typeface="Calibri"/>
              </a:rPr>
              <a:t>GUSTATORY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4251960"/>
            <a:ext cx="2670048" cy="1417320"/>
          </a:xfrm>
          <a:prstGeom prst="roundRect">
            <a:avLst/>
          </a:prstGeom>
          <a:solidFill>
            <a:srgbClr val="1B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9345168" y="4434840"/>
            <a:ext cx="2304288" cy="83356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b="1" i="0">
                <a:solidFill>
                  <a:srgbClr val="E0A458"/>
                </a:solidFill>
                <a:latin typeface="Calibri"/>
              </a:rPr>
              <a:t>* visible but small</a:t>
            </a:r>
          </a:p>
          <a:p>
            <a:pPr>
              <a:spcBef>
                <a:spcPts val="300"/>
              </a:spcBef>
            </a:pPr>
            <a:r>
              <a:rPr sz="1600" b="0" i="0">
                <a:solidFill>
                  <a:srgbClr val="F7F1E3"/>
                </a:solidFill>
                <a:latin typeface="Calibri"/>
              </a:rPr>
              <a:t>The rind is a small area: CLIP weights it little.</a:t>
            </a:r>
          </a:p>
        </p:txBody>
      </p:sp>
    </p:spTree>
    <p:extLst>
      <p:ext uri="{BB962C8B-B14F-4D97-AF65-F5344CB8AC3E}">
        <p14:creationId xmlns:p14="http://schemas.microsoft.com/office/powerpoint/2010/main" val="2123928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2505340" cy="17184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125059" cy="2180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THE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Two steps, one comparison goal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5394960" cy="338328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82296" cy="338328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57984"/>
            <a:ext cx="4974336" cy="20774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Step 1 · Text pre-processing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Clean and normalize telegraphic, dialectal, inconsistent descriptions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Replace quantitative measures (mm/cm) with qualitative descriptions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Produce captions as complete Italian sentences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≈ 70%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of the project's overall effort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11680"/>
            <a:ext cx="5394960" cy="338328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82296" cy="338328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2157984"/>
            <a:ext cx="4974336" cy="24468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Step 2 · Three captioning methods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Apply three «as conceptually different as possible» </a:t>
            </a:r>
            <a:r>
              <a:rPr lang="it-IT" sz="1600" b="0" i="0" dirty="0">
                <a:solidFill>
                  <a:srgbClr val="2B2A26"/>
                </a:solidFill>
                <a:latin typeface="Calibri"/>
              </a:rPr>
              <a:t>  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encoder–decoders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Focus on comparing methods, not on the single «best» model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Multi-metric evaluation beyond BLEU alone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≈ 30%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of the project's overall effort</a:t>
            </a:r>
          </a:p>
        </p:txBody>
      </p:sp>
    </p:spTree>
    <p:extLst>
      <p:ext uri="{BB962C8B-B14F-4D97-AF65-F5344CB8AC3E}">
        <p14:creationId xmlns:p14="http://schemas.microsoft.com/office/powerpoint/2010/main" val="2048947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21240" y="960120"/>
            <a:ext cx="640080" cy="640080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23626" y="1469898"/>
            <a:ext cx="352044" cy="352044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85199" y="1648205"/>
            <a:ext cx="288036" cy="288036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47020" y="534924"/>
            <a:ext cx="320040" cy="320040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54896" y="859536"/>
            <a:ext cx="256031" cy="256031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00200" y="5440680"/>
            <a:ext cx="457200" cy="45720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361438" y="5909310"/>
            <a:ext cx="251460" cy="25146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13867" y="6078473"/>
            <a:ext cx="205740" cy="20574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80260" y="4969764"/>
            <a:ext cx="228600" cy="22860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78992" y="5285232"/>
            <a:ext cx="182880" cy="18288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00584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000" b="1" i="0" spc="400">
                <a:solidFill>
                  <a:srgbClr val="E0A458"/>
                </a:solidFill>
                <a:latin typeface="Calibri"/>
              </a:rPr>
              <a:t>PART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80360"/>
            <a:ext cx="1042416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4600" b="1" i="0" dirty="0">
                <a:solidFill>
                  <a:srgbClr val="F7F1E3"/>
                </a:solidFill>
                <a:latin typeface="Georgia"/>
              </a:rPr>
              <a:t>Building the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60520"/>
            <a:ext cx="2194560" cy="508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96012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b="0" i="1" dirty="0">
                <a:solidFill>
                  <a:srgbClr val="D9D2C2"/>
                </a:solidFill>
                <a:latin typeface="Calibri"/>
              </a:rPr>
              <a:t>From 51,988 raw, dialectal rows to 38,437 clean image–caption pairs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THE STARTING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Rich data, but misaligned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520440" cy="32461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82296" cy="324612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66544"/>
            <a:ext cx="2992982" cy="202619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What we had</a:t>
            </a:r>
          </a:p>
          <a:p>
            <a:pPr marL="285750" indent="-285750"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sz="1600" b="1" i="0" dirty="0">
                <a:solidFill>
                  <a:srgbClr val="2B2A26"/>
                </a:solidFill>
                <a:latin typeface="Calibri"/>
              </a:rPr>
              <a:t>2,745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BMP photos of sections (Slice / Grain)</a:t>
            </a:r>
          </a:p>
          <a:p>
            <a:pPr marL="285750" indent="-285750"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sz="1600" b="1" i="0" dirty="0">
                <a:solidFill>
                  <a:srgbClr val="2B2A26"/>
                </a:solidFill>
                <a:latin typeface="Calibri"/>
              </a:rPr>
              <a:t>4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Excel workbooks (201</a:t>
            </a:r>
            <a:r>
              <a:rPr lang="it-IT" sz="1600" dirty="0">
                <a:solidFill>
                  <a:srgbClr val="2B2A26"/>
                </a:solidFill>
                <a:latin typeface="Calibri"/>
              </a:rPr>
              <a:t>8-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2021), one sheet per attribute</a:t>
            </a:r>
          </a:p>
          <a:p>
            <a:pPr marL="285750" indent="-285750"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sz="1600" b="1" i="0" dirty="0">
                <a:solidFill>
                  <a:srgbClr val="2B2A26"/>
                </a:solidFill>
                <a:latin typeface="Calibri"/>
              </a:rPr>
              <a:t>1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codebook: dairy ↔ product ↔ letter (16 dairies)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520440" cy="32461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82296" cy="3246120"/>
          </a:xfrm>
          <a:prstGeom prst="rect">
            <a:avLst/>
          </a:prstGeom>
          <a:solidFill>
            <a:srgbClr val="C14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2066544"/>
            <a:ext cx="3099816" cy="214930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The join problem</a:t>
            </a:r>
            <a:endParaRPr lang="it-IT" sz="2400" b="1" i="0" dirty="0">
              <a:solidFill>
                <a:srgbClr val="1B334A"/>
              </a:solidFill>
              <a:latin typeface="Georgia"/>
            </a:endParaRPr>
          </a:p>
          <a:p>
            <a:endParaRPr b="1" i="0" dirty="0">
              <a:solidFill>
                <a:srgbClr val="1B334A"/>
              </a:solidFill>
              <a:latin typeface="Georgia"/>
            </a:endParaRPr>
          </a:p>
          <a:p>
            <a:r>
              <a:rPr sz="1600" b="0" i="0" dirty="0">
                <a:solidFill>
                  <a:srgbClr val="2B2A26"/>
                </a:solidFill>
                <a:latin typeface="Calibri"/>
              </a:rPr>
              <a:t>Images and comments «spoke different languages». The filename identifies the single wheel; the comment only the taster's tray. No row-level join</a:t>
            </a:r>
            <a:r>
              <a:rPr lang="it-IT" sz="1600" b="0" i="0" dirty="0">
                <a:solidFill>
                  <a:srgbClr val="2B2A26"/>
                </a:solidFill>
                <a:latin typeface="Calibri"/>
              </a:rPr>
              <a:t>,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only a dairy-level join, via the codebook.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920240"/>
            <a:ext cx="3611880" cy="324612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920240"/>
            <a:ext cx="82296" cy="324612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1" y="2066544"/>
            <a:ext cx="3191256" cy="20774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Invisible obstacles</a:t>
            </a:r>
          </a:p>
          <a:p>
            <a:pPr marL="171450" indent="-171450">
              <a:spcBef>
                <a:spcPts val="4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2B2A26"/>
                </a:solidFill>
                <a:latin typeface="Calibri"/>
              </a:rPr>
              <a:t>Triple dairy indexing: TN_306 / TN306 / 306</a:t>
            </a:r>
          </a:p>
          <a:p>
            <a:pPr marL="171450" indent="-171450">
              <a:spcBef>
                <a:spcPts val="4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2B2A26"/>
                </a:solidFill>
                <a:latin typeface="Calibri"/>
              </a:rPr>
              <a:t>Inconsistent headers across years</a:t>
            </a:r>
          </a:p>
          <a:p>
            <a:pPr marL="171450" indent="-171450">
              <a:spcBef>
                <a:spcPts val="4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2B2A26"/>
                </a:solidFill>
                <a:latin typeface="Calibri"/>
              </a:rPr>
              <a:t>Italian decimal comma ('7,48')</a:t>
            </a:r>
          </a:p>
          <a:p>
            <a:pPr marL="171450" indent="-171450">
              <a:spcBef>
                <a:spcPts val="4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2B2A26"/>
                </a:solidFill>
                <a:latin typeface="Calibri"/>
              </a:rPr>
              <a:t>Provenance propagated downstream → traceability</a:t>
            </a:r>
          </a:p>
        </p:txBody>
      </p:sp>
    </p:spTree>
    <p:extLst>
      <p:ext uri="{BB962C8B-B14F-4D97-AF65-F5344CB8AC3E}">
        <p14:creationId xmlns:p14="http://schemas.microsoft.com/office/powerpoint/2010/main" val="1603431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THE JOIN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Dairy-level</a:t>
            </a:r>
            <a:r>
              <a:rPr sz="3100" b="1" i="0" dirty="0">
                <a:solidFill>
                  <a:srgbClr val="1B334A"/>
                </a:solidFill>
                <a:latin typeface="Georgia"/>
              </a:rPr>
              <a:t> broadcast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b="0" i="0" dirty="0">
                <a:solidFill>
                  <a:srgbClr val="2B2A26"/>
                </a:solidFill>
                <a:latin typeface="Calibri"/>
              </a:rPr>
              <a:t>Each comment is propagated to all coherent images of that dairy in that session: up to 4 rows from a single comment.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2468880" cy="1188720"/>
          </a:xfrm>
          <a:prstGeom prst="roundRect">
            <a:avLst/>
          </a:prstGeom>
          <a:solidFill>
            <a:srgbClr val="F6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82296" cy="1188720"/>
          </a:xfrm>
          <a:prstGeom prst="rect">
            <a:avLst/>
          </a:prstGeom>
          <a:solidFill>
            <a:srgbClr val="C14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914400" y="3610874"/>
            <a:ext cx="2194560" cy="73353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sz="1600" b="1" i="0" dirty="0">
                <a:solidFill>
                  <a:srgbClr val="1B334A"/>
                </a:solidFill>
                <a:latin typeface="Calibri"/>
              </a:rPr>
              <a:t>Panel comment</a:t>
            </a:r>
          </a:p>
          <a:p>
            <a:r>
              <a:rPr b="1" i="1" dirty="0">
                <a:solidFill>
                  <a:srgbClr val="C1492E"/>
                </a:solidFill>
                <a:latin typeface="Georgia"/>
              </a:rPr>
              <a:t>«Sauerkraut»</a:t>
            </a:r>
          </a:p>
          <a:p>
            <a:r>
              <a:rPr sz="1200" b="0" i="0" dirty="0">
                <a:solidFill>
                  <a:srgbClr val="8A8A84"/>
                </a:solidFill>
                <a:latin typeface="Calibri"/>
              </a:rPr>
              <a:t>(Smell · TN_306)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560320"/>
            <a:ext cx="2468880" cy="566928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4572000" y="2560320"/>
            <a:ext cx="73152" cy="56692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754880" y="2707850"/>
            <a:ext cx="2286000" cy="27186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sz="1600" b="1" i="0" dirty="0">
                <a:solidFill>
                  <a:srgbClr val="2B2A26"/>
                </a:solidFill>
                <a:latin typeface="Calibri"/>
              </a:rPr>
              <a:t>P3a </a:t>
            </a:r>
            <a:r>
              <a:rPr lang="it-IT" sz="1600" b="1" i="0" dirty="0">
                <a:solidFill>
                  <a:srgbClr val="2B2A26"/>
                </a:solidFill>
                <a:latin typeface="Calibri"/>
              </a:rPr>
              <a:t>-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 Slice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246120" y="2843784"/>
            <a:ext cx="1280160" cy="1133856"/>
          </a:xfrm>
          <a:prstGeom prst="bentConnector3">
            <a:avLst/>
          </a:prstGeom>
          <a:ln w="1905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0" y="3273552"/>
            <a:ext cx="2468880" cy="566928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/>
        </p:nvSpPr>
        <p:spPr>
          <a:xfrm>
            <a:off x="4572000" y="3273552"/>
            <a:ext cx="73152" cy="56692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4754880" y="3421082"/>
            <a:ext cx="2286000" cy="27186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sz="1600" b="1" i="0" dirty="0">
                <a:solidFill>
                  <a:srgbClr val="2B2A26"/>
                </a:solidFill>
                <a:latin typeface="Calibri"/>
              </a:rPr>
              <a:t>P3a </a:t>
            </a:r>
            <a:r>
              <a:rPr lang="it-IT" sz="1600" b="1" i="0" dirty="0">
                <a:solidFill>
                  <a:srgbClr val="2B2A26"/>
                </a:solidFill>
                <a:latin typeface="Calibri"/>
              </a:rPr>
              <a:t>-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 Grain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246120" y="3557016"/>
            <a:ext cx="1280160" cy="420624"/>
          </a:xfrm>
          <a:prstGeom prst="bentConnector3">
            <a:avLst/>
          </a:prstGeom>
          <a:ln w="1905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0" y="3986784"/>
            <a:ext cx="2468880" cy="566928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/>
          <p:cNvSpPr/>
          <p:nvPr/>
        </p:nvSpPr>
        <p:spPr>
          <a:xfrm>
            <a:off x="4572000" y="3986784"/>
            <a:ext cx="73152" cy="56692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4754880" y="4134314"/>
            <a:ext cx="2286000" cy="27186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sz="1600" b="1" i="0" dirty="0">
                <a:solidFill>
                  <a:srgbClr val="2B2A26"/>
                </a:solidFill>
                <a:latin typeface="Calibri"/>
              </a:rPr>
              <a:t>P3b </a:t>
            </a:r>
            <a:r>
              <a:rPr lang="it-IT" sz="1600" b="1" i="0" dirty="0">
                <a:solidFill>
                  <a:srgbClr val="2B2A26"/>
                </a:solidFill>
                <a:latin typeface="Calibri"/>
              </a:rPr>
              <a:t>-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 Slice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46120" y="3977640"/>
            <a:ext cx="1280160" cy="292608"/>
          </a:xfrm>
          <a:prstGeom prst="bentConnector3">
            <a:avLst/>
          </a:prstGeom>
          <a:ln w="1905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0" y="4700016"/>
            <a:ext cx="2468880" cy="566928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ectangle 24"/>
          <p:cNvSpPr/>
          <p:nvPr/>
        </p:nvSpPr>
        <p:spPr>
          <a:xfrm>
            <a:off x="4572000" y="4700016"/>
            <a:ext cx="73152" cy="56692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4754880" y="4847546"/>
            <a:ext cx="2286000" cy="27186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sz="1600" b="1" i="0" dirty="0">
                <a:solidFill>
                  <a:srgbClr val="2B2A26"/>
                </a:solidFill>
                <a:latin typeface="Calibri"/>
              </a:rPr>
              <a:t>P3b </a:t>
            </a:r>
            <a:r>
              <a:rPr lang="it-IT" sz="1600" b="1" i="0" dirty="0">
                <a:solidFill>
                  <a:srgbClr val="2B2A26"/>
                </a:solidFill>
                <a:latin typeface="Calibri"/>
              </a:rPr>
              <a:t>-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 Grain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46120" y="3977640"/>
            <a:ext cx="1280160" cy="1005840"/>
          </a:xfrm>
          <a:prstGeom prst="bentConnector3">
            <a:avLst/>
          </a:prstGeom>
          <a:ln w="1905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0" y="3383280"/>
            <a:ext cx="3017520" cy="1188720"/>
          </a:xfrm>
          <a:prstGeom prst="roundRect">
            <a:avLst/>
          </a:prstGeom>
          <a:solidFill>
            <a:srgbClr val="E3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ectangle 28"/>
          <p:cNvSpPr/>
          <p:nvPr/>
        </p:nvSpPr>
        <p:spPr>
          <a:xfrm>
            <a:off x="8412480" y="3383280"/>
            <a:ext cx="82296" cy="118872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8595360" y="3733984"/>
            <a:ext cx="2743200" cy="48731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sz="1600" b="1" i="0" dirty="0">
                <a:solidFill>
                  <a:srgbClr val="1B334A"/>
                </a:solidFill>
                <a:latin typeface="Calibri"/>
              </a:rPr>
              <a:t>4 image</a:t>
            </a:r>
            <a:r>
              <a:rPr lang="it-IT" sz="1600" b="1" i="0" dirty="0">
                <a:solidFill>
                  <a:srgbClr val="1B334A"/>
                </a:solidFill>
                <a:latin typeface="Calibri"/>
              </a:rPr>
              <a:t>-</a:t>
            </a:r>
            <a:r>
              <a:rPr sz="1600" b="1" i="0" dirty="0">
                <a:solidFill>
                  <a:srgbClr val="1B334A"/>
                </a:solidFill>
                <a:latin typeface="Calibri"/>
              </a:rPr>
              <a:t>caption rows</a:t>
            </a:r>
          </a:p>
          <a:p>
            <a:r>
              <a:rPr sz="1400" b="0" i="0" dirty="0">
                <a:solidFill>
                  <a:srgbClr val="5B8C5A"/>
                </a:solidFill>
                <a:latin typeface="Calibri"/>
              </a:rPr>
              <a:t>(same caption)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86600" y="2843784"/>
            <a:ext cx="1280160" cy="1133856"/>
          </a:xfrm>
          <a:prstGeom prst="bentConnector3">
            <a:avLst/>
          </a:prstGeom>
          <a:ln w="1905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086600" y="3557016"/>
            <a:ext cx="1280160" cy="420624"/>
          </a:xfrm>
          <a:prstGeom prst="bentConnector3">
            <a:avLst/>
          </a:prstGeom>
          <a:ln w="1905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086600" y="3977640"/>
            <a:ext cx="1280160" cy="292608"/>
          </a:xfrm>
          <a:prstGeom prst="bentConnector3">
            <a:avLst/>
          </a:prstGeom>
          <a:ln w="1905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086600" y="3977640"/>
            <a:ext cx="1280160" cy="1005840"/>
          </a:xfrm>
          <a:prstGeom prst="bentConnector3">
            <a:avLst/>
          </a:prstGeom>
          <a:ln w="1905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417E1E9B-2FE2-82B9-DCD6-8C068B39B11A}"/>
              </a:ext>
            </a:extLst>
          </p:cNvPr>
          <p:cNvGrpSpPr/>
          <p:nvPr/>
        </p:nvGrpSpPr>
        <p:grpSpPr>
          <a:xfrm>
            <a:off x="723418" y="5413248"/>
            <a:ext cx="10698480" cy="640080"/>
            <a:chOff x="731520" y="4892040"/>
            <a:chExt cx="10698480" cy="640080"/>
          </a:xfrm>
        </p:grpSpPr>
        <p:sp>
          <p:nvSpPr>
            <p:cNvPr id="35" name="Rounded Rectangle 34"/>
            <p:cNvSpPr/>
            <p:nvPr/>
          </p:nvSpPr>
          <p:spPr>
            <a:xfrm>
              <a:off x="731520" y="4892040"/>
              <a:ext cx="10698480" cy="640080"/>
            </a:xfrm>
            <a:prstGeom prst="roundRect">
              <a:avLst/>
            </a:prstGeom>
            <a:solidFill>
              <a:srgbClr val="1B3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29640" y="4993850"/>
              <a:ext cx="10332720" cy="271869"/>
            </a:xfrm>
            <a:prstGeom prst="rect">
              <a:avLst/>
            </a:prstGeom>
            <a:noFill/>
          </p:spPr>
          <p:txBody>
            <a:bodyPr wrap="square" lIns="25400" tIns="12700" rIns="25400" bIns="12700" anchor="ctr">
              <a:spAutoFit/>
            </a:bodyPr>
            <a:lstStyle/>
            <a:p>
              <a:r>
                <a:rPr sz="1600" b="1" i="0" dirty="0">
                  <a:solidFill>
                    <a:srgbClr val="E0A458"/>
                  </a:solidFill>
                  <a:latin typeface="Calibri"/>
                </a:rPr>
                <a:t>Net effect:  </a:t>
              </a:r>
              <a:r>
                <a:rPr sz="1600" b="0" i="0" dirty="0">
                  <a:solidFill>
                    <a:srgbClr val="F7F1E3"/>
                  </a:solidFill>
                  <a:latin typeface="Calibri"/>
                </a:rPr>
                <a:t>51,988 rows (image × panelist × attribute) · 39,510 with a comment · pairing rate ≈ 76%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756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THE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An eleven-stage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b="1" i="0" dirty="0">
                <a:solidFill>
                  <a:srgbClr val="2B2A26"/>
                </a:solidFill>
                <a:latin typeface="Calibri"/>
              </a:rPr>
              <a:t>Guiding principle: </a:t>
            </a:r>
            <a:r>
              <a:rPr b="0" i="0" dirty="0">
                <a:solidFill>
                  <a:srgbClr val="2B2A26"/>
                </a:solidFill>
                <a:latin typeface="Calibri"/>
              </a:rPr>
              <a:t>deterministic-before-the-LLM</a:t>
            </a:r>
            <a:r>
              <a:rPr lang="it-IT" b="0" i="0" dirty="0">
                <a:solidFill>
                  <a:srgbClr val="2B2A26"/>
                </a:solidFill>
                <a:latin typeface="Calibri"/>
              </a:rPr>
              <a:t>,</a:t>
            </a:r>
            <a:r>
              <a:rPr b="0" i="0" dirty="0">
                <a:solidFill>
                  <a:srgbClr val="2B2A26"/>
                </a:solidFill>
                <a:latin typeface="Calibri"/>
              </a:rPr>
              <a:t> everything that can be done with reproducible, free code is done before calling the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Oval 9"/>
          <p:cNvSpPr/>
          <p:nvPr/>
        </p:nvSpPr>
        <p:spPr>
          <a:xfrm>
            <a:off x="850392" y="2788920"/>
            <a:ext cx="530352" cy="530352"/>
          </a:xfrm>
          <a:prstGeom prst="ellipse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850392" y="2902773"/>
            <a:ext cx="530352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773418"/>
            <a:ext cx="2606040" cy="57964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b="1" i="0">
                <a:solidFill>
                  <a:srgbClr val="1B334A"/>
                </a:solidFill>
                <a:latin typeface="Georgia"/>
              </a:rPr>
              <a:t>Unified table</a:t>
            </a:r>
          </a:p>
          <a:p>
            <a:r>
              <a:rPr b="1" i="0">
                <a:solidFill>
                  <a:srgbClr val="2C5F8A"/>
                </a:solidFill>
                <a:latin typeface="Calibri"/>
              </a:rPr>
              <a:t>51,988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514600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Oval 13"/>
          <p:cNvSpPr/>
          <p:nvPr/>
        </p:nvSpPr>
        <p:spPr>
          <a:xfrm>
            <a:off x="4553712" y="2788920"/>
            <a:ext cx="530352" cy="530352"/>
          </a:xfrm>
          <a:prstGeom prst="ellipse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4553712" y="2902773"/>
            <a:ext cx="530352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773418"/>
            <a:ext cx="2606040" cy="57964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b="1" i="0">
                <a:solidFill>
                  <a:srgbClr val="1B334A"/>
                </a:solidFill>
                <a:latin typeface="Georgia"/>
              </a:rPr>
              <a:t>Deterministic prep</a:t>
            </a:r>
          </a:p>
          <a:p>
            <a:r>
              <a:rPr b="1" i="0">
                <a:solidFill>
                  <a:srgbClr val="2C5F8A"/>
                </a:solidFill>
                <a:latin typeface="Calibri"/>
              </a:rPr>
              <a:t>39,356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514600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Oval 17"/>
          <p:cNvSpPr/>
          <p:nvPr/>
        </p:nvSpPr>
        <p:spPr>
          <a:xfrm>
            <a:off x="8257032" y="2788920"/>
            <a:ext cx="530352" cy="530352"/>
          </a:xfrm>
          <a:prstGeom prst="ellipse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8257032" y="2902773"/>
            <a:ext cx="530352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2–3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2773418"/>
            <a:ext cx="2606040" cy="57964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b="1" i="0">
                <a:solidFill>
                  <a:srgbClr val="1B334A"/>
                </a:solidFill>
                <a:latin typeface="Georgia"/>
              </a:rPr>
              <a:t>Vocabulary + audit</a:t>
            </a:r>
          </a:p>
          <a:p>
            <a:r>
              <a:rPr b="1" i="0">
                <a:solidFill>
                  <a:srgbClr val="2C5F8A"/>
                </a:solidFill>
                <a:latin typeface="Calibri"/>
              </a:rPr>
              <a:t>7 attr.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58184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Oval 21"/>
          <p:cNvSpPr/>
          <p:nvPr/>
        </p:nvSpPr>
        <p:spPr>
          <a:xfrm>
            <a:off x="850392" y="4032504"/>
            <a:ext cx="530352" cy="530352"/>
          </a:xfrm>
          <a:prstGeom prst="ellipse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850392" y="4146357"/>
            <a:ext cx="530352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017002"/>
            <a:ext cx="2606040" cy="57964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b="1" i="0">
                <a:solidFill>
                  <a:srgbClr val="1B334A"/>
                </a:solidFill>
                <a:latin typeface="Georgia"/>
              </a:rPr>
              <a:t>Cleanup + qualitative</a:t>
            </a:r>
          </a:p>
          <a:p>
            <a:r>
              <a:rPr b="1" i="0">
                <a:solidFill>
                  <a:srgbClr val="2C5F8A"/>
                </a:solidFill>
                <a:latin typeface="Calibri"/>
              </a:rPr>
              <a:t>7,705 unique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58184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Oval 25"/>
          <p:cNvSpPr/>
          <p:nvPr/>
        </p:nvSpPr>
        <p:spPr>
          <a:xfrm>
            <a:off x="4553712" y="4032504"/>
            <a:ext cx="530352" cy="530352"/>
          </a:xfrm>
          <a:prstGeom prst="ellipse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4553712" y="4146357"/>
            <a:ext cx="530352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4017002"/>
            <a:ext cx="2606040" cy="57964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b="1" i="0">
                <a:solidFill>
                  <a:srgbClr val="1B334A"/>
                </a:solidFill>
                <a:latin typeface="Georgia"/>
              </a:rPr>
              <a:t>Noise drop</a:t>
            </a:r>
          </a:p>
          <a:p>
            <a:r>
              <a:rPr b="1" i="0">
                <a:solidFill>
                  <a:srgbClr val="2C5F8A"/>
                </a:solidFill>
                <a:latin typeface="Calibri"/>
              </a:rPr>
              <a:t>7,689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758184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Oval 29"/>
          <p:cNvSpPr/>
          <p:nvPr/>
        </p:nvSpPr>
        <p:spPr>
          <a:xfrm>
            <a:off x="8257032" y="4032504"/>
            <a:ext cx="530352" cy="530352"/>
          </a:xfrm>
          <a:prstGeom prst="ellipse">
            <a:avLst/>
          </a:prstGeom>
          <a:solidFill>
            <a:srgbClr val="C88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8257032" y="4146357"/>
            <a:ext cx="530352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6–7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3688" y="4017002"/>
            <a:ext cx="2606040" cy="57964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b="1" i="0">
                <a:solidFill>
                  <a:srgbClr val="1B334A"/>
                </a:solidFill>
                <a:latin typeface="Georgia"/>
              </a:rPr>
              <a:t>Prompt + pilot</a:t>
            </a:r>
          </a:p>
          <a:p>
            <a:r>
              <a:rPr b="1" i="0">
                <a:solidFill>
                  <a:srgbClr val="C88836"/>
                </a:solidFill>
                <a:latin typeface="Calibri"/>
              </a:rPr>
              <a:t>105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001768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Oval 33"/>
          <p:cNvSpPr/>
          <p:nvPr/>
        </p:nvSpPr>
        <p:spPr>
          <a:xfrm>
            <a:off x="850392" y="5276088"/>
            <a:ext cx="530352" cy="530352"/>
          </a:xfrm>
          <a:prstGeom prst="ellipse">
            <a:avLst/>
          </a:prstGeom>
          <a:solidFill>
            <a:srgbClr val="C88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850392" y="5389941"/>
            <a:ext cx="530352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5260586"/>
            <a:ext cx="2606040" cy="57964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b="1" i="0">
                <a:solidFill>
                  <a:srgbClr val="1B334A"/>
                </a:solidFill>
                <a:latin typeface="Georgia"/>
              </a:rPr>
              <a:t>LLM batch</a:t>
            </a:r>
          </a:p>
          <a:p>
            <a:r>
              <a:rPr b="1" i="0">
                <a:solidFill>
                  <a:srgbClr val="C88836"/>
                </a:solidFill>
                <a:latin typeface="Calibri"/>
              </a:rPr>
              <a:t>7,689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0" y="5001768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Oval 37"/>
          <p:cNvSpPr/>
          <p:nvPr/>
        </p:nvSpPr>
        <p:spPr>
          <a:xfrm>
            <a:off x="4553712" y="5276088"/>
            <a:ext cx="530352" cy="530352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4553712" y="5389941"/>
            <a:ext cx="530352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0368" y="5260586"/>
            <a:ext cx="2606040" cy="57964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b="1" i="0">
                <a:solidFill>
                  <a:srgbClr val="1B334A"/>
                </a:solidFill>
                <a:latin typeface="Georgia"/>
              </a:rPr>
              <a:t>Manual salvage</a:t>
            </a:r>
          </a:p>
          <a:p>
            <a:r>
              <a:rPr b="1" i="0">
                <a:solidFill>
                  <a:srgbClr val="5B8C5A"/>
                </a:solidFill>
                <a:latin typeface="Calibri"/>
              </a:rPr>
              <a:t>+916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5001768"/>
            <a:ext cx="3566160" cy="1078992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2" name="Oval 41"/>
          <p:cNvSpPr/>
          <p:nvPr/>
        </p:nvSpPr>
        <p:spPr>
          <a:xfrm>
            <a:off x="8257032" y="5276088"/>
            <a:ext cx="530352" cy="530352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3" name="TextBox 42"/>
          <p:cNvSpPr txBox="1"/>
          <p:nvPr/>
        </p:nvSpPr>
        <p:spPr>
          <a:xfrm>
            <a:off x="8257032" y="5389941"/>
            <a:ext cx="530352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33688" y="5260586"/>
            <a:ext cx="2606040" cy="57964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b="1" i="0">
                <a:solidFill>
                  <a:srgbClr val="1B334A"/>
                </a:solidFill>
                <a:latin typeface="Georgia"/>
              </a:rPr>
              <a:t>Broadcast + sentence</a:t>
            </a:r>
          </a:p>
          <a:p>
            <a:r>
              <a:rPr b="1" i="0">
                <a:solidFill>
                  <a:srgbClr val="5B8C5A"/>
                </a:solidFill>
                <a:latin typeface="Calibri"/>
              </a:rPr>
              <a:t>38,437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137491"/>
            <a:ext cx="1078992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600" b="1" i="0">
                <a:solidFill>
                  <a:srgbClr val="2C5F8A"/>
                </a:solidFill>
                <a:latin typeface="Calibri"/>
              </a:rPr>
              <a:t>■ </a:t>
            </a:r>
            <a:r>
              <a:rPr sz="1400" b="0" i="0">
                <a:solidFill>
                  <a:srgbClr val="2B2A26"/>
                </a:solidFill>
                <a:latin typeface="Calibri"/>
              </a:rPr>
              <a:t>deterministic (free)    </a:t>
            </a:r>
            <a:r>
              <a:rPr sz="1600" b="1" i="0">
                <a:solidFill>
                  <a:srgbClr val="C88836"/>
                </a:solidFill>
                <a:latin typeface="Calibri"/>
              </a:rPr>
              <a:t>■ </a:t>
            </a:r>
            <a:r>
              <a:rPr sz="1400" b="0" i="0">
                <a:solidFill>
                  <a:srgbClr val="2B2A26"/>
                </a:solidFill>
                <a:latin typeface="Calibri"/>
              </a:rPr>
              <a:t>with LLM    </a:t>
            </a:r>
            <a:r>
              <a:rPr sz="1600" b="1" i="0">
                <a:solidFill>
                  <a:srgbClr val="5B8C5A"/>
                </a:solidFill>
                <a:latin typeface="Calibri"/>
              </a:rPr>
              <a:t>■ </a:t>
            </a:r>
            <a:r>
              <a:rPr sz="1400" b="0" i="0">
                <a:solidFill>
                  <a:srgbClr val="2B2A26"/>
                </a:solidFill>
                <a:latin typeface="Calibri"/>
              </a:rPr>
              <a:t>final assembly</a:t>
            </a:r>
          </a:p>
        </p:txBody>
      </p:sp>
    </p:spTree>
    <p:extLst>
      <p:ext uri="{BB962C8B-B14F-4D97-AF65-F5344CB8AC3E}">
        <p14:creationId xmlns:p14="http://schemas.microsoft.com/office/powerpoint/2010/main" val="3734075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THE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The funnel: where rows are lost (and kept)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013"/>
            <a:ext cx="7040880" cy="347581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2011680"/>
            <a:ext cx="3611880" cy="374903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55279" y="2011680"/>
            <a:ext cx="82296" cy="3749039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1" y="2157984"/>
            <a:ext cx="3191256" cy="183127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Reading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lang="it-IT" sz="1600" b="1" dirty="0">
                <a:solidFill>
                  <a:srgbClr val="2B2A26"/>
                </a:solidFill>
                <a:latin typeface="Calibri"/>
              </a:rPr>
              <a:t>-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12,632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rows in deterministic prep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12,478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empty / null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86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meta-comments  ·  68 near-empty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75.7%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retention after stage 1</a:t>
            </a:r>
          </a:p>
        </p:txBody>
      </p:sp>
    </p:spTree>
    <p:extLst>
      <p:ext uri="{BB962C8B-B14F-4D97-AF65-F5344CB8AC3E}">
        <p14:creationId xmlns:p14="http://schemas.microsoft.com/office/powerpoint/2010/main" val="1496007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STAGE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Deterministic prep: clean without rewriting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49240" cy="329184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82296" cy="32918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66544"/>
            <a:ext cx="4928616" cy="188256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Operations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Filter empties/N-A + Unicode normalization (NFC)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Remove non-breaking spaces, zero-width, tabs, newlines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Drop meta-comments (small, conservative blacklist)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Drop near-empty noise (&lt; 2 alphanumeric characters)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Dual column raw / norm → reversibility and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20240"/>
            <a:ext cx="5440680" cy="329184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920240"/>
            <a:ext cx="82296" cy="32918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2066544"/>
            <a:ext cx="5020056" cy="187230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E0A458"/>
                </a:solidFill>
                <a:latin typeface="Georgia"/>
              </a:rPr>
              <a:t>Philosophy</a:t>
            </a:r>
          </a:p>
          <a:p>
            <a:r>
              <a:rPr sz="1600" b="0" i="0" dirty="0">
                <a:solidFill>
                  <a:srgbClr val="F7F1E3"/>
                </a:solidFill>
                <a:latin typeface="Calibri"/>
              </a:rPr>
              <a:t>«Drops must be certain». The LLM will handle ambiguity better: a negation with a descriptor: «I don't penalize it, but it smells of barn»  carries real information and is kept.
Result: 39,356 rows (75.7% retention), 12,632 drops, of which 12,478 empty, 86 meta, 68 near-empty.</a:t>
            </a:r>
          </a:p>
        </p:txBody>
      </p:sp>
    </p:spTree>
    <p:extLst>
      <p:ext uri="{BB962C8B-B14F-4D97-AF65-F5344CB8AC3E}">
        <p14:creationId xmlns:p14="http://schemas.microsoft.com/office/powerpoint/2010/main" val="1748979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STAGES 2–3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100" b="1" i="0" dirty="0">
                <a:solidFill>
                  <a:srgbClr val="1B334A"/>
                </a:solidFill>
                <a:latin typeface="Georgia"/>
              </a:rPr>
              <a:t>A controlled </a:t>
            </a:r>
            <a:r>
              <a:rPr sz="3600" b="1" i="0" dirty="0">
                <a:solidFill>
                  <a:srgbClr val="1B334A"/>
                </a:solidFill>
                <a:latin typeface="Georgia"/>
              </a:rPr>
              <a:t>vocabulary</a:t>
            </a:r>
            <a:r>
              <a:rPr sz="3100" b="1" i="0" dirty="0">
                <a:solidFill>
                  <a:srgbClr val="1B334A"/>
                </a:solidFill>
                <a:latin typeface="Georgia"/>
              </a:rPr>
              <a:t>, tailor-made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voc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8755"/>
            <a:ext cx="7040880" cy="336633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2011680"/>
            <a:ext cx="3611880" cy="374903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55279" y="2011680"/>
            <a:ext cx="82296" cy="3749039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1" y="2157984"/>
            <a:ext cx="3191256" cy="247760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b="1" i="0" dirty="0">
                <a:solidFill>
                  <a:srgbClr val="1B334A"/>
                </a:solidFill>
                <a:latin typeface="Georgia"/>
              </a:rPr>
              <a:t>Why custom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Italian NLP tools err: </a:t>
            </a:r>
            <a:r>
              <a:rPr sz="1600" b="0" i="0" dirty="0" err="1">
                <a:solidFill>
                  <a:srgbClr val="2B2A26"/>
                </a:solidFill>
                <a:latin typeface="Calibri"/>
              </a:rPr>
              <a:t>panna→panno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2B2A26"/>
                </a:solidFill>
                <a:latin typeface="Calibri"/>
              </a:rPr>
              <a:t>latte→latto</a:t>
            </a:r>
            <a:endParaRPr sz="1600" b="0" i="0" dirty="0">
              <a:solidFill>
                <a:srgbClr val="2B2A26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Useful </a:t>
            </a:r>
            <a:r>
              <a:rPr sz="1600" b="0" i="0" dirty="0" err="1">
                <a:solidFill>
                  <a:srgbClr val="2B2A26"/>
                </a:solidFill>
                <a:latin typeface="Calibri"/>
              </a:rPr>
              <a:t>stopwords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here: «molto», «poco», «</a:t>
            </a:r>
            <a:r>
              <a:rPr sz="1600" b="0" i="0" dirty="0" err="1">
                <a:solidFill>
                  <a:srgbClr val="2B2A26"/>
                </a:solidFill>
                <a:latin typeface="Calibri"/>
              </a:rPr>
              <a:t>leggermente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»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Deterministic </a:t>
            </a:r>
            <a:r>
              <a:rPr sz="1600" b="0" i="0" dirty="0" err="1">
                <a:solidFill>
                  <a:srgbClr val="2B2A26"/>
                </a:solidFill>
                <a:latin typeface="Calibri"/>
              </a:rPr>
              <a:t>lemmatiser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+ sing./</a:t>
            </a:r>
            <a:r>
              <a:rPr sz="1600" b="0" i="0" dirty="0" err="1">
                <a:solidFill>
                  <a:srgbClr val="2B2A26"/>
                </a:solidFill>
                <a:latin typeface="Calibri"/>
              </a:rPr>
              <a:t>plur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. merge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Dual use: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audit basis + stylistic anchor in the prompt</a:t>
            </a:r>
          </a:p>
        </p:txBody>
      </p:sp>
    </p:spTree>
    <p:extLst>
      <p:ext uri="{BB962C8B-B14F-4D97-AF65-F5344CB8AC3E}">
        <p14:creationId xmlns:p14="http://schemas.microsoft.com/office/powerpoint/2010/main" val="651749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STAGE 4 · KEY 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From numbers to quality: the rind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0881360" cy="51809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600" b="0" i="0" dirty="0">
                <a:solidFill>
                  <a:srgbClr val="2B2A26"/>
                </a:solidFill>
                <a:latin typeface="Calibri"/>
              </a:rPr>
              <a:t>Hundreds of captions were just measures («10», «1 cm», «8-10 mm»). A deterministic function converts everything to mm and assigns a bucket.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560320"/>
          <a:ext cx="4297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Threshold (mm)</a:t>
                      </a:r>
                    </a:p>
                  </a:txBody>
                  <a:tcPr marL="101600" anchor="ctr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Bucket</a:t>
                      </a:r>
                    </a:p>
                  </a:txBody>
                  <a:tcPr marL="101600" anchor="ctr">
                    <a:solidFill>
                      <a:srgbClr val="1B3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&lt; 8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B2A26"/>
                          </a:solidFill>
                          <a:latin typeface="Calibri"/>
                        </a:rPr>
                        <a:t>Very thin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8 ≤ x &lt; 10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B2A26"/>
                          </a:solidFill>
                          <a:latin typeface="Calibri"/>
                        </a:rPr>
                        <a:t>Thin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10 ≤ x &lt; 14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B2A26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14 ≤ x &lt; 18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B2A26"/>
                          </a:solidFill>
                          <a:latin typeface="Calibri"/>
                        </a:rPr>
                        <a:t>Thick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≥ 18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 dirty="0">
                          <a:solidFill>
                            <a:srgbClr val="2B2A26"/>
                          </a:solidFill>
                          <a:latin typeface="Calibri"/>
                        </a:rPr>
                        <a:t>Very thick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257800" y="2514600"/>
            <a:ext cx="630936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_spess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249" y="2651760"/>
            <a:ext cx="5000461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234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STAGE 4 · THE DECISIVE TRICK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Deduplication: 5.1× compression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ded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8755"/>
            <a:ext cx="7040880" cy="336633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2011680"/>
            <a:ext cx="3611880" cy="374903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55279" y="2011680"/>
            <a:ext cx="82296" cy="3749039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1" y="2157984"/>
            <a:ext cx="3191256" cy="28674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Why it matters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5B8C5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The broadcast replicates the same text many times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5B8C5A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39,356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rows → 7,705 unique captions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5B8C5A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5.1×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compression by (caption, attribute) key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5B8C5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Dominant 4× pattern: 6,595 captions exactly 4 times</a:t>
            </a:r>
          </a:p>
          <a:p>
            <a:pPr>
              <a:spcBef>
                <a:spcPts val="400"/>
              </a:spcBef>
            </a:pPr>
            <a:r>
              <a:rPr sz="1100" b="1" i="0" dirty="0">
                <a:solidFill>
                  <a:srgbClr val="5B8C5A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→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cuts the LLM cost ~5×</a:t>
            </a:r>
            <a:endParaRPr sz="1200" b="0" i="0" dirty="0">
              <a:solidFill>
                <a:srgbClr val="2B2A26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1007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STAGES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LLM</a:t>
            </a:r>
            <a:r>
              <a:rPr sz="3100" b="1" i="0" dirty="0">
                <a:solidFill>
                  <a:srgbClr val="1B334A"/>
                </a:solidFill>
                <a:latin typeface="Georgia"/>
              </a:rPr>
              <a:t> rewriting: the genuinely hard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520440" cy="329184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82296" cy="32918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66544"/>
            <a:ext cx="3099816" cy="20774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6 · Prompt design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Per-attribute system prompt (~5 KB)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11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rules (zero invention, NON_DESCRITTO escape)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Top-60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lemmas as a style anchor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6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real few-shot examples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520440" cy="329184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82296" cy="32918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2066544"/>
            <a:ext cx="3099816" cy="20774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7 · Pilot run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105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captions (15 per attribute)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Found 2 failure modes: 1cm vs 10mm; empty format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Both fixed in the prompt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3 workers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= optimal; 8 → storms of 429s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920240"/>
            <a:ext cx="3611880" cy="329184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920240"/>
            <a:ext cx="82296" cy="329184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1" y="2066544"/>
            <a:ext cx="3191256" cy="198515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8 · Full batch</a:t>
            </a:r>
          </a:p>
          <a:p>
            <a:pPr>
              <a:spcBef>
                <a:spcPts val="400"/>
              </a:spcBef>
            </a:pPr>
            <a:r>
              <a:rPr b="1" i="0" dirty="0">
                <a:solidFill>
                  <a:srgbClr val="5B8C5A"/>
                </a:solidFill>
                <a:latin typeface="Calibri"/>
              </a:rPr>
              <a:t>● </a:t>
            </a:r>
            <a:r>
              <a:rPr b="1" i="0" dirty="0">
                <a:solidFill>
                  <a:srgbClr val="2B2A26"/>
                </a:solidFill>
                <a:latin typeface="Calibri"/>
              </a:rPr>
              <a:t>7,689 / 7,689</a:t>
            </a:r>
            <a:r>
              <a:rPr b="0" i="0" dirty="0">
                <a:solidFill>
                  <a:srgbClr val="2B2A26"/>
                </a:solidFill>
                <a:latin typeface="Calibri"/>
              </a:rPr>
              <a:t> completed, 0 errors</a:t>
            </a:r>
          </a:p>
          <a:p>
            <a:pPr>
              <a:spcBef>
                <a:spcPts val="400"/>
              </a:spcBef>
            </a:pPr>
            <a:r>
              <a:rPr b="1" i="0" dirty="0">
                <a:solidFill>
                  <a:srgbClr val="5B8C5A"/>
                </a:solidFill>
                <a:latin typeface="Calibri"/>
              </a:rPr>
              <a:t>● </a:t>
            </a:r>
            <a:r>
              <a:rPr b="1" i="0" dirty="0">
                <a:solidFill>
                  <a:srgbClr val="2B2A26"/>
                </a:solidFill>
                <a:latin typeface="Calibri"/>
              </a:rPr>
              <a:t>~25</a:t>
            </a:r>
            <a:r>
              <a:rPr lang="it-IT" b="1" i="0" dirty="0">
                <a:solidFill>
                  <a:srgbClr val="2B2A26"/>
                </a:solidFill>
                <a:latin typeface="Calibri"/>
              </a:rPr>
              <a:t>-</a:t>
            </a:r>
            <a:r>
              <a:rPr b="1" i="0" dirty="0">
                <a:solidFill>
                  <a:srgbClr val="2B2A26"/>
                </a:solidFill>
                <a:latin typeface="Calibri"/>
              </a:rPr>
              <a:t>30</a:t>
            </a:r>
            <a:r>
              <a:rPr b="0" i="0" dirty="0">
                <a:solidFill>
                  <a:srgbClr val="2B2A26"/>
                </a:solidFill>
                <a:latin typeface="Calibri"/>
              </a:rPr>
              <a:t> minutes</a:t>
            </a:r>
          </a:p>
          <a:p>
            <a:pPr>
              <a:spcBef>
                <a:spcPts val="400"/>
              </a:spcBef>
            </a:pPr>
            <a:r>
              <a:rPr b="1" i="0" dirty="0">
                <a:solidFill>
                  <a:srgbClr val="5B8C5A"/>
                </a:solidFill>
                <a:latin typeface="Calibri"/>
              </a:rPr>
              <a:t>● </a:t>
            </a:r>
            <a:r>
              <a:rPr b="1" i="0" dirty="0">
                <a:solidFill>
                  <a:srgbClr val="2B2A26"/>
                </a:solidFill>
                <a:latin typeface="Calibri"/>
              </a:rPr>
              <a:t>Haiku 4.5</a:t>
            </a:r>
            <a:r>
              <a:rPr b="0" i="0" dirty="0">
                <a:solidFill>
                  <a:srgbClr val="2B2A26"/>
                </a:solidFill>
                <a:latin typeface="Calibri"/>
              </a:rPr>
              <a:t> · Anthropic Batch API</a:t>
            </a:r>
          </a:p>
          <a:p>
            <a:pPr>
              <a:spcBef>
                <a:spcPts val="400"/>
              </a:spcBef>
            </a:pPr>
            <a:r>
              <a:rPr b="1" i="0" dirty="0">
                <a:solidFill>
                  <a:srgbClr val="5B8C5A"/>
                </a:solidFill>
                <a:latin typeface="Calibri"/>
              </a:rPr>
              <a:t>● </a:t>
            </a:r>
            <a:r>
              <a:rPr b="1" i="0" dirty="0">
                <a:solidFill>
                  <a:srgbClr val="2B2A26"/>
                </a:solidFill>
                <a:latin typeface="Calibri"/>
              </a:rPr>
              <a:t>~$4.50</a:t>
            </a:r>
            <a:r>
              <a:rPr b="0" i="0" dirty="0">
                <a:solidFill>
                  <a:srgbClr val="2B2A26"/>
                </a:solidFill>
                <a:latin typeface="Calibri"/>
              </a:rPr>
              <a:t> for the batch</a:t>
            </a:r>
          </a:p>
        </p:txBody>
      </p:sp>
    </p:spTree>
    <p:extLst>
      <p:ext uri="{BB962C8B-B14F-4D97-AF65-F5344CB8AC3E}">
        <p14:creationId xmlns:p14="http://schemas.microsoft.com/office/powerpoint/2010/main" val="2580065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MODEL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100" b="1" i="0" dirty="0">
                <a:solidFill>
                  <a:srgbClr val="1B334A"/>
                </a:solidFill>
                <a:latin typeface="Georgia"/>
              </a:rPr>
              <a:t>Why Haiku 4.5: same job, a </a:t>
            </a:r>
            <a:r>
              <a:rPr sz="3600" b="1" i="0" dirty="0">
                <a:solidFill>
                  <a:srgbClr val="1B334A"/>
                </a:solidFill>
                <a:latin typeface="Georgia"/>
              </a:rPr>
              <a:t>fraction</a:t>
            </a:r>
            <a:r>
              <a:rPr sz="3100" b="1" i="0" dirty="0">
                <a:solidFill>
                  <a:srgbClr val="1B334A"/>
                </a:solidFill>
                <a:latin typeface="Georgia"/>
              </a:rPr>
              <a:t> of the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965960"/>
          <a:ext cx="67665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5240" y="2011680"/>
            <a:ext cx="3931920" cy="37947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2011680"/>
            <a:ext cx="82296" cy="379476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91272" y="2157984"/>
            <a:ext cx="3511296" cy="183127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The pilot's verdict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5B8C5A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2.4×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cheaper than Sonnet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5B8C5A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12×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cheaper than Opus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5B8C5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On the verified task, bigger models gave no measurable extra quality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5B8C5A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$5.60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total LLM cost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2525160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PROGRAMMATIC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Step 1 is satisfied 100%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65960"/>
          <a:ext cx="7040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r>
                        <a:rPr sz="16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127000" anchor="ctr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Violations</a:t>
                      </a:r>
                      <a:endParaRPr sz="140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27000" anchor="ctr">
                    <a:solidFill>
                      <a:srgbClr val="1B3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B2A26"/>
                          </a:solidFill>
                          <a:latin typeface="Calibri"/>
                        </a:rPr>
                        <a:t>Output starts with the expected attribute prefix</a:t>
                      </a:r>
                    </a:p>
                  </a:txBody>
                  <a:tcPr marL="1270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C88836"/>
                          </a:solidFill>
                          <a:latin typeface="Calibri"/>
                        </a:rPr>
                        <a:t>1*</a:t>
                      </a:r>
                    </a:p>
                  </a:txBody>
                  <a:tcPr marL="127000" anchor="ctr"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B2A26"/>
                          </a:solidFill>
                          <a:latin typeface="Calibri"/>
                        </a:rPr>
                        <a:t>Output contains digits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5B8C5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B2A26"/>
                          </a:solidFill>
                          <a:latin typeface="Calibri"/>
                        </a:rPr>
                        <a:t>Output contains units (mm / cm / %)</a:t>
                      </a:r>
                    </a:p>
                  </a:txBody>
                  <a:tcPr marL="1270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5B8C5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27000" anchor="ctr"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B2A26"/>
                          </a:solidFill>
                          <a:latin typeface="Calibri"/>
                        </a:rPr>
                        <a:t>Output longer than 25 words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5B8C5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B2A26"/>
                          </a:solidFill>
                          <a:latin typeface="Calibri"/>
                        </a:rPr>
                        <a:t>Output empty</a:t>
                      </a:r>
                    </a:p>
                  </a:txBody>
                  <a:tcPr marL="1270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rgbClr val="5B8C5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27000" anchor="ctr"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B2A26"/>
                          </a:solidFill>
                          <a:latin typeface="Calibri"/>
                        </a:rPr>
                        <a:t>Output multi-line or with markup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rgbClr val="5B8C5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955279" y="1965960"/>
            <a:ext cx="3611880" cy="3611880"/>
          </a:xfrm>
          <a:prstGeom prst="roundRect">
            <a:avLst/>
          </a:prstGeom>
          <a:solidFill>
            <a:srgbClr val="1B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55279" y="1965960"/>
            <a:ext cx="82296" cy="361188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1" y="2112264"/>
            <a:ext cx="3191256" cy="26879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5B8C5A"/>
                </a:solidFill>
                <a:latin typeface="Georgia"/>
              </a:rPr>
              <a:t>Zero numbers,</a:t>
            </a:r>
          </a:p>
          <a:p>
            <a:r>
              <a:rPr sz="2400" b="1" i="0" dirty="0">
                <a:solidFill>
                  <a:srgbClr val="5B8C5A"/>
                </a:solidFill>
                <a:latin typeface="Georgia"/>
              </a:rPr>
              <a:t>zero units</a:t>
            </a:r>
          </a:p>
          <a:p>
            <a:r>
              <a:rPr sz="1300" b="0" i="0" dirty="0">
                <a:solidFill>
                  <a:srgbClr val="F7F1E3"/>
                </a:solidFill>
                <a:latin typeface="Calibri"/>
              </a:rPr>
              <a:t>
</a:t>
            </a:r>
            <a:r>
              <a:rPr sz="1600" b="0" i="0" dirty="0">
                <a:solidFill>
                  <a:srgbClr val="F7F1E3"/>
                </a:solidFill>
                <a:latin typeface="Calibri"/>
              </a:rPr>
              <a:t>The quantitative → qualitative conversion succeeded 100%: the main requirement of Step 1 is fully met.
* the only «violation» is an alternative, still-valid prefix.</a:t>
            </a:r>
            <a:endParaRPr sz="1300" b="0" i="0" dirty="0">
              <a:solidFill>
                <a:srgbClr val="F7F1E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0919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STAGE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Manual salvage: cleaning ≠ throwing away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salv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01223"/>
            <a:ext cx="6766560" cy="306139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2011680"/>
            <a:ext cx="3931920" cy="374903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2011680"/>
            <a:ext cx="82296" cy="3749039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91272" y="2157984"/>
            <a:ext cx="3511296" cy="231345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000" b="1" i="0" dirty="0">
                <a:solidFill>
                  <a:srgbClr val="1B334A"/>
                </a:solidFill>
                <a:latin typeface="Georgia"/>
              </a:rPr>
              <a:t>Hand-curation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291/362 NON_DESCRITTO had a vocabulary lemma → LLM too cautious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178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captions salvaged by hand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«</a:t>
            </a:r>
            <a:r>
              <a:rPr sz="1600" b="1" i="0" dirty="0" err="1">
                <a:solidFill>
                  <a:srgbClr val="2B2A26"/>
                </a:solidFill>
                <a:latin typeface="Calibri"/>
              </a:rPr>
              <a:t>marcio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, </a:t>
            </a:r>
            <a:r>
              <a:rPr sz="1600" b="1" i="0" dirty="0" err="1">
                <a:solidFill>
                  <a:srgbClr val="2B2A26"/>
                </a:solidFill>
                <a:latin typeface="Calibri"/>
              </a:rPr>
              <a:t>putrido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,»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→ «Smell of rot and putridity.»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362 → 184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unique NON_DESCRITTO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+916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training rows recovered</a:t>
            </a:r>
          </a:p>
        </p:txBody>
      </p:sp>
    </p:spTree>
    <p:extLst>
      <p:ext uri="{BB962C8B-B14F-4D97-AF65-F5344CB8AC3E}">
        <p14:creationId xmlns:p14="http://schemas.microsoft.com/office/powerpoint/2010/main" val="684870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lang="en-US" sz="950" b="0" i="1" noProof="0" dirty="0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lang="en-US" sz="1100" b="1" i="0" noProof="0" dirty="0">
                <a:solidFill>
                  <a:srgbClr val="E0A458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lang="en-US" sz="1250" b="1" i="0" spc="220" noProof="0" dirty="0">
                <a:solidFill>
                  <a:srgbClr val="C88836"/>
                </a:solidFill>
                <a:latin typeface="Calibri"/>
              </a:rPr>
              <a:t>STAGE 10 · THE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lang="en-US" sz="3600" b="1" i="0" noProof="0" dirty="0">
                <a:solidFill>
                  <a:srgbClr val="1B334A"/>
                </a:solidFill>
                <a:latin typeface="Georgia"/>
              </a:rPr>
              <a:t>The final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 descr="fig_final_r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87814"/>
            <a:ext cx="6126480" cy="28652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257800"/>
            <a:ext cx="1965960" cy="86868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40080" y="5409789"/>
            <a:ext cx="1965960" cy="6104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lang="en-US" sz="2400" b="1" i="0" noProof="0" dirty="0">
                <a:solidFill>
                  <a:srgbClr val="2C5F8A"/>
                </a:solidFill>
                <a:latin typeface="Georgia"/>
              </a:rPr>
              <a:t>38,437</a:t>
            </a:r>
          </a:p>
          <a:p>
            <a:pPr algn="ctr"/>
            <a:r>
              <a:rPr lang="en-US" sz="1400" b="0" i="0" noProof="0" dirty="0">
                <a:solidFill>
                  <a:srgbClr val="2B2A26"/>
                </a:solidFill>
                <a:latin typeface="Calibri"/>
              </a:rPr>
              <a:t>final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5257800"/>
            <a:ext cx="1965960" cy="86868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2743200" y="5409789"/>
            <a:ext cx="1965960" cy="6104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lang="en-US" sz="2400" b="1" i="0" noProof="0" dirty="0">
                <a:solidFill>
                  <a:srgbClr val="C88836"/>
                </a:solidFill>
                <a:latin typeface="Georgia"/>
              </a:rPr>
              <a:t>1,497</a:t>
            </a:r>
          </a:p>
          <a:p>
            <a:pPr algn="ctr"/>
            <a:r>
              <a:rPr lang="en-US" sz="1400" b="0" i="0" noProof="0" dirty="0">
                <a:solidFill>
                  <a:srgbClr val="2B2A26"/>
                </a:solidFill>
                <a:latin typeface="Calibri"/>
              </a:rPr>
              <a:t>unique 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5257800"/>
            <a:ext cx="1965960" cy="86868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4846320" y="5409789"/>
            <a:ext cx="1965960" cy="6104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lang="en-US" sz="2400" b="1" i="0" noProof="0" dirty="0">
                <a:solidFill>
                  <a:srgbClr val="5B8C5A"/>
                </a:solidFill>
                <a:latin typeface="Georgia"/>
              </a:rPr>
              <a:t>2</a:t>
            </a:r>
          </a:p>
          <a:p>
            <a:pPr algn="ctr"/>
            <a:r>
              <a:rPr lang="en-US" sz="1400" b="0" i="0" noProof="0" dirty="0">
                <a:solidFill>
                  <a:srgbClr val="2B2A26"/>
                </a:solidFill>
                <a:latin typeface="Calibri"/>
              </a:rPr>
              <a:t>caption forms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920240"/>
            <a:ext cx="4617720" cy="420624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/>
          <p:cNvSpPr/>
          <p:nvPr/>
        </p:nvSpPr>
        <p:spPr>
          <a:xfrm>
            <a:off x="6949440" y="1920240"/>
            <a:ext cx="82296" cy="42062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7205472" y="2066544"/>
            <a:ext cx="4197096" cy="29187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lang="en-US" sz="2400" b="1" i="0" noProof="0" dirty="0">
                <a:solidFill>
                  <a:srgbClr val="1B334A"/>
                </a:solidFill>
                <a:latin typeface="Georgia"/>
              </a:rPr>
              <a:t>Delivered schema</a:t>
            </a:r>
          </a:p>
          <a:p>
            <a:pPr>
              <a:spcBef>
                <a:spcPts val="400"/>
              </a:spcBef>
            </a:pPr>
            <a:r>
              <a:rPr lang="en-US" sz="1000" b="1" i="0" noProof="0" dirty="0">
                <a:solidFill>
                  <a:srgbClr val="2C5F8A"/>
                </a:solidFill>
                <a:latin typeface="Calibri"/>
              </a:rPr>
              <a:t>● </a:t>
            </a:r>
            <a:r>
              <a:rPr lang="en-US" sz="1600" b="1" i="0" noProof="0" dirty="0">
                <a:solidFill>
                  <a:srgbClr val="2B2A26"/>
                </a:solidFill>
                <a:latin typeface="Calibri"/>
              </a:rPr>
              <a:t>captions_final.csv</a:t>
            </a:r>
            <a:r>
              <a:rPr lang="en-US" sz="1600" b="0" i="0" noProof="0" dirty="0">
                <a:solidFill>
                  <a:srgbClr val="2B2A26"/>
                </a:solidFill>
                <a:latin typeface="Calibri"/>
              </a:rPr>
              <a:t> — 38,437 × 18 col. (provenance)</a:t>
            </a: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2C5F8A"/>
                </a:solidFill>
                <a:latin typeface="Calibri"/>
              </a:rPr>
              <a:t>● </a:t>
            </a:r>
            <a:r>
              <a:rPr lang="en-US" sz="1600" b="1" i="0" noProof="0" dirty="0">
                <a:solidFill>
                  <a:srgbClr val="2B2A26"/>
                </a:solidFill>
                <a:latin typeface="Calibri"/>
              </a:rPr>
              <a:t>image_caption_attribute.csv</a:t>
            </a:r>
            <a:r>
              <a:rPr lang="en-US" sz="1600" b="0" i="0" noProof="0" dirty="0">
                <a:solidFill>
                  <a:srgbClr val="2B2A26"/>
                </a:solidFill>
                <a:latin typeface="Calibri"/>
              </a:rPr>
              <a:t> — 4-column view</a:t>
            </a: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2C5F8A"/>
                </a:solidFill>
                <a:latin typeface="Calibri"/>
              </a:rPr>
              <a:t>● </a:t>
            </a:r>
            <a:r>
              <a:rPr lang="en-US" sz="1600" b="1" i="0" noProof="0" dirty="0" err="1">
                <a:solidFill>
                  <a:srgbClr val="2B2A26"/>
                </a:solidFill>
                <a:latin typeface="Calibri"/>
              </a:rPr>
              <a:t>by_attribute</a:t>
            </a:r>
            <a:r>
              <a:rPr lang="en-US" sz="1600" b="1" i="0" noProof="0" dirty="0">
                <a:solidFill>
                  <a:srgbClr val="2B2A26"/>
                </a:solidFill>
                <a:latin typeface="Calibri"/>
              </a:rPr>
              <a:t>/&lt;</a:t>
            </a:r>
            <a:r>
              <a:rPr lang="en-US" sz="1600" b="1" i="0" noProof="0" dirty="0" err="1">
                <a:solidFill>
                  <a:srgbClr val="2B2A26"/>
                </a:solidFill>
                <a:latin typeface="Calibri"/>
              </a:rPr>
              <a:t>Attr</a:t>
            </a:r>
            <a:r>
              <a:rPr lang="en-US" sz="1600" b="1" i="0" noProof="0" dirty="0">
                <a:solidFill>
                  <a:srgbClr val="2B2A26"/>
                </a:solidFill>
                <a:latin typeface="Calibri"/>
              </a:rPr>
              <a:t>&gt;.csv</a:t>
            </a:r>
            <a:r>
              <a:rPr lang="en-US" sz="1600" b="0" i="0" noProof="0" dirty="0">
                <a:solidFill>
                  <a:srgbClr val="2B2A26"/>
                </a:solidFill>
                <a:latin typeface="Calibri"/>
              </a:rPr>
              <a:t> — 7 per-attribute splits</a:t>
            </a: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2C5F8A"/>
                </a:solidFill>
                <a:latin typeface="Calibri"/>
              </a:rPr>
              <a:t>● </a:t>
            </a:r>
            <a:r>
              <a:rPr lang="en-US" sz="1600" b="1" i="0" noProof="0" dirty="0">
                <a:solidFill>
                  <a:srgbClr val="2B2A26"/>
                </a:solidFill>
                <a:latin typeface="Calibri"/>
              </a:rPr>
              <a:t>caption</a:t>
            </a:r>
            <a:r>
              <a:rPr lang="en-US" sz="1600" b="0" i="0" noProof="0" dirty="0">
                <a:solidFill>
                  <a:srgbClr val="2B2A26"/>
                </a:solidFill>
                <a:latin typeface="Calibri"/>
              </a:rPr>
              <a:t> (compact, ~4–8 words)</a:t>
            </a: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2C5F8A"/>
                </a:solidFill>
                <a:latin typeface="Calibri"/>
              </a:rPr>
              <a:t>● </a:t>
            </a:r>
            <a:r>
              <a:rPr lang="en-US" sz="1600" b="1" i="0" noProof="0" dirty="0" err="1">
                <a:solidFill>
                  <a:srgbClr val="2B2A26"/>
                </a:solidFill>
                <a:latin typeface="Calibri"/>
              </a:rPr>
              <a:t>caption_sentence</a:t>
            </a:r>
            <a:r>
              <a:rPr lang="en-US" sz="1600" b="0" i="0" noProof="0" dirty="0">
                <a:solidFill>
                  <a:srgbClr val="2B2A26"/>
                </a:solidFill>
                <a:latin typeface="Calibri"/>
              </a:rPr>
              <a:t> (Italian sentence, ~7–15 words)</a:t>
            </a:r>
          </a:p>
          <a:p>
            <a:pPr>
              <a:spcBef>
                <a:spcPts val="400"/>
              </a:spcBef>
            </a:pPr>
            <a:r>
              <a:rPr lang="en-US" sz="1600" b="1" i="0" noProof="0" dirty="0">
                <a:solidFill>
                  <a:srgbClr val="2C5F8A"/>
                </a:solidFill>
                <a:latin typeface="Calibri"/>
              </a:rPr>
              <a:t>● </a:t>
            </a:r>
            <a:r>
              <a:rPr lang="en-US" sz="1600" b="0" i="0" noProof="0" dirty="0">
                <a:solidFill>
                  <a:srgbClr val="2B2A26"/>
                </a:solidFill>
                <a:latin typeface="Calibri"/>
              </a:rPr>
              <a:t>Deterministic sentence form: 100% template, 0 extra LLM round-trips</a:t>
            </a:r>
          </a:p>
        </p:txBody>
      </p:sp>
    </p:spTree>
    <p:extLst>
      <p:ext uri="{BB962C8B-B14F-4D97-AF65-F5344CB8AC3E}">
        <p14:creationId xmlns:p14="http://schemas.microsoft.com/office/powerpoint/2010/main" val="3635043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38360" y="4800600"/>
            <a:ext cx="640080" cy="640080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40746" y="5310378"/>
            <a:ext cx="352044" cy="352044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402319" y="5488685"/>
            <a:ext cx="288036" cy="288036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4140" y="4375404"/>
            <a:ext cx="320040" cy="320040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272016" y="4700016"/>
            <a:ext cx="256031" cy="256031"/>
          </a:xfrm>
          <a:prstGeom prst="ellipse">
            <a:avLst/>
          </a:prstGeom>
          <a:solidFill>
            <a:srgbClr val="E0A45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83080" y="1051560"/>
            <a:ext cx="457200" cy="45720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544318" y="1520190"/>
            <a:ext cx="251460" cy="25146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96747" y="1689353"/>
            <a:ext cx="205740" cy="20574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263140" y="580644"/>
            <a:ext cx="228600" cy="22860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61872" y="896112"/>
            <a:ext cx="182880" cy="182880"/>
          </a:xfrm>
          <a:prstGeom prst="ellipse">
            <a:avLst/>
          </a:prstGeom>
          <a:solidFill>
            <a:srgbClr val="E0A45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00584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000" b="1" i="0" spc="400">
                <a:solidFill>
                  <a:srgbClr val="E0A458"/>
                </a:solidFill>
                <a:latin typeface="Calibri"/>
              </a:rPr>
              <a:t>PART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80360"/>
            <a:ext cx="10607040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4200" b="1" i="0" dirty="0">
                <a:solidFill>
                  <a:srgbClr val="F7F1E3"/>
                </a:solidFill>
                <a:latin typeface="Georgia"/>
              </a:rPr>
              <a:t>Model selection and 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14800"/>
            <a:ext cx="2194560" cy="508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987552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700" b="0" i="1">
                <a:solidFill>
                  <a:srgbClr val="D9D2C2"/>
                </a:solidFill>
                <a:latin typeface="Calibri"/>
              </a:rPr>
              <a:t>Three encoder–decoder methods, one determinant: the visual encoder</a:t>
            </a:r>
          </a:p>
        </p:txBody>
      </p:sp>
    </p:spTree>
    <p:extLst>
      <p:ext uri="{BB962C8B-B14F-4D97-AF65-F5344CB8AC3E}">
        <p14:creationId xmlns:p14="http://schemas.microsoft.com/office/powerpoint/2010/main" val="4232887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THE ARCHITECTURES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Three methods, two axes of variation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291840" cy="45653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800" b="1" i="0">
                <a:solidFill>
                  <a:srgbClr val="E07A5F"/>
                </a:solidFill>
                <a:latin typeface="Georgia"/>
              </a:rPr>
              <a:t>m1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51760"/>
            <a:ext cx="3291840" cy="10515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9"/>
          <p:cNvSpPr/>
          <p:nvPr/>
        </p:nvSpPr>
        <p:spPr>
          <a:xfrm>
            <a:off x="868680" y="2651760"/>
            <a:ext cx="3291840" cy="914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005840" y="2833856"/>
            <a:ext cx="3017520" cy="687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00" b="1" i="0" spc="150">
                <a:solidFill>
                  <a:srgbClr val="2C5F8A"/>
                </a:solidFill>
                <a:latin typeface="Calibri"/>
              </a:rPr>
              <a:t>ENCODER</a:t>
            </a:r>
          </a:p>
          <a:p>
            <a:pPr algn="ctr"/>
            <a:r>
              <a:rPr sz="1600" b="1" i="0">
                <a:solidFill>
                  <a:srgbClr val="1B334A"/>
                </a:solidFill>
                <a:latin typeface="Calibri"/>
              </a:rPr>
              <a:t>ResNet-50</a:t>
            </a:r>
          </a:p>
          <a:p>
            <a:pPr algn="ctr"/>
            <a:r>
              <a:rPr sz="1600" b="1" i="0">
                <a:solidFill>
                  <a:srgbClr val="1B334A"/>
                </a:solidFill>
                <a:latin typeface="Calibri"/>
              </a:rPr>
              <a:t>(CNN, frozen)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3749040"/>
            <a:ext cx="0" cy="274319"/>
          </a:xfrm>
          <a:prstGeom prst="bentConnector3">
            <a:avLst/>
          </a:prstGeom>
          <a:ln w="2540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" y="4069080"/>
            <a:ext cx="3291840" cy="10515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ectangle 13"/>
          <p:cNvSpPr/>
          <p:nvPr/>
        </p:nvSpPr>
        <p:spPr>
          <a:xfrm>
            <a:off x="868680" y="4069080"/>
            <a:ext cx="329184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1005840" y="4251176"/>
            <a:ext cx="3017520" cy="687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00" b="1" i="0" spc="150">
                <a:solidFill>
                  <a:srgbClr val="C88836"/>
                </a:solidFill>
                <a:latin typeface="Calibri"/>
              </a:rPr>
              <a:t>DECODER</a:t>
            </a:r>
          </a:p>
          <a:p>
            <a:pPr algn="ctr"/>
            <a:r>
              <a:rPr sz="1600" b="1" i="0">
                <a:solidFill>
                  <a:srgbClr val="1B334A"/>
                </a:solidFill>
                <a:latin typeface="Calibri"/>
              </a:rPr>
              <a:t>LSTM</a:t>
            </a:r>
          </a:p>
          <a:p>
            <a:pPr algn="ctr"/>
            <a:r>
              <a:rPr sz="1600" b="1" i="0">
                <a:solidFill>
                  <a:srgbClr val="1B334A"/>
                </a:solidFill>
                <a:latin typeface="Calibri"/>
              </a:rPr>
              <a:t>from scratch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148840"/>
            <a:ext cx="3291840" cy="45653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800" b="1" i="0">
                <a:solidFill>
                  <a:srgbClr val="3D7068"/>
                </a:solidFill>
                <a:latin typeface="Georgia"/>
              </a:rPr>
              <a:t>m3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651760"/>
            <a:ext cx="3291840" cy="10515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ectangle 17"/>
          <p:cNvSpPr/>
          <p:nvPr/>
        </p:nvSpPr>
        <p:spPr>
          <a:xfrm>
            <a:off x="4663440" y="2651760"/>
            <a:ext cx="3291840" cy="914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4800600" y="2833856"/>
            <a:ext cx="3017520" cy="687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00" b="1" i="0" spc="150">
                <a:solidFill>
                  <a:srgbClr val="2C5F8A"/>
                </a:solidFill>
                <a:latin typeface="Calibri"/>
              </a:rPr>
              <a:t>ENCODER</a:t>
            </a:r>
          </a:p>
          <a:p>
            <a:pPr algn="ctr"/>
            <a:r>
              <a:rPr sz="1600" b="1" i="0">
                <a:solidFill>
                  <a:srgbClr val="1B334A"/>
                </a:solidFill>
                <a:latin typeface="Calibri"/>
              </a:rPr>
              <a:t>ViT-B/16</a:t>
            </a:r>
          </a:p>
          <a:p>
            <a:pPr algn="ctr"/>
            <a:r>
              <a:rPr sz="1600" b="1" i="0">
                <a:solidFill>
                  <a:srgbClr val="1B334A"/>
                </a:solidFill>
                <a:latin typeface="Calibri"/>
              </a:rPr>
              <a:t>(frozen)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0" y="3749040"/>
            <a:ext cx="0" cy="274319"/>
          </a:xfrm>
          <a:prstGeom prst="bentConnector3">
            <a:avLst/>
          </a:prstGeom>
          <a:ln w="2540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663440" y="4069080"/>
            <a:ext cx="3291840" cy="10515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/>
        </p:nvSpPr>
        <p:spPr>
          <a:xfrm>
            <a:off x="4663440" y="4069080"/>
            <a:ext cx="329184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4800600" y="4251176"/>
            <a:ext cx="3017520" cy="687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00" b="1" i="0" spc="150">
                <a:solidFill>
                  <a:srgbClr val="C88836"/>
                </a:solidFill>
                <a:latin typeface="Calibri"/>
              </a:rPr>
              <a:t>DECODER</a:t>
            </a:r>
          </a:p>
          <a:p>
            <a:pPr algn="ctr"/>
            <a:r>
              <a:rPr sz="1600" b="1" i="0">
                <a:solidFill>
                  <a:srgbClr val="1B334A"/>
                </a:solidFill>
                <a:latin typeface="Calibri"/>
              </a:rPr>
              <a:t>Transformer</a:t>
            </a:r>
          </a:p>
          <a:p>
            <a:pPr algn="ctr"/>
            <a:r>
              <a:rPr sz="1600" b="1" i="0">
                <a:solidFill>
                  <a:srgbClr val="1B334A"/>
                </a:solidFill>
                <a:latin typeface="Calibri"/>
              </a:rPr>
              <a:t>from scratch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148840"/>
            <a:ext cx="3291840" cy="45653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800" b="1" i="0" dirty="0">
                <a:solidFill>
                  <a:srgbClr val="8A5082"/>
                </a:solidFill>
                <a:latin typeface="Georgia"/>
              </a:rPr>
              <a:t>m6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2651760"/>
            <a:ext cx="3291840" cy="10515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Rectangle 25"/>
          <p:cNvSpPr/>
          <p:nvPr/>
        </p:nvSpPr>
        <p:spPr>
          <a:xfrm>
            <a:off x="8458200" y="2651760"/>
            <a:ext cx="3291840" cy="914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8595360" y="2833856"/>
            <a:ext cx="3017520" cy="687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00" b="1" i="0" spc="150">
                <a:solidFill>
                  <a:srgbClr val="2C5F8A"/>
                </a:solidFill>
                <a:latin typeface="Calibri"/>
              </a:rPr>
              <a:t>ENCODER</a:t>
            </a:r>
          </a:p>
          <a:p>
            <a:pPr algn="ctr"/>
            <a:r>
              <a:rPr sz="1600" b="1" i="0">
                <a:solidFill>
                  <a:srgbClr val="1B334A"/>
                </a:solidFill>
                <a:latin typeface="Calibri"/>
              </a:rPr>
              <a:t>ViT-B/16</a:t>
            </a:r>
          </a:p>
          <a:p>
            <a:pPr algn="ctr"/>
            <a:r>
              <a:rPr sz="1600" b="1" i="0">
                <a:solidFill>
                  <a:srgbClr val="1B334A"/>
                </a:solidFill>
                <a:latin typeface="Calibri"/>
              </a:rPr>
              <a:t>(frozen)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0" y="3749040"/>
            <a:ext cx="0" cy="274319"/>
          </a:xfrm>
          <a:prstGeom prst="bentConnector3">
            <a:avLst/>
          </a:prstGeom>
          <a:ln w="25400">
            <a:solidFill>
              <a:srgbClr val="8A8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458200" y="4069080"/>
            <a:ext cx="3291840" cy="10515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Rectangle 29"/>
          <p:cNvSpPr/>
          <p:nvPr/>
        </p:nvSpPr>
        <p:spPr>
          <a:xfrm>
            <a:off x="8458200" y="4069080"/>
            <a:ext cx="329184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8595360" y="4251176"/>
            <a:ext cx="3017520" cy="687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00" b="1" i="0" spc="150">
                <a:solidFill>
                  <a:srgbClr val="C88836"/>
                </a:solidFill>
                <a:latin typeface="Calibri"/>
              </a:rPr>
              <a:t>DECODER</a:t>
            </a:r>
          </a:p>
          <a:p>
            <a:pPr algn="ctr"/>
            <a:r>
              <a:rPr sz="1600" b="1" i="0">
                <a:solidFill>
                  <a:srgbClr val="1B334A"/>
                </a:solidFill>
                <a:latin typeface="Calibri"/>
              </a:rPr>
              <a:t>GePpeTto</a:t>
            </a:r>
          </a:p>
          <a:p>
            <a:pPr algn="ctr"/>
            <a:r>
              <a:rPr sz="1600" b="1" i="0">
                <a:solidFill>
                  <a:srgbClr val="1B334A"/>
                </a:solidFill>
                <a:latin typeface="Calibri"/>
              </a:rPr>
              <a:t>pretrained Italian GPT-2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303520"/>
            <a:ext cx="740664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1" i="0">
                <a:solidFill>
                  <a:srgbClr val="C1492E"/>
                </a:solidFill>
                <a:latin typeface="Calibri"/>
              </a:rPr>
              <a:t>↔ m1 vs m3 isolates the ENCODER        ↔ m3 vs m6 isolates the DECODER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715000"/>
            <a:ext cx="105156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 i="1">
                <a:solidFill>
                  <a:srgbClr val="2B2A26"/>
                </a:solidFill>
                <a:latin typeface="Calibri"/>
              </a:rPr>
              <a:t>All encoders are frozen: only decoder and cross-attention projection are trained → fair comparison.</a:t>
            </a:r>
          </a:p>
        </p:txBody>
      </p:sp>
    </p:spTree>
    <p:extLst>
      <p:ext uri="{BB962C8B-B14F-4D97-AF65-F5344CB8AC3E}">
        <p14:creationId xmlns:p14="http://schemas.microsoft.com/office/powerpoint/2010/main" val="205977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EXPERIMENTAL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Training on Kaggle, fair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6949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6200" anchor="ctr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 marL="76200" anchor="ctr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 marL="76200" anchor="ctr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marL="76200" anchor="ctr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scheduler</a:t>
                      </a:r>
                    </a:p>
                  </a:txBody>
                  <a:tcPr marL="76200" anchor="ctr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patience</a:t>
                      </a:r>
                    </a:p>
                  </a:txBody>
                  <a:tcPr marL="76200" anchor="ctr">
                    <a:solidFill>
                      <a:srgbClr val="1B3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B2A26"/>
                          </a:solidFill>
                          <a:latin typeface="Calibri"/>
                        </a:rPr>
                        <a:t>m1 · CNN+LSTM</a:t>
                      </a:r>
                    </a:p>
                  </a:txBody>
                  <a:tcPr marL="762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62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62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3e-4</a:t>
                      </a:r>
                    </a:p>
                  </a:txBody>
                  <a:tcPr marL="762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StepLR</a:t>
                      </a:r>
                    </a:p>
                  </a:txBody>
                  <a:tcPr marL="762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6200" anchor="ctr"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B2A26"/>
                          </a:solidFill>
                          <a:latin typeface="Calibri"/>
                        </a:rPr>
                        <a:t>m3 · ViT+Transf.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cosine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B2A26"/>
                          </a:solidFill>
                          <a:latin typeface="Calibri"/>
                        </a:rPr>
                        <a:t>m6 · ViT+GePpeTto</a:t>
                      </a:r>
                    </a:p>
                  </a:txBody>
                  <a:tcPr marL="762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62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62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5e-5</a:t>
                      </a:r>
                    </a:p>
                  </a:txBody>
                  <a:tcPr marL="762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cosine</a:t>
                      </a:r>
                    </a:p>
                  </a:txBody>
                  <a:tcPr marL="762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B2A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anchor="ctr"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069080"/>
            <a:ext cx="6949440" cy="178308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4069080"/>
            <a:ext cx="82296" cy="178308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4215384"/>
            <a:ext cx="6528816" cy="117981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000" b="1" i="0" dirty="0">
                <a:solidFill>
                  <a:srgbClr val="1B334A"/>
                </a:solidFill>
                <a:latin typeface="Georgia"/>
              </a:rPr>
              <a:t>Fair-evaluation choices</a:t>
            </a:r>
          </a:p>
          <a:p>
            <a:pPr>
              <a:spcBef>
                <a:spcPts val="400"/>
              </a:spcBef>
            </a:pPr>
            <a:r>
              <a:rPr sz="15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500" b="1" i="0" dirty="0">
                <a:solidFill>
                  <a:srgbClr val="2B2A26"/>
                </a:solidFill>
                <a:latin typeface="Calibri"/>
              </a:rPr>
              <a:t>Sample-disjoint split:</a:t>
            </a:r>
            <a:r>
              <a:rPr sz="1500" b="0" i="0" dirty="0">
                <a:solidFill>
                  <a:srgbClr val="2B2A26"/>
                </a:solidFill>
                <a:latin typeface="Calibri"/>
              </a:rPr>
              <a:t> 674 train / 143 </a:t>
            </a:r>
            <a:r>
              <a:rPr sz="1500" b="0" i="0" dirty="0" err="1">
                <a:solidFill>
                  <a:srgbClr val="2B2A26"/>
                </a:solidFill>
                <a:latin typeface="Calibri"/>
              </a:rPr>
              <a:t>val</a:t>
            </a:r>
            <a:r>
              <a:rPr sz="1500" b="0" i="0" dirty="0">
                <a:solidFill>
                  <a:srgbClr val="2B2A26"/>
                </a:solidFill>
                <a:latin typeface="Calibri"/>
              </a:rPr>
              <a:t> / 147 test</a:t>
            </a:r>
            <a:r>
              <a:rPr lang="it-IT" sz="1500" b="0" i="0" dirty="0">
                <a:solidFill>
                  <a:srgbClr val="2B2A26"/>
                </a:solidFill>
                <a:latin typeface="Calibri"/>
              </a:rPr>
              <a:t>,</a:t>
            </a:r>
            <a:r>
              <a:rPr sz="1500" b="0" i="0" dirty="0">
                <a:solidFill>
                  <a:srgbClr val="2B2A26"/>
                </a:solidFill>
                <a:latin typeface="Calibri"/>
              </a:rPr>
              <a:t> no leak</a:t>
            </a:r>
          </a:p>
          <a:p>
            <a:pPr>
              <a:spcBef>
                <a:spcPts val="400"/>
              </a:spcBef>
            </a:pPr>
            <a:r>
              <a:rPr sz="15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500" b="1" i="0" dirty="0">
                <a:solidFill>
                  <a:srgbClr val="2B2A26"/>
                </a:solidFill>
                <a:latin typeface="Calibri"/>
              </a:rPr>
              <a:t>Nucleus sampling</a:t>
            </a:r>
            <a:r>
              <a:rPr sz="1500" b="0" i="0" dirty="0">
                <a:solidFill>
                  <a:srgbClr val="2B2A26"/>
                </a:solidFill>
                <a:latin typeface="Calibri"/>
              </a:rPr>
              <a:t> (top-p 0.9, T 0.7): beam collapses to the modal caption</a:t>
            </a:r>
          </a:p>
          <a:p>
            <a:pPr>
              <a:spcBef>
                <a:spcPts val="400"/>
              </a:spcBef>
            </a:pPr>
            <a:r>
              <a:rPr sz="15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500" b="0" i="0" dirty="0">
                <a:solidFill>
                  <a:srgbClr val="2B2A26"/>
                </a:solidFill>
                <a:latin typeface="Calibri"/>
              </a:rPr>
              <a:t>Healthy curves: no overfitting, </a:t>
            </a:r>
            <a:r>
              <a:rPr sz="1500" b="0" i="0" dirty="0" err="1">
                <a:solidFill>
                  <a:srgbClr val="2B2A26"/>
                </a:solidFill>
                <a:latin typeface="Calibri"/>
              </a:rPr>
              <a:t>NaN</a:t>
            </a:r>
            <a:r>
              <a:rPr sz="1500" b="0" i="0" dirty="0">
                <a:solidFill>
                  <a:srgbClr val="2B2A26"/>
                </a:solidFill>
                <a:latin typeface="Calibri"/>
              </a:rPr>
              <a:t> or collapse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920240"/>
            <a:ext cx="3840480" cy="3931920"/>
          </a:xfrm>
          <a:prstGeom prst="roundRect">
            <a:avLst/>
          </a:prstGeom>
          <a:solidFill>
            <a:srgbClr val="1B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26679" y="1920240"/>
            <a:ext cx="82296" cy="393192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82711" y="2066544"/>
            <a:ext cx="3419856" cy="261097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E0A458"/>
                </a:solidFill>
                <a:latin typeface="Georgia"/>
              </a:rPr>
              <a:t>Kaggle lesson</a:t>
            </a:r>
          </a:p>
          <a:p>
            <a:r>
              <a:rPr sz="1600" b="0" i="0" dirty="0">
                <a:solidFill>
                  <a:srgbClr val="F7F1E3"/>
                </a:solidFill>
                <a:latin typeface="Calibri"/>
              </a:rPr>
              <a:t>The </a:t>
            </a:r>
            <a:r>
              <a:rPr sz="1600" b="0" i="0" dirty="0" err="1">
                <a:solidFill>
                  <a:srgbClr val="F7F1E3"/>
                </a:solidFill>
                <a:latin typeface="Calibri"/>
              </a:rPr>
              <a:t>enable_gpu</a:t>
            </a:r>
            <a:r>
              <a:rPr sz="1600" b="0" i="0" dirty="0">
                <a:solidFill>
                  <a:srgbClr val="F7F1E3"/>
                </a:solidFill>
                <a:latin typeface="Calibri"/>
              </a:rPr>
              <a:t> flag in the metadata does NOT actually enable the GPU: it must be turned on manually.
The free tier tends to the P100 (sm_60): the preinstalled </a:t>
            </a:r>
            <a:r>
              <a:rPr sz="1600" b="0" i="0" dirty="0" err="1">
                <a:solidFill>
                  <a:srgbClr val="F7F1E3"/>
                </a:solidFill>
                <a:latin typeface="Calibri"/>
              </a:rPr>
              <a:t>PyTorch</a:t>
            </a:r>
            <a:r>
              <a:rPr sz="1600" b="0" i="0" dirty="0">
                <a:solidFill>
                  <a:srgbClr val="F7F1E3"/>
                </a:solidFill>
                <a:latin typeface="Calibri"/>
              </a:rPr>
              <a:t> must be reinstalled from a cu118 wheel.
All training: free T4 / P100 GPU.</a:t>
            </a:r>
          </a:p>
        </p:txBody>
      </p:sp>
    </p:spTree>
    <p:extLst>
      <p:ext uri="{BB962C8B-B14F-4D97-AF65-F5344CB8AC3E}">
        <p14:creationId xmlns:p14="http://schemas.microsoft.com/office/powerpoint/2010/main" val="1593879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RESULTS · PER-ATTRIBUTE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1328144" cy="51809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200" b="1" i="0" dirty="0">
                <a:solidFill>
                  <a:srgbClr val="1B334A"/>
                </a:solidFill>
                <a:latin typeface="Georgia"/>
              </a:rPr>
              <a:t>BLEU-4: models win where captions are diverse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bleu_at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54228"/>
            <a:ext cx="7406640" cy="35553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2011680"/>
            <a:ext cx="3337560" cy="374903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0" y="2011680"/>
            <a:ext cx="82296" cy="3749039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85632" y="2157984"/>
            <a:ext cx="2916936" cy="28161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Reading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Win: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Structure (+0.128), Smell, Texture, </a:t>
            </a:r>
            <a:r>
              <a:rPr sz="1600" b="0" i="0" dirty="0" err="1">
                <a:solidFill>
                  <a:srgbClr val="2B2A26"/>
                </a:solidFill>
                <a:latin typeface="Calibri"/>
              </a:rPr>
              <a:t>Colour</a:t>
            </a:r>
            <a:endParaRPr sz="1600" b="0" i="0" dirty="0">
              <a:solidFill>
                <a:srgbClr val="2B2A26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Tie/lose: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Aroma, Taste, Thickness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Not from weakness: BLEU rewards the modal predictor on low-diversity captions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4 / 7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attributes beat the constant baseline</a:t>
            </a:r>
          </a:p>
        </p:txBody>
      </p:sp>
    </p:spTree>
    <p:extLst>
      <p:ext uri="{BB962C8B-B14F-4D97-AF65-F5344CB8AC3E}">
        <p14:creationId xmlns:p14="http://schemas.microsoft.com/office/powerpoint/2010/main" val="40593239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RESULTS · GLOBAL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A single model across all attributes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920240"/>
          <a:ext cx="7589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66760" y="2011680"/>
            <a:ext cx="3200400" cy="374903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66760" y="2011680"/>
            <a:ext cx="82296" cy="3749039"/>
          </a:xfrm>
          <a:prstGeom prst="rect">
            <a:avLst/>
          </a:prstGeom>
          <a:solidFill>
            <a:srgbClr val="8A5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22792" y="2157984"/>
            <a:ext cx="2779776" cy="293926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m6 wins narrowly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8A5082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m6 first on BLEU-1/4, ROUGE-L, METEOR≈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8A5082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m3 first on </a:t>
            </a:r>
            <a:r>
              <a:rPr sz="1600" b="0" i="0" dirty="0" err="1">
                <a:solidFill>
                  <a:srgbClr val="2B2A26"/>
                </a:solidFill>
                <a:latin typeface="Calibri"/>
              </a:rPr>
              <a:t>CIDEr</a:t>
            </a:r>
            <a:endParaRPr sz="1600" b="0" i="0" dirty="0">
              <a:solidFill>
                <a:srgbClr val="2B2A26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8A5082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0.007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BLEU-4 spread: a very tight cluster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8A5082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⚠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2B2A26"/>
                </a:solidFill>
                <a:latin typeface="Calibri"/>
              </a:rPr>
              <a:t>most_frequent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has the highest BLEU-1 but worst BLEU-4: degenerate</a:t>
            </a:r>
          </a:p>
        </p:txBody>
      </p:sp>
    </p:spTree>
    <p:extLst>
      <p:ext uri="{BB962C8B-B14F-4D97-AF65-F5344CB8AC3E}">
        <p14:creationId xmlns:p14="http://schemas.microsoft.com/office/powerpoint/2010/main" val="3648157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MIND THE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Per-attribute vs global: two different rulers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perattr_vs_glob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15245"/>
            <a:ext cx="6949440" cy="32333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0" y="2011680"/>
            <a:ext cx="3794760" cy="374903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0" y="2011680"/>
            <a:ext cx="82296" cy="3749039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28432" y="2157984"/>
            <a:ext cx="3374136" cy="28674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Why the 3–4× jump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Does NOT mean per-attribute models learn better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Per-attribute evaluation runs on a narrower distribution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~80</a:t>
            </a:r>
            <a:r>
              <a:rPr lang="it-IT" sz="1600" b="1" i="0" dirty="0">
                <a:solidFill>
                  <a:srgbClr val="2B2A26"/>
                </a:solidFill>
                <a:latin typeface="Calibri"/>
              </a:rPr>
              <a:t>-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140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vocabulary words vs ~600+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Shared scaffolding: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~5 words of constant 4-gram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→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they measure performance on different distributions</a:t>
            </a:r>
          </a:p>
        </p:txBody>
      </p:sp>
    </p:spTree>
    <p:extLst>
      <p:ext uri="{BB962C8B-B14F-4D97-AF65-F5344CB8AC3E}">
        <p14:creationId xmlns:p14="http://schemas.microsoft.com/office/powerpoint/2010/main" val="4045368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 dirty="0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THE KEY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1809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200" b="1" i="0" dirty="0">
                <a:solidFill>
                  <a:srgbClr val="1B334A"/>
                </a:solidFill>
                <a:latin typeface="Georgia"/>
              </a:rPr>
              <a:t>The shuffle test: does the model use the image?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shuff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52" y="1920240"/>
            <a:ext cx="4806495" cy="4023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920240"/>
            <a:ext cx="5577840" cy="187451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89320" y="1920240"/>
            <a:ext cx="82296" cy="1874519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45352" y="2066544"/>
            <a:ext cx="5157216" cy="13798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How it works</a:t>
            </a:r>
          </a:p>
          <a:p>
            <a:r>
              <a:rPr sz="1600" b="0" i="0" dirty="0">
                <a:solidFill>
                  <a:srgbClr val="2B2A26"/>
                </a:solidFill>
                <a:latin typeface="Calibri"/>
              </a:rPr>
              <a:t>Predictions are shuffled across test rows, breaking the prediction</a:t>
            </a:r>
            <a:r>
              <a:rPr lang="it-IT" sz="1600" b="0" i="0" dirty="0">
                <a:solidFill>
                  <a:srgbClr val="2B2A26"/>
                </a:solidFill>
                <a:latin typeface="Calibri"/>
              </a:rPr>
              <a:t>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↔</a:t>
            </a:r>
            <a:r>
              <a:rPr lang="it-IT" sz="1600" b="0" i="0" dirty="0">
                <a:solidFill>
                  <a:srgbClr val="2B2A26"/>
                </a:solidFill>
                <a:latin typeface="Calibri"/>
              </a:rPr>
              <a:t>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image alignment. </a:t>
            </a:r>
            <a:endParaRPr lang="it-IT" sz="1600" b="0" i="0" dirty="0">
              <a:solidFill>
                <a:srgbClr val="2B2A26"/>
              </a:solidFill>
              <a:latin typeface="Calibri"/>
            </a:endParaRPr>
          </a:p>
          <a:p>
            <a:r>
              <a:rPr sz="1600" b="0" i="0" dirty="0">
                <a:solidFill>
                  <a:srgbClr val="2B2A26"/>
                </a:solidFill>
                <a:latin typeface="Calibri"/>
              </a:rPr>
              <a:t>Recompute 100 times → null distribution → z-score. z &gt; 3 ⟺ p &lt; 0.001: strong evidence of image-conditioning.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931920"/>
            <a:ext cx="5577840" cy="2194560"/>
          </a:xfrm>
          <a:prstGeom prst="roundRect">
            <a:avLst/>
          </a:prstGeom>
          <a:solidFill>
            <a:srgbClr val="1B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89320" y="3931920"/>
            <a:ext cx="82296" cy="2194560"/>
          </a:xfrm>
          <a:prstGeom prst="rect">
            <a:avLst/>
          </a:prstGeom>
          <a:solidFill>
            <a:srgbClr val="C14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5352" y="4078224"/>
            <a:ext cx="5157216" cy="158504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E0A458"/>
                </a:solidFill>
                <a:latin typeface="Georgia"/>
              </a:rPr>
              <a:t>What it says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C1492E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F7F1E3"/>
                </a:solidFill>
                <a:latin typeface="Calibri"/>
              </a:rPr>
              <a:t>m1 (</a:t>
            </a:r>
            <a:r>
              <a:rPr sz="1600" b="1" i="0" dirty="0" err="1">
                <a:solidFill>
                  <a:srgbClr val="F7F1E3"/>
                </a:solidFill>
                <a:latin typeface="Calibri"/>
              </a:rPr>
              <a:t>ResNet</a:t>
            </a:r>
            <a:r>
              <a:rPr sz="1600" b="1" i="0" dirty="0">
                <a:solidFill>
                  <a:srgbClr val="F7F1E3"/>
                </a:solidFill>
                <a:latin typeface="Calibri"/>
              </a:rPr>
              <a:t>):</a:t>
            </a:r>
            <a:r>
              <a:rPr sz="1600" b="0" i="0" dirty="0">
                <a:solidFill>
                  <a:srgbClr val="D9D2C2"/>
                </a:solidFill>
                <a:latin typeface="Calibri"/>
              </a:rPr>
              <a:t> z≈0 everywhere → pure language model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C1492E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F7F1E3"/>
                </a:solidFill>
                <a:latin typeface="Calibri"/>
              </a:rPr>
              <a:t>m3 / m6 (</a:t>
            </a:r>
            <a:r>
              <a:rPr sz="1600" b="1" i="0" dirty="0" err="1">
                <a:solidFill>
                  <a:srgbClr val="F7F1E3"/>
                </a:solidFill>
                <a:latin typeface="Calibri"/>
              </a:rPr>
              <a:t>ViT</a:t>
            </a:r>
            <a:r>
              <a:rPr sz="1600" b="1" i="0" dirty="0">
                <a:solidFill>
                  <a:srgbClr val="F7F1E3"/>
                </a:solidFill>
                <a:latin typeface="Calibri"/>
              </a:rPr>
              <a:t>):</a:t>
            </a:r>
            <a:r>
              <a:rPr sz="1600" b="0" i="0" dirty="0">
                <a:solidFill>
                  <a:srgbClr val="D9D2C2"/>
                </a:solidFill>
                <a:latin typeface="Calibri"/>
              </a:rPr>
              <a:t> use the image on 4/7 attributes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C1492E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F7F1E3"/>
                </a:solidFill>
                <a:latin typeface="Calibri"/>
              </a:rPr>
              <a:t>Smell, Thickness, </a:t>
            </a:r>
            <a:r>
              <a:rPr sz="1600" b="1" i="0" dirty="0" err="1">
                <a:solidFill>
                  <a:srgbClr val="F7F1E3"/>
                </a:solidFill>
                <a:latin typeface="Calibri"/>
              </a:rPr>
              <a:t>Colour</a:t>
            </a:r>
            <a:r>
              <a:rPr sz="1600" b="1" i="0" dirty="0">
                <a:solidFill>
                  <a:srgbClr val="F7F1E3"/>
                </a:solidFill>
                <a:latin typeface="Calibri"/>
              </a:rPr>
              <a:t>, Structure</a:t>
            </a:r>
            <a:r>
              <a:rPr sz="1600" b="0" i="0" dirty="0">
                <a:solidFill>
                  <a:srgbClr val="D9D2C2"/>
                </a:solidFill>
                <a:latin typeface="Calibri"/>
              </a:rPr>
              <a:t> → succeed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C1492E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F7F1E3"/>
                </a:solidFill>
                <a:latin typeface="Calibri"/>
              </a:rPr>
              <a:t>Aroma</a:t>
            </a:r>
            <a:r>
              <a:rPr sz="1600" b="0" i="0" dirty="0">
                <a:solidFill>
                  <a:srgbClr val="D9D2C2"/>
                </a:solidFill>
                <a:latin typeface="Calibri"/>
              </a:rPr>
              <a:t> → no model uses the image</a:t>
            </a:r>
          </a:p>
        </p:txBody>
      </p:sp>
    </p:spTree>
    <p:extLst>
      <p:ext uri="{BB962C8B-B14F-4D97-AF65-F5344CB8AC3E}">
        <p14:creationId xmlns:p14="http://schemas.microsoft.com/office/powerpoint/2010/main" val="11889265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THE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The encoder matters, not the decoder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5394960" cy="320040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82296" cy="3200400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57984"/>
            <a:ext cx="4974336" cy="199541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m1 vs m3</a:t>
            </a:r>
            <a:r>
              <a:rPr lang="it-IT" sz="2400" b="1" i="0" dirty="0">
                <a:solidFill>
                  <a:srgbClr val="1B334A"/>
                </a:solidFill>
                <a:latin typeface="Georgia"/>
              </a:rPr>
              <a:t>:</a:t>
            </a:r>
            <a:r>
              <a:rPr sz="2400" b="1" i="0" dirty="0">
                <a:solidFill>
                  <a:srgbClr val="1B334A"/>
                </a:solidFill>
                <a:latin typeface="Georgia"/>
              </a:rPr>
              <a:t> isolates the encoder</a:t>
            </a:r>
            <a:endParaRPr lang="it-IT" sz="2400" b="1" i="0" dirty="0">
              <a:solidFill>
                <a:srgbClr val="1B334A"/>
              </a:solidFill>
              <a:latin typeface="Georgia"/>
            </a:endParaRPr>
          </a:p>
          <a:p>
            <a:endParaRPr sz="2400" b="1" i="0" dirty="0">
              <a:solidFill>
                <a:srgbClr val="1B334A"/>
              </a:solidFill>
              <a:latin typeface="Georgia"/>
            </a:endParaRPr>
          </a:p>
          <a:p>
            <a:r>
              <a:rPr sz="1600" b="0" i="0" dirty="0">
                <a:solidFill>
                  <a:srgbClr val="2B2A26"/>
                </a:solidFill>
                <a:latin typeface="Calibri"/>
              </a:rPr>
              <a:t>m1 (</a:t>
            </a:r>
            <a:r>
              <a:rPr sz="1600" b="0" i="0" dirty="0" err="1">
                <a:solidFill>
                  <a:srgbClr val="2B2A26"/>
                </a:solidFill>
                <a:latin typeface="Calibri"/>
              </a:rPr>
              <a:t>ResNet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) NEVER conditions on the image.
m3 (</a:t>
            </a:r>
            <a:r>
              <a:rPr sz="1600" b="0" i="0" dirty="0" err="1">
                <a:solidFill>
                  <a:srgbClr val="2B2A26"/>
                </a:solidFill>
                <a:latin typeface="Calibri"/>
              </a:rPr>
              <a:t>ViT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) does on most attributes.</a:t>
            </a:r>
            <a:endParaRPr lang="it-IT" sz="1600" b="0" i="0" dirty="0">
              <a:solidFill>
                <a:srgbClr val="2B2A26"/>
              </a:solidFill>
              <a:latin typeface="Calibri"/>
            </a:endParaRPr>
          </a:p>
          <a:p>
            <a:r>
              <a:rPr sz="1600" b="0" i="0" dirty="0">
                <a:solidFill>
                  <a:srgbClr val="2B2A26"/>
                </a:solidFill>
                <a:latin typeface="Calibri"/>
              </a:rPr>
              <a:t>
→ A frozen ResNet-50's features aren't enough at this data scale; a frozen </a:t>
            </a:r>
            <a:r>
              <a:rPr sz="1600" b="0" i="0" dirty="0" err="1">
                <a:solidFill>
                  <a:srgbClr val="2B2A26"/>
                </a:solidFill>
                <a:latin typeface="Calibri"/>
              </a:rPr>
              <a:t>ViT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-B/16's 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11680"/>
            <a:ext cx="5394960" cy="320040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2011680"/>
            <a:ext cx="82296" cy="3200400"/>
          </a:xfrm>
          <a:prstGeom prst="rect">
            <a:avLst/>
          </a:prstGeom>
          <a:solidFill>
            <a:srgbClr val="8A5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2157984"/>
            <a:ext cx="4974336" cy="184153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m3 vs m6</a:t>
            </a:r>
            <a:r>
              <a:rPr lang="it-IT" sz="2400" b="1" i="0" dirty="0">
                <a:solidFill>
                  <a:srgbClr val="1B334A"/>
                </a:solidFill>
                <a:latin typeface="Georgia"/>
              </a:rPr>
              <a:t>:</a:t>
            </a:r>
            <a:r>
              <a:rPr sz="2400" b="1" i="0" dirty="0">
                <a:solidFill>
                  <a:srgbClr val="1B334A"/>
                </a:solidFill>
                <a:latin typeface="Georgia"/>
              </a:rPr>
              <a:t> isolates the decoder</a:t>
            </a:r>
            <a:endParaRPr lang="it-IT" sz="2400" b="1" i="0" dirty="0">
              <a:solidFill>
                <a:srgbClr val="1B334A"/>
              </a:solidFill>
              <a:latin typeface="Georgia"/>
            </a:endParaRPr>
          </a:p>
          <a:p>
            <a:endParaRPr sz="2400" b="1" i="0" dirty="0">
              <a:solidFill>
                <a:srgbClr val="1B334A"/>
              </a:solidFill>
              <a:latin typeface="Georgia"/>
            </a:endParaRPr>
          </a:p>
          <a:p>
            <a:r>
              <a:rPr sz="1400" b="0" i="0" dirty="0">
                <a:solidFill>
                  <a:srgbClr val="2B2A26"/>
                </a:solidFill>
                <a:latin typeface="Calibri"/>
              </a:rPr>
              <a:t>They produce different outputs (never the same caption), but have the SAME image-conditioning profile: the same attributes succeed, the same fail.
→ The decoder changes the style, not whether the image is used.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94960"/>
            <a:ext cx="10927080" cy="685800"/>
          </a:xfrm>
          <a:prstGeom prst="roundRect">
            <a:avLst/>
          </a:prstGeom>
          <a:solidFill>
            <a:srgbClr val="1B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448038"/>
            <a:ext cx="10515600" cy="57964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b="1" i="0" dirty="0">
                <a:solidFill>
                  <a:srgbClr val="E0A458"/>
                </a:solidFill>
                <a:latin typeface="Calibri"/>
              </a:rPr>
              <a:t>The «binary gate» of image-conditioning is the visual encoder — not the decoder, not data scale, not hyperparameters.</a:t>
            </a:r>
          </a:p>
        </p:txBody>
      </p:sp>
    </p:spTree>
    <p:extLst>
      <p:ext uri="{BB962C8B-B14F-4D97-AF65-F5344CB8AC3E}">
        <p14:creationId xmlns:p14="http://schemas.microsoft.com/office/powerpoint/2010/main" val="2564263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HONEST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Beyond BLEU: seven complementary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109270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7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1600" anchor="ctr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 marL="101600" anchor="ctr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101600" anchor="ctr">
                    <a:solidFill>
                      <a:srgbClr val="1B3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B2A26"/>
                          </a:solidFill>
                          <a:latin typeface="Calibri"/>
                        </a:rPr>
                        <a:t>BLEU-1/4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n-gram precision (words / exact phrasing)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B2A26"/>
                          </a:solidFill>
                          <a:latin typeface="Calibri"/>
                        </a:rPr>
                        <a:t>METEOR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overlap with stemming and synonyms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B2A26"/>
                          </a:solidFill>
                          <a:latin typeface="Calibri"/>
                        </a:rPr>
                        <a:t>ROUGE-L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longest common subsequence (order)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B2A26"/>
                          </a:solidFill>
                          <a:latin typeface="Calibri"/>
                        </a:rPr>
                        <a:t>CIDEr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TF-IDF weighted n-grams: rewards rare salient terms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B2A26"/>
                          </a:solidFill>
                          <a:latin typeface="Calibri"/>
                        </a:rPr>
                        <a:t>BERTScore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semantic similarity via embeddings (BERT it)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semantic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B2A26"/>
                          </a:solidFill>
                          <a:latin typeface="Calibri"/>
                        </a:rPr>
                        <a:t>Vocab. conformity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% words in the attested sensory lexicon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C88836"/>
                          </a:solidFill>
                          <a:latin typeface="Calibri"/>
                        </a:rPr>
                        <a:t>CLIPScore</a:t>
                      </a:r>
                    </a:p>
                  </a:txBody>
                  <a:tcPr marL="101600" anchor="ctr">
                    <a:solidFill>
                      <a:srgbClr val="ECE3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C88836"/>
                          </a:solidFill>
                          <a:latin typeface="Calibri"/>
                        </a:rPr>
                        <a:t>caption–image appropriateness (CLIP cosine)</a:t>
                      </a:r>
                    </a:p>
                  </a:txBody>
                  <a:tcPr marL="101600" anchor="ctr">
                    <a:solidFill>
                      <a:srgbClr val="EC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>
                          <a:solidFill>
                            <a:srgbClr val="C88836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marL="101600" anchor="ctr">
                    <a:solidFill>
                      <a:srgbClr val="ECE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2244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CIDER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Discriminates where BLEU flattens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920240"/>
          <a:ext cx="704088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0" y="2011680"/>
            <a:ext cx="3794760" cy="3749039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0" y="2011680"/>
            <a:ext cx="82296" cy="3749039"/>
          </a:xfrm>
          <a:prstGeom prst="rect">
            <a:avLst/>
          </a:prstGeom>
          <a:solidFill>
            <a:srgbClr val="8A5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28432" y="2157984"/>
            <a:ext cx="3374136" cy="256993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1B334A"/>
                </a:solidFill>
                <a:latin typeface="Georgia"/>
              </a:rPr>
              <a:t>Reading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8A5082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Orders the models: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random &lt; </a:t>
            </a:r>
            <a:r>
              <a:rPr sz="1600" b="0" i="0" dirty="0" err="1">
                <a:solidFill>
                  <a:srgbClr val="2B2A26"/>
                </a:solidFill>
                <a:latin typeface="Calibri"/>
              </a:rPr>
              <a:t>freq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&lt; m1 &lt; m3 &lt; m6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8A5082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Trained models clearly beat the random baselines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8A5082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m6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is the best among the models</a:t>
            </a:r>
          </a:p>
          <a:p>
            <a:pPr>
              <a:spcBef>
                <a:spcPts val="400"/>
              </a:spcBef>
            </a:pPr>
            <a:r>
              <a:rPr sz="1600" b="1" i="0" dirty="0">
                <a:solidFill>
                  <a:srgbClr val="8A5082"/>
                </a:solidFill>
                <a:latin typeface="Calibri"/>
              </a:rPr>
              <a:t>● </a:t>
            </a:r>
            <a:r>
              <a:rPr sz="1600" b="1" i="0" dirty="0" err="1">
                <a:solidFill>
                  <a:srgbClr val="2B2A26"/>
                </a:solidFill>
                <a:latin typeface="Calibri"/>
              </a:rPr>
              <a:t>most_frequent</a:t>
            </a:r>
            <a:r>
              <a:rPr sz="1600" b="1" i="0" dirty="0">
                <a:solidFill>
                  <a:srgbClr val="2B2A26"/>
                </a:solidFill>
                <a:latin typeface="Calibri"/>
              </a:rPr>
              <a:t> (0.79)</a:t>
            </a:r>
            <a:r>
              <a:rPr sz="1600" b="0" i="0" dirty="0">
                <a:solidFill>
                  <a:srgbClr val="2B2A26"/>
                </a:solidFill>
                <a:latin typeface="Calibri"/>
              </a:rPr>
              <a:t> leads only because the reference IS often the frequent sentence: artifact, not quality</a:t>
            </a:r>
          </a:p>
        </p:txBody>
      </p:sp>
    </p:spTree>
    <p:extLst>
      <p:ext uri="{BB962C8B-B14F-4D97-AF65-F5344CB8AC3E}">
        <p14:creationId xmlns:p14="http://schemas.microsoft.com/office/powerpoint/2010/main" val="2917709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CLIPSCORE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100" b="1" i="0">
                <a:solidFill>
                  <a:srgbClr val="1B334A"/>
                </a:solidFill>
                <a:latin typeface="Georgia"/>
              </a:rPr>
              <a:t>Independent confirmation of the shuffle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214884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1874520"/>
            <a:ext cx="539496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1" i="0">
                <a:solidFill>
                  <a:srgbClr val="1B334A"/>
                </a:solidFill>
                <a:latin typeface="Calibri"/>
              </a:rPr>
              <a:t>By MODEL → all equal (gap &lt; 0.004)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63640" y="214884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1874520"/>
            <a:ext cx="530352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1" i="0" dirty="0">
                <a:solidFill>
                  <a:srgbClr val="1B334A"/>
                </a:solidFill>
                <a:latin typeface="Calibri"/>
              </a:rPr>
              <a:t>By ATTRIBUTE → visual high, smell/taste 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23560"/>
            <a:ext cx="10927080" cy="548640"/>
          </a:xfrm>
          <a:prstGeom prst="roundRect">
            <a:avLst/>
          </a:prstGeom>
          <a:solidFill>
            <a:srgbClr val="1B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761945"/>
            <a:ext cx="10515600" cy="27186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r>
              <a:rPr sz="1600" b="1" i="0" dirty="0">
                <a:solidFill>
                  <a:srgbClr val="E0A458"/>
                </a:solidFill>
                <a:latin typeface="Calibri"/>
              </a:rPr>
              <a:t>With a frozen encoder the image isn't exploited: the models do language modeling. The real variation is per attribute.</a:t>
            </a:r>
          </a:p>
        </p:txBody>
      </p:sp>
    </p:spTree>
    <p:extLst>
      <p:ext uri="{BB962C8B-B14F-4D97-AF65-F5344CB8AC3E}">
        <p14:creationId xmlns:p14="http://schemas.microsoft.com/office/powerpoint/2010/main" val="3390183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THE METHODOLOGICAL MORAL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The BLEU trap, visualized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_bleu_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24841"/>
            <a:ext cx="7498079" cy="321415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21040" y="2011680"/>
            <a:ext cx="3246120" cy="3749039"/>
          </a:xfrm>
          <a:prstGeom prst="roundRect">
            <a:avLst/>
          </a:prstGeom>
          <a:solidFill>
            <a:srgbClr val="1B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21040" y="2011680"/>
            <a:ext cx="82296" cy="3749039"/>
          </a:xfrm>
          <a:prstGeom prst="rect">
            <a:avLst/>
          </a:prstGeom>
          <a:solidFill>
            <a:srgbClr val="C14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77072" y="2157984"/>
            <a:ext cx="2825496" cy="236475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E0A458"/>
                </a:solidFill>
                <a:latin typeface="Georgia"/>
              </a:rPr>
              <a:t>A metric lies</a:t>
            </a:r>
          </a:p>
          <a:p>
            <a:r>
              <a:rPr sz="1600" b="0" i="0" dirty="0">
                <a:solidFill>
                  <a:srgbClr val="F7F1E3"/>
                </a:solidFill>
                <a:latin typeface="Calibri"/>
              </a:rPr>
              <a:t>Left, BLEU-1: the constant caption </a:t>
            </a:r>
            <a:r>
              <a:rPr sz="1600" b="0" i="0" dirty="0" err="1">
                <a:solidFill>
                  <a:srgbClr val="F7F1E3"/>
                </a:solidFill>
                <a:latin typeface="Calibri"/>
              </a:rPr>
              <a:t>most_frequent</a:t>
            </a:r>
            <a:r>
              <a:rPr sz="1600" b="0" i="0" dirty="0">
                <a:solidFill>
                  <a:srgbClr val="F7F1E3"/>
                </a:solidFill>
                <a:latin typeface="Calibri"/>
              </a:rPr>
              <a:t> WINS.
Right, </a:t>
            </a:r>
            <a:r>
              <a:rPr sz="1600" b="0" i="0" dirty="0" err="1">
                <a:solidFill>
                  <a:srgbClr val="F7F1E3"/>
                </a:solidFill>
                <a:latin typeface="Calibri"/>
              </a:rPr>
              <a:t>CLIPScore</a:t>
            </a:r>
            <a:r>
              <a:rPr sz="1600" b="0" i="0" dirty="0">
                <a:solidFill>
                  <a:srgbClr val="F7F1E3"/>
                </a:solidFill>
                <a:latin typeface="Calibri"/>
              </a:rPr>
              <a:t>: the two models are practically equal.
→ BLEU-1 alone is misleading. Metrics must be read together.</a:t>
            </a:r>
          </a:p>
        </p:txBody>
      </p:sp>
    </p:spTree>
    <p:extLst>
      <p:ext uri="{BB962C8B-B14F-4D97-AF65-F5344CB8AC3E}">
        <p14:creationId xmlns:p14="http://schemas.microsoft.com/office/powerpoint/2010/main" val="3861128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82296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950" b="0" i="1">
                <a:solidFill>
                  <a:srgbClr val="6B6860"/>
                </a:solidFill>
                <a:latin typeface="Calibri"/>
              </a:rPr>
              <a:t>AI4FQC · Project 07: GRANA Captioning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73952"/>
            <a:ext cx="8686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1" i="0">
                <a:solidFill>
                  <a:srgbClr val="E0A458"/>
                </a:solidFill>
                <a:latin typeface="Calibri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250" b="1" i="0" spc="220">
                <a:solidFill>
                  <a:srgbClr val="C88836"/>
                </a:solidFill>
                <a:latin typeface="Calibri"/>
              </a:rPr>
              <a:t>QUALITATIVE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86968"/>
            <a:ext cx="1088136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1B334A"/>
                </a:solidFill>
                <a:latin typeface="Georgia"/>
              </a:rPr>
              <a:t>What m6 actually generates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09928"/>
            <a:ext cx="1371600" cy="381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10927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 marL="101600" anchor="ctr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Prediction (m6)</a:t>
                      </a:r>
                    </a:p>
                  </a:txBody>
                  <a:tcPr marL="101600" anchor="ctr">
                    <a:solidFill>
                      <a:srgbClr val="1B33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Reference (panel)</a:t>
                      </a:r>
                    </a:p>
                  </a:txBody>
                  <a:tcPr marL="101600" anchor="ctr">
                    <a:solidFill>
                      <a:srgbClr val="1B3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B2A26"/>
                          </a:solidFill>
                          <a:latin typeface="Calibri"/>
                        </a:rPr>
                        <a:t>Aroma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The cheese has an aroma of cream.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5B8C5A"/>
                          </a:solidFill>
                          <a:latin typeface="Calibri"/>
                        </a:rPr>
                        <a:t>The cheese has an aroma of cream.  ✓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B2A26"/>
                          </a:solidFill>
                          <a:latin typeface="Calibri"/>
                        </a:rPr>
                        <a:t>Taste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…taste slightly salty and spicy.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The cheese has a salty taste.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B2A26"/>
                          </a:solidFill>
                          <a:latin typeface="Calibri"/>
                        </a:rPr>
                        <a:t>Thickness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The rind is medium-thick.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5B8C5A"/>
                          </a:solidFill>
                          <a:latin typeface="Calibri"/>
                        </a:rPr>
                        <a:t>The rind is medium-thick.  ✓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B2A26"/>
                          </a:solidFill>
                          <a:latin typeface="Calibri"/>
                        </a:rPr>
                        <a:t>Colour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…deep, even yellow colour.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…overly deep yellow colour.</a:t>
                      </a:r>
                    </a:p>
                  </a:txBody>
                  <a:tcPr marL="101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B2A26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B2A26"/>
                          </a:solidFill>
                          <a:latin typeface="Calibri"/>
                        </a:rPr>
                        <a:t>…irregular fracture and fine grain.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 dirty="0">
                          <a:solidFill>
                            <a:srgbClr val="2B2A26"/>
                          </a:solidFill>
                          <a:latin typeface="Calibri"/>
                        </a:rPr>
                        <a:t>…stretched, with sparse grain in places.</a:t>
                      </a:r>
                    </a:p>
                  </a:txBody>
                  <a:tcPr marL="101600" anchor="ctr">
                    <a:solidFill>
                      <a:srgbClr val="F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074920"/>
            <a:ext cx="10927080" cy="822960"/>
          </a:xfrm>
          <a:prstGeom prst="round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5074920"/>
            <a:ext cx="82296" cy="82296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5221224"/>
            <a:ext cx="10506456" cy="45653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400" b="0" i="0" dirty="0">
                <a:solidFill>
                  <a:srgbClr val="2B2A26"/>
                </a:solidFill>
                <a:latin typeface="Calibri"/>
              </a:rPr>
              <a:t>Four recurring patterns: (1) the scaffolding is always correct and worth ~50% of BLEU-4; (2) the language is fluent thanks to the pretrained LM; (3) the descriptor is often valid but for another cheese; (4) references vary enormously across tasters → a ceiling on BLEU.</a:t>
            </a:r>
          </a:p>
        </p:txBody>
      </p:sp>
    </p:spTree>
    <p:extLst>
      <p:ext uri="{BB962C8B-B14F-4D97-AF65-F5344CB8AC3E}">
        <p14:creationId xmlns:p14="http://schemas.microsoft.com/office/powerpoint/2010/main" val="3715004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3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55580" y="754380"/>
            <a:ext cx="502920" cy="502920"/>
          </a:xfrm>
          <a:prstGeom prst="ellipse">
            <a:avLst/>
          </a:prstGeom>
          <a:solidFill>
            <a:srgbClr val="E0A4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27105" y="1233297"/>
            <a:ext cx="276606" cy="276606"/>
          </a:xfrm>
          <a:prstGeom prst="ellipse">
            <a:avLst/>
          </a:prstGeom>
          <a:solidFill>
            <a:srgbClr val="E0A4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81820" y="1404746"/>
            <a:ext cx="226314" cy="226314"/>
          </a:xfrm>
          <a:prstGeom prst="ellipse">
            <a:avLst/>
          </a:prstGeom>
          <a:solidFill>
            <a:srgbClr val="E0A4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847070" y="294894"/>
            <a:ext cx="251460" cy="251460"/>
          </a:xfrm>
          <a:prstGeom prst="ellipse">
            <a:avLst/>
          </a:prstGeom>
          <a:solidFill>
            <a:srgbClr val="E0A4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48088" y="612648"/>
            <a:ext cx="201168" cy="201168"/>
          </a:xfrm>
          <a:prstGeom prst="ellipse">
            <a:avLst/>
          </a:prstGeom>
          <a:solidFill>
            <a:srgbClr val="E0A45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48640"/>
            <a:ext cx="10058400" cy="57964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3600" b="1" i="0" dirty="0">
                <a:solidFill>
                  <a:srgbClr val="F7F1E3"/>
                </a:solidFill>
                <a:latin typeface="Georgia"/>
              </a:rPr>
              <a:t>Conclusions &amp; future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1371600"/>
            <a:ext cx="1828800" cy="508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20440" cy="3108960"/>
          </a:xfrm>
          <a:prstGeom prst="roundRect">
            <a:avLst/>
          </a:prstGeom>
          <a:solidFill>
            <a:srgbClr val="244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691640"/>
            <a:ext cx="3520440" cy="9144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828800"/>
            <a:ext cx="3108960" cy="21031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5B8C5A"/>
                </a:solidFill>
                <a:latin typeface="Georgia"/>
              </a:rPr>
              <a:t>Scientific result</a:t>
            </a:r>
          </a:p>
          <a:p>
            <a:pPr>
              <a:spcBef>
                <a:spcPts val="600"/>
              </a:spcBef>
            </a:pPr>
            <a:r>
              <a:rPr sz="1600" b="1" i="0" dirty="0">
                <a:solidFill>
                  <a:srgbClr val="5B8C5A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F7F1E3"/>
                </a:solidFill>
                <a:latin typeface="Calibri"/>
              </a:rPr>
              <a:t>The encoder matters:</a:t>
            </a:r>
            <a:r>
              <a:rPr sz="1600" b="0" i="0" dirty="0">
                <a:solidFill>
                  <a:srgbClr val="D9D2C2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D9D2C2"/>
                </a:solidFill>
                <a:latin typeface="Calibri"/>
              </a:rPr>
              <a:t>ResNet</a:t>
            </a:r>
            <a:r>
              <a:rPr sz="1600" b="0" i="0" dirty="0">
                <a:solidFill>
                  <a:srgbClr val="D9D2C2"/>
                </a:solidFill>
                <a:latin typeface="Calibri"/>
              </a:rPr>
              <a:t> ignores the image, </a:t>
            </a:r>
            <a:r>
              <a:rPr sz="1600" b="0" i="0" dirty="0" err="1">
                <a:solidFill>
                  <a:srgbClr val="D9D2C2"/>
                </a:solidFill>
                <a:latin typeface="Calibri"/>
              </a:rPr>
              <a:t>ViT</a:t>
            </a:r>
            <a:r>
              <a:rPr sz="1600" b="0" i="0" dirty="0">
                <a:solidFill>
                  <a:srgbClr val="D9D2C2"/>
                </a:solidFill>
                <a:latin typeface="Calibri"/>
              </a:rPr>
              <a:t> uses it on 4/7</a:t>
            </a:r>
          </a:p>
          <a:p>
            <a:pPr>
              <a:spcBef>
                <a:spcPts val="600"/>
              </a:spcBef>
            </a:pPr>
            <a:r>
              <a:rPr sz="1600" b="1" i="0" dirty="0">
                <a:solidFill>
                  <a:srgbClr val="5B8C5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D9D2C2"/>
                </a:solidFill>
                <a:latin typeface="Calibri"/>
              </a:rPr>
              <a:t>Independent of decoder, data scale, hyperparameters</a:t>
            </a:r>
          </a:p>
          <a:p>
            <a:pPr>
              <a:spcBef>
                <a:spcPts val="600"/>
              </a:spcBef>
            </a:pPr>
            <a:r>
              <a:rPr sz="1600" b="1" i="0" dirty="0">
                <a:solidFill>
                  <a:srgbClr val="5B8C5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D9D2C2"/>
                </a:solidFill>
                <a:latin typeface="Calibri"/>
              </a:rPr>
              <a:t>Confirmed by shuffle test + </a:t>
            </a:r>
            <a:r>
              <a:rPr sz="1600" b="0" i="0" dirty="0" err="1">
                <a:solidFill>
                  <a:srgbClr val="D9D2C2"/>
                </a:solidFill>
                <a:latin typeface="Calibri"/>
              </a:rPr>
              <a:t>CLIPScore</a:t>
            </a:r>
            <a:endParaRPr sz="1600" b="0" i="0" dirty="0">
              <a:solidFill>
                <a:srgbClr val="D9D2C2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34256" y="1691640"/>
            <a:ext cx="3520440" cy="3108960"/>
          </a:xfrm>
          <a:prstGeom prst="roundRect">
            <a:avLst/>
          </a:prstGeom>
          <a:solidFill>
            <a:srgbClr val="244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34256" y="1691640"/>
            <a:ext cx="352044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2856" y="1828800"/>
            <a:ext cx="3108960" cy="21031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E0A458"/>
                </a:solidFill>
                <a:latin typeface="Georgia"/>
              </a:rPr>
              <a:t>Practical result</a:t>
            </a:r>
          </a:p>
          <a:p>
            <a:pPr>
              <a:spcBef>
                <a:spcPts val="6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F7F1E3"/>
                </a:solidFill>
                <a:latin typeface="Calibri"/>
              </a:rPr>
              <a:t>4/7</a:t>
            </a:r>
            <a:r>
              <a:rPr sz="1600" b="0" i="0" dirty="0">
                <a:solidFill>
                  <a:srgbClr val="D9D2C2"/>
                </a:solidFill>
                <a:latin typeface="Calibri"/>
              </a:rPr>
              <a:t> attributes beat the baseline (max Structure +0.128)</a:t>
            </a:r>
          </a:p>
          <a:p>
            <a:pPr>
              <a:spcBef>
                <a:spcPts val="6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F7F1E3"/>
                </a:solidFill>
                <a:latin typeface="Calibri"/>
              </a:rPr>
              <a:t>m6 (</a:t>
            </a:r>
            <a:r>
              <a:rPr sz="1600" b="1" i="0" dirty="0" err="1">
                <a:solidFill>
                  <a:srgbClr val="F7F1E3"/>
                </a:solidFill>
                <a:latin typeface="Calibri"/>
              </a:rPr>
              <a:t>ViT+GePpeTto</a:t>
            </a:r>
            <a:r>
              <a:rPr sz="1600" b="1" i="0" dirty="0">
                <a:solidFill>
                  <a:srgbClr val="F7F1E3"/>
                </a:solidFill>
                <a:latin typeface="Calibri"/>
              </a:rPr>
              <a:t>)</a:t>
            </a:r>
            <a:r>
              <a:rPr sz="1600" b="0" i="0" dirty="0">
                <a:solidFill>
                  <a:srgbClr val="D9D2C2"/>
                </a:solidFill>
                <a:latin typeface="Calibri"/>
              </a:rPr>
              <a:t> wins narrowly almost everywhere</a:t>
            </a:r>
          </a:p>
          <a:p>
            <a:pPr>
              <a:spcBef>
                <a:spcPts val="600"/>
              </a:spcBef>
            </a:pPr>
            <a:r>
              <a:rPr sz="1600" b="1" i="0" dirty="0">
                <a:solidFill>
                  <a:srgbClr val="E0A458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F7F1E3"/>
                </a:solidFill>
                <a:latin typeface="Calibri"/>
              </a:rPr>
              <a:t>$5.60</a:t>
            </a:r>
            <a:r>
              <a:rPr sz="1600" b="0" i="0" dirty="0">
                <a:solidFill>
                  <a:srgbClr val="D9D2C2"/>
                </a:solidFill>
                <a:latin typeface="Calibri"/>
              </a:rPr>
              <a:t> data cost · 38,437 pairs delivered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691640"/>
            <a:ext cx="3538728" cy="3108960"/>
          </a:xfrm>
          <a:prstGeom prst="roundRect">
            <a:avLst/>
          </a:prstGeom>
          <a:solidFill>
            <a:srgbClr val="244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28431" y="1691640"/>
            <a:ext cx="3538728" cy="914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1828800"/>
            <a:ext cx="3127248" cy="21031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2400" b="1" i="0" dirty="0">
                <a:solidFill>
                  <a:srgbClr val="2C5F8A"/>
                </a:solidFill>
                <a:latin typeface="Georgia"/>
              </a:rPr>
              <a:t>Future work</a:t>
            </a:r>
          </a:p>
          <a:p>
            <a:pPr>
              <a:spcBef>
                <a:spcPts val="600"/>
              </a:spcBef>
            </a:pPr>
            <a:r>
              <a:rPr sz="16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1" i="0" dirty="0">
                <a:solidFill>
                  <a:srgbClr val="F7F1E3"/>
                </a:solidFill>
                <a:latin typeface="Calibri"/>
              </a:rPr>
              <a:t>Fine-tune the encoder</a:t>
            </a:r>
            <a:r>
              <a:rPr sz="1600" b="0" i="0" dirty="0">
                <a:solidFill>
                  <a:srgbClr val="D9D2C2"/>
                </a:solidFill>
                <a:latin typeface="Calibri"/>
              </a:rPr>
              <a:t> and re-measure </a:t>
            </a:r>
            <a:r>
              <a:rPr sz="1600" b="0" i="0" dirty="0" err="1">
                <a:solidFill>
                  <a:srgbClr val="D9D2C2"/>
                </a:solidFill>
                <a:latin typeface="Calibri"/>
              </a:rPr>
              <a:t>CLIPScore</a:t>
            </a:r>
            <a:endParaRPr sz="1600" b="0" i="0" dirty="0">
              <a:solidFill>
                <a:srgbClr val="D9D2C2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r>
              <a:rPr sz="16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D9D2C2"/>
                </a:solidFill>
                <a:latin typeface="Calibri"/>
              </a:rPr>
              <a:t>k-NN retrieval baseline as an image-aware «floor»</a:t>
            </a:r>
          </a:p>
          <a:p>
            <a:pPr>
              <a:spcBef>
                <a:spcPts val="600"/>
              </a:spcBef>
            </a:pPr>
            <a:r>
              <a:rPr sz="1600" b="1" i="0" dirty="0">
                <a:solidFill>
                  <a:srgbClr val="2C5F8A"/>
                </a:solidFill>
                <a:latin typeface="Calibri"/>
              </a:rPr>
              <a:t>● </a:t>
            </a:r>
            <a:r>
              <a:rPr sz="1600" b="0" i="0" dirty="0">
                <a:solidFill>
                  <a:srgbClr val="D9D2C2"/>
                </a:solidFill>
                <a:latin typeface="Calibri"/>
              </a:rPr>
              <a:t>If models pull away from the baseline → image exploited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83480"/>
            <a:ext cx="10881360" cy="51809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r>
              <a:rPr sz="1600" b="1" i="0" dirty="0">
                <a:solidFill>
                  <a:srgbClr val="E0A458"/>
                </a:solidFill>
                <a:latin typeface="Calibri"/>
              </a:rPr>
              <a:t>Honest framing:  </a:t>
            </a:r>
            <a:r>
              <a:rPr sz="1600" b="0" i="0" dirty="0">
                <a:solidFill>
                  <a:srgbClr val="F7F1E3"/>
                </a:solidFill>
                <a:latin typeface="Calibri"/>
              </a:rPr>
              <a:t>no model would replace a taster. They learned the vocabulary and a partial image</a:t>
            </a:r>
            <a:r>
              <a:rPr lang="it-IT" sz="1600" b="0" i="0" dirty="0">
                <a:solidFill>
                  <a:srgbClr val="F7F1E3"/>
                </a:solidFill>
                <a:latin typeface="Calibri"/>
              </a:rPr>
              <a:t> </a:t>
            </a:r>
            <a:r>
              <a:rPr sz="1600" b="0" i="0" dirty="0">
                <a:solidFill>
                  <a:srgbClr val="F7F1E3"/>
                </a:solidFill>
                <a:latin typeface="Calibri"/>
              </a:rPr>
              <a:t>→</a:t>
            </a:r>
            <a:r>
              <a:rPr lang="it-IT" sz="1600" b="0" i="0" dirty="0">
                <a:solidFill>
                  <a:srgbClr val="F7F1E3"/>
                </a:solidFill>
                <a:latin typeface="Calibri"/>
              </a:rPr>
              <a:t> </a:t>
            </a:r>
            <a:r>
              <a:rPr sz="1600" b="0" i="0" dirty="0">
                <a:solidFill>
                  <a:srgbClr val="F7F1E3"/>
                </a:solidFill>
                <a:latin typeface="Calibri"/>
              </a:rPr>
              <a:t>descriptor map</a:t>
            </a:r>
            <a:r>
              <a:rPr lang="it-IT" sz="1600" b="0" i="0" dirty="0">
                <a:solidFill>
                  <a:srgbClr val="F7F1E3"/>
                </a:solidFill>
                <a:latin typeface="Calibri"/>
              </a:rPr>
              <a:t>,</a:t>
            </a:r>
            <a:r>
              <a:rPr sz="1600" b="0" i="0" dirty="0">
                <a:solidFill>
                  <a:srgbClr val="F7F1E3"/>
                </a:solidFill>
                <a:latin typeface="Calibri"/>
              </a:rPr>
              <a:t> consistent with the data scale and the noise of multi-taster annotation.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10881360" cy="45653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800" b="1" i="0">
                <a:solidFill>
                  <a:srgbClr val="E0A458"/>
                </a:solidFill>
                <a:latin typeface="Georgia"/>
              </a:rPr>
              <a:t>Thank you. Questions?</a:t>
            </a:r>
          </a:p>
        </p:txBody>
      </p:sp>
    </p:spTree>
    <p:extLst>
      <p:ext uri="{BB962C8B-B14F-4D97-AF65-F5344CB8AC3E}">
        <p14:creationId xmlns:p14="http://schemas.microsoft.com/office/powerpoint/2010/main" val="1968846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39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B094F68-EA9A-4AEB-AB68-A8948F3628C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4f756ff-e9dd-44c3-a091-26b1d22725e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3005</TotalTime>
  <Words>8725</Words>
  <Application>Microsoft Office PowerPoint</Application>
  <PresentationFormat>Widescreen</PresentationFormat>
  <Paragraphs>819</Paragraphs>
  <Slides>32</Slides>
  <Notes>32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32</vt:i4>
      </vt:variant>
    </vt:vector>
  </HeadingPairs>
  <TitlesOfParts>
    <vt:vector size="36" baseType="lpstr">
      <vt:lpstr>Arial</vt:lpstr>
      <vt:lpstr>Calibri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Nicolò Fadigà</dc:creator>
  <cp:keywords/>
  <dc:description>generated using python-pptx</dc:description>
  <cp:lastModifiedBy>Fadigà, Nicolò</cp:lastModifiedBy>
  <cp:revision>8</cp:revision>
  <cp:lastPrinted>2026-06-23T09:13:01Z</cp:lastPrinted>
  <dcterms:created xsi:type="dcterms:W3CDTF">2013-01-27T09:14:16Z</dcterms:created>
  <dcterms:modified xsi:type="dcterms:W3CDTF">2026-06-23T18:53:36Z</dcterms:modified>
  <cp:category/>
</cp:coreProperties>
</file>