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rts/chart2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rts/chart3.xml" ContentType="application/vnd.openxmlformats-officedocument.drawingml.chart+xml"/>
  <Override PartName="/ppt/notesSlides/notesSlide29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317" r:id="rId2"/>
    <p:sldId id="318" r:id="rId3"/>
    <p:sldId id="319" r:id="rId4"/>
    <p:sldId id="290" r:id="rId5"/>
    <p:sldId id="260" r:id="rId6"/>
    <p:sldId id="320" r:id="rId7"/>
    <p:sldId id="321" r:id="rId8"/>
    <p:sldId id="322" r:id="rId9"/>
    <p:sldId id="323" r:id="rId10"/>
    <p:sldId id="324" r:id="rId11"/>
    <p:sldId id="325" r:id="rId12"/>
    <p:sldId id="326" r:id="rId13"/>
    <p:sldId id="298" r:id="rId14"/>
    <p:sldId id="327" r:id="rId15"/>
    <p:sldId id="328" r:id="rId16"/>
    <p:sldId id="329" r:id="rId17"/>
    <p:sldId id="330" r:id="rId18"/>
    <p:sldId id="331" r:id="rId19"/>
    <p:sldId id="332" r:id="rId20"/>
    <p:sldId id="333" r:id="rId21"/>
    <p:sldId id="334" r:id="rId22"/>
    <p:sldId id="335" r:id="rId23"/>
    <p:sldId id="336" r:id="rId24"/>
    <p:sldId id="337" r:id="rId25"/>
    <p:sldId id="309" r:id="rId26"/>
    <p:sldId id="338" r:id="rId27"/>
    <p:sldId id="339" r:id="rId28"/>
    <p:sldId id="340" r:id="rId29"/>
    <p:sldId id="341" r:id="rId30"/>
    <p:sldId id="342" r:id="rId31"/>
    <p:sldId id="343" r:id="rId32"/>
    <p:sldId id="344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5870" autoAdjust="0"/>
  </p:normalViewPr>
  <p:slideViewPr>
    <p:cSldViewPr snapToGrid="0" snapToObjects="1">
      <p:cViewPr varScale="1">
        <p:scale>
          <a:sx n="122" d="100"/>
          <a:sy n="122" d="100"/>
        </p:scale>
        <p:origin x="1800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22" d="100"/>
          <a:sy n="122" d="100"/>
        </p:scale>
        <p:origin x="5004" y="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cost ($)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2115-4AF1-A412-1AC1B3399834}"/>
              </c:ext>
            </c:extLst>
          </c:dPt>
          <c:dPt>
            <c:idx val="1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2115-4AF1-A412-1AC1B3399834}"/>
              </c:ext>
            </c:extLst>
          </c:dPt>
          <c:dPt>
            <c:idx val="2"/>
            <c:invertIfNegative val="1"/>
            <c:bubble3D val="0"/>
            <c:spPr>
              <a:solidFill>
                <a:srgbClr val="C1492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2115-4AF1-A412-1AC1B3399834}"/>
              </c:ext>
            </c:extLst>
          </c:dPt>
          <c:dLbls>
            <c:numFmt formatCode="&quot;$&quot;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B334A"/>
                    </a:solidFill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Haiku 4.5</c:v>
                </c:pt>
                <c:pt idx="1">
                  <c:v>Sonnet</c:v>
                </c:pt>
                <c:pt idx="2">
                  <c:v>Opus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5.6</c:v>
                </c:pt>
                <c:pt idx="1">
                  <c:v>13.5</c:v>
                </c:pt>
                <c:pt idx="2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115-4AF1-A412-1AC1B339983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m1 · CNN+LSTM</c:v>
                </c:pt>
              </c:strCache>
            </c:strRef>
          </c:tx>
          <c:spPr>
            <a:solidFill>
              <a:srgbClr val="E07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0.35010000000000002</c:v>
                </c:pt>
                <c:pt idx="1">
                  <c:v>0.1283</c:v>
                </c:pt>
                <c:pt idx="2">
                  <c:v>0.29380000000000001</c:v>
                </c:pt>
                <c:pt idx="3">
                  <c:v>0.29509999999999997</c:v>
                </c:pt>
                <c:pt idx="4">
                  <c:v>0.25169999999999998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C9D-4D35-BEBC-F4776DBDD00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m3 · ViT+Transf.</c:v>
                </c:pt>
              </c:strCache>
            </c:strRef>
          </c:tx>
          <c:spPr>
            <a:solidFill>
              <a:srgbClr val="3D7068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0.3649</c:v>
                </c:pt>
                <c:pt idx="1">
                  <c:v>0.1237</c:v>
                </c:pt>
                <c:pt idx="2">
                  <c:v>0.28749999999999998</c:v>
                </c:pt>
                <c:pt idx="3">
                  <c:v>0.29809999999999998</c:v>
                </c:pt>
                <c:pt idx="4">
                  <c:v>0.28560000000000002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C9D-4D35-BEBC-F4776DBDD00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m6 · ViT+GePpeTto</c:v>
                </c:pt>
              </c:strCache>
            </c:strRef>
          </c:tx>
          <c:spPr>
            <a:solidFill>
              <a:srgbClr val="8A5082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0.36570000000000003</c:v>
                </c:pt>
                <c:pt idx="1">
                  <c:v>0.13070000000000001</c:v>
                </c:pt>
                <c:pt idx="2">
                  <c:v>0.2928</c:v>
                </c:pt>
                <c:pt idx="3">
                  <c:v>0.30070000000000002</c:v>
                </c:pt>
                <c:pt idx="4">
                  <c:v>0.27410000000000001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C9D-4D35-BEBC-F4776DBDD0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4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Mean CIDEr (7 attributes)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8FFA-43ED-9718-248898CDF650}"/>
              </c:ext>
            </c:extLst>
          </c:dPt>
          <c:dPt>
            <c:idx val="1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8FFA-43ED-9718-248898CDF650}"/>
              </c:ext>
            </c:extLst>
          </c:dPt>
          <c:dPt>
            <c:idx val="2"/>
            <c:invertIfNegative val="1"/>
            <c:bubble3D val="0"/>
            <c:spPr>
              <a:solidFill>
                <a:srgbClr val="E07A5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8FFA-43ED-9718-248898CDF650}"/>
              </c:ext>
            </c:extLst>
          </c:dPt>
          <c:dPt>
            <c:idx val="3"/>
            <c:invertIfNegative val="1"/>
            <c:bubble3D val="0"/>
            <c:spPr>
              <a:solidFill>
                <a:srgbClr val="3D70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8FFA-43ED-9718-248898CDF650}"/>
              </c:ext>
            </c:extLst>
          </c:dPt>
          <c:dPt>
            <c:idx val="4"/>
            <c:invertIfNegative val="1"/>
            <c:bubble3D val="0"/>
            <c:spPr>
              <a:solidFill>
                <a:srgbClr val="8A5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8FFA-43ED-9718-248898CDF650}"/>
              </c:ext>
            </c:extLst>
          </c:dPt>
          <c:dPt>
            <c:idx val="5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8FFA-43ED-9718-248898CDF650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random</c:v>
                </c:pt>
                <c:pt idx="1">
                  <c:v>freq_weighted</c:v>
                </c:pt>
                <c:pt idx="2">
                  <c:v>m1</c:v>
                </c:pt>
                <c:pt idx="3">
                  <c:v>m3</c:v>
                </c:pt>
                <c:pt idx="4">
                  <c:v>m6</c:v>
                </c:pt>
                <c:pt idx="5">
                  <c:v>most_frequent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0.23400000000000001</c:v>
                </c:pt>
                <c:pt idx="1">
                  <c:v>0.37</c:v>
                </c:pt>
                <c:pt idx="2">
                  <c:v>0.58599999999999997</c:v>
                </c:pt>
                <c:pt idx="3">
                  <c:v>0.64600000000000002</c:v>
                </c:pt>
                <c:pt idx="4">
                  <c:v>0.70399999999999996</c:v>
                </c:pt>
                <c:pt idx="5">
                  <c:v>0.79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FFA-43ED-9718-248898CDF6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Mean CLIPScore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4B74-4716-AD5F-3C5E9D0B2246}"/>
              </c:ext>
            </c:extLst>
          </c:dPt>
          <c:dPt>
            <c:idx val="1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4B74-4716-AD5F-3C5E9D0B2246}"/>
              </c:ext>
            </c:extLst>
          </c:dPt>
          <c:dPt>
            <c:idx val="2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4B74-4716-AD5F-3C5E9D0B2246}"/>
              </c:ext>
            </c:extLst>
          </c:dPt>
          <c:dPt>
            <c:idx val="3"/>
            <c:invertIfNegative val="1"/>
            <c:bubble3D val="0"/>
            <c:spPr>
              <a:solidFill>
                <a:srgbClr val="E07A5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4B74-4716-AD5F-3C5E9D0B2246}"/>
              </c:ext>
            </c:extLst>
          </c:dPt>
          <c:dPt>
            <c:idx val="4"/>
            <c:invertIfNegative val="1"/>
            <c:bubble3D val="0"/>
            <c:spPr>
              <a:solidFill>
                <a:srgbClr val="3D70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4B74-4716-AD5F-3C5E9D0B2246}"/>
              </c:ext>
            </c:extLst>
          </c:dPt>
          <c:dPt>
            <c:idx val="5"/>
            <c:invertIfNegative val="1"/>
            <c:bubble3D val="0"/>
            <c:spPr>
              <a:solidFill>
                <a:srgbClr val="8A5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4B74-4716-AD5F-3C5E9D0B2246}"/>
              </c:ext>
            </c:extLst>
          </c:dPt>
          <c:cat>
            <c:strRef>
              <c:f>Sheet1!$A$2:$A$7</c:f>
              <c:strCache>
                <c:ptCount val="6"/>
                <c:pt idx="0">
                  <c:v>most_freq</c:v>
                </c:pt>
                <c:pt idx="1">
                  <c:v>random</c:v>
                </c:pt>
                <c:pt idx="2">
                  <c:v>freq_w</c:v>
                </c:pt>
                <c:pt idx="3">
                  <c:v>m1</c:v>
                </c:pt>
                <c:pt idx="4">
                  <c:v>m3</c:v>
                </c:pt>
                <c:pt idx="5">
                  <c:v>m6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0.19020000000000001</c:v>
                </c:pt>
                <c:pt idx="1">
                  <c:v>0.1913</c:v>
                </c:pt>
                <c:pt idx="2">
                  <c:v>0.19189999999999999</c:v>
                </c:pt>
                <c:pt idx="3">
                  <c:v>0.1925</c:v>
                </c:pt>
                <c:pt idx="4">
                  <c:v>0.19209999999999999</c:v>
                </c:pt>
                <c:pt idx="5">
                  <c:v>0.1933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B74-4716-AD5F-3C5E9D0B22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19500000000000001"/>
          <c:min val="0.185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CLIPScore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2C5F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5366-4EA8-BA27-6BB7A10AE28F}"/>
              </c:ext>
            </c:extLst>
          </c:dPt>
          <c:dPt>
            <c:idx val="1"/>
            <c:invertIfNegative val="1"/>
            <c:bubble3D val="0"/>
            <c:spPr>
              <a:solidFill>
                <a:srgbClr val="C1492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5366-4EA8-BA27-6BB7A10AE28F}"/>
              </c:ext>
            </c:extLst>
          </c:dPt>
          <c:dPt>
            <c:idx val="2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5366-4EA8-BA27-6BB7A10AE28F}"/>
              </c:ext>
            </c:extLst>
          </c:dPt>
          <c:dPt>
            <c:idx val="3"/>
            <c:invertIfNegative val="1"/>
            <c:bubble3D val="0"/>
            <c:spPr>
              <a:solidFill>
                <a:srgbClr val="2C5F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5366-4EA8-BA27-6BB7A10AE28F}"/>
              </c:ext>
            </c:extLst>
          </c:dPt>
          <c:dPt>
            <c:idx val="4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5366-4EA8-BA27-6BB7A10AE28F}"/>
              </c:ext>
            </c:extLst>
          </c:dPt>
          <c:dPt>
            <c:idx val="5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5366-4EA8-BA27-6BB7A10AE28F}"/>
              </c:ext>
            </c:extLst>
          </c:dPt>
          <c:dPt>
            <c:idx val="6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D-5366-4EA8-BA27-6BB7A10AE28F}"/>
              </c:ext>
            </c:extLst>
          </c:dPt>
          <c:cat>
            <c:strRef>
              <c:f>Sheet1!$A$2:$A$8</c:f>
              <c:strCache>
                <c:ptCount val="7"/>
                <c:pt idx="0">
                  <c:v>Aroma</c:v>
                </c:pt>
                <c:pt idx="1">
                  <c:v>Taste</c:v>
                </c:pt>
                <c:pt idx="2">
                  <c:v>Thickness</c:v>
                </c:pt>
                <c:pt idx="3">
                  <c:v>Smell</c:v>
                </c:pt>
                <c:pt idx="4">
                  <c:v>Structure</c:v>
                </c:pt>
                <c:pt idx="5">
                  <c:v>Colour</c:v>
                </c:pt>
                <c:pt idx="6">
                  <c:v>Texture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0.18099999999999999</c:v>
                </c:pt>
                <c:pt idx="1">
                  <c:v>0.184</c:v>
                </c:pt>
                <c:pt idx="2">
                  <c:v>0.184</c:v>
                </c:pt>
                <c:pt idx="3">
                  <c:v>0.185</c:v>
                </c:pt>
                <c:pt idx="4">
                  <c:v>0.19700000000000001</c:v>
                </c:pt>
                <c:pt idx="5">
                  <c:v>0.20599999999999999</c:v>
                </c:pt>
                <c:pt idx="6">
                  <c:v>0.20799999999999999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5366-4EA8-BA27-6BB7A10AE2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.17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2406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Good morning everyone, and welcome. Today I'm presenting our project on the sensory captioning of</a:t>
            </a:r>
          </a:p>
          <a:p>
            <a:r>
              <a:rPr dirty="0" err="1"/>
              <a:t>Trentingrana</a:t>
            </a:r>
            <a:r>
              <a:rPr dirty="0"/>
              <a:t> cheese, developed within the AI4FQC initiative (Artificial Intelligence for Food</a:t>
            </a:r>
          </a:p>
          <a:p>
            <a:r>
              <a:rPr dirty="0"/>
              <a:t>Quality Control), Project 07.</a:t>
            </a:r>
          </a:p>
          <a:p>
            <a:r>
              <a:rPr dirty="0"/>
              <a:t>The starting idea is simple to state but surprisingly rich to deliver: automatically generate</a:t>
            </a:r>
          </a:p>
          <a:p>
            <a:r>
              <a:rPr dirty="0"/>
              <a:t>sensory descriptions, in Italian, from images of grana cheese cross-sections. In other words,</a:t>
            </a:r>
          </a:p>
          <a:p>
            <a:r>
              <a:rPr dirty="0"/>
              <a:t>teach a model to "tell the story" of a cheese by looking at a slice of it.</a:t>
            </a:r>
          </a:p>
          <a:p>
            <a:r>
              <a:rPr dirty="0"/>
              <a:t>The work has two pillars: building the dataset, the most original and demanding part, to which</a:t>
            </a:r>
          </a:p>
          <a:p>
            <a:r>
              <a:rPr dirty="0"/>
              <a:t>I'll devote roughly 70% of the time, and comparing three conceptually different encoder-decoder</a:t>
            </a:r>
          </a:p>
          <a:p>
            <a:r>
              <a:rPr dirty="0"/>
              <a:t>architectures. We'll look at concrete numbers: 38 thousand image-caption pairs, three models,</a:t>
            </a:r>
          </a:p>
          <a:p>
            <a:r>
              <a:rPr dirty="0"/>
              <a:t>seven sensory attributes, and above all a clear scientific result about what truly drives a model</a:t>
            </a:r>
          </a:p>
          <a:p>
            <a:r>
              <a:rPr dirty="0"/>
              <a:t>to actually use the image.</a:t>
            </a:r>
          </a:p>
          <a:p>
            <a:r>
              <a:rPr dirty="0"/>
              <a:t>Let's start with the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Let's begin with the real problem. Grana quality is certified by tasting panels: experts who</a:t>
            </a:r>
          </a:p>
          <a:p>
            <a:r>
              <a:t>smell, taste and observe each wheel, describing aroma, flavor, structure and so on. It is a wealth</a:t>
            </a:r>
          </a:p>
          <a:p>
            <a:r>
              <a:t>of expertise, but it has three limits: it is slow, it is subjective, two panelists describe the</a:t>
            </a:r>
          </a:p>
          <a:p>
            <a:r>
              <a:t>same wheel with different words, and it is hard to scale when there are thousands of wheels.</a:t>
            </a:r>
          </a:p>
          <a:p>
            <a:r>
              <a:t>The project's idea is to support this work with an automatic system. We feed the model an image</a:t>
            </a:r>
          </a:p>
          <a:p>
            <a:r>
              <a:t>captured with the IRIS electronic visual analyzer, under controlled lighting, like the one you see</a:t>
            </a:r>
          </a:p>
          <a:p>
            <a:r>
              <a:t>on the right, and we ask it to produce a sensory description in Italian for each attribute.</a:t>
            </a:r>
          </a:p>
          <a:p>
            <a:r>
              <a:t>Important: the goal is not to replace the taster, but to offer objective, reproducible support. As</a:t>
            </a:r>
          </a:p>
          <a:p>
            <a:r>
              <a:t>we'll see, some attributes, the visible ones, lend themselves far better than others, and this</a:t>
            </a:r>
          </a:p>
          <a:p>
            <a:r>
              <a:t>very distinction will be one of the most interesting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These are the seven sensory dimensions the panel rates for each wheel: paste </a:t>
            </a:r>
            <a:r>
              <a:rPr dirty="0" err="1"/>
              <a:t>colour</a:t>
            </a:r>
            <a:r>
              <a:rPr dirty="0"/>
              <a:t>, texture,</a:t>
            </a:r>
          </a:p>
          <a:p>
            <a:r>
              <a:rPr dirty="0"/>
              <a:t>paste structure, rind thickness, smell, aroma and taste.</a:t>
            </a:r>
          </a:p>
          <a:p>
            <a:r>
              <a:rPr dirty="0"/>
              <a:t>Please keep in mind a distinction that will become central in the second part. Three attributes —</a:t>
            </a:r>
          </a:p>
          <a:p>
            <a:r>
              <a:rPr dirty="0"/>
              <a:t>paste </a:t>
            </a:r>
            <a:r>
              <a:rPr dirty="0" err="1"/>
              <a:t>colour</a:t>
            </a:r>
            <a:r>
              <a:rPr dirty="0"/>
              <a:t>, texture and paste structure, are intrinsically visual: they can be read from the</a:t>
            </a:r>
          </a:p>
          <a:p>
            <a:r>
              <a:rPr dirty="0"/>
              <a:t>image. Three, smell, aroma and taste, belong to olfaction and gustation: no photograph can</a:t>
            </a:r>
          </a:p>
          <a:p>
            <a:r>
              <a:rPr dirty="0"/>
              <a:t>reveal a taste. And then there is an instructive case, rind thickness: it is physically visible,</a:t>
            </a:r>
          </a:p>
          <a:p>
            <a:r>
              <a:rPr dirty="0"/>
              <a:t>yet the rind occupies a small portion of the slice, and we'll see that the model struggles to</a:t>
            </a:r>
          </a:p>
          <a:p>
            <a:r>
              <a:rPr dirty="0"/>
              <a:t>"weight" it.</a:t>
            </a:r>
          </a:p>
          <a:p>
            <a:r>
              <a:rPr dirty="0"/>
              <a:t>This taxonomy is not decorative: when we measure whether the model truly uses the image, we'll</a:t>
            </a:r>
          </a:p>
          <a:p>
            <a:r>
              <a:rPr dirty="0"/>
              <a:t>find it succeeds exactly on the visible attributes and fails on the olfactory and gustatory ones.</a:t>
            </a:r>
          </a:p>
          <a:p>
            <a:r>
              <a:rPr dirty="0"/>
              <a:t>It is a sanity check that validates the whole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AI4FQC brief explicitly asks for two deliverables.</a:t>
            </a:r>
          </a:p>
          <a:p>
            <a:r>
              <a:rPr dirty="0"/>
              <a:t>The first step is text pre-processing: take the tasters' descriptions</a:t>
            </a:r>
            <a:r>
              <a:rPr lang="it-IT" dirty="0"/>
              <a:t>,</a:t>
            </a:r>
            <a:r>
              <a:rPr dirty="0"/>
              <a:t> often telegraphic,</a:t>
            </a:r>
          </a:p>
          <a:p>
            <a:r>
              <a:rPr dirty="0"/>
              <a:t>sometimes in dialect, occasionally inconsistent </a:t>
            </a:r>
            <a:r>
              <a:rPr lang="it-IT" dirty="0"/>
              <a:t>,</a:t>
            </a:r>
            <a:r>
              <a:rPr dirty="0"/>
              <a:t> and turn them into clean, </a:t>
            </a:r>
            <a:r>
              <a:rPr dirty="0" err="1"/>
              <a:t>normalised</a:t>
            </a:r>
            <a:r>
              <a:rPr dirty="0"/>
              <a:t> captions in</a:t>
            </a:r>
          </a:p>
          <a:p>
            <a:r>
              <a:rPr dirty="0"/>
              <a:t>the form of Italian sentences. A specific, recurring requirement is to replace quantitative</a:t>
            </a:r>
          </a:p>
          <a:p>
            <a:r>
              <a:rPr dirty="0"/>
              <a:t>measures, the rind's </a:t>
            </a:r>
            <a:r>
              <a:rPr dirty="0" err="1"/>
              <a:t>millimetres</a:t>
            </a:r>
            <a:r>
              <a:rPr dirty="0"/>
              <a:t> and </a:t>
            </a:r>
            <a:r>
              <a:rPr dirty="0" err="1"/>
              <a:t>centimetres</a:t>
            </a:r>
            <a:r>
              <a:rPr dirty="0"/>
              <a:t>, with qualitative descriptions. This step, as you</a:t>
            </a:r>
          </a:p>
          <a:p>
            <a:r>
              <a:rPr dirty="0"/>
              <a:t>see, accounts for about 70% of the work: it is the most original part.</a:t>
            </a:r>
          </a:p>
          <a:p>
            <a:r>
              <a:rPr dirty="0"/>
              <a:t>The second step is to apply and compare three encoder-decoder methods that are "as conceptually</a:t>
            </a:r>
          </a:p>
          <a:p>
            <a:r>
              <a:rPr dirty="0"/>
              <a:t>different as possible". Note the emphasis: the brief does not ask for the best model, but for a</a:t>
            </a:r>
          </a:p>
          <a:p>
            <a:r>
              <a:rPr dirty="0"/>
              <a:t>comparison of approaches. To do this honestly, we paired BLEU with a battery of complementary</a:t>
            </a:r>
          </a:p>
          <a:p>
            <a:r>
              <a:rPr dirty="0"/>
              <a:t>metrics.</a:t>
            </a:r>
          </a:p>
          <a:p>
            <a:r>
              <a:rPr dirty="0"/>
              <a:t>Consistently with these weights, I'll devote the first and larger part of the talk to building the</a:t>
            </a:r>
          </a:p>
          <a:p>
            <a:r>
              <a:rPr dirty="0"/>
              <a:t>dataset, and the second to the models. Let's start with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Let's enter the first part: building the dataset.</a:t>
            </a:r>
          </a:p>
          <a:p>
            <a:r>
              <a:t>Here's the journey in one line: we start from nearly 52 thousand raw, heterogeneous and at times</a:t>
            </a:r>
          </a:p>
          <a:p>
            <a:r>
              <a:t>dialectal rows, and we arrive at 38 thousand clean, normalised image-caption pairs in sentence</a:t>
            </a:r>
          </a:p>
          <a:p>
            <a:r>
              <a:t>form. In between there's an eleven-stage pipeline and a precise strategy that let us do all this</a:t>
            </a:r>
          </a:p>
          <a:p>
            <a:r>
              <a:t>for an AI cost of just 5 dollars and 60 cents.</a:t>
            </a:r>
          </a:p>
          <a:p>
            <a:r>
              <a:t>This, in my view, is the most interesting part of the project from an engineering standpoint,</a:t>
            </a:r>
          </a:p>
          <a:p>
            <a:r>
              <a:t>because the raw data was deceptively rich but deeply misaligned. Let's see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starting material looked rich: nearly 2,750 high-resolution BMP photos of cheese sections, in</a:t>
            </a:r>
          </a:p>
          <a:p>
            <a:r>
              <a:t>two views: the whole slice and a close-up of the grain; four Excel workbooks, one per year from</a:t>
            </a:r>
          </a:p>
          <a:p>
            <a:r>
              <a:t>2018 to 2021, with one sheet per attribute; and a codebook mapping the sixteen dairies.</a:t>
            </a:r>
          </a:p>
          <a:p>
            <a:r>
              <a:t>The problem, however, was not quantity but alignment. Images and comments, in practice, spoke</a:t>
            </a:r>
          </a:p>
          <a:p>
            <a:r>
              <a:t>different languages. The photo filename identifies the single wheel — a precise sample ID, while</a:t>
            </a:r>
          </a:p>
          <a:p>
            <a:r>
              <a:t>the taster's comment identifies only the tray, the "product". So there was no row-by-row join</a:t>
            </a:r>
          </a:p>
          <a:p>
            <a:r>
              <a:t>between a photo and its comment: there was only a dairy-level join, going through the codebook.</a:t>
            </a:r>
          </a:p>
          <a:p>
            <a:r>
              <a:t>On top of that, three concrete obstacles that cost real time: the same dairy appears written three</a:t>
            </a:r>
          </a:p>
          <a:p>
            <a:r>
              <a:t>different ways; the Excel headers change from year to year; and the numeric scores use the Italian</a:t>
            </a:r>
          </a:p>
          <a:p>
            <a:r>
              <a:t>decimal comma. Every provenance field is propagated downstream, so each final row stays traceable</a:t>
            </a:r>
          </a:p>
          <a:p>
            <a:r>
              <a:t>back to the original comment.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How do we solve the lack of a wheel-level join? With what we called a dairy-level broadcast. The</a:t>
            </a:r>
          </a:p>
          <a:p>
            <a:r>
              <a:t>idea is to propagate each taster's comment to all coherent images of that dairy in that session.</a:t>
            </a:r>
          </a:p>
          <a:p>
            <a:r>
              <a:t>Look at the example. A single comment about smell, the word "Sauerkraut", for dairy TN_306 —</a:t>
            </a:r>
          </a:p>
          <a:p>
            <a:r>
              <a:t>becomes the caption of four different images: replicas a and b, each in the two views, slice and</a:t>
            </a:r>
          </a:p>
          <a:p>
            <a:r>
              <a:t>grain. From one comment we get up to four image-caption rows, with the same caption.</a:t>
            </a:r>
          </a:p>
          <a:p>
            <a:r>
              <a:t>One might object: isn't this artificial duplication? Actually no: for training it's an advantage:</a:t>
            </a:r>
          </a:p>
          <a:p>
            <a:r>
              <a:t>more examples of the same visual-textual association make the signal more robust.</a:t>
            </a:r>
          </a:p>
          <a:p>
            <a:r>
              <a:t>The net effect of the join is nearly 52 thousand rows, obtained as image times panelist times</a:t>
            </a:r>
          </a:p>
          <a:p>
            <a:r>
              <a:t>attribute, of which about 39,500 have a non-empty comment: a pairing rate around 76%, lower in the</a:t>
            </a:r>
          </a:p>
          <a:p>
            <a:r>
              <a:t>2021 sessions where some fields were left blank. From here the pipeline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Here's the full map: eleven stages, numbered zero to ten, each with its own Python script, explicit</a:t>
            </a:r>
          </a:p>
          <a:p>
            <a:r>
              <a:t>inputs and outputs, and an inspectable report.</a:t>
            </a:r>
          </a:p>
          <a:p>
            <a:r>
              <a:t>The guiding principle, and this is the most important architectural decision of the first part —</a:t>
            </a:r>
          </a:p>
          <a:p>
            <a:r>
              <a:t>is "deterministic before the LLM". It means: everything that can be done with reproducible,</a:t>
            </a:r>
          </a:p>
          <a:p>
            <a:r>
              <a:t>verifiable, free code, we do before calling the language model.</a:t>
            </a:r>
          </a:p>
          <a:p>
            <a:r>
              <a:t>In blue you see the deterministic stages: from the unified table, to text preparation, to building</a:t>
            </a:r>
          </a:p>
          <a:p>
            <a:r>
              <a:t>the vocabulary, to cleanup and deduplication. In gold the stages that involve the LLM: prompt</a:t>
            </a:r>
          </a:p>
          <a:p>
            <a:r>
              <a:t>design, the pilot and the full batch. In green the final assembly.</a:t>
            </a:r>
          </a:p>
          <a:p>
            <a:r>
              <a:t>Follow the numbers along the stages: 52 thousand initial rows, reduced and normalised, then</a:t>
            </a:r>
          </a:p>
          <a:p>
            <a:r>
              <a:t>compressed to about 7,700 unique captions; and only this subset reaches the paid model. It is</a:t>
            </a:r>
          </a:p>
          <a:p>
            <a:r>
              <a:t>exactly this compression that keeps the cost to a few dollars. Let's look at the key stages one by</a:t>
            </a:r>
          </a:p>
          <a:p>
            <a:r>
              <a:t>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is the same story, seen as a funnel. The axis shows the number of training rows as they move</a:t>
            </a:r>
          </a:p>
          <a:p>
            <a:r>
              <a:rPr dirty="0"/>
              <a:t>through the pipeline.</a:t>
            </a:r>
          </a:p>
          <a:p>
            <a:r>
              <a:rPr dirty="0"/>
              <a:t>The biggest drop, over 12,600 rows, happens entirely in the deterministic preparation of stage 1.</a:t>
            </a:r>
          </a:p>
          <a:p>
            <a:r>
              <a:rPr dirty="0"/>
              <a:t>But watch what we discard: the vast majority, nearly 12,500 rows, are empty or null values. Only 86</a:t>
            </a:r>
          </a:p>
          <a:p>
            <a:r>
              <a:rPr dirty="0"/>
              <a:t>are meta-comments and 68 are near-empty fragments. In other words, we are not discarding sensory</a:t>
            </a:r>
          </a:p>
          <a:p>
            <a:r>
              <a:rPr dirty="0"/>
              <a:t>content: we are removing certain noise.</a:t>
            </a:r>
          </a:p>
          <a:p>
            <a:r>
              <a:rPr dirty="0"/>
              <a:t>The retention rate after stage 1 is 75.7%. And here's a deliberate choice I want to stress: at this</a:t>
            </a:r>
          </a:p>
          <a:p>
            <a:r>
              <a:rPr dirty="0"/>
              <a:t>stage, drops must be certain. A sentence like "I don't </a:t>
            </a:r>
            <a:r>
              <a:rPr dirty="0" err="1"/>
              <a:t>penalise</a:t>
            </a:r>
            <a:r>
              <a:rPr dirty="0"/>
              <a:t> it, but it smells of barn" contains</a:t>
            </a:r>
          </a:p>
          <a:p>
            <a:r>
              <a:rPr dirty="0"/>
              <a:t>a real descriptor and must NOT be discarded by a regex — that kind of ambiguity is better handled</a:t>
            </a:r>
          </a:p>
          <a:p>
            <a:r>
              <a:rPr dirty="0"/>
              <a:t>by the LLM later. The deterministic blacklist is therefore small and conservative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Let's enter stage 1, the deterministic preparation. The golden rule here is: clean without</a:t>
            </a:r>
          </a:p>
          <a:p>
            <a:r>
              <a:t>rewriting. We don't change the taster's words, we only clean them.</a:t>
            </a:r>
          </a:p>
          <a:p>
            <a:r>
              <a:t>The operations are all mechanical and verifiable: we filter empties and N/A, normalise Unicode to</a:t>
            </a:r>
          </a:p>
          <a:p>
            <a:r>
              <a:t>NFC form, remove non-breaking spaces, zero-width characters, tabs and newlines. Then we remove</a:t>
            </a:r>
          </a:p>
          <a:p>
            <a:r>
              <a:t>meta-comments with a deliberately small blacklist, and near-empty fragments, those with fewer than</a:t>
            </a:r>
          </a:p>
          <a:p>
            <a:r>
              <a:t>two alphanumeric characters after cleaning. We always keep two columns, raw text and normalised</a:t>
            </a:r>
          </a:p>
          <a:p>
            <a:r>
              <a:t>text, so every transformation is reversible and auditable.</a:t>
            </a:r>
          </a:p>
          <a:p>
            <a:r>
              <a:t>The philosophy, on the right, is the key: drops must be certain. Anything ambiguous passes through,</a:t>
            </a:r>
          </a:p>
          <a:p>
            <a:r>
              <a:t>because the LLM will handle it better than any fixed rule. The net result is 39,356 rows, with the</a:t>
            </a:r>
          </a:p>
          <a:p>
            <a:r>
              <a:t>drops that — I repeat because it matters — are 99% simply empties.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Stages 2 and 3 build a controlled vocabulary for each of the seven attributes: the most frequent</a:t>
            </a:r>
          </a:p>
          <a:p>
            <a:r>
              <a:rPr dirty="0"/>
              <a:t>lemmas and bigrams, with a tailor-made Italian </a:t>
            </a:r>
            <a:r>
              <a:rPr dirty="0" err="1"/>
              <a:t>lemmatisation</a:t>
            </a:r>
            <a:r>
              <a:rPr dirty="0"/>
              <a:t>.</a:t>
            </a:r>
          </a:p>
          <a:p>
            <a:r>
              <a:rPr dirty="0"/>
              <a:t>Why not use a standard NLP library? Because on the sensory lexicon they err systematically: they</a:t>
            </a:r>
          </a:p>
          <a:p>
            <a:r>
              <a:rPr dirty="0"/>
              <a:t>turn "panna" (cream) into "</a:t>
            </a:r>
            <a:r>
              <a:rPr dirty="0" err="1"/>
              <a:t>panno</a:t>
            </a:r>
            <a:r>
              <a:rPr dirty="0"/>
              <a:t>" (cloth), "latte" (milk) into "</a:t>
            </a:r>
            <a:r>
              <a:rPr dirty="0" err="1"/>
              <a:t>latto</a:t>
            </a:r>
            <a:r>
              <a:rPr dirty="0"/>
              <a:t>". And above all they include</a:t>
            </a:r>
          </a:p>
          <a:p>
            <a:r>
              <a:rPr dirty="0"/>
              <a:t>among the </a:t>
            </a:r>
            <a:r>
              <a:rPr dirty="0" err="1"/>
              <a:t>stopwords</a:t>
            </a:r>
            <a:r>
              <a:rPr dirty="0"/>
              <a:t> words that here are informative: "molto", "poco", "</a:t>
            </a:r>
            <a:r>
              <a:rPr dirty="0" err="1"/>
              <a:t>leggermente</a:t>
            </a:r>
            <a:r>
              <a:rPr dirty="0"/>
              <a:t>" — very, little,</a:t>
            </a:r>
          </a:p>
          <a:p>
            <a:r>
              <a:rPr lang="it-IT" dirty="0"/>
              <a:t>S</a:t>
            </a:r>
            <a:r>
              <a:rPr dirty="0"/>
              <a:t>lightly</a:t>
            </a:r>
            <a:r>
              <a:rPr lang="it-IT" dirty="0"/>
              <a:t>, </a:t>
            </a:r>
            <a:r>
              <a:rPr dirty="0"/>
              <a:t>are sensory intensifiers, not noise. So we wrote a deterministic </a:t>
            </a:r>
            <a:r>
              <a:rPr dirty="0" err="1"/>
              <a:t>lemmatiser</a:t>
            </a:r>
            <a:r>
              <a:rPr dirty="0"/>
              <a:t>, with maps</a:t>
            </a:r>
          </a:p>
          <a:p>
            <a:r>
              <a:rPr dirty="0"/>
              <a:t>of abbreviations and typos and a singular-plural merge that fires only when both forms are attested</a:t>
            </a:r>
          </a:p>
          <a:p>
            <a:r>
              <a:rPr dirty="0"/>
              <a:t>in the corpus.</a:t>
            </a:r>
          </a:p>
          <a:p>
            <a:r>
              <a:rPr dirty="0"/>
              <a:t>In the chart you see the vocabulary breadth per attribute: paste structure is the richest, with</a:t>
            </a:r>
          </a:p>
          <a:p>
            <a:r>
              <a:rPr dirty="0"/>
              <a:t>nearly 800 lemmas and over 40 thousand tokens; rind thickness is the poorest, consistent with its</a:t>
            </a:r>
          </a:p>
          <a:p>
            <a:r>
              <a:rPr dirty="0"/>
              <a:t>lower descriptive variety. The vocabulary serves two purposes: as a basis for the audit, and as a</a:t>
            </a:r>
            <a:r>
              <a:rPr lang="it-IT" dirty="0"/>
              <a:t> </a:t>
            </a:r>
            <a:r>
              <a:rPr dirty="0"/>
              <a:t>stylistic anchor in the LLM prompt</a:t>
            </a:r>
            <a:r>
              <a:rPr lang="it-IT" dirty="0"/>
              <a:t>,</a:t>
            </a:r>
            <a:r>
              <a:rPr dirty="0"/>
              <a:t> not as a closed dictionary, since the model already speaks</a:t>
            </a:r>
            <a:r>
              <a:rPr lang="it-IT" dirty="0"/>
              <a:t> </a:t>
            </a:r>
            <a:r>
              <a:rPr dirty="0"/>
              <a:t>Italian.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Stage 4 tackles head-on the brief's explicit requirement: replacing quantitative descriptions with</a:t>
            </a:r>
          </a:p>
          <a:p>
            <a:r>
              <a:t>qualitative ones. The emblematic case is rind thickness, where hundreds of captions were plain</a:t>
            </a:r>
          </a:p>
          <a:p>
            <a:r>
              <a:t>numbers: "10", "1 cm", "on average 9 mm", "8-10 mm".</a:t>
            </a:r>
          </a:p>
          <a:p>
            <a:r>
              <a:t>The solution is a deterministic function that recognises fully numeric captions, converts</a:t>
            </a:r>
          </a:p>
          <a:p>
            <a:r>
              <a:t>everything to millimetres, with a heuristic reading values below 5 as centimetres, and assigns a</a:t>
            </a:r>
          </a:p>
          <a:p>
            <a:r>
              <a:t>qualitative bucket per the table you see: below 8 millimetres "very thin", up to 10 "thin", and so</a:t>
            </a:r>
          </a:p>
          <a:p>
            <a:r>
              <a:t>on up to "very thick" beyond 18.</a:t>
            </a:r>
          </a:p>
          <a:p>
            <a:r>
              <a:t>Why do it deterministically and not with the LLM? Because it eliminates at the root the model's main</a:t>
            </a:r>
          </a:p>
          <a:p>
            <a:r>
              <a:t>source of inconsistency, which otherwise bucketed "1 cm" and "10 mm" — the exact same physical</a:t>
            </a:r>
          </a:p>
          <a:p>
            <a:r>
              <a:t>measure — differently. In the chart on the right you see the result: 424 numeric rows neatly</a:t>
            </a:r>
          </a:p>
          <a:p>
            <a:r>
              <a:t>collapsed into five buckets. Mixed captions, those blending numbers and description, are instead</a:t>
            </a:r>
          </a:p>
          <a:p>
            <a:r>
              <a:t>left to the LLM because they require contextual reasoning.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single most important trick for the project's economics: deduplication.</a:t>
            </a:r>
          </a:p>
          <a:p>
            <a:r>
              <a:t>Remember the broadcast? By replicating each comment across four images, the exact same text would</a:t>
            </a:r>
          </a:p>
          <a:p>
            <a:r>
              <a:t>have been sent to the LLM many times, paying for it each time. That makes no sense. So, before</a:t>
            </a:r>
          </a:p>
          <a:p>
            <a:r>
              <a:t>calling the model, we deduplicate by key: the caption-plus-attribute pair.</a:t>
            </a:r>
          </a:p>
          <a:p>
            <a:r>
              <a:t>The result is sharp: over 39 thousand rows compress into 7,705 unique captions, a 5.1-fold</a:t>
            </a:r>
          </a:p>
          <a:p>
            <a:r>
              <a:t>compression. The chart shows, per attribute, prepared rows versus unique captions. The dominant</a:t>
            </a:r>
          </a:p>
          <a:p>
            <a:r>
              <a:t>pattern is exactly the broadcast's factor of four: nearly 6,600 captions appear precisely four</a:t>
            </a:r>
          </a:p>
          <a:p>
            <a:r>
              <a:t>times.</a:t>
            </a:r>
          </a:p>
          <a:p>
            <a:r>
              <a:t>The practical consequence is enormous: we send the LLM only the unique captions, cutting the cost</a:t>
            </a:r>
          </a:p>
          <a:p>
            <a:r>
              <a:t>by about five times. It's the perfect illustration of the "deterministic before the LLM" principle:</a:t>
            </a:r>
          </a:p>
          <a:p>
            <a:r>
              <a:t>a simple deduplication, for free, cuts the paid component's cost by a factor of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reach the "smart" core of the pipeline: LLM rewriting, stages 6, 7 and 8. Here the LLM does the</a:t>
            </a:r>
          </a:p>
          <a:p>
            <a:r>
              <a:t>work no regex could do faithfully: expanding "Sauerkraut" into "Smell of sauerkraut", normalising</a:t>
            </a:r>
          </a:p>
          <a:p>
            <a:r>
              <a:t>dialect, removing meta-comments while preserving the descriptor, turning questions into statements.</a:t>
            </a:r>
          </a:p>
          <a:p>
            <a:r>
              <a:t>Stage 6 is prompt design: a system prompt for each attribute, about 5 kilobytes, with eleven rules</a:t>
            </a:r>
          </a:p>
          <a:p>
            <a:r>
              <a:t>— including a "zero invention" rule and an escape, NON_DESCRITTO, for contentless inputs — the</a:t>
            </a:r>
          </a:p>
          <a:p>
            <a:r>
              <a:t>sixty most frequent lemmas as a stylistic anchor, and six real few-shot examples.</a:t>
            </a:r>
          </a:p>
          <a:p>
            <a:r>
              <a:t>Stage 7, the pilot on 105 captions, served to discover two failure modes before spending: the</a:t>
            </a:r>
          </a:p>
          <a:p>
            <a:r>
              <a:t>centimetre-millimetre inconsistency and some format violations. Both fixed in the prompt. A concrete</a:t>
            </a:r>
          </a:p>
          <a:p>
            <a:r>
              <a:t>operational lesson: three parallel workers were optimal, eight triggered rate-limit storms.</a:t>
            </a:r>
          </a:p>
          <a:p>
            <a:r>
              <a:t>Stage 8, the full batch: all 7,689 unique captions sent as a single job. Result: 7,689 out of 7,689</a:t>
            </a:r>
          </a:p>
          <a:p>
            <a:r>
              <a:t>completed, zero errors, in half an hour, for about four and a half dollars. Which brings us to the</a:t>
            </a:r>
          </a:p>
          <a:p>
            <a:r>
              <a:t>question: why Haiku?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of the project's most pragmatic decisions. For a well-bounded rewriting task, already verified</a:t>
            </a:r>
          </a:p>
          <a:p>
            <a:r>
              <a:t>on the pilot, which is the right model?</a:t>
            </a:r>
          </a:p>
          <a:p>
            <a:r>
              <a:t>The chart answers. The same work would cost about 5 dollars 60 with Haiku 4.5, versus about 13.50</a:t>
            </a:r>
          </a:p>
          <a:p>
            <a:r>
              <a:t>with Sonnet and over 67 with Opus. Haiku is 2.4 times cheaper than Sonnet and twelve times cheaper</a:t>
            </a:r>
          </a:p>
          <a:p>
            <a:r>
              <a:t>than Opus.</a:t>
            </a:r>
          </a:p>
          <a:p>
            <a:r>
              <a:t>The real question, though, is not "which is cheapest" but "is the cheap model good enough?". This is</a:t>
            </a:r>
          </a:p>
          <a:p>
            <a:r>
              <a:t>where the pilot comes in: having tested it on a stratified sample, we verified that for this narrow</a:t>
            </a:r>
          </a:p>
          <a:p>
            <a:r>
              <a:t>task the more expensive models offered no measurable quality gain. Spending more would have been</a:t>
            </a:r>
          </a:p>
          <a:p>
            <a:r>
              <a:t>throwing money away.</a:t>
            </a:r>
          </a:p>
          <a:p>
            <a:r>
              <a:t>The total LLM cost of the entire project, pilot plus batch, was 5 dollars and 60 cents. It is</a:t>
            </a:r>
          </a:p>
          <a:p>
            <a:r>
              <a:t>concrete proof that good upstream data engineering is worth more than an expensive downstream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How do we know Step 1 is truly satisfied? Not by impression, but with programmatic validation on all</a:t>
            </a:r>
          </a:p>
          <a:p>
            <a:r>
              <a:t>7,689 model outputs.</a:t>
            </a:r>
          </a:p>
          <a:p>
            <a:r>
              <a:t>The table summarises the checks. The output always starts with the expected attribute prefix — with</a:t>
            </a:r>
          </a:p>
          <a:p>
            <a:r>
              <a:t>a single "violation" that is actually a valid alternative prefix. Above all, look at the numbers</a:t>
            </a:r>
          </a:p>
          <a:p>
            <a:r>
              <a:t>that matter for the brief: zero outputs with digits, zero outputs with units like millimetres or</a:t>
            </a:r>
          </a:p>
          <a:p>
            <a:r>
              <a:t>centimetres, zero overly long outputs, zero empty outputs, zero outputs with markup. All zeros.</a:t>
            </a:r>
          </a:p>
          <a:p>
            <a:r>
              <a:t>This means the conversion from quantitative to qualitative — the core requirement of the first step</a:t>
            </a:r>
          </a:p>
          <a:p>
            <a:r>
              <a:t>— succeeded one hundred percent: in the final captions there remains no number and no unit of</a:t>
            </a:r>
          </a:p>
          <a:p>
            <a:r>
              <a:t>measure. It's a clean, verifiable fulfilment of the deliverable, not a promise. And when a reviewer</a:t>
            </a:r>
          </a:p>
          <a:p>
            <a:r>
              <a:t>asks "but are you sure you removed all the measures?", the answer is a table, not an opinion.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Stage 9 is one of those that separate a curated dataset from a merely "cleaned" one. After the</a:t>
            </a:r>
          </a:p>
          <a:p>
            <a:r>
              <a:t>batch, a scan revealed something interesting: 291 of the 362 captions the LLM had labelled</a:t>
            </a:r>
          </a:p>
          <a:p>
            <a:r>
              <a:t>NON_DESCRITTO, i.e. "there's no description here", actually contained at least one lemma from the</a:t>
            </a:r>
          </a:p>
          <a:p>
            <a:r>
              <a:t>controlled vocabulary. A sign the model had been overly cautious with the escape rule on borderline</a:t>
            </a:r>
          </a:p>
          <a:p>
            <a:r>
              <a:t>inputs, those mixing a judgement and a descriptor.</a:t>
            </a:r>
          </a:p>
          <a:p>
            <a:r>
              <a:t>So we hand-curated a salvage map of 178 captions where the descriptor was real and faithful.</a:t>
            </a:r>
          </a:p>
          <a:p>
            <a:r>
              <a:t>Examples: "marcio, putrido," becomes "Smell of rot and putridity"; "Sangue,,," becomes "Aroma of</a:t>
            </a:r>
          </a:p>
          <a:p>
            <a:r>
              <a:t>blood".</a:t>
            </a:r>
          </a:p>
          <a:p>
            <a:r>
              <a:t>The effect, in the chart: unique NON_DESCRITTO drop from 362 to 184, and this recovers 916 training</a:t>
            </a:r>
          </a:p>
          <a:p>
            <a:r>
              <a:t>rows we would otherwise have lost. The message is simple: cleaning data does not mean throwing it</a:t>
            </a:r>
          </a:p>
          <a:p>
            <a:r>
              <a:t>away. A little manual care, on a targeted subset, cost less than another LLM round and returned</a:t>
            </a:r>
          </a:p>
          <a:p>
            <a:r>
              <a:t>nearly a thousand valid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we are at the first part's deliverable. Stage 10 reconnects the clean captions to the broadcast</a:t>
            </a:r>
          </a:p>
          <a:p>
            <a:r>
              <a:t>table and produces the final dataset: 38,437 training rows over 1,497 unique images.</a:t>
            </a:r>
          </a:p>
          <a:p>
            <a:r>
              <a:t>The chart shows the row distribution per attribute, and note there's significant variance — paste</a:t>
            </a:r>
          </a:p>
          <a:p>
            <a:r>
              <a:t>structure has nearly double the rows of rind thickness. This imbalance will matter in the</a:t>
            </a:r>
          </a:p>
          <a:p>
            <a:r>
              <a:t>cross-attribute comparison of the second part.</a:t>
            </a:r>
          </a:p>
          <a:p>
            <a:r>
              <a:t>On the format side, we made a flexibility choice: each row carries two caption forms. A compact one,</a:t>
            </a:r>
          </a:p>
          <a:p>
            <a:r>
              <a:t>four to eight words, anchored to the attribute, like "Smell of cream". And a complete declarative</a:t>
            </a:r>
          </a:p>
          <a:p>
            <a:r>
              <a:t>Italian sentence, "The cheese has a smell of cream", better suited to encoder-decoders and to</a:t>
            </a:r>
          </a:p>
          <a:p>
            <a:r>
              <a:t>captioning metrics. This sentence transformation is fully deterministic, with no further LLM round.</a:t>
            </a:r>
          </a:p>
          <a:p>
            <a:r>
              <a:t>The dataset is delivered in several forms — full table with all provenance, simplified four-column</a:t>
            </a:r>
          </a:p>
          <a:p>
            <a:r>
              <a:t>view, and seven per-attribute splits — to serve any downstream architecture. With this we close the</a:t>
            </a:r>
          </a:p>
          <a:p>
            <a:r>
              <a:t>data part and move on to the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Second part: the models.</a:t>
            </a:r>
          </a:p>
          <a:p>
            <a:r>
              <a:t>Here the brief's goal is the comparison of methods, and let me give you the conclusion upfront, so</a:t>
            </a:r>
          </a:p>
          <a:p>
            <a:r>
              <a:t>you can follow the data with the right key. Among everything we could change — the decoder, the</a:t>
            </a:r>
          </a:p>
          <a:p>
            <a:r>
              <a:t>amount of data, the hyperparameters — the single factor that decides whether the model truly uses</a:t>
            </a:r>
          </a:p>
          <a:p>
            <a:r>
              <a:t>the image is one: the visual encoder.</a:t>
            </a:r>
          </a:p>
          <a:p>
            <a:r>
              <a:t>We'll build this conclusion step by step, and verify it with two independent tools: the shuffle test</a:t>
            </a:r>
          </a:p>
          <a:p>
            <a:r>
              <a:t>and the CLIPScore. Let's start with the three architectures.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brief asks for three methods "as conceptually different as possible". We chose them to isolate</a:t>
            </a:r>
          </a:p>
          <a:p>
            <a:r>
              <a:t>the three main axes of variation in captioning.</a:t>
            </a:r>
          </a:p>
          <a:p>
            <a:r>
              <a:t>m1 is the classic: a convolutional encoder, ResNet-50, with an LSTM decoder trained from scratch.</a:t>
            </a:r>
          </a:p>
          <a:p>
            <a:r>
              <a:t>m3 changes the encoder: a Vision Transformer, ViT-B/16, with a Transformer decoder, still from</a:t>
            </a:r>
          </a:p>
          <a:p>
            <a:r>
              <a:t>scratch. m6 changes the decoder: the same ViT, but the decoder is GePpeTto, an already-pretrained</a:t>
            </a:r>
          </a:p>
          <a:p>
            <a:r>
              <a:t>Italian GPT-2.</a:t>
            </a:r>
          </a:p>
          <a:p>
            <a:r>
              <a:t>The beauty of this design is in the axes, at the bottom. Comparing m1 with m3 isolates the encoder's</a:t>
            </a:r>
          </a:p>
          <a:p>
            <a:r>
              <a:t>effect, because the decoder stays the same "from scratch" type. Comparing m3 with m6 isolates the</a:t>
            </a:r>
          </a:p>
          <a:p>
            <a:r>
              <a:t>decoder's effect, because the encoder is identical. It's a small controlled experiment.</a:t>
            </a:r>
          </a:p>
          <a:p>
            <a:r>
              <a:t>A crucial choice for fairness: all encoders are frozen. We train only the decoder and the</a:t>
            </a:r>
          </a:p>
          <a:p>
            <a:r>
              <a:t>cross-attention projection. So each decoder receives exactly the same visual features, and the</a:t>
            </a:r>
          </a:p>
          <a:p>
            <a:r>
              <a:t>differences we observe are attributable to architecture, not to a lucky encoder. This, we'll see,</a:t>
            </a:r>
          </a:p>
          <a:p>
            <a:r>
              <a:t>is also the main limitation, and the main pointer to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experimental setup, briefly. All training ran on Kaggle's free GPU tier, with T4 or P100. The</a:t>
            </a:r>
          </a:p>
          <a:p>
            <a:r>
              <a:t>hyperparameters in the table are reasonable defaults for each architecture, not the fruit of an</a:t>
            </a:r>
          </a:p>
          <a:p>
            <a:r>
              <a:t>exhaustive search: m1 more epochs and a higher learning rate, m6 few epochs and a small learning</a:t>
            </a:r>
          </a:p>
          <a:p>
            <a:r>
              <a:t>rate, as is natural for a pretrained model that only needs fine-tuning.</a:t>
            </a:r>
          </a:p>
          <a:p>
            <a:r>
              <a:t>Two choices ensure a fair comparison. First, the split is sample-disjoint: the same cheese never</a:t>
            </a:r>
          </a:p>
          <a:p>
            <a:r>
              <a:t>appears both in training and in test, so we avoid leakage. Second, at inference we use nucleus</a:t>
            </a:r>
          </a:p>
          <a:p>
            <a:r>
              <a:t>sampling instead of beam search, because on small datasets beam collapses to the most frequent</a:t>
            </a:r>
          </a:p>
          <a:p>
            <a:r>
              <a:t>caption, artificially inflating BLEU but reducing diversity.</a:t>
            </a:r>
          </a:p>
          <a:p>
            <a:r>
              <a:t>The training curves are healthy across all three models, no overfitting, no NaN, no collapse, so</a:t>
            </a:r>
          </a:p>
          <a:p>
            <a:r>
              <a:t>the differences in results are not due to training pathologies.</a:t>
            </a:r>
          </a:p>
          <a:p>
            <a:r>
              <a:t>On the right, a Kaggle lesson learned the hard way, for anyone wanting to reproduce: the enable_gpu</a:t>
            </a:r>
          </a:p>
          <a:p>
            <a:r>
              <a:t>flag in the metadata is not enough, and the preinstalled PyTorch on P100s must be reinstalled.</a:t>
            </a:r>
          </a:p>
          <a:p>
            <a:r>
              <a:t>Details, but the kind that cost you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Let's see the first results, in the per-attribute regime: seven separate models, one per sensory</a:t>
            </a:r>
          </a:p>
          <a:p>
            <a:r>
              <a:t>dimension. The chart shows BLEU-4 per attribute, compared with the most_frequent baseline, the one</a:t>
            </a:r>
          </a:p>
          <a:p>
            <a:r>
              <a:t>that always emits the most frequent caption.</a:t>
            </a:r>
          </a:p>
          <a:p>
            <a:r>
              <a:t>The picture is sharp and two-sided. The trained models clearly beat the constant baseline on four</a:t>
            </a:r>
          </a:p>
          <a:p>
            <a:r>
              <a:t>attributes: paste structure, with a notable margin of over 0.12 points, then smell, texture and</a:t>
            </a:r>
          </a:p>
          <a:p>
            <a:r>
              <a:t>colour. On the other three, aroma, taste and rind thickness, they tie or lose.</a:t>
            </a:r>
          </a:p>
          <a:p>
            <a:r>
              <a:t>Be careful not to misread this "lose". It does not mean the models are poor on those attributes. It</a:t>
            </a:r>
          </a:p>
          <a:p>
            <a:r>
              <a:t>means that there the reference captions are not very diverse, very template-heavy, and under those</a:t>
            </a:r>
          </a:p>
          <a:p>
            <a:r>
              <a:t>conditions BLEU rewards whoever always predicts the majority. It's a flaw of the metric, not of the</a:t>
            </a:r>
          </a:p>
          <a:p>
            <a:r>
              <a:t>model, and we'll prove it shortly with the shuffle test, which on thickness confirms m3 and m6 do</a:t>
            </a:r>
          </a:p>
          <a:p>
            <a:r>
              <a:t>use the image.</a:t>
            </a:r>
          </a:p>
          <a:p>
            <a:r>
              <a:t>In short: 4 of 7 attributes beat the baseline, and the 3 "lost" ones are a BLEU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Let's move to the global regime: a single model trained across all attributes together. It's an</a:t>
            </a:r>
          </a:p>
          <a:p>
            <a:r>
              <a:t>intrinsically harder task, because the model must also choose which sensory dimension to describe,</a:t>
            </a:r>
          </a:p>
          <a:p>
            <a:r>
              <a:t>and it works with a much larger vocabulary.</a:t>
            </a:r>
          </a:p>
          <a:p>
            <a:r>
              <a:t>The chart compares the three models on five metrics. Two observations. First, m6, the ViT with</a:t>
            </a:r>
          </a:p>
          <a:p>
            <a:r>
              <a:t>GePpeTto, wins narrowly almost everywhere: it's first on BLEU-1, BLEU-4 and ROUGE-L, and</a:t>
            </a:r>
          </a:p>
          <a:p>
            <a:r>
              <a:t>essentially tied on METEOR; m3 only beats it on CIDEr. Second, and equally important, the three</a:t>
            </a:r>
          </a:p>
          <a:p>
            <a:r>
              <a:t>models are in a very tight cluster: the BLEU-4 spread is just seven thousandths. They are very close.</a:t>
            </a:r>
          </a:p>
          <a:p>
            <a:r>
              <a:t>A note on the baseline, which I left out of the chart for readability but is crucial: most_frequent,</a:t>
            </a:r>
          </a:p>
          <a:p>
            <a:r>
              <a:t>the constant sentence, would have the highest BLEU-1 of all but the worst BLEU-4. It's the</a:t>
            </a:r>
          </a:p>
          <a:p>
            <a:r>
              <a:t>degenerate behaviour of "always predict the majority": you guess many single words, but you never</a:t>
            </a:r>
          </a:p>
          <a:p>
            <a:r>
              <a:t>compose a correct four-word sequence different from the template. Keep this anomaly in mind: it's</a:t>
            </a:r>
          </a:p>
          <a:p>
            <a:r>
              <a:t>the first clue that BLEU, on its own, is misleading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slide of methodological caution, because it's easy to draw the wrong conclusion.</a:t>
            </a:r>
          </a:p>
          <a:p>
            <a:r>
              <a:t>You'll have noticed that the per-attribute numbers, BLEU-4 from 0.33 to 0.47, are much higher than</a:t>
            </a:r>
          </a:p>
          <a:p>
            <a:r>
              <a:t>the global BLEU-4, around 0.13. A three- or four-fold jump. The temptation is to say: "so the</a:t>
            </a:r>
          </a:p>
          <a:p>
            <a:r>
              <a:t>per-attribute models are much better". Wrong.</a:t>
            </a:r>
          </a:p>
          <a:p>
            <a:r>
              <a:t>That jump doesn't reflect better learning, but the fact that per-attribute evaluation runs on a much</a:t>
            </a:r>
          </a:p>
          <a:p>
            <a:r>
              <a:t>narrower distribution. When you focus on a single attribute, the vocabulary collapses from over 600</a:t>
            </a:r>
          </a:p>
          <a:p>
            <a:r>
              <a:t>words to about 80-140, and the shared scaffolding — "the cheese has a such-and-such attribute of..."</a:t>
            </a:r>
          </a:p>
          <a:p>
            <a:r>
              <a:t>— alone contributes five words of constant 4-gram that send BLEU soaring.</a:t>
            </a:r>
          </a:p>
          <a:p>
            <a:r>
              <a:t>They are two different rulers measuring performance on different distributions. The global model is</a:t>
            </a:r>
          </a:p>
          <a:p>
            <a:r>
              <a:t>intrinsically harder because it must also choose which dimension to describe. Comparing the two</a:t>
            </a:r>
          </a:p>
          <a:p>
            <a:r>
              <a:t>numbers as if on the same scale would be a mistake, and it's the kind of subtlety that separates an</a:t>
            </a:r>
          </a:p>
          <a:p>
            <a:r>
              <a:t>honest analysis from one that fools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We're at the most important result of the whole project. The question is as simple as it is</a:t>
            </a:r>
          </a:p>
          <a:p>
            <a:r>
              <a:t>fundamental: is the model actually using the image, or just mimicking the caption distribution?</a:t>
            </a:r>
          </a:p>
          <a:p>
            <a:r>
              <a:t>The tool is the shuffle test. The idea: if a model is truly conditioned on the image, its prediction</a:t>
            </a:r>
          </a:p>
          <a:p>
            <a:r>
              <a:t>for image i must match the reference of i better than a randomly picked prediction. So we shuffle the</a:t>
            </a:r>
          </a:p>
          <a:p>
            <a:r>
              <a:t>predictions across test rows, breaking the alignment, recompute the overlap a hundred times to get a</a:t>
            </a:r>
          </a:p>
          <a:p>
            <a:r>
              <a:t>null distribution, and measure the z-score. A z above 3 corresponds to p below 0.001: strong</a:t>
            </a:r>
          </a:p>
          <a:p>
            <a:r>
              <a:t>evidence.</a:t>
            </a:r>
          </a:p>
          <a:p>
            <a:r>
              <a:t>The verdict, in the chart, is crystal clear. m1, the ResNet model, has z near zero everywhere: it</a:t>
            </a:r>
          </a:p>
          <a:p>
            <a:r>
              <a:t>never uses the image, it's effectively a pure language model guessing from the distribution. m3 and</a:t>
            </a:r>
          </a:p>
          <a:p>
            <a:r>
              <a:t>m6, the ViT models, clearly use the image on four attributes out of seven: smell, thickness, colour</a:t>
            </a:r>
          </a:p>
          <a:p>
            <a:r>
              <a:t>and structure. The only one where no model uses the image is aroma.</a:t>
            </a:r>
          </a:p>
          <a:p>
            <a:r>
              <a:t>Keep this chart in mind: the next slide draws the architectural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Put the shuffle test together with the two-axis design from the architectures slide, and the</a:t>
            </a:r>
          </a:p>
          <a:p>
            <a:r>
              <a:t>conclusion writes itself.</a:t>
            </a:r>
          </a:p>
          <a:p>
            <a:r>
              <a:t>Comparing m1 with m3, which isolates the encoder: m1 with ResNet never conditions on the image, m3</a:t>
            </a:r>
          </a:p>
          <a:p>
            <a:r>
              <a:t>with ViT does on most attributes. By changing only the encoder, image use switches on. The reading</a:t>
            </a:r>
          </a:p>
          <a:p>
            <a:r>
              <a:t>is that a frozen ResNet-50's features aren't informative enough at this data scale, while a frozen</a:t>
            </a:r>
          </a:p>
          <a:p>
            <a:r>
              <a:t>ViT-B/16's are.</a:t>
            </a:r>
          </a:p>
          <a:p>
            <a:r>
              <a:t>Comparing m3 with m6, which isolates the decoder: they produce different outputs, they never give</a:t>
            </a:r>
          </a:p>
          <a:p>
            <a:r>
              <a:t>the same caption for the same image, yet they have exactly the same image-conditioning profile. The</a:t>
            </a:r>
          </a:p>
          <a:p>
            <a:r>
              <a:t>same attributes succeed, the same fail. Changing the decoder changes the sentence's style, not</a:t>
            </a:r>
          </a:p>
          <a:p>
            <a:r>
              <a:t>whether the image is used.</a:t>
            </a:r>
          </a:p>
          <a:p>
            <a:r>
              <a:t>The synthesis is at the bottom: the binary gate of image-conditioning, on this dataset, is the</a:t>
            </a:r>
          </a:p>
          <a:p>
            <a:r>
              <a:t>visual encoder. Not the decoder, not the amount of data, not the hyperparameters. It's a clean</a:t>
            </a:r>
          </a:p>
          <a:p>
            <a:r>
              <a:t>result, and it also tells us where to act in future: on the encoder. Now let's reinforce this</a:t>
            </a:r>
          </a:p>
          <a:p>
            <a:r>
              <a:t>conclusion with the complementary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We've seen that BLEU, on its own, misleads: it rewards template repetition and never looks at the</a:t>
            </a:r>
          </a:p>
          <a:p>
            <a:r>
              <a:t>image. To read the models more honestly, we paired BLEU with six complementary metrics, groupable</a:t>
            </a:r>
          </a:p>
          <a:p>
            <a:r>
              <a:t>into three families.</a:t>
            </a:r>
          </a:p>
          <a:p>
            <a:r>
              <a:t>The text metrics compare the prediction with the textual reference: besides BLEU, METEOR, which is</a:t>
            </a:r>
          </a:p>
          <a:p>
            <a:r>
              <a:t>more lenient because it aligns with stemming and synonyms, ROUGE-L, which rewards word order, and</a:t>
            </a:r>
          </a:p>
          <a:p>
            <a:r>
              <a:t>CIDEr, designed specifically for captioning, which weights n-grams with TF-IDF and so rewards rare,</a:t>
            </a:r>
          </a:p>
          <a:p>
            <a:r>
              <a:t>informative sensory terms like "eyes" (occhiatura) over common words.</a:t>
            </a:r>
          </a:p>
          <a:p>
            <a:r>
              <a:t>Then a semantic metric, BERTScore, measuring meaning similarity via embeddings. A domain metric,</a:t>
            </a:r>
          </a:p>
          <a:p>
            <a:r>
              <a:t>vocabulary conformity, which asks: does the model "speak cheese" in the certified register?</a:t>
            </a:r>
          </a:p>
          <a:p>
            <a:r>
              <a:t>And finally, highlighted at the bottom, the most important for captioning: CLIPScore, the only one</a:t>
            </a:r>
          </a:p>
          <a:p>
            <a:r>
              <a:t>that truly looks at the image. It compares the caption with the slice in CLIP space, ignoring the</a:t>
            </a:r>
          </a:p>
          <a:p>
            <a:r>
              <a:t>panel reference. The next two slides show what CIDEr and CLIPScore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Let's start with CIDEr, the metric designed specifically for captioning. Unlike BLEU, which</a:t>
            </a:r>
          </a:p>
          <a:p>
            <a:r>
              <a:t>flattened the models onto close values, CIDEr weights rare terms with TF-IDF and so separates them.</a:t>
            </a:r>
          </a:p>
          <a:p>
            <a:r>
              <a:t>Look at the ordering in the chart, on the seven-attribute means: random 0.23, then freq_weighted</a:t>
            </a:r>
          </a:p>
          <a:p>
            <a:r>
              <a:t>0.37, then the trained models rising clearly: m1 at 0.59, m3 at 0.65, m6 at 0.70. CIDEr orders the</a:t>
            </a:r>
          </a:p>
          <a:p>
            <a:r>
              <a:t>models correctly, and confirms m6 is the best. It's exactly the information BLEU couldn't give us: a</a:t>
            </a:r>
          </a:p>
          <a:p>
            <a:r>
              <a:t>clean ranking.</a:t>
            </a:r>
          </a:p>
          <a:p>
            <a:r>
              <a:t>There's one column taller than all, in gold: most_frequent, at 0.79. Don't be fooled: the constant</a:t>
            </a:r>
          </a:p>
          <a:p>
            <a:r>
              <a:t>baseline leads only because, on this dataset, the panel reference is often the frequent sentence</a:t>
            </a:r>
          </a:p>
          <a:p>
            <a:r>
              <a:t>itself. It's an artifact of the single reference, not real quality. On an extreme case like rind</a:t>
            </a:r>
          </a:p>
          <a:p>
            <a:r>
              <a:t>thickness, where BLEU gave 0.39 for everyone, CIDEr ranges from 1.04 to 2.29: a rich ordering BLEU</a:t>
            </a:r>
          </a:p>
          <a:p>
            <a:r>
              <a:t>simply did not see.</a:t>
            </a:r>
          </a:p>
          <a:p>
            <a:r>
              <a:t>Conclusion: CIDEr adds real information and separates the trained models from the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Now CLIPScore, the only metric that looks at the image, and the independent confirmation of the</a:t>
            </a:r>
          </a:p>
          <a:p>
            <a:r>
              <a:t>shuffle test. Two charts, two messages.</a:t>
            </a:r>
          </a:p>
          <a:p>
            <a:r>
              <a:t>On the left, mean CLIPScore by model. Note the axis: I deliberately zoomed in, and despite the zoom</a:t>
            </a:r>
          </a:p>
          <a:p>
            <a:r>
              <a:t>the bars are practically identical. The trained models m1, m3, m6 do not beat the constant baseline</a:t>
            </a:r>
          </a:p>
          <a:p>
            <a:r>
              <a:t>most_frequent, the one that always fires the same sentence ignoring the image. The gap is below</a:t>
            </a:r>
          </a:p>
          <a:p>
            <a:r>
              <a:t>0.004, within the noise. It's the quantitative, independent confirmation of what the shuffle test</a:t>
            </a:r>
          </a:p>
          <a:p>
            <a:r>
              <a:t>already told us: with a frozen encoder, the models don't anchor the caption to the visual content,</a:t>
            </a:r>
          </a:p>
          <a:p>
            <a:r>
              <a:t>they do language modeling on the caption distribution.</a:t>
            </a:r>
          </a:p>
          <a:p>
            <a:r>
              <a:t>On the right, the real variation: it's per attribute, not per model. CLIP "sees" that texture,</a:t>
            </a:r>
          </a:p>
          <a:p>
            <a:r>
              <a:t>colour and structure, the visual attributes, get higher scores, while aroma, taste and smell stay</a:t>
            </a:r>
          </a:p>
          <a:p>
            <a:r>
              <a:t>low for everyone, because no image can reveal a taste. It's a sanity check that validates the metric.</a:t>
            </a:r>
          </a:p>
          <a:p>
            <a:r>
              <a:t>And remember the exception: rind thickness is visible but low, because the rind is a small portion</a:t>
            </a:r>
          </a:p>
          <a:p>
            <a:r>
              <a:t>of the slice and CLIP weights it little. Everything fits.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is the methodological moral of the whole evaluation, condensed into one image.</a:t>
            </a:r>
          </a:p>
          <a:p>
            <a:r>
              <a:t>Look at the same pair of models, the constant baseline most_frequent against m6, seen by two</a:t>
            </a:r>
          </a:p>
          <a:p>
            <a:r>
              <a:t>different metrics. On the left, with BLEU-1, the constant caption wins: it always emits the same</a:t>
            </a:r>
          </a:p>
          <a:p>
            <a:r>
              <a:t>sentence and matches on the prefix. On the right, with CLIPScore, the two are practically</a:t>
            </a:r>
          </a:p>
          <a:p>
            <a:r>
              <a:t>indistinguishable.</a:t>
            </a:r>
          </a:p>
          <a:p>
            <a:r>
              <a:t>The exact same comparison, two opposite verdicts. This vividly demonstrates that a single metric, on</a:t>
            </a:r>
          </a:p>
          <a:p>
            <a:r>
              <a:t>its own, can lie. Had we looked only at BLEU-1, we'd have concluded that a constant sentence beats a</a:t>
            </a:r>
          </a:p>
          <a:p>
            <a:r>
              <a:t>trained model: an absurd conclusion. This is exactly why we built a battery of metrics and read</a:t>
            </a:r>
          </a:p>
          <a:p>
            <a:r>
              <a:t>them together: BLEU for phrasing, CIDEr for salient terms, BERTScore for meaning, and CLIPScore for</a:t>
            </a:r>
          </a:p>
          <a:p>
            <a:r>
              <a:t>image grounding.</a:t>
            </a:r>
          </a:p>
          <a:p>
            <a:r>
              <a:t>BERTScore, for completeness, is poorly discriminating here: all values fall between 0.83 and 0.92,</a:t>
            </a:r>
          </a:p>
          <a:p>
            <a:r>
              <a:t>because all sentences talk about cheese with the same structure. It's useful as a sanity check, not</a:t>
            </a:r>
          </a:p>
          <a:p>
            <a:r>
              <a:t>for ranking. The lesson stands: never trust a single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numbers tell half the story; the generated captions tell the other half. Here you see real</a:t>
            </a:r>
          </a:p>
          <a:p>
            <a:r>
              <a:t>predictions from m6 alongside the panel reference, on test-set samples.</a:t>
            </a:r>
          </a:p>
          <a:p>
            <a:r>
              <a:t>Sometimes it's an exact match: on the aroma of cream, prediction and reference coincide word for</a:t>
            </a:r>
          </a:p>
          <a:p>
            <a:r>
              <a:t>word. On thickness, "the rind is medium-thick", again perfect. But look at the other cases: on taste</a:t>
            </a:r>
          </a:p>
          <a:p>
            <a:r>
              <a:t>the model says "slightly salty and spicy" where the panel said just "salty"; on structure it</a:t>
            </a:r>
          </a:p>
          <a:p>
            <a:r>
              <a:t>proposes "irregular fracture and fine grain" while the reference talks about stretched paste.</a:t>
            </a:r>
          </a:p>
          <a:p>
            <a:r>
              <a:t>From these examples four patterns emerge, summarised at the bottom. First: the scaffolding, "the</a:t>
            </a:r>
          </a:p>
          <a:p>
            <a:r>
              <a:t>cheese has a...", is always correct and alone worth about half the BLEU-4, which is why the numbers</a:t>
            </a:r>
          </a:p>
          <a:p>
            <a:r>
              <a:t>aren't tiny. Second: the language is fluent and grammatical, thanks to the pretrained model. Third,</a:t>
            </a:r>
          </a:p>
          <a:p>
            <a:r>
              <a:t>and most telling: the descriptor is often plausible but refers to another cheese, exactly what we</a:t>
            </a:r>
          </a:p>
          <a:p>
            <a:r>
              <a:t>expect from a model only partially conditioned on the image. Fourth: the variability across tasters</a:t>
            </a:r>
          </a:p>
          <a:p>
            <a:r>
              <a:t>is enormous and puts a ceiling on what any model can achieve with a single-reference BLEU.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Let's wrap up. The project delivers two results and one promise for the future.</a:t>
            </a:r>
          </a:p>
          <a:p>
            <a:r>
              <a:t>The scientific result is the most solid: on this dataset, the determinant of image use is the visual</a:t>
            </a:r>
          </a:p>
          <a:p>
            <a:r>
              <a:t>encoder. ResNet ignores the image on all seven attributes, ViT uses it on four out of seven,</a:t>
            </a:r>
          </a:p>
          <a:p>
            <a:r>
              <a:t>independent of the decoder, the data scale and the hyperparameters. And it's not an isolated claim:</a:t>
            </a:r>
          </a:p>
          <a:p>
            <a:r>
              <a:t>two independent tools, the shuffle test and CLIPScore, converge on the same conclusion.</a:t>
            </a:r>
          </a:p>
          <a:p>
            <a:r>
              <a:t>The practical result: the trained models beat the constant baseline on four attributes out of seven,</a:t>
            </a:r>
          </a:p>
          <a:p>
            <a:r>
              <a:t>with the maximum on structure. m6, the ViT with GePpeTto, wins narrowly almost everywhere. And all</a:t>
            </a:r>
          </a:p>
          <a:p>
            <a:r>
              <a:t>this rests on a 38-thousand-pair dataset built with just 5 dollars and 60 cents of LLM cost.</a:t>
            </a:r>
          </a:p>
          <a:p>
            <a:r>
              <a:t>Future work follows directly from the diagnosis: since the bottleneck is the frozen encoder, the</a:t>
            </a:r>
          </a:p>
          <a:p>
            <a:r>
              <a:t>natural next experiment is fine-tuning the encoder and re-measuring CLIPScore. If the models start</a:t>
            </a:r>
          </a:p>
          <a:p>
            <a:r>
              <a:t>pulling away from the constant baseline, we'll have direct proof that the image is finally being</a:t>
            </a:r>
          </a:p>
          <a:p>
            <a:r>
              <a:t>exploited.</a:t>
            </a:r>
          </a:p>
          <a:p>
            <a:r>
              <a:t>I'll close with an honest framing: none of these models would replace a taster today. They learned</a:t>
            </a:r>
          </a:p>
          <a:p>
            <a:r>
              <a:t>the sensory vocabulary and a partial map from image to descriptor, a result consistent with the</a:t>
            </a:r>
          </a:p>
          <a:p>
            <a:r>
              <a:t>data scale and the intrinsic noise of multi-taster annotation. But the path is mapped, and we know</a:t>
            </a:r>
          </a:p>
          <a:p>
            <a:r>
              <a:t>exactly where to act.</a:t>
            </a:r>
          </a:p>
          <a:p>
            <a:r>
              <a:t>Thank you for your attention.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eese_fetta_1_s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175004"/>
            <a:ext cx="4507992" cy="450799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32929" y="0"/>
            <a:ext cx="1373884" cy="6858000"/>
          </a:xfrm>
          <a:prstGeom prst="rect">
            <a:avLst/>
          </a:prstGeom>
          <a:solidFill>
            <a:srgbClr val="1B334A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77240" y="685800"/>
            <a:ext cx="457200" cy="4572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38478" y="1154430"/>
            <a:ext cx="251460" cy="25146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90907" y="1323593"/>
            <a:ext cx="205740" cy="20574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57300" y="214884"/>
            <a:ext cx="228600" cy="2286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6032" y="530352"/>
            <a:ext cx="182880" cy="18288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67665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400" b="1" i="0" spc="300">
                <a:solidFill>
                  <a:srgbClr val="E0A458"/>
                </a:solidFill>
                <a:latin typeface="Calibri"/>
              </a:rPr>
              <a:t>AI4FQC · PROJECT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6949440" cy="23774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400" b="1" i="0">
                <a:solidFill>
                  <a:srgbClr val="F7F1E3"/>
                </a:solidFill>
                <a:latin typeface="Georgia"/>
              </a:rPr>
              <a:t>Sensory captioning</a:t>
            </a:r>
          </a:p>
          <a:p>
            <a:r>
              <a:rPr sz="4400" b="1" i="0">
                <a:solidFill>
                  <a:srgbClr val="E0A458"/>
                </a:solidFill>
                <a:latin typeface="Georgia"/>
              </a:rPr>
              <a:t>of Trentingrana cheese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97680"/>
            <a:ext cx="64008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700" b="0" i="1" dirty="0">
                <a:solidFill>
                  <a:srgbClr val="D9D2C2"/>
                </a:solidFill>
                <a:latin typeface="Calibri"/>
              </a:rPr>
              <a:t>From dataset construction to comparing three encoder–decoder methods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" y="5074920"/>
            <a:ext cx="18288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5303520"/>
            <a:ext cx="64008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300" b="0" i="0">
                <a:solidFill>
                  <a:srgbClr val="C9C2B2"/>
                </a:solidFill>
                <a:latin typeface="Calibri"/>
              </a:rPr>
              <a:t>Technical report  ·  </a:t>
            </a:r>
            <a:r>
              <a:rPr sz="1300" b="1" i="0">
                <a:solidFill>
                  <a:srgbClr val="F7F1E3"/>
                </a:solidFill>
                <a:latin typeface="Calibri"/>
              </a:rPr>
              <a:t>38,437 image–caption pairs  ·  3 models  ·  7 attributes</a:t>
            </a:r>
          </a:p>
        </p:txBody>
      </p:sp>
    </p:spTree>
    <p:extLst>
      <p:ext uri="{BB962C8B-B14F-4D97-AF65-F5344CB8AC3E}">
        <p14:creationId xmlns:p14="http://schemas.microsoft.com/office/powerpoint/2010/main" val="3440401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Why an AI that describes cheese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943600" cy="15544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15544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5522976" cy="11336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Sensory quality control</a:t>
            </a: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Every wheel of grana is assessed by a panel of expert tasters. It is precious work, but it is slow, subjective and hard to scale across thousands of wheels.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11880"/>
            <a:ext cx="5943600" cy="17830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3611880"/>
            <a:ext cx="82296" cy="17830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3758184"/>
            <a:ext cx="5522976" cy="12875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idea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Input: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IRIS images of cross-sections (controlled lighting)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Output: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a sensory description in Italian, per attribute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Value: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objective, reproducible support to the human panel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74520"/>
            <a:ext cx="4846320" cy="3566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cheese_grana_1_s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993392"/>
            <a:ext cx="3108960" cy="31089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03720" y="5120640"/>
            <a:ext cx="466344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0" i="1" dirty="0">
                <a:solidFill>
                  <a:srgbClr val="8A8A84"/>
                </a:solidFill>
                <a:latin typeface="Calibri"/>
              </a:rPr>
              <a:t>Close-up of the grain </a:t>
            </a:r>
            <a:r>
              <a:rPr lang="it-IT" sz="1200" b="0" i="1" dirty="0">
                <a:solidFill>
                  <a:srgbClr val="8A8A84"/>
                </a:solidFill>
                <a:latin typeface="Calibri"/>
              </a:rPr>
              <a:t>-</a:t>
            </a:r>
            <a:r>
              <a:rPr sz="1200" b="0" i="1" dirty="0">
                <a:solidFill>
                  <a:srgbClr val="8A8A84"/>
                </a:solidFill>
                <a:latin typeface="Calibri"/>
              </a:rPr>
              <a:t> IRIS electronic visual analyzer</a:t>
            </a:r>
          </a:p>
        </p:txBody>
      </p:sp>
    </p:spTree>
    <p:extLst>
      <p:ext uri="{BB962C8B-B14F-4D97-AF65-F5344CB8AC3E}">
        <p14:creationId xmlns:p14="http://schemas.microsoft.com/office/powerpoint/2010/main" val="28255815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2343295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389888" cy="2180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SUBJECT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Seven sensory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0" i="0" dirty="0">
                <a:solidFill>
                  <a:srgbClr val="2B2A26"/>
                </a:solidFill>
                <a:latin typeface="Calibri"/>
              </a:rPr>
              <a:t>For each wheel the panel describes seven dimensions. Three are visible in the image, four are not</a:t>
            </a:r>
            <a:r>
              <a:rPr lang="it-IT" sz="20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2000" b="0" i="0" dirty="0">
                <a:solidFill>
                  <a:srgbClr val="2B2A26"/>
                </a:solidFill>
                <a:latin typeface="Calibri"/>
              </a:rPr>
              <a:t> a distinction that returns in the results.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Rectangle 9"/>
          <p:cNvSpPr/>
          <p:nvPr/>
        </p:nvSpPr>
        <p:spPr>
          <a:xfrm>
            <a:off x="64008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Oval 10"/>
          <p:cNvSpPr/>
          <p:nvPr/>
        </p:nvSpPr>
        <p:spPr>
          <a:xfrm>
            <a:off x="285292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841248" y="286207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Paste </a:t>
            </a:r>
            <a:r>
              <a:rPr sz="2000" b="1" i="0" dirty="0" err="1">
                <a:solidFill>
                  <a:srgbClr val="1B334A"/>
                </a:solidFill>
                <a:latin typeface="Georgia"/>
              </a:rPr>
              <a:t>Colour</a:t>
            </a:r>
            <a:endParaRPr sz="20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5B8C5A"/>
                </a:solidFill>
                <a:latin typeface="Calibri"/>
              </a:rPr>
              <a:t>VISUAL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Rectangle 13"/>
          <p:cNvSpPr/>
          <p:nvPr/>
        </p:nvSpPr>
        <p:spPr>
          <a:xfrm>
            <a:off x="347472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Oval 14"/>
          <p:cNvSpPr/>
          <p:nvPr/>
        </p:nvSpPr>
        <p:spPr>
          <a:xfrm>
            <a:off x="568756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3675888" y="286207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>
                <a:solidFill>
                  <a:srgbClr val="1B334A"/>
                </a:solidFill>
                <a:latin typeface="Georgia"/>
              </a:rPr>
              <a:t>Texture</a:t>
            </a:r>
          </a:p>
          <a:p>
            <a:pPr>
              <a:spcBef>
                <a:spcPts val="400"/>
              </a:spcBef>
            </a:pPr>
            <a:r>
              <a:rPr sz="1600" b="1" i="0" spc="150">
                <a:solidFill>
                  <a:srgbClr val="5B8C5A"/>
                </a:solidFill>
                <a:latin typeface="Calibri"/>
              </a:rPr>
              <a:t>VISUAL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Rectangle 17"/>
          <p:cNvSpPr/>
          <p:nvPr/>
        </p:nvSpPr>
        <p:spPr>
          <a:xfrm>
            <a:off x="630936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Oval 18"/>
          <p:cNvSpPr/>
          <p:nvPr/>
        </p:nvSpPr>
        <p:spPr>
          <a:xfrm>
            <a:off x="852220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6510528" y="2862072"/>
            <a:ext cx="2011680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Paste Structure</a:t>
            </a: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5B8C5A"/>
                </a:solidFill>
                <a:latin typeface="Calibri"/>
              </a:rPr>
              <a:t>VISUAL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ectangle 21"/>
          <p:cNvSpPr/>
          <p:nvPr/>
        </p:nvSpPr>
        <p:spPr>
          <a:xfrm>
            <a:off x="9144000" y="2606040"/>
            <a:ext cx="2670048" cy="109728"/>
          </a:xfrm>
          <a:prstGeom prst="rect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Oval 22"/>
          <p:cNvSpPr/>
          <p:nvPr/>
        </p:nvSpPr>
        <p:spPr>
          <a:xfrm>
            <a:off x="11356848" y="2898648"/>
            <a:ext cx="256032" cy="256032"/>
          </a:xfrm>
          <a:prstGeom prst="ellipse">
            <a:avLst/>
          </a:prstGeom>
          <a:solidFill>
            <a:srgbClr val="C88836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TextBox 23"/>
          <p:cNvSpPr txBox="1"/>
          <p:nvPr/>
        </p:nvSpPr>
        <p:spPr>
          <a:xfrm>
            <a:off x="9345168" y="2862072"/>
            <a:ext cx="2011680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Rind Thickness</a:t>
            </a: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C88836"/>
                </a:solidFill>
                <a:latin typeface="Calibri"/>
              </a:rPr>
              <a:t>VISUAL*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Rectangle 25"/>
          <p:cNvSpPr/>
          <p:nvPr/>
        </p:nvSpPr>
        <p:spPr>
          <a:xfrm>
            <a:off x="64008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Oval 26"/>
          <p:cNvSpPr/>
          <p:nvPr/>
        </p:nvSpPr>
        <p:spPr>
          <a:xfrm>
            <a:off x="285292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8" name="TextBox 27"/>
          <p:cNvSpPr txBox="1"/>
          <p:nvPr/>
        </p:nvSpPr>
        <p:spPr>
          <a:xfrm>
            <a:off x="84124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Smell</a:t>
            </a: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2C5F8A"/>
                </a:solidFill>
                <a:latin typeface="Calibri"/>
              </a:rPr>
              <a:t>OLFACTORY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Rectangle 29"/>
          <p:cNvSpPr/>
          <p:nvPr/>
        </p:nvSpPr>
        <p:spPr>
          <a:xfrm>
            <a:off x="347472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Oval 30"/>
          <p:cNvSpPr/>
          <p:nvPr/>
        </p:nvSpPr>
        <p:spPr>
          <a:xfrm>
            <a:off x="568756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2" name="TextBox 31"/>
          <p:cNvSpPr txBox="1"/>
          <p:nvPr/>
        </p:nvSpPr>
        <p:spPr>
          <a:xfrm>
            <a:off x="367588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>
                <a:solidFill>
                  <a:srgbClr val="1B334A"/>
                </a:solidFill>
                <a:latin typeface="Georgia"/>
              </a:rPr>
              <a:t>Aroma</a:t>
            </a:r>
          </a:p>
          <a:p>
            <a:pPr>
              <a:spcBef>
                <a:spcPts val="400"/>
              </a:spcBef>
            </a:pPr>
            <a:r>
              <a:rPr sz="1600" b="1" i="0" spc="150">
                <a:solidFill>
                  <a:srgbClr val="2C5F8A"/>
                </a:solidFill>
                <a:latin typeface="Calibri"/>
              </a:rPr>
              <a:t>OLFACTORY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Rectangle 33"/>
          <p:cNvSpPr/>
          <p:nvPr/>
        </p:nvSpPr>
        <p:spPr>
          <a:xfrm>
            <a:off x="6309360" y="4251960"/>
            <a:ext cx="2670048" cy="109728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Oval 34"/>
          <p:cNvSpPr/>
          <p:nvPr/>
        </p:nvSpPr>
        <p:spPr>
          <a:xfrm>
            <a:off x="8522208" y="4544568"/>
            <a:ext cx="256032" cy="256032"/>
          </a:xfrm>
          <a:prstGeom prst="ellipse">
            <a:avLst/>
          </a:prstGeom>
          <a:solidFill>
            <a:srgbClr val="C1492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6" name="TextBox 35"/>
          <p:cNvSpPr txBox="1"/>
          <p:nvPr/>
        </p:nvSpPr>
        <p:spPr>
          <a:xfrm>
            <a:off x="651052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>
                <a:solidFill>
                  <a:srgbClr val="1B334A"/>
                </a:solidFill>
                <a:latin typeface="Georgia"/>
              </a:rPr>
              <a:t>Taste</a:t>
            </a:r>
          </a:p>
          <a:p>
            <a:pPr>
              <a:spcBef>
                <a:spcPts val="400"/>
              </a:spcBef>
            </a:pPr>
            <a:r>
              <a:rPr sz="1600" b="1" i="0" spc="150">
                <a:solidFill>
                  <a:srgbClr val="C1492E"/>
                </a:solidFill>
                <a:latin typeface="Calibri"/>
              </a:rPr>
              <a:t>GUSTATORY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4251960"/>
            <a:ext cx="2670048" cy="141732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TextBox 37"/>
          <p:cNvSpPr txBox="1"/>
          <p:nvPr/>
        </p:nvSpPr>
        <p:spPr>
          <a:xfrm>
            <a:off x="9345168" y="4434840"/>
            <a:ext cx="2304288" cy="83356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>
                <a:solidFill>
                  <a:srgbClr val="E0A458"/>
                </a:solidFill>
                <a:latin typeface="Calibri"/>
              </a:rPr>
              <a:t>* visible but small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F7F1E3"/>
                </a:solidFill>
                <a:latin typeface="Calibri"/>
              </a:rPr>
              <a:t>The rind is a small area: CLIP weights it little.</a:t>
            </a:r>
          </a:p>
        </p:txBody>
      </p:sp>
    </p:spTree>
    <p:extLst>
      <p:ext uri="{BB962C8B-B14F-4D97-AF65-F5344CB8AC3E}">
        <p14:creationId xmlns:p14="http://schemas.microsoft.com/office/powerpoint/2010/main" val="2123928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2505340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125059" cy="2180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Two steps, one comparison goal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3832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20774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Step 1 · Text pre-processing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Clean and normalize telegraphic, dialectal, inconsistent descriptions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Replace quantitative measures (mm/cm) with qualitative descriptions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Produce captions as complete Italian sentences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≈ 70%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3832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2446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Step 2 · Three captioning methods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Apply three «as conceptually different as possible» 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 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encoder–decoders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Focus on comparing methods, not on the single «best» model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Multi-metric evaluation beyond BLEU alone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≈ 30%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</p:spTree>
    <p:extLst>
      <p:ext uri="{BB962C8B-B14F-4D97-AF65-F5344CB8AC3E}">
        <p14:creationId xmlns:p14="http://schemas.microsoft.com/office/powerpoint/2010/main" val="2048947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921240" y="96012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23626" y="146989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85199" y="164820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447020" y="53492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454896" y="85953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600200" y="544068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361438" y="590931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213867" y="607847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80260" y="496976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78992" y="528523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42416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600" b="1" i="0" dirty="0">
                <a:solidFill>
                  <a:srgbClr val="F7F1E3"/>
                </a:solidFill>
                <a:latin typeface="Georgia"/>
              </a:rPr>
              <a:t>Building the dataset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6052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9601200" cy="3026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0" i="1" dirty="0">
                <a:solidFill>
                  <a:srgbClr val="D9D2C2"/>
                </a:solidFill>
                <a:latin typeface="Calibri"/>
              </a:rPr>
              <a:t>From 51,988 raw, dialectal rows to 38,437 clean image–caption pairs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STARTING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Rich data, but misaligned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461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2992982" cy="202619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What we had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2,745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BMP photos of sections (Slice / Grain)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4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Excel workbooks (201</a:t>
            </a:r>
            <a:r>
              <a:rPr lang="it-IT" sz="1600" dirty="0">
                <a:solidFill>
                  <a:srgbClr val="2B2A26"/>
                </a:solidFill>
                <a:latin typeface="Calibri"/>
              </a:rPr>
              <a:t>8-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2021), one sheet per attribute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1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codebook: dairy ↔ product ↔ letter (16 dairies)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920240"/>
            <a:ext cx="82296" cy="32461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2066544"/>
            <a:ext cx="3099816" cy="214930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join problem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b="1" i="0" dirty="0">
              <a:solidFill>
                <a:srgbClr val="1B334A"/>
              </a:solidFill>
              <a:latin typeface="Georgia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Images and comments «spoke different languages». The filename identifies the single wheel; the comment only the taster's tray. No row-level join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only a dairy-level join, via the codebook.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920240"/>
            <a:ext cx="361188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920240"/>
            <a:ext cx="82296" cy="324612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11311" y="2066544"/>
            <a:ext cx="3191256" cy="20774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Invisible obstacles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Triple dairy indexing: TN_306 / TN306 / 306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Inconsistent headers across years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Italian decimal comma ('7,48')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Provenance propagated downstream → traceability</a:t>
            </a:r>
          </a:p>
        </p:txBody>
      </p:sp>
    </p:spTree>
    <p:extLst>
      <p:ext uri="{BB962C8B-B14F-4D97-AF65-F5344CB8AC3E}">
        <p14:creationId xmlns:p14="http://schemas.microsoft.com/office/powerpoint/2010/main" val="1603431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JOIN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Dairy-level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broadcast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0" i="0" dirty="0">
                <a:solidFill>
                  <a:srgbClr val="2B2A26"/>
                </a:solidFill>
                <a:latin typeface="Calibri"/>
              </a:rPr>
              <a:t>Each comment is propagated to all coherent images of that dairy in that session: up to 4 rows from a single comment.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2468880" cy="1188720"/>
          </a:xfrm>
          <a:prstGeom prst="roundRect">
            <a:avLst/>
          </a:prstGeom>
          <a:solidFill>
            <a:srgbClr val="F6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82296" cy="11887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914400" y="3610874"/>
            <a:ext cx="2194560" cy="73353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1B334A"/>
                </a:solidFill>
                <a:latin typeface="Calibri"/>
              </a:rPr>
              <a:t>Panel comment</a:t>
            </a:r>
          </a:p>
          <a:p>
            <a:r>
              <a:rPr b="1" i="1" dirty="0">
                <a:solidFill>
                  <a:srgbClr val="C1492E"/>
                </a:solidFill>
                <a:latin typeface="Georgia"/>
              </a:rPr>
              <a:t>«Sauerkraut»</a:t>
            </a:r>
          </a:p>
          <a:p>
            <a:r>
              <a:rPr sz="1200" b="0" i="0" dirty="0">
                <a:solidFill>
                  <a:srgbClr val="8A8A84"/>
                </a:solidFill>
                <a:latin typeface="Calibri"/>
              </a:rPr>
              <a:t>(Smell · TN_306)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560320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4754880" y="2707850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P3a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Slice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24612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0" y="3273552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Rectangle 16"/>
          <p:cNvSpPr/>
          <p:nvPr/>
        </p:nvSpPr>
        <p:spPr>
          <a:xfrm>
            <a:off x="4572000" y="3273552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4754880" y="3421082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P3a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Grain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24612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0" y="3986784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Rectangle 20"/>
          <p:cNvSpPr/>
          <p:nvPr/>
        </p:nvSpPr>
        <p:spPr>
          <a:xfrm>
            <a:off x="4572000" y="3986784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4754880" y="4134314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P3b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Slice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72000" y="4700016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Rectangle 24"/>
          <p:cNvSpPr/>
          <p:nvPr/>
        </p:nvSpPr>
        <p:spPr>
          <a:xfrm>
            <a:off x="4572000" y="4700016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4754880" y="4847546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P3b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Grain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4612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412480" y="3383280"/>
            <a:ext cx="3017520" cy="1188720"/>
          </a:xfrm>
          <a:prstGeom prst="roundRect">
            <a:avLst/>
          </a:prstGeom>
          <a:solidFill>
            <a:srgbClr val="E3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Rectangle 28"/>
          <p:cNvSpPr/>
          <p:nvPr/>
        </p:nvSpPr>
        <p:spPr>
          <a:xfrm>
            <a:off x="8412480" y="3383280"/>
            <a:ext cx="82296" cy="11887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8595360" y="3733984"/>
            <a:ext cx="2743200" cy="48731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1B334A"/>
                </a:solidFill>
                <a:latin typeface="Calibri"/>
              </a:rPr>
              <a:t>4 image</a:t>
            </a:r>
            <a:r>
              <a:rPr lang="it-IT" sz="1600" b="1" i="0" dirty="0">
                <a:solidFill>
                  <a:srgbClr val="1B334A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1B334A"/>
                </a:solidFill>
                <a:latin typeface="Calibri"/>
              </a:rPr>
              <a:t>caption rows</a:t>
            </a:r>
          </a:p>
          <a:p>
            <a:r>
              <a:rPr sz="1400" b="0" i="0" dirty="0">
                <a:solidFill>
                  <a:srgbClr val="5B8C5A"/>
                </a:solidFill>
                <a:latin typeface="Calibri"/>
              </a:rPr>
              <a:t>(same caption)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8660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08660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08660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08660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417E1E9B-2FE2-82B9-DCD6-8C068B39B11A}"/>
              </a:ext>
            </a:extLst>
          </p:cNvPr>
          <p:cNvGrpSpPr/>
          <p:nvPr/>
        </p:nvGrpSpPr>
        <p:grpSpPr>
          <a:xfrm>
            <a:off x="723418" y="5413248"/>
            <a:ext cx="10698480" cy="640080"/>
            <a:chOff x="731520" y="4892040"/>
            <a:chExt cx="10698480" cy="640080"/>
          </a:xfrm>
        </p:grpSpPr>
        <p:sp>
          <p:nvSpPr>
            <p:cNvPr id="35" name="Rounded Rectangle 34"/>
            <p:cNvSpPr/>
            <p:nvPr/>
          </p:nvSpPr>
          <p:spPr>
            <a:xfrm>
              <a:off x="731520" y="4892040"/>
              <a:ext cx="10698480" cy="640080"/>
            </a:xfrm>
            <a:prstGeom prst="roundRect">
              <a:avLst/>
            </a:prstGeom>
            <a:solidFill>
              <a:srgbClr val="1B3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29640" y="4993850"/>
              <a:ext cx="10332720" cy="271869"/>
            </a:xfrm>
            <a:prstGeom prst="rect">
              <a:avLst/>
            </a:prstGeom>
            <a:noFill/>
          </p:spPr>
          <p:txBody>
            <a:bodyPr wrap="square" lIns="25400" tIns="12700" rIns="25400" bIns="12700" anchor="ctr">
              <a:spAutoFit/>
            </a:bodyPr>
            <a:lstStyle/>
            <a:p>
              <a:r>
                <a:rPr sz="1600" b="1" i="0" dirty="0">
                  <a:solidFill>
                    <a:srgbClr val="E0A458"/>
                  </a:solidFill>
                  <a:latin typeface="Calibri"/>
                </a:rPr>
                <a:t>Net effect:  </a:t>
              </a:r>
              <a:r>
                <a:rPr sz="1600" b="0" i="0" dirty="0">
                  <a:solidFill>
                    <a:srgbClr val="F7F1E3"/>
                  </a:solidFill>
                  <a:latin typeface="Calibri"/>
                </a:rPr>
                <a:t>51,988 rows (image × panelist × attribute) · 39,510 with a comment · pairing rate ≈ 76%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756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An eleven-stage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 dirty="0">
                <a:solidFill>
                  <a:srgbClr val="2B2A26"/>
                </a:solidFill>
                <a:latin typeface="Calibri"/>
              </a:rPr>
              <a:t>Guiding principle: 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deterministic-before-the-LLM</a:t>
            </a:r>
            <a:r>
              <a:rPr lang="it-IT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everything that can be done with reproducible, free code is done before calling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Oval 9"/>
          <p:cNvSpPr/>
          <p:nvPr/>
        </p:nvSpPr>
        <p:spPr>
          <a:xfrm>
            <a:off x="85039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85039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Unified table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51,988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Oval 13"/>
          <p:cNvSpPr/>
          <p:nvPr/>
        </p:nvSpPr>
        <p:spPr>
          <a:xfrm>
            <a:off x="455371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455371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Deterministic prep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39,356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Oval 17"/>
          <p:cNvSpPr/>
          <p:nvPr/>
        </p:nvSpPr>
        <p:spPr>
          <a:xfrm>
            <a:off x="825703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825703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2–3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Vocabulary + audit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 attr.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Oval 21"/>
          <p:cNvSpPr/>
          <p:nvPr/>
        </p:nvSpPr>
        <p:spPr>
          <a:xfrm>
            <a:off x="85039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85039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Cleanup + qualitative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7,705 unique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Oval 25"/>
          <p:cNvSpPr/>
          <p:nvPr/>
        </p:nvSpPr>
        <p:spPr>
          <a:xfrm>
            <a:off x="455371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TextBox 26"/>
          <p:cNvSpPr txBox="1"/>
          <p:nvPr/>
        </p:nvSpPr>
        <p:spPr>
          <a:xfrm>
            <a:off x="455371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Noise drop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7,689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Oval 29"/>
          <p:cNvSpPr/>
          <p:nvPr/>
        </p:nvSpPr>
        <p:spPr>
          <a:xfrm>
            <a:off x="8257032" y="4032504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TextBox 30"/>
          <p:cNvSpPr txBox="1"/>
          <p:nvPr/>
        </p:nvSpPr>
        <p:spPr>
          <a:xfrm>
            <a:off x="825703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6–7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3368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Prompt + pilot</a:t>
            </a:r>
          </a:p>
          <a:p>
            <a:r>
              <a:rPr b="1" i="0">
                <a:solidFill>
                  <a:srgbClr val="C88836"/>
                </a:solidFill>
                <a:latin typeface="Calibri"/>
              </a:rPr>
              <a:t>105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Oval 33"/>
          <p:cNvSpPr/>
          <p:nvPr/>
        </p:nvSpPr>
        <p:spPr>
          <a:xfrm>
            <a:off x="850392" y="5276088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TextBox 34"/>
          <p:cNvSpPr txBox="1"/>
          <p:nvPr/>
        </p:nvSpPr>
        <p:spPr>
          <a:xfrm>
            <a:off x="85039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704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LLM batch</a:t>
            </a:r>
          </a:p>
          <a:p>
            <a:r>
              <a:rPr b="1" i="0">
                <a:solidFill>
                  <a:srgbClr val="C88836"/>
                </a:solidFill>
                <a:latin typeface="Calibri"/>
              </a:rPr>
              <a:t>7,689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8912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Oval 37"/>
          <p:cNvSpPr/>
          <p:nvPr/>
        </p:nvSpPr>
        <p:spPr>
          <a:xfrm>
            <a:off x="455371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455371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036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Manual salvage</a:t>
            </a:r>
          </a:p>
          <a:p>
            <a:r>
              <a:rPr b="1" i="0">
                <a:solidFill>
                  <a:srgbClr val="5B8C5A"/>
                </a:solidFill>
                <a:latin typeface="Calibri"/>
              </a:rPr>
              <a:t>+916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Oval 41"/>
          <p:cNvSpPr/>
          <p:nvPr/>
        </p:nvSpPr>
        <p:spPr>
          <a:xfrm>
            <a:off x="825703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3" name="TextBox 42"/>
          <p:cNvSpPr txBox="1"/>
          <p:nvPr/>
        </p:nvSpPr>
        <p:spPr>
          <a:xfrm>
            <a:off x="825703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3368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Broadcast + sentence</a:t>
            </a:r>
          </a:p>
          <a:p>
            <a:r>
              <a:rPr b="1" i="0">
                <a:solidFill>
                  <a:srgbClr val="5B8C5A"/>
                </a:solidFill>
                <a:latin typeface="Calibri"/>
              </a:rPr>
              <a:t>38,437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137491"/>
            <a:ext cx="1078992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1" i="0">
                <a:solidFill>
                  <a:srgbClr val="2C5F8A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deterministic (free)    </a:t>
            </a:r>
            <a:r>
              <a:rPr sz="1600" b="1" i="0">
                <a:solidFill>
                  <a:srgbClr val="C88836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with LLM    </a:t>
            </a:r>
            <a:r>
              <a:rPr sz="1600" b="1" i="0">
                <a:solidFill>
                  <a:srgbClr val="5B8C5A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final assembly</a:t>
            </a:r>
          </a:p>
        </p:txBody>
      </p:sp>
    </p:spTree>
    <p:extLst>
      <p:ext uri="{BB962C8B-B14F-4D97-AF65-F5344CB8AC3E}">
        <p14:creationId xmlns:p14="http://schemas.microsoft.com/office/powerpoint/2010/main" val="3734075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DATA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funnel: where rows are lost (and kept)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94013"/>
            <a:ext cx="7040880" cy="347581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183127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lang="it-IT" sz="1600" b="1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12,632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rows in deterministic prep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12,478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empty / null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86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meta-comments  ·  68 near-empty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75.7%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retention after stage 1</a:t>
            </a:r>
          </a:p>
        </p:txBody>
      </p:sp>
    </p:spTree>
    <p:extLst>
      <p:ext uri="{BB962C8B-B14F-4D97-AF65-F5344CB8AC3E}">
        <p14:creationId xmlns:p14="http://schemas.microsoft.com/office/powerpoint/2010/main" val="1496007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Deterministic prep: clean without rewriting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492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918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4928616" cy="188256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Operations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Filter empties/N-A + Unicode normalization (NFC)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Remove non-breaking spaces, zero-width, tabs, newlines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Drop meta-comments (small, conservative blacklist)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Drop near-empty noise (&lt; 2 alphanumeric characters)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Dual column raw / norm → reversibility and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920240"/>
            <a:ext cx="5440680" cy="3291840"/>
          </a:xfrm>
          <a:prstGeom prst="round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6480" y="1920240"/>
            <a:ext cx="82296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82512" y="2066544"/>
            <a:ext cx="5020056" cy="187230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Philosophy</a:t>
            </a:r>
          </a:p>
          <a:p>
            <a:r>
              <a:rPr sz="1600" b="0" i="0" dirty="0">
                <a:solidFill>
                  <a:srgbClr val="F7F1E3"/>
                </a:solidFill>
                <a:latin typeface="Calibri"/>
              </a:rPr>
              <a:t>«Drops must be certain». The LLM will handle ambiguity better: a negation with a descriptor: «I don't penalize it, but it smells of barn»  carries real information and is kept.
Result: 39,356 rows (75.7% retention), 12,632 drops, of which 12,478 empty, 86 meta, 68 near-empty.</a:t>
            </a:r>
          </a:p>
        </p:txBody>
      </p:sp>
    </p:spTree>
    <p:extLst>
      <p:ext uri="{BB962C8B-B14F-4D97-AF65-F5344CB8AC3E}">
        <p14:creationId xmlns:p14="http://schemas.microsoft.com/office/powerpoint/2010/main" val="1748979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2–3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 dirty="0">
                <a:solidFill>
                  <a:srgbClr val="1B334A"/>
                </a:solidFill>
                <a:latin typeface="Georgia"/>
              </a:rPr>
              <a:t>A controlled </a:t>
            </a:r>
            <a:r>
              <a:rPr sz="3600" b="1" i="0" dirty="0">
                <a:solidFill>
                  <a:srgbClr val="1B334A"/>
                </a:solidFill>
                <a:latin typeface="Georgia"/>
              </a:rPr>
              <a:t>vocabulary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, tailor-made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vo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48755"/>
            <a:ext cx="7040880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24776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 dirty="0">
                <a:solidFill>
                  <a:srgbClr val="1B334A"/>
                </a:solidFill>
                <a:latin typeface="Georgia"/>
              </a:rPr>
              <a:t>Why custom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Italian NLP tools err: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panna→panno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latte→latto</a:t>
            </a:r>
            <a:endParaRPr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Useful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stopwords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here: «molto», «poco», «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leggermente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»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Deterministic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lemmatiser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+ sing./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plur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. merge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Dual use: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audit basis + stylistic anchor in the prompt</a:t>
            </a:r>
          </a:p>
        </p:txBody>
      </p:sp>
    </p:spTree>
    <p:extLst>
      <p:ext uri="{BB962C8B-B14F-4D97-AF65-F5344CB8AC3E}">
        <p14:creationId xmlns:p14="http://schemas.microsoft.com/office/powerpoint/2010/main" val="651749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4 · KEY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 dirty="0">
                <a:solidFill>
                  <a:srgbClr val="1B334A"/>
                </a:solidFill>
                <a:latin typeface="Georgia"/>
              </a:rPr>
              <a:t>From numbers to </a:t>
            </a:r>
            <a:r>
              <a:rPr sz="3600" b="1" i="0" dirty="0">
                <a:solidFill>
                  <a:srgbClr val="1B334A"/>
                </a:solidFill>
                <a:latin typeface="Georgia"/>
              </a:rPr>
              <a:t>quality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: the rind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Hundreds</a:t>
            </a:r>
            <a:r>
              <a:rPr sz="1350" b="0" i="0" dirty="0">
                <a:solidFill>
                  <a:srgbClr val="2B2A26"/>
                </a:solidFill>
                <a:latin typeface="Calibri"/>
              </a:rPr>
              <a:t> of captions were just measures («10», «1 cm», «8-10 mm»). A deterministic function converts everything to mm and assigns a bucket.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560320"/>
          <a:ext cx="4297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Threshold (mm)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Bucket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&lt; 8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Very thin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8 ≤ x &lt; 10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Thin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10 ≤ x &lt; 14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14 ≤ x &lt; 18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Thick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≥ 18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2B2A26"/>
                          </a:solidFill>
                          <a:latin typeface="Calibri"/>
                        </a:rPr>
                        <a:t>Very thick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257800" y="2514600"/>
            <a:ext cx="6309360" cy="3291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ig_spess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249" y="2651760"/>
            <a:ext cx="5000461" cy="301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2343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4 · THE DECISIVE TRICK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Deduplication: 5.1× compression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ded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48755"/>
            <a:ext cx="7040880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28674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Why it matters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The broadcast replicates the same text many times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39,356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rows → 7,705 unique captions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5.1×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compression by (caption, attribute) key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Dominant 4× pattern: 6,595 captions exactly 4 times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→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cuts the LLM cost ~5×</a:t>
            </a:r>
            <a:endParaRPr sz="1200" b="0" i="0" dirty="0">
              <a:solidFill>
                <a:srgbClr val="2B2A26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81007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6–8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LLM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rewriting: the genuinely hard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5204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3099816" cy="20774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6 · Prompt design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Per-attribute system prompt (~5 KB)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11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rules (zero invention, NON_DESCRITTO escape)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Top-60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lemmas as a style anchor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real few-shot examples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5204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920240"/>
            <a:ext cx="82296" cy="32918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2066544"/>
            <a:ext cx="3099816" cy="20774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7 · Pilot run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105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captions (15 per attribute)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Found 2 failure modes: 1cm vs 10mm; empty format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Both fixed in the prompt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3 workers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= optimal; 8 → storms of 429s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920240"/>
            <a:ext cx="361188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920240"/>
            <a:ext cx="82296" cy="329184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11311" y="2066544"/>
            <a:ext cx="3191256" cy="198515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8 · Full batch</a:t>
            </a:r>
          </a:p>
          <a:p>
            <a:pPr>
              <a:spcBef>
                <a:spcPts val="400"/>
              </a:spcBef>
            </a:pPr>
            <a:r>
              <a:rPr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b="1" i="0" dirty="0">
                <a:solidFill>
                  <a:srgbClr val="2B2A26"/>
                </a:solidFill>
                <a:latin typeface="Calibri"/>
              </a:rPr>
              <a:t>7,689 / 7,689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completed, 0 errors</a:t>
            </a:r>
          </a:p>
          <a:p>
            <a:pPr>
              <a:spcBef>
                <a:spcPts val="400"/>
              </a:spcBef>
            </a:pPr>
            <a:r>
              <a:rPr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b="1" i="0" dirty="0">
                <a:solidFill>
                  <a:srgbClr val="2B2A26"/>
                </a:solidFill>
                <a:latin typeface="Calibri"/>
              </a:rPr>
              <a:t>~25</a:t>
            </a:r>
            <a:r>
              <a:rPr lang="it-IT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b="1" i="0" dirty="0">
                <a:solidFill>
                  <a:srgbClr val="2B2A26"/>
                </a:solidFill>
                <a:latin typeface="Calibri"/>
              </a:rPr>
              <a:t>30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minutes</a:t>
            </a:r>
          </a:p>
          <a:p>
            <a:pPr>
              <a:spcBef>
                <a:spcPts val="400"/>
              </a:spcBef>
            </a:pPr>
            <a:r>
              <a:rPr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b="1" i="0" dirty="0">
                <a:solidFill>
                  <a:srgbClr val="2B2A26"/>
                </a:solidFill>
                <a:latin typeface="Calibri"/>
              </a:rPr>
              <a:t>Haiku 4.5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· Anthropic Batch API</a:t>
            </a:r>
          </a:p>
          <a:p>
            <a:pPr>
              <a:spcBef>
                <a:spcPts val="400"/>
              </a:spcBef>
            </a:pPr>
            <a:r>
              <a:rPr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b="1" i="0" dirty="0">
                <a:solidFill>
                  <a:srgbClr val="2B2A26"/>
                </a:solidFill>
                <a:latin typeface="Calibri"/>
              </a:rPr>
              <a:t>~$4.50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for the batch</a:t>
            </a:r>
          </a:p>
        </p:txBody>
      </p:sp>
    </p:spTree>
    <p:extLst>
      <p:ext uri="{BB962C8B-B14F-4D97-AF65-F5344CB8AC3E}">
        <p14:creationId xmlns:p14="http://schemas.microsoft.com/office/powerpoint/2010/main" val="25800652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MODEL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 dirty="0">
                <a:solidFill>
                  <a:srgbClr val="1B334A"/>
                </a:solidFill>
                <a:latin typeface="Georgia"/>
              </a:rPr>
              <a:t>Why Haiku 4.5: same job, a </a:t>
            </a:r>
            <a:r>
              <a:rPr sz="3600" b="1" i="0" dirty="0">
                <a:solidFill>
                  <a:srgbClr val="1B334A"/>
                </a:solidFill>
                <a:latin typeface="Georgia"/>
              </a:rPr>
              <a:t>fraction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of the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6596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35240" y="2011680"/>
            <a:ext cx="3931920" cy="37947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9476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183127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pilot's verdict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2.4×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cheaper than Sonnet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cheaper than Opus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On the verified task, bigger models gave no measurable extra quality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$5.60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total LLM cost of the project</a:t>
            </a:r>
          </a:p>
        </p:txBody>
      </p:sp>
    </p:spTree>
    <p:extLst>
      <p:ext uri="{BB962C8B-B14F-4D97-AF65-F5344CB8AC3E}">
        <p14:creationId xmlns:p14="http://schemas.microsoft.com/office/powerpoint/2010/main" val="2525160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PROGRAMMATIC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Step 1 is satisfied 100%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65960"/>
          <a:ext cx="7040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9451"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1270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Violations</a:t>
                      </a:r>
                      <a:endParaRPr sz="1400" b="1" i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1270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starts with the expected attribute prefix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C88836"/>
                          </a:solidFill>
                          <a:latin typeface="Calibri"/>
                        </a:rPr>
                        <a:t>1*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contains digits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contains units (mm / cm / %)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longer than 25 words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empty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45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multi-line or with markup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955279" y="1965960"/>
            <a:ext cx="3611880" cy="361188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1965960"/>
            <a:ext cx="82296" cy="361188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12264"/>
            <a:ext cx="3191256" cy="268791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5B8C5A"/>
                </a:solidFill>
                <a:latin typeface="Georgia"/>
              </a:rPr>
              <a:t>Zero numbers,</a:t>
            </a:r>
          </a:p>
          <a:p>
            <a:r>
              <a:rPr sz="2400" b="1" i="0" dirty="0">
                <a:solidFill>
                  <a:srgbClr val="5B8C5A"/>
                </a:solidFill>
                <a:latin typeface="Georgia"/>
              </a:rPr>
              <a:t>zero units</a:t>
            </a:r>
          </a:p>
          <a:p>
            <a:r>
              <a:rPr sz="1300" b="0" i="0" dirty="0">
                <a:solidFill>
                  <a:srgbClr val="F7F1E3"/>
                </a:solidFill>
                <a:latin typeface="Calibri"/>
              </a:rPr>
              <a:t>
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The quantitative → qualitative conversion succeeded 100%: the main requirement of Step 1 is fully met.
* the only «violation» is an alternative, still-valid prefix.</a:t>
            </a:r>
            <a:endParaRPr sz="1300" b="0" i="0" dirty="0">
              <a:solidFill>
                <a:srgbClr val="F7F1E3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809196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Manual salvage: cleaning ≠ throwing 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salv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01223"/>
            <a:ext cx="6766560" cy="306139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35240" y="2011680"/>
            <a:ext cx="393192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231345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Hand-curation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291/362 NON_DESCRITTO had a vocabulary lemma → LLM too cautious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178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captions salvaged by hand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«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marcio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, 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putrido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,»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→ «Smell of rot and putridity.»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362 → 184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unique NON_DESCRITTO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+916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training rows recovered</a:t>
            </a:r>
          </a:p>
        </p:txBody>
      </p:sp>
    </p:spTree>
    <p:extLst>
      <p:ext uri="{BB962C8B-B14F-4D97-AF65-F5344CB8AC3E}">
        <p14:creationId xmlns:p14="http://schemas.microsoft.com/office/powerpoint/2010/main" val="6848709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10 · THE DELIVERABLE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final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final_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87814"/>
            <a:ext cx="6126480" cy="28652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400" b="1" i="0" dirty="0">
                <a:solidFill>
                  <a:srgbClr val="2C5F8A"/>
                </a:solidFill>
                <a:latin typeface="Georgia"/>
              </a:rPr>
              <a:t>38,437</a:t>
            </a:r>
          </a:p>
          <a:p>
            <a:pPr algn="ctr"/>
            <a:r>
              <a:rPr sz="1400" b="0" i="0" dirty="0">
                <a:solidFill>
                  <a:srgbClr val="2B2A26"/>
                </a:solidFill>
                <a:latin typeface="Calibri"/>
              </a:rPr>
              <a:t>final rows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400" b="1" i="0">
                <a:solidFill>
                  <a:srgbClr val="C88836"/>
                </a:solidFill>
                <a:latin typeface="Georgia"/>
              </a:rPr>
              <a:t>1,497</a:t>
            </a:r>
          </a:p>
          <a:p>
            <a:pPr algn="ctr"/>
            <a:r>
              <a:rPr sz="1400" b="0" i="0">
                <a:solidFill>
                  <a:srgbClr val="2B2A26"/>
                </a:solidFill>
                <a:latin typeface="Calibri"/>
              </a:rPr>
              <a:t>unique images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4632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400" b="1" i="0" dirty="0">
                <a:solidFill>
                  <a:srgbClr val="5B8C5A"/>
                </a:solidFill>
                <a:latin typeface="Georgia"/>
              </a:rPr>
              <a:t>2</a:t>
            </a:r>
          </a:p>
          <a:p>
            <a:pPr algn="ctr"/>
            <a:r>
              <a:rPr sz="1400" b="0" i="0" dirty="0">
                <a:solidFill>
                  <a:srgbClr val="2B2A26"/>
                </a:solidFill>
                <a:latin typeface="Calibri"/>
              </a:rPr>
              <a:t>caption forms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920240"/>
            <a:ext cx="4617720" cy="42062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949440" y="1920240"/>
            <a:ext cx="82296" cy="42062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05472" y="2066544"/>
            <a:ext cx="4197096" cy="29187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Delivered schema</a:t>
            </a:r>
          </a:p>
          <a:p>
            <a:pPr>
              <a:spcBef>
                <a:spcPts val="400"/>
              </a:spcBef>
            </a:pPr>
            <a:r>
              <a:rPr sz="10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captions_final.csv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— 38,437 × 18 col. (provenance)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image_caption_attribute.csv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— 4-column view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by_attribute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/&lt;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Attr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&gt;.csv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— 7 per-attribute splits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caption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(compact, ~4–8 words)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caption_sentence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(Italian sentence, ~7–15 words)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Deterministic sentence form: 100% template, 0 extra LLM round-trips</a:t>
            </a:r>
          </a:p>
        </p:txBody>
      </p:sp>
    </p:spTree>
    <p:extLst>
      <p:ext uri="{BB962C8B-B14F-4D97-AF65-F5344CB8AC3E}">
        <p14:creationId xmlns:p14="http://schemas.microsoft.com/office/powerpoint/2010/main" val="36350433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38360" y="480060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540746" y="531037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402319" y="548868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64140" y="437540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72016" y="470001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83080" y="105156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544318" y="152019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396747" y="168935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263140" y="58064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61872" y="89611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60704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200" b="1" i="0" dirty="0">
                <a:solidFill>
                  <a:srgbClr val="F7F1E3"/>
                </a:solidFill>
                <a:latin typeface="Georgia"/>
              </a:rPr>
              <a:t>Model selection and training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1480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987552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700" b="0" i="1">
                <a:solidFill>
                  <a:srgbClr val="D9D2C2"/>
                </a:solidFill>
                <a:latin typeface="Calibri"/>
              </a:rPr>
              <a:t>Three encoder–decoder methods, one determinant: the visual encoder</a:t>
            </a:r>
          </a:p>
        </p:txBody>
      </p:sp>
    </p:spTree>
    <p:extLst>
      <p:ext uri="{BB962C8B-B14F-4D97-AF65-F5344CB8AC3E}">
        <p14:creationId xmlns:p14="http://schemas.microsoft.com/office/powerpoint/2010/main" val="42328877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Three methods, two axes of variation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E07A5F"/>
                </a:solidFill>
                <a:latin typeface="Georgia"/>
              </a:rPr>
              <a:t>m1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ectangle 9"/>
          <p:cNvSpPr/>
          <p:nvPr/>
        </p:nvSpPr>
        <p:spPr>
          <a:xfrm>
            <a:off x="86868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ResNet-50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(CNN, frozen)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868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Rectangle 13"/>
          <p:cNvSpPr/>
          <p:nvPr/>
        </p:nvSpPr>
        <p:spPr>
          <a:xfrm>
            <a:off x="86868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100584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LSTM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3D7068"/>
                </a:solidFill>
                <a:latin typeface="Georgia"/>
              </a:rPr>
              <a:t>m3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Rectangle 17"/>
          <p:cNvSpPr/>
          <p:nvPr/>
        </p:nvSpPr>
        <p:spPr>
          <a:xfrm>
            <a:off x="466344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480060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66344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Rectangle 21"/>
          <p:cNvSpPr/>
          <p:nvPr/>
        </p:nvSpPr>
        <p:spPr>
          <a:xfrm>
            <a:off x="466344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480060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Transformer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 dirty="0">
                <a:solidFill>
                  <a:srgbClr val="8A5082"/>
                </a:solidFill>
                <a:latin typeface="Georgia"/>
              </a:rPr>
              <a:t>m6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Rectangle 25"/>
          <p:cNvSpPr/>
          <p:nvPr/>
        </p:nvSpPr>
        <p:spPr>
          <a:xfrm>
            <a:off x="845820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/>
          <p:cNvSpPr txBox="1"/>
          <p:nvPr/>
        </p:nvSpPr>
        <p:spPr>
          <a:xfrm>
            <a:off x="859536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45820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Rectangle 29"/>
          <p:cNvSpPr/>
          <p:nvPr/>
        </p:nvSpPr>
        <p:spPr>
          <a:xfrm>
            <a:off x="845820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TextBox 30"/>
          <p:cNvSpPr txBox="1"/>
          <p:nvPr/>
        </p:nvSpPr>
        <p:spPr>
          <a:xfrm>
            <a:off x="859536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GePpeTto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pretrained Italian GPT-2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303520"/>
            <a:ext cx="740664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>
                <a:solidFill>
                  <a:srgbClr val="C1492E"/>
                </a:solidFill>
                <a:latin typeface="Calibri"/>
              </a:rPr>
              <a:t>↔ m1 vs m3 isolates the ENCODER        ↔ m3 vs m6 isolates the DECODER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715000"/>
            <a:ext cx="1051560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0" i="1">
                <a:solidFill>
                  <a:srgbClr val="2B2A26"/>
                </a:solidFill>
                <a:latin typeface="Calibri"/>
              </a:rPr>
              <a:t>All encoders are frozen: only decoder and cross-attention projection are trained → fair comparison.</a:t>
            </a:r>
          </a:p>
        </p:txBody>
      </p:sp>
    </p:spTree>
    <p:extLst>
      <p:ext uri="{BB962C8B-B14F-4D97-AF65-F5344CB8AC3E}">
        <p14:creationId xmlns:p14="http://schemas.microsoft.com/office/powerpoint/2010/main" val="2059777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EXPERIMENTAL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Training on Kaggle, fair comparison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6949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batch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lr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scheduler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patience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2B2A26"/>
                          </a:solidFill>
                          <a:latin typeface="Calibri"/>
                        </a:rPr>
                        <a:t>m1 · CNN+LSTM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3e-4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StepLR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2B2A26"/>
                          </a:solidFill>
                          <a:latin typeface="Calibri"/>
                        </a:rPr>
                        <a:t>m3 · ViT+Transf.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1e-4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2B2A26"/>
                          </a:solidFill>
                          <a:latin typeface="Calibri"/>
                        </a:rPr>
                        <a:t>m6 · ViT+GePpeTto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5e-5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069080"/>
            <a:ext cx="6949440" cy="17830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4069080"/>
            <a:ext cx="82296" cy="17830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4215384"/>
            <a:ext cx="6528816" cy="117981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Fair-evaluation choices</a:t>
            </a:r>
          </a:p>
          <a:p>
            <a:pPr>
              <a:spcBef>
                <a:spcPts val="400"/>
              </a:spcBef>
            </a:pPr>
            <a:r>
              <a:rPr sz="15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500" b="1" i="0" dirty="0">
                <a:solidFill>
                  <a:srgbClr val="2B2A26"/>
                </a:solidFill>
                <a:latin typeface="Calibri"/>
              </a:rPr>
              <a:t>Sample-disjoint split:</a:t>
            </a:r>
            <a:r>
              <a:rPr sz="1500" b="0" i="0" dirty="0">
                <a:solidFill>
                  <a:srgbClr val="2B2A26"/>
                </a:solidFill>
                <a:latin typeface="Calibri"/>
              </a:rPr>
              <a:t> 674 train / 143 </a:t>
            </a:r>
            <a:r>
              <a:rPr sz="1500" b="0" i="0" dirty="0" err="1">
                <a:solidFill>
                  <a:srgbClr val="2B2A26"/>
                </a:solidFill>
                <a:latin typeface="Calibri"/>
              </a:rPr>
              <a:t>val</a:t>
            </a:r>
            <a:r>
              <a:rPr sz="1500" b="0" i="0" dirty="0">
                <a:solidFill>
                  <a:srgbClr val="2B2A26"/>
                </a:solidFill>
                <a:latin typeface="Calibri"/>
              </a:rPr>
              <a:t> / 147 test</a:t>
            </a:r>
            <a:r>
              <a:rPr lang="it-IT" sz="15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1500" b="0" i="0" dirty="0">
                <a:solidFill>
                  <a:srgbClr val="2B2A26"/>
                </a:solidFill>
                <a:latin typeface="Calibri"/>
              </a:rPr>
              <a:t> no leak</a:t>
            </a:r>
          </a:p>
          <a:p>
            <a:pPr>
              <a:spcBef>
                <a:spcPts val="400"/>
              </a:spcBef>
            </a:pPr>
            <a:r>
              <a:rPr sz="15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500" b="1" i="0" dirty="0">
                <a:solidFill>
                  <a:srgbClr val="2B2A26"/>
                </a:solidFill>
                <a:latin typeface="Calibri"/>
              </a:rPr>
              <a:t>Nucleus sampling</a:t>
            </a:r>
            <a:r>
              <a:rPr sz="1500" b="0" i="0" dirty="0">
                <a:solidFill>
                  <a:srgbClr val="2B2A26"/>
                </a:solidFill>
                <a:latin typeface="Calibri"/>
              </a:rPr>
              <a:t> (top-p 0.9, T 0.7): beam collapses to the modal caption</a:t>
            </a:r>
          </a:p>
          <a:p>
            <a:pPr>
              <a:spcBef>
                <a:spcPts val="400"/>
              </a:spcBef>
            </a:pPr>
            <a:r>
              <a:rPr sz="15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500" b="0" i="0" dirty="0">
                <a:solidFill>
                  <a:srgbClr val="2B2A26"/>
                </a:solidFill>
                <a:latin typeface="Calibri"/>
              </a:rPr>
              <a:t>Healthy curves: no overfitting, </a:t>
            </a:r>
            <a:r>
              <a:rPr sz="1500" b="0" i="0" dirty="0" err="1">
                <a:solidFill>
                  <a:srgbClr val="2B2A26"/>
                </a:solidFill>
                <a:latin typeface="Calibri"/>
              </a:rPr>
              <a:t>NaN</a:t>
            </a:r>
            <a:r>
              <a:rPr sz="1500" b="0" i="0" dirty="0">
                <a:solidFill>
                  <a:srgbClr val="2B2A26"/>
                </a:solidFill>
                <a:latin typeface="Calibri"/>
              </a:rPr>
              <a:t> or collapse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920240"/>
            <a:ext cx="3840480" cy="393192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26679" y="1920240"/>
            <a:ext cx="82296" cy="393192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82711" y="2066544"/>
            <a:ext cx="3419856" cy="261097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Kaggle lesson</a:t>
            </a:r>
          </a:p>
          <a:p>
            <a:r>
              <a:rPr sz="1600" b="0" i="0" dirty="0">
                <a:solidFill>
                  <a:srgbClr val="F7F1E3"/>
                </a:solidFill>
                <a:latin typeface="Calibri"/>
              </a:rPr>
              <a:t>The </a:t>
            </a:r>
            <a:r>
              <a:rPr sz="1600" b="0" i="0" dirty="0" err="1">
                <a:solidFill>
                  <a:srgbClr val="F7F1E3"/>
                </a:solidFill>
                <a:latin typeface="Calibri"/>
              </a:rPr>
              <a:t>enable_gpu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flag in the metadata does NOT actually enable the GPU: it must be turned on manually.
The free tier tends to the P100 (sm_60): the preinstalled </a:t>
            </a:r>
            <a:r>
              <a:rPr sz="1600" b="0" i="0" dirty="0" err="1">
                <a:solidFill>
                  <a:srgbClr val="F7F1E3"/>
                </a:solidFill>
                <a:latin typeface="Calibri"/>
              </a:rPr>
              <a:t>PyTorch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must be reinstalled from a cu118 wheel.
All training: free T4 / P100 GPU.</a:t>
            </a:r>
          </a:p>
        </p:txBody>
      </p:sp>
    </p:spTree>
    <p:extLst>
      <p:ext uri="{BB962C8B-B14F-4D97-AF65-F5344CB8AC3E}">
        <p14:creationId xmlns:p14="http://schemas.microsoft.com/office/powerpoint/2010/main" val="1593879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PER-ATTRIBUTE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1328144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200" b="1" i="0" dirty="0">
                <a:solidFill>
                  <a:srgbClr val="1B334A"/>
                </a:solidFill>
                <a:latin typeface="Georgia"/>
              </a:rPr>
              <a:t>BLEU-4: models win where captions are diverse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bleu_at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54228"/>
            <a:ext cx="7406640" cy="35553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0" y="2011680"/>
            <a:ext cx="33375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0" y="2011680"/>
            <a:ext cx="82296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85632" y="2157984"/>
            <a:ext cx="2916936" cy="281615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Win: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Structure (+0.128), Smell, Texture,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Colour</a:t>
            </a:r>
            <a:endParaRPr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Tie/lose: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Aroma, Taste, Thickness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Not from weakness: BLEU rewards the modal predictor on low-diversity captions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4 / 7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attributes beat the constant baseline</a:t>
            </a:r>
          </a:p>
        </p:txBody>
      </p:sp>
    </p:spTree>
    <p:extLst>
      <p:ext uri="{BB962C8B-B14F-4D97-AF65-F5344CB8AC3E}">
        <p14:creationId xmlns:p14="http://schemas.microsoft.com/office/powerpoint/2010/main" val="40593239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GLOBAL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A single model across all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58952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66760" y="2011680"/>
            <a:ext cx="320040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6676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22792" y="2157984"/>
            <a:ext cx="2779776" cy="293926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m6 wins narrowly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m6 first on BLEU-1/4, ROUGE-L, METEOR≈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m3 first on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CIDEr</a:t>
            </a:r>
            <a:endParaRPr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0.007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BLEU-4 spread: a very tight cluster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⚠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most_frequent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has the highest BLEU-1 but worst BLEU-4: degenerate</a:t>
            </a:r>
          </a:p>
        </p:txBody>
      </p:sp>
    </p:spTree>
    <p:extLst>
      <p:ext uri="{BB962C8B-B14F-4D97-AF65-F5344CB8AC3E}">
        <p14:creationId xmlns:p14="http://schemas.microsoft.com/office/powerpoint/2010/main" val="36481571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MIND 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Per-attribute vs global: two different rulers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perattr_vs_glob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15245"/>
            <a:ext cx="6949440" cy="32333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28674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Why the 3–4× jump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Does NOT mean per-attribute models learn better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Per-attribute evaluation runs on a narrower distribution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~80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140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vocabulary words vs ~600+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Shared scaffolding: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~5 words of constant 4-gram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→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they measure performance on different distributions</a:t>
            </a:r>
          </a:p>
        </p:txBody>
      </p:sp>
    </p:spTree>
    <p:extLst>
      <p:ext uri="{BB962C8B-B14F-4D97-AF65-F5344CB8AC3E}">
        <p14:creationId xmlns:p14="http://schemas.microsoft.com/office/powerpoint/2010/main" val="40453689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 dirty="0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KEY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200" b="1" i="0" dirty="0">
                <a:solidFill>
                  <a:srgbClr val="1B334A"/>
                </a:solidFill>
                <a:latin typeface="Georgia"/>
              </a:rPr>
              <a:t>The shuffle test: does the model use the image?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shuff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152" y="1920240"/>
            <a:ext cx="4806495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989320" y="1920240"/>
            <a:ext cx="5577840" cy="187451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89320" y="1920240"/>
            <a:ext cx="82296" cy="187451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45352" y="2066544"/>
            <a:ext cx="5157216" cy="137986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How it works</a:t>
            </a: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Predictions are shuffled across test rows, breaking the prediction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↔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image alignment. 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Recompute 100 times → null distribution → z-score. z &gt; 3 ⟺ p &lt; 0.001: strong evidence of image-conditioning.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3931920"/>
            <a:ext cx="5577840" cy="219456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89320" y="3931920"/>
            <a:ext cx="82296" cy="219456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45352" y="4078224"/>
            <a:ext cx="5157216" cy="158504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What it says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m1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ResNet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z≈0 everywhere → pure language model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m3 / m6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ViT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use the image on 4/7 attributes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Smell, Thickness, 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Colour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Structure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→ succeed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Aroma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→ no model uses the image</a:t>
            </a:r>
          </a:p>
        </p:txBody>
      </p:sp>
    </p:spTree>
    <p:extLst>
      <p:ext uri="{BB962C8B-B14F-4D97-AF65-F5344CB8AC3E}">
        <p14:creationId xmlns:p14="http://schemas.microsoft.com/office/powerpoint/2010/main" val="11889265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encoder matters, not the decoder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200400"/>
          </a:xfrm>
          <a:prstGeom prst="rect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199541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m1 vs m3</a:t>
            </a:r>
            <a:r>
              <a:rPr lang="it-IT" sz="2400" b="1" i="0" dirty="0">
                <a:solidFill>
                  <a:srgbClr val="1B334A"/>
                </a:solidFill>
                <a:latin typeface="Georgia"/>
              </a:rPr>
              <a:t>:</a:t>
            </a:r>
            <a:r>
              <a:rPr sz="2400" b="1" i="0" dirty="0">
                <a:solidFill>
                  <a:srgbClr val="1B334A"/>
                </a:solidFill>
                <a:latin typeface="Georgia"/>
              </a:rPr>
              <a:t> isolates the encoder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m1 (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ResNet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) NEVER conditions on the image.
m3 (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) does on most attributes.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
→ A frozen ResNet-50's features aren't enough at this data scale; a frozen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-B/16's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200400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184153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m3 vs m6</a:t>
            </a:r>
            <a:r>
              <a:rPr lang="it-IT" sz="2400" b="1" i="0" dirty="0">
                <a:solidFill>
                  <a:srgbClr val="1B334A"/>
                </a:solidFill>
                <a:latin typeface="Georgia"/>
              </a:rPr>
              <a:t>:</a:t>
            </a:r>
            <a:r>
              <a:rPr sz="2400" b="1" i="0" dirty="0">
                <a:solidFill>
                  <a:srgbClr val="1B334A"/>
                </a:solidFill>
                <a:latin typeface="Georgia"/>
              </a:rPr>
              <a:t> isolates the decoder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r>
              <a:rPr sz="1400" b="0" i="0" dirty="0">
                <a:solidFill>
                  <a:srgbClr val="2B2A26"/>
                </a:solidFill>
                <a:latin typeface="Calibri"/>
              </a:rPr>
              <a:t>They produce different outputs (never the same caption), but have the SAME image-conditioning profile: the same attributes succeed, the same fail.
→ The decoder changes the style, not whether the image is used.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94960"/>
            <a:ext cx="10927080" cy="68580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5448038"/>
            <a:ext cx="1051560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 dirty="0">
                <a:solidFill>
                  <a:srgbClr val="E0A458"/>
                </a:solidFill>
                <a:latin typeface="Calibri"/>
              </a:rPr>
              <a:t>The «binary gate» of image-conditioning is the visual encoder — not the decoder, not data scale, not hyperparameters.</a:t>
            </a:r>
          </a:p>
        </p:txBody>
      </p:sp>
    </p:spTree>
    <p:extLst>
      <p:ext uri="{BB962C8B-B14F-4D97-AF65-F5344CB8AC3E}">
        <p14:creationId xmlns:p14="http://schemas.microsoft.com/office/powerpoint/2010/main" val="25642639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HONEST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Beyond BLEU: seven complementary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9270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BLEU-1/4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n-gram precision (words / exact phrasing)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METEOR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overlap with stemming and synonyms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ROUGE-L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longest common subsequence (order)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CIDEr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TF-IDF weighted n-grams: rewards rare salient terms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BERTScore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semantic similarity via embeddings (BERT it)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semantic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Vocab. conformity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% words in the attested sensory lexicon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C88836"/>
                          </a:solidFill>
                          <a:latin typeface="Calibri"/>
                        </a:rPr>
                        <a:t>CLIPScore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C88836"/>
                          </a:solidFill>
                          <a:latin typeface="Calibri"/>
                        </a:rPr>
                        <a:t>caption–image appropriateness (CLIP cosine)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C88836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62244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Discriminates where BLEU flattens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040880" cy="3977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256993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Orders the models: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random &lt;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freq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&lt; m1 &lt; m3 &lt; m6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Trained models clearly beat the random baselines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m6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is the best among the models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most_frequent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(0.79)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leads only because the reference IS often the frequent sentence: artifact, not quality</a:t>
            </a:r>
          </a:p>
        </p:txBody>
      </p:sp>
    </p:spTree>
    <p:extLst>
      <p:ext uri="{BB962C8B-B14F-4D97-AF65-F5344CB8AC3E}">
        <p14:creationId xmlns:p14="http://schemas.microsoft.com/office/powerpoint/2010/main" val="29177097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CLIPSCORE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Independent confirmation of the shuffle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2148840"/>
          <a:ext cx="539496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1874520"/>
            <a:ext cx="539496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By MODEL → all equal (gap &lt; 0.004)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263640" y="2148840"/>
          <a:ext cx="53035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63640" y="1874520"/>
            <a:ext cx="530352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 dirty="0">
                <a:solidFill>
                  <a:srgbClr val="1B334A"/>
                </a:solidFill>
                <a:latin typeface="Calibri"/>
              </a:rPr>
              <a:t>By ATTRIBUTE → visual high, smell/taste 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623560"/>
            <a:ext cx="10927080" cy="54864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761945"/>
            <a:ext cx="105156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With a frozen encoder the image isn't exploited: the models do language modeling. The real variation is per attribute.</a:t>
            </a:r>
          </a:p>
        </p:txBody>
      </p:sp>
    </p:spTree>
    <p:extLst>
      <p:ext uri="{BB962C8B-B14F-4D97-AF65-F5344CB8AC3E}">
        <p14:creationId xmlns:p14="http://schemas.microsoft.com/office/powerpoint/2010/main" val="33901831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METHODOLOGICAL MORAL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BLEU trap, visualized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m_bleu_tr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24841"/>
            <a:ext cx="7498079" cy="321415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21040" y="2011680"/>
            <a:ext cx="3246120" cy="3749039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21040" y="2011680"/>
            <a:ext cx="82296" cy="3749039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77072" y="2157984"/>
            <a:ext cx="2825496" cy="236475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A metric lies</a:t>
            </a:r>
          </a:p>
          <a:p>
            <a:r>
              <a:rPr sz="1600" b="0" i="0" dirty="0">
                <a:solidFill>
                  <a:srgbClr val="F7F1E3"/>
                </a:solidFill>
                <a:latin typeface="Calibri"/>
              </a:rPr>
              <a:t>Left, BLEU-1: the constant caption </a:t>
            </a:r>
            <a:r>
              <a:rPr sz="1600" b="0" i="0" dirty="0" err="1">
                <a:solidFill>
                  <a:srgbClr val="F7F1E3"/>
                </a:solidFill>
                <a:latin typeface="Calibri"/>
              </a:rPr>
              <a:t>most_frequent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WINS.
Right, </a:t>
            </a:r>
            <a:r>
              <a:rPr sz="1600" b="0" i="0" dirty="0" err="1">
                <a:solidFill>
                  <a:srgbClr val="F7F1E3"/>
                </a:solidFill>
                <a:latin typeface="Calibri"/>
              </a:rPr>
              <a:t>CLIPScore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: the two models are practically equal.
→ BLEU-1 alone is misleading. Metrics must be read together.</a:t>
            </a:r>
          </a:p>
        </p:txBody>
      </p:sp>
    </p:spTree>
    <p:extLst>
      <p:ext uri="{BB962C8B-B14F-4D97-AF65-F5344CB8AC3E}">
        <p14:creationId xmlns:p14="http://schemas.microsoft.com/office/powerpoint/2010/main" val="38611287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QUALITATIVE EXAMPLES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What m6 actually generates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9270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Prediction (m6)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Reference (panel)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Aroma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cheese has an aroma of cream.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The cheese has an aroma of cream.  ✓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Taste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…taste slightly salty and spicy.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cheese has a salty taste.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Thickness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rind is medium-thick.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The rind is medium-thick.  ✓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…deep, even yellow colour.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…overly deep yellow colour.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…irregular fracture and fine grain.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dirty="0">
                          <a:solidFill>
                            <a:srgbClr val="2B2A26"/>
                          </a:solidFill>
                          <a:latin typeface="Calibri"/>
                        </a:rPr>
                        <a:t>…stretched, with sparse grain in places.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074920"/>
            <a:ext cx="10927080" cy="8229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5074920"/>
            <a:ext cx="82296" cy="82296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5221224"/>
            <a:ext cx="10506456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400" b="0" i="0" dirty="0">
                <a:solidFill>
                  <a:srgbClr val="2B2A26"/>
                </a:solidFill>
                <a:latin typeface="Calibri"/>
              </a:rPr>
              <a:t>Four recurring patterns: (1) the scaffolding is always correct and worth ~50% of BLEU-4; (2) the language is fluent thanks to the pretrained LM; (3) the descriptor is often valid but for another cheese; (4) references vary enormously across tasters → a ceiling on BLEU.</a:t>
            </a:r>
          </a:p>
        </p:txBody>
      </p:sp>
    </p:spTree>
    <p:extLst>
      <p:ext uri="{BB962C8B-B14F-4D97-AF65-F5344CB8AC3E}">
        <p14:creationId xmlns:p14="http://schemas.microsoft.com/office/powerpoint/2010/main" val="37150045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355580" y="754380"/>
            <a:ext cx="502920" cy="50292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27105" y="1233297"/>
            <a:ext cx="276606" cy="276606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81820" y="1404746"/>
            <a:ext cx="226314" cy="226314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847070" y="294894"/>
            <a:ext cx="251460" cy="25146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848088" y="612648"/>
            <a:ext cx="201168" cy="201168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548640"/>
            <a:ext cx="1005840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F7F1E3"/>
                </a:solidFill>
                <a:latin typeface="Georgia"/>
              </a:rPr>
              <a:t>Conclusions &amp; future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1371600"/>
            <a:ext cx="182880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691640"/>
            <a:ext cx="3520440" cy="9144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3108960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5B8C5A"/>
                </a:solidFill>
                <a:latin typeface="Georgia"/>
              </a:rPr>
              <a:t>Scientific result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The encoder matters: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ResNet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ignores the image,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uses it on 4/7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Independent of decoder, data scale, hyperparameters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Confirmed by shuffle test +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CLIPScore</a:t>
            </a:r>
            <a:endParaRPr sz="1600" b="0" i="0" dirty="0">
              <a:solidFill>
                <a:srgbClr val="D9D2C2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334256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34256" y="1691640"/>
            <a:ext cx="35204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2856" y="1828800"/>
            <a:ext cx="3108960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Practical result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4/7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attributes beat the baseline (max Structure +0.128)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m6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ViT+GePpeTto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wins narrowly almost everywhere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$5.60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data cost · 38,437 pairs delivered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1691640"/>
            <a:ext cx="3538728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28431" y="1691640"/>
            <a:ext cx="3538728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1828800"/>
            <a:ext cx="3127248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2C5F8A"/>
                </a:solidFill>
                <a:latin typeface="Georgia"/>
              </a:rPr>
              <a:t>Future work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Fine-tune the encoder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and re-measure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CLIPScore</a:t>
            </a:r>
            <a:endParaRPr sz="1600" b="0" i="0" dirty="0">
              <a:solidFill>
                <a:srgbClr val="D9D2C2"/>
              </a:solidFill>
              <a:latin typeface="Calibri"/>
            </a:endParaRP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k-NN retrieval baseline as an image-aware «floor»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If models pull away from the baseline → image exploited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Honest framing: 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no model would replace a taster. They learned the vocabulary and a partial image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→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descriptor map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consistent with the data scale and the noise of multi-taster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1088136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E0A458"/>
                </a:solidFill>
                <a:latin typeface="Georgia"/>
              </a:rPr>
              <a:t>Thank you. Questions?</a:t>
            </a:r>
          </a:p>
        </p:txBody>
      </p:sp>
    </p:spTree>
    <p:extLst>
      <p:ext uri="{BB962C8B-B14F-4D97-AF65-F5344CB8AC3E}">
        <p14:creationId xmlns:p14="http://schemas.microsoft.com/office/powerpoint/2010/main" val="19688469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39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B094F68-EA9A-4AEB-AB68-A8948F3628CD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74f756ff-e9dd-44c3-a091-26b1d22725e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1352</TotalTime>
  <Words>8830</Words>
  <Application>Microsoft Office PowerPoint</Application>
  <PresentationFormat>Widescreen</PresentationFormat>
  <Paragraphs>825</Paragraphs>
  <Slides>32</Slides>
  <Notes>32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32</vt:i4>
      </vt:variant>
    </vt:vector>
  </HeadingPairs>
  <TitlesOfParts>
    <vt:vector size="36" baseType="lpstr">
      <vt:lpstr>Arial</vt:lpstr>
      <vt:lpstr>Calibri</vt:lpstr>
      <vt:lpstr>Georgia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Nicolò Fadigà</dc:creator>
  <cp:keywords/>
  <dc:description>generated using python-pptx</dc:description>
  <cp:lastModifiedBy>Fadigà, Nicolò</cp:lastModifiedBy>
  <cp:revision>4</cp:revision>
  <dcterms:created xsi:type="dcterms:W3CDTF">2013-01-27T09:14:16Z</dcterms:created>
  <dcterms:modified xsi:type="dcterms:W3CDTF">2026-06-20T15:34:42Z</dcterms:modified>
  <cp:category/>
</cp:coreProperties>
</file>