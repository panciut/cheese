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2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rts/chart3.xml" ContentType="application/vnd.openxmlformats-officedocument.drawingml.chart+xml"/>
  <Override PartName="/ppt/notesSlides/notesSlide28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317" r:id="rId2"/>
    <p:sldId id="318" r:id="rId3"/>
    <p:sldId id="351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46" r:id="rId13"/>
    <p:sldId id="298" r:id="rId14"/>
    <p:sldId id="327" r:id="rId15"/>
    <p:sldId id="328" r:id="rId16"/>
    <p:sldId id="330" r:id="rId17"/>
    <p:sldId id="331" r:id="rId18"/>
    <p:sldId id="332" r:id="rId19"/>
    <p:sldId id="333" r:id="rId20"/>
    <p:sldId id="334" r:id="rId21"/>
    <p:sldId id="350" r:id="rId22"/>
    <p:sldId id="336" r:id="rId23"/>
    <p:sldId id="337" r:id="rId24"/>
    <p:sldId id="309" r:id="rId25"/>
    <p:sldId id="338" r:id="rId26"/>
    <p:sldId id="339" r:id="rId27"/>
    <p:sldId id="340" r:id="rId28"/>
    <p:sldId id="341" r:id="rId29"/>
    <p:sldId id="345" r:id="rId30"/>
    <p:sldId id="344" r:id="rId31"/>
    <p:sldId id="34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14" autoAdjust="0"/>
    <p:restoredTop sz="71870" autoAdjust="0"/>
  </p:normalViewPr>
  <p:slideViewPr>
    <p:cSldViewPr snapToGrid="0" snapToObjects="1">
      <p:cViewPr varScale="1">
        <p:scale>
          <a:sx n="59" d="100"/>
          <a:sy n="59" d="100"/>
        </p:scale>
        <p:origin x="155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welcome. Today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Trentingrana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from images of 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model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slice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clear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drives a model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the image.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certified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taste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aroma,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flavor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 on.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slow,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to scale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support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with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feed the model an image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IRIS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electronic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the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produce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dimensions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panel rates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aroma and taste.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Please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second part.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 and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intrinsically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image.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Smell, aroma and taste,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photograph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taste.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slice,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struggles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"weight"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decorative: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image,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-processing: take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telegraphic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occasionally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and turn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form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recurring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accounts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70% of the work: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compare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encoder-decoder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weights,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devote the first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talk to building the dataset, and the second to the models.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data.</a:t>
            </a:r>
            <a:endParaRPr lang="it-IT" b="1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Let's</a:t>
            </a:r>
            <a:r>
              <a:rPr lang="it-IT" dirty="0"/>
              <a:t> start with Part One: building the dataset.</a:t>
            </a:r>
          </a:p>
          <a:p>
            <a:endParaRPr lang="it-IT" dirty="0"/>
          </a:p>
          <a:p>
            <a:r>
              <a:rPr lang="it-IT" dirty="0" err="1"/>
              <a:t>Here's</a:t>
            </a:r>
            <a:r>
              <a:rPr lang="it-IT" dirty="0"/>
              <a:t> the </a:t>
            </a:r>
            <a:r>
              <a:rPr lang="it-IT" dirty="0" err="1"/>
              <a:t>whole</a:t>
            </a:r>
            <a:r>
              <a:rPr lang="it-IT" dirty="0"/>
              <a:t> story in one line. </a:t>
            </a:r>
            <a:r>
              <a:rPr lang="it-IT" dirty="0" err="1"/>
              <a:t>We</a:t>
            </a:r>
            <a:r>
              <a:rPr lang="it-IT" dirty="0"/>
              <a:t> start with </a:t>
            </a:r>
            <a:r>
              <a:rPr lang="it-IT" dirty="0" err="1"/>
              <a:t>almost</a:t>
            </a:r>
            <a:r>
              <a:rPr lang="it-IT" dirty="0"/>
              <a:t> 52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raw</a:t>
            </a:r>
            <a:r>
              <a:rPr lang="it-IT" dirty="0"/>
              <a:t>, </a:t>
            </a:r>
            <a:r>
              <a:rPr lang="it-IT" dirty="0" err="1"/>
              <a:t>messy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end with 38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clean</a:t>
            </a:r>
            <a:r>
              <a:rPr lang="it-IT" dirty="0"/>
              <a:t> image-</a:t>
            </a:r>
            <a:r>
              <a:rPr lang="it-IT" dirty="0" err="1"/>
              <a:t>caption</a:t>
            </a:r>
            <a:r>
              <a:rPr lang="it-IT" dirty="0"/>
              <a:t> </a:t>
            </a:r>
            <a:r>
              <a:rPr lang="it-IT" dirty="0" err="1"/>
              <a:t>pairs</a:t>
            </a:r>
            <a:r>
              <a:rPr lang="it-IT" dirty="0"/>
              <a:t>, </a:t>
            </a:r>
            <a:r>
              <a:rPr lang="it-IT" dirty="0" err="1"/>
              <a:t>written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sentences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Let me show </a:t>
            </a:r>
            <a:r>
              <a:rPr lang="it-IT" b="1" dirty="0" err="1"/>
              <a:t>you</a:t>
            </a:r>
            <a:r>
              <a:rPr lang="it-IT" b="1" dirty="0"/>
              <a:t> </a:t>
            </a:r>
            <a:r>
              <a:rPr lang="it-IT" b="1" dirty="0" err="1"/>
              <a:t>how</a:t>
            </a:r>
            <a:r>
              <a:rPr lang="it-IT" b="1" dirty="0"/>
              <a:t> </a:t>
            </a:r>
            <a:r>
              <a:rPr lang="it-IT" b="1" dirty="0" err="1"/>
              <a:t>we</a:t>
            </a:r>
            <a:r>
              <a:rPr lang="it-IT" b="1" dirty="0"/>
              <a:t> </a:t>
            </a:r>
            <a:r>
              <a:rPr lang="it-IT" b="1" dirty="0" err="1"/>
              <a:t>got</a:t>
            </a:r>
            <a:r>
              <a:rPr lang="it-IT" b="1" dirty="0"/>
              <a:t> </a:t>
            </a:r>
            <a:r>
              <a:rPr lang="it-IT" b="1" dirty="0" err="1"/>
              <a:t>there</a:t>
            </a:r>
            <a:r>
              <a:rPr lang="it-IT" b="1" dirty="0"/>
              <a:t>.</a:t>
            </a:r>
            <a:endParaRPr lang="it-IT" dirty="0"/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At first the data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rich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</a:t>
            </a:r>
            <a:r>
              <a:rPr lang="it-IT" dirty="0" err="1"/>
              <a:t>almost</a:t>
            </a:r>
            <a:r>
              <a:rPr lang="it-IT" dirty="0"/>
              <a:t> 2,750 </a:t>
            </a:r>
            <a:r>
              <a:rPr lang="it-IT" dirty="0" err="1"/>
              <a:t>photos</a:t>
            </a:r>
            <a:r>
              <a:rPr lang="it-IT" dirty="0"/>
              <a:t> of </a:t>
            </a:r>
            <a:r>
              <a:rPr lang="it-IT" dirty="0" err="1"/>
              <a:t>cheese</a:t>
            </a:r>
            <a:r>
              <a:rPr lang="it-IT" dirty="0"/>
              <a:t> </a:t>
            </a:r>
            <a:r>
              <a:rPr lang="it-IT" dirty="0" err="1"/>
              <a:t>sections</a:t>
            </a:r>
            <a:r>
              <a:rPr lang="it-IT" dirty="0"/>
              <a:t>, in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views</a:t>
            </a:r>
            <a:r>
              <a:rPr lang="it-IT" dirty="0"/>
              <a:t>: the full slice, and a close-up of the grain. 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Excel files, one per </a:t>
            </a:r>
            <a:r>
              <a:rPr lang="it-IT" dirty="0" err="1"/>
              <a:t>year</a:t>
            </a:r>
            <a:r>
              <a:rPr lang="it-IT" dirty="0"/>
              <a:t>, from 2018 to 2021. 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a </a:t>
            </a:r>
            <a:r>
              <a:rPr lang="it-IT" dirty="0" err="1"/>
              <a:t>codebook</a:t>
            </a:r>
            <a:r>
              <a:rPr lang="it-IT" dirty="0"/>
              <a:t> for the </a:t>
            </a:r>
            <a:r>
              <a:rPr lang="it-IT" dirty="0" err="1"/>
              <a:t>sixteen</a:t>
            </a:r>
            <a:r>
              <a:rPr lang="it-IT" dirty="0"/>
              <a:t> </a:t>
            </a:r>
            <a:r>
              <a:rPr lang="it-IT" dirty="0" err="1"/>
              <a:t>dairies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much</a:t>
            </a:r>
            <a:r>
              <a:rPr lang="it-IT" dirty="0"/>
              <a:t> data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.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alignment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images and the </a:t>
            </a:r>
            <a:r>
              <a:rPr lang="it-IT" dirty="0" err="1"/>
              <a:t>comments</a:t>
            </a:r>
            <a:r>
              <a:rPr lang="it-IT" dirty="0"/>
              <a:t> </a:t>
            </a:r>
            <a:r>
              <a:rPr lang="it-IT" dirty="0" err="1"/>
              <a:t>spoke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languages</a:t>
            </a:r>
            <a:r>
              <a:rPr lang="it-IT" dirty="0"/>
              <a:t>. The photo </a:t>
            </a:r>
            <a:r>
              <a:rPr lang="it-IT" dirty="0" err="1"/>
              <a:t>filename</a:t>
            </a:r>
            <a:r>
              <a:rPr lang="it-IT" dirty="0"/>
              <a:t> points to one single </a:t>
            </a:r>
            <a:r>
              <a:rPr lang="it-IT" dirty="0" err="1"/>
              <a:t>wheel</a:t>
            </a:r>
            <a:r>
              <a:rPr lang="it-IT" dirty="0"/>
              <a:t>. The </a:t>
            </a:r>
            <a:r>
              <a:rPr lang="it-IT" dirty="0" err="1"/>
              <a:t>taster's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 points </a:t>
            </a:r>
            <a:r>
              <a:rPr lang="it-IT" dirty="0" err="1"/>
              <a:t>only</a:t>
            </a:r>
            <a:r>
              <a:rPr lang="it-IT" dirty="0"/>
              <a:t> to the </a:t>
            </a:r>
            <a:r>
              <a:rPr lang="it-IT" dirty="0" err="1"/>
              <a:t>tray</a:t>
            </a:r>
            <a:r>
              <a:rPr lang="it-IT" dirty="0"/>
              <a:t>. 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match a photo to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row</a:t>
            </a:r>
            <a:r>
              <a:rPr lang="it-IT" dirty="0"/>
              <a:t> by </a:t>
            </a:r>
            <a:r>
              <a:rPr lang="it-IT" dirty="0" err="1"/>
              <a:t>row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match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dairy</a:t>
            </a:r>
            <a:r>
              <a:rPr lang="it-IT" dirty="0"/>
              <a:t> </a:t>
            </a:r>
            <a:r>
              <a:rPr lang="it-IT" dirty="0" err="1"/>
              <a:t>level</a:t>
            </a:r>
            <a:r>
              <a:rPr lang="it-IT" dirty="0"/>
              <a:t>, </a:t>
            </a:r>
            <a:r>
              <a:rPr lang="it-IT" dirty="0" err="1"/>
              <a:t>through</a:t>
            </a:r>
            <a:r>
              <a:rPr lang="it-IT" dirty="0"/>
              <a:t> the </a:t>
            </a:r>
            <a:r>
              <a:rPr lang="it-IT" dirty="0" err="1"/>
              <a:t>codebook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And on top of </a:t>
            </a:r>
            <a:r>
              <a:rPr lang="it-IT" dirty="0" err="1"/>
              <a:t>that</a:t>
            </a:r>
            <a:r>
              <a:rPr lang="it-IT" dirty="0"/>
              <a:t>, </a:t>
            </a:r>
            <a:r>
              <a:rPr lang="it-IT" dirty="0" err="1"/>
              <a:t>three</a:t>
            </a:r>
            <a:r>
              <a:rPr lang="it-IT" dirty="0"/>
              <a:t> small </a:t>
            </a:r>
            <a:r>
              <a:rPr lang="it-IT" dirty="0" err="1"/>
              <a:t>headaches</a:t>
            </a:r>
            <a:r>
              <a:rPr lang="it-IT" dirty="0"/>
              <a:t>. The </a:t>
            </a:r>
            <a:r>
              <a:rPr lang="it-IT" dirty="0" err="1"/>
              <a:t>same</a:t>
            </a:r>
            <a:r>
              <a:rPr lang="it-IT" dirty="0"/>
              <a:t> </a:t>
            </a:r>
            <a:r>
              <a:rPr lang="it-IT" dirty="0" err="1"/>
              <a:t>dairy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written</a:t>
            </a:r>
            <a:r>
              <a:rPr lang="it-IT" dirty="0"/>
              <a:t> </a:t>
            </a:r>
            <a:r>
              <a:rPr lang="it-IT" dirty="0" err="1"/>
              <a:t>three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ways. The Excel </a:t>
            </a:r>
            <a:r>
              <a:rPr lang="it-IT" dirty="0" err="1"/>
              <a:t>headers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year</a:t>
            </a:r>
            <a:r>
              <a:rPr lang="it-IT" dirty="0"/>
              <a:t>. And the </a:t>
            </a:r>
            <a:r>
              <a:rPr lang="it-IT" dirty="0" err="1"/>
              <a:t>numbers</a:t>
            </a:r>
            <a:r>
              <a:rPr lang="it-IT" dirty="0"/>
              <a:t> use the </a:t>
            </a:r>
            <a:r>
              <a:rPr lang="it-IT" dirty="0" err="1"/>
              <a:t>Italian</a:t>
            </a:r>
            <a:r>
              <a:rPr lang="it-IT" dirty="0"/>
              <a:t> comma </a:t>
            </a:r>
            <a:r>
              <a:rPr lang="it-IT" dirty="0" err="1"/>
              <a:t>instead</a:t>
            </a:r>
            <a:r>
              <a:rPr lang="it-IT" dirty="0"/>
              <a:t> of the dot.</a:t>
            </a:r>
          </a:p>
          <a:p>
            <a:endParaRPr lang="it-IT" dirty="0"/>
          </a:p>
          <a:p>
            <a:r>
              <a:rPr lang="it-IT" dirty="0"/>
              <a:t>One good </a:t>
            </a:r>
            <a:r>
              <a:rPr lang="it-IT" dirty="0" err="1"/>
              <a:t>thing</a:t>
            </a:r>
            <a:r>
              <a:rPr lang="it-IT" dirty="0"/>
              <a:t>: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carry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where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row</a:t>
            </a:r>
            <a:r>
              <a:rPr lang="it-IT" dirty="0"/>
              <a:t> </a:t>
            </a:r>
            <a:r>
              <a:rPr lang="it-IT" dirty="0" err="1"/>
              <a:t>comes</a:t>
            </a:r>
            <a:r>
              <a:rPr lang="it-IT" dirty="0"/>
              <a:t> from. So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row</a:t>
            </a:r>
            <a:r>
              <a:rPr lang="it-IT" dirty="0"/>
              <a:t> can be </a:t>
            </a:r>
            <a:r>
              <a:rPr lang="it-IT" dirty="0" err="1"/>
              <a:t>traced</a:t>
            </a:r>
            <a:r>
              <a:rPr lang="it-IT" dirty="0"/>
              <a:t> back to the </a:t>
            </a:r>
            <a:r>
              <a:rPr lang="it-IT" dirty="0" err="1"/>
              <a:t>original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.</a:t>
            </a:r>
          </a:p>
          <a:p>
            <a:pPr rtl="0"/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So </a:t>
            </a:r>
            <a:r>
              <a:rPr lang="it-IT" dirty="0" err="1"/>
              <a:t>how</a:t>
            </a:r>
            <a:r>
              <a:rPr lang="it-IT" dirty="0"/>
              <a:t> do </a:t>
            </a:r>
            <a:r>
              <a:rPr lang="it-IT" dirty="0" err="1"/>
              <a:t>we</a:t>
            </a:r>
            <a:r>
              <a:rPr lang="it-IT" dirty="0"/>
              <a:t> fix the </a:t>
            </a:r>
            <a:r>
              <a:rPr lang="it-IT" dirty="0" err="1"/>
              <a:t>missing</a:t>
            </a:r>
            <a:r>
              <a:rPr lang="it-IT" dirty="0"/>
              <a:t> link </a:t>
            </a:r>
            <a:r>
              <a:rPr lang="it-IT" dirty="0" err="1"/>
              <a:t>between</a:t>
            </a:r>
            <a:r>
              <a:rPr lang="it-IT" dirty="0"/>
              <a:t> photo and </a:t>
            </a:r>
            <a:r>
              <a:rPr lang="it-IT" dirty="0" err="1"/>
              <a:t>comment</a:t>
            </a:r>
            <a:r>
              <a:rPr lang="it-IT" dirty="0"/>
              <a:t>?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use </a:t>
            </a:r>
            <a:r>
              <a:rPr lang="it-IT" dirty="0" err="1"/>
              <a:t>something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call a </a:t>
            </a:r>
            <a:r>
              <a:rPr lang="it-IT" dirty="0" err="1"/>
              <a:t>dairy-level</a:t>
            </a:r>
            <a:r>
              <a:rPr lang="it-IT" dirty="0"/>
              <a:t> broadcast. The idea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simple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take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taster's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, and </a:t>
            </a:r>
            <a:r>
              <a:rPr lang="it-IT" dirty="0" err="1"/>
              <a:t>we</a:t>
            </a:r>
            <a:r>
              <a:rPr lang="it-IT" dirty="0"/>
              <a:t> copy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onto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matching image from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dairy</a:t>
            </a:r>
            <a:r>
              <a:rPr lang="it-IT" dirty="0"/>
              <a:t>, in </a:t>
            </a:r>
            <a:r>
              <a:rPr lang="it-IT" dirty="0" err="1"/>
              <a:t>that</a:t>
            </a:r>
            <a:r>
              <a:rPr lang="it-IT" dirty="0"/>
              <a:t> session.</a:t>
            </a:r>
          </a:p>
          <a:p>
            <a:endParaRPr lang="it-IT" dirty="0"/>
          </a:p>
          <a:p>
            <a:r>
              <a:rPr lang="it-IT" dirty="0"/>
              <a:t>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example</a:t>
            </a:r>
            <a:r>
              <a:rPr lang="it-IT" dirty="0"/>
              <a:t>. One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smell</a:t>
            </a:r>
            <a:r>
              <a:rPr lang="it-IT" dirty="0"/>
              <a:t>, the word "</a:t>
            </a:r>
            <a:r>
              <a:rPr lang="it-IT" dirty="0" err="1"/>
              <a:t>Sauerkraut</a:t>
            </a:r>
            <a:r>
              <a:rPr lang="it-IT" dirty="0"/>
              <a:t>", for </a:t>
            </a:r>
            <a:r>
              <a:rPr lang="it-IT" dirty="0" err="1"/>
              <a:t>dairy</a:t>
            </a:r>
            <a:r>
              <a:rPr lang="it-IT" dirty="0"/>
              <a:t> TN_306.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becomes</a:t>
            </a:r>
            <a:r>
              <a:rPr lang="it-IT" dirty="0"/>
              <a:t> the </a:t>
            </a:r>
            <a:r>
              <a:rPr lang="it-IT" dirty="0" err="1"/>
              <a:t>caption</a:t>
            </a:r>
            <a:r>
              <a:rPr lang="it-IT" dirty="0"/>
              <a:t> for </a:t>
            </a:r>
            <a:r>
              <a:rPr lang="it-IT" dirty="0" err="1"/>
              <a:t>four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images: replica a and replica b, </a:t>
            </a:r>
            <a:r>
              <a:rPr lang="it-IT" dirty="0" err="1"/>
              <a:t>each</a:t>
            </a:r>
            <a:r>
              <a:rPr lang="it-IT" dirty="0"/>
              <a:t> in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views</a:t>
            </a:r>
            <a:r>
              <a:rPr lang="it-IT" dirty="0"/>
              <a:t>, slice and grain.</a:t>
            </a:r>
          </a:p>
          <a:p>
            <a:endParaRPr lang="it-IT" dirty="0"/>
          </a:p>
          <a:p>
            <a:r>
              <a:rPr lang="it-IT" dirty="0"/>
              <a:t>So one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gives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up to </a:t>
            </a:r>
            <a:r>
              <a:rPr lang="it-IT" dirty="0" err="1"/>
              <a:t>four</a:t>
            </a:r>
            <a:r>
              <a:rPr lang="it-IT" dirty="0"/>
              <a:t> image-</a:t>
            </a:r>
            <a:r>
              <a:rPr lang="it-IT" dirty="0" err="1"/>
              <a:t>caption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/>
              <a:t>In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gives</a:t>
            </a:r>
            <a:r>
              <a:rPr lang="it-IT" dirty="0"/>
              <a:t> </a:t>
            </a:r>
            <a:r>
              <a:rPr lang="it-IT" dirty="0" err="1"/>
              <a:t>almost</a:t>
            </a:r>
            <a:r>
              <a:rPr lang="it-IT" dirty="0"/>
              <a:t> 52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About 39 and a </a:t>
            </a:r>
            <a:r>
              <a:rPr lang="it-IT" dirty="0" err="1"/>
              <a:t>half</a:t>
            </a:r>
            <a:r>
              <a:rPr lang="it-IT" dirty="0"/>
              <a:t> </a:t>
            </a:r>
            <a:r>
              <a:rPr lang="it-IT" dirty="0" err="1"/>
              <a:t>thousand</a:t>
            </a:r>
            <a:r>
              <a:rPr lang="it-IT" dirty="0"/>
              <a:t> of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a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. </a:t>
            </a:r>
            <a:r>
              <a:rPr lang="it-IT" dirty="0" err="1"/>
              <a:t>That's</a:t>
            </a:r>
            <a:r>
              <a:rPr lang="it-IT" dirty="0"/>
              <a:t> a </a:t>
            </a:r>
            <a:r>
              <a:rPr lang="it-IT" dirty="0" err="1"/>
              <a:t>pairing</a:t>
            </a:r>
            <a:r>
              <a:rPr lang="it-IT" dirty="0"/>
              <a:t> rate </a:t>
            </a:r>
            <a:r>
              <a:rPr lang="it-IT" dirty="0" err="1"/>
              <a:t>around</a:t>
            </a:r>
            <a:r>
              <a:rPr lang="it-IT" dirty="0"/>
              <a:t> 76 </a:t>
            </a:r>
            <a:r>
              <a:rPr lang="it-IT" dirty="0" err="1"/>
              <a:t>percent</a:t>
            </a:r>
            <a:r>
              <a:rPr lang="it-IT" dirty="0"/>
              <a:t>. </a:t>
            </a:r>
          </a:p>
          <a:p>
            <a:endParaRPr lang="it-IT" b="1" dirty="0"/>
          </a:p>
          <a:p>
            <a:r>
              <a:rPr lang="it-IT" b="1" dirty="0"/>
              <a:t>And from </a:t>
            </a:r>
            <a:r>
              <a:rPr lang="it-IT" b="1" dirty="0" err="1"/>
              <a:t>here</a:t>
            </a:r>
            <a:r>
              <a:rPr lang="it-IT" b="1" dirty="0"/>
              <a:t>, the pipeline </a:t>
            </a:r>
            <a:r>
              <a:rPr lang="it-IT" b="1" dirty="0" err="1"/>
              <a:t>begins</a:t>
            </a:r>
            <a:r>
              <a:rPr lang="it-IT" b="1" dirty="0"/>
              <a:t>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Here's</a:t>
            </a:r>
            <a:r>
              <a:rPr lang="it-IT" dirty="0"/>
              <a:t> the full pipeline. Eleven stages, </a:t>
            </a:r>
            <a:r>
              <a:rPr lang="it-IT" dirty="0" err="1"/>
              <a:t>numbered</a:t>
            </a:r>
            <a:r>
              <a:rPr lang="it-IT" dirty="0"/>
              <a:t> zero to ten.</a:t>
            </a:r>
          </a:p>
          <a:p>
            <a:endParaRPr lang="it-IT" dirty="0"/>
          </a:p>
          <a:p>
            <a:r>
              <a:rPr lang="it-IT" dirty="0" err="1"/>
              <a:t>There's</a:t>
            </a:r>
            <a:r>
              <a:rPr lang="it-IT" dirty="0"/>
              <a:t> one idea </a:t>
            </a:r>
            <a:r>
              <a:rPr lang="it-IT" dirty="0" err="1"/>
              <a:t>behind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it</a:t>
            </a:r>
            <a:r>
              <a:rPr lang="it-IT" dirty="0"/>
              <a:t>, and </a:t>
            </a:r>
            <a:r>
              <a:rPr lang="it-IT" dirty="0" err="1"/>
              <a:t>it's</a:t>
            </a:r>
            <a:r>
              <a:rPr lang="it-IT" dirty="0"/>
              <a:t> the </a:t>
            </a:r>
            <a:r>
              <a:rPr lang="it-IT" dirty="0" err="1"/>
              <a:t>most</a:t>
            </a:r>
            <a:r>
              <a:rPr lang="it-IT" dirty="0"/>
              <a:t> </a:t>
            </a:r>
            <a:r>
              <a:rPr lang="it-IT" dirty="0" err="1"/>
              <a:t>important</a:t>
            </a:r>
            <a:r>
              <a:rPr lang="it-IT" dirty="0"/>
              <a:t> </a:t>
            </a:r>
            <a:r>
              <a:rPr lang="it-IT" dirty="0" err="1"/>
              <a:t>decision</a:t>
            </a:r>
            <a:r>
              <a:rPr lang="it-IT" dirty="0"/>
              <a:t> in Part One. </a:t>
            </a:r>
            <a:r>
              <a:rPr lang="it-IT" dirty="0" err="1"/>
              <a:t>We</a:t>
            </a:r>
            <a:r>
              <a:rPr lang="it-IT" dirty="0"/>
              <a:t> call </a:t>
            </a:r>
            <a:r>
              <a:rPr lang="it-IT" dirty="0" err="1"/>
              <a:t>it</a:t>
            </a:r>
            <a:r>
              <a:rPr lang="it-IT" dirty="0"/>
              <a:t> "</a:t>
            </a:r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the LLM".</a:t>
            </a:r>
          </a:p>
          <a:p>
            <a:endParaRPr lang="it-IT" dirty="0"/>
          </a:p>
          <a:p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means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anything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can do with </a:t>
            </a:r>
            <a:r>
              <a:rPr lang="it-IT" dirty="0" err="1"/>
              <a:t>plain</a:t>
            </a:r>
            <a:r>
              <a:rPr lang="it-IT" dirty="0"/>
              <a:t> code, free and </a:t>
            </a:r>
            <a:r>
              <a:rPr lang="it-IT" dirty="0" err="1"/>
              <a:t>repeatable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do first.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call the </a:t>
            </a:r>
            <a:r>
              <a:rPr lang="it-IT" dirty="0" err="1"/>
              <a:t>language</a:t>
            </a:r>
            <a:r>
              <a:rPr lang="it-IT" dirty="0"/>
              <a:t> model for the </a:t>
            </a:r>
            <a:r>
              <a:rPr lang="it-IT" dirty="0" err="1"/>
              <a:t>things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really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In blue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see</a:t>
            </a:r>
            <a:r>
              <a:rPr lang="it-IT" dirty="0"/>
              <a:t> the code stages: </a:t>
            </a:r>
            <a:r>
              <a:rPr lang="it-IT" dirty="0" err="1"/>
              <a:t>preparing</a:t>
            </a:r>
            <a:r>
              <a:rPr lang="it-IT" dirty="0"/>
              <a:t> the text, building the </a:t>
            </a:r>
            <a:r>
              <a:rPr lang="it-IT" dirty="0" err="1"/>
              <a:t>vocabulary</a:t>
            </a:r>
            <a:r>
              <a:rPr lang="it-IT" dirty="0"/>
              <a:t>, </a:t>
            </a:r>
            <a:r>
              <a:rPr lang="it-IT" dirty="0" err="1"/>
              <a:t>cleaning</a:t>
            </a:r>
            <a:r>
              <a:rPr lang="it-IT" dirty="0"/>
              <a:t>, </a:t>
            </a:r>
            <a:r>
              <a:rPr lang="it-IT" dirty="0" err="1"/>
              <a:t>deduplicating</a:t>
            </a:r>
            <a:r>
              <a:rPr lang="it-IT" dirty="0"/>
              <a:t>. In </a:t>
            </a:r>
            <a:r>
              <a:rPr lang="it-IT" dirty="0" err="1"/>
              <a:t>gold</a:t>
            </a:r>
            <a:r>
              <a:rPr lang="it-IT" dirty="0"/>
              <a:t>, the stages </a:t>
            </a:r>
            <a:r>
              <a:rPr lang="it-IT" dirty="0" err="1"/>
              <a:t>that</a:t>
            </a:r>
            <a:r>
              <a:rPr lang="it-IT" dirty="0"/>
              <a:t> use the LLM: the prompt, the pilot, the full batch. In green, the </a:t>
            </a:r>
            <a:r>
              <a:rPr lang="it-IT" dirty="0" err="1"/>
              <a:t>final</a:t>
            </a:r>
            <a:r>
              <a:rPr lang="it-IT" dirty="0"/>
              <a:t> assembly.</a:t>
            </a:r>
          </a:p>
          <a:p>
            <a:endParaRPr lang="it-IT" b="1" dirty="0"/>
          </a:p>
          <a:p>
            <a:r>
              <a:rPr lang="it-IT" b="1" dirty="0"/>
              <a:t>Let me </a:t>
            </a:r>
            <a:r>
              <a:rPr lang="it-IT" b="1" dirty="0" err="1"/>
              <a:t>walk</a:t>
            </a:r>
            <a:r>
              <a:rPr lang="it-IT" b="1" dirty="0"/>
              <a:t> </a:t>
            </a:r>
            <a:r>
              <a:rPr lang="it-IT" b="1" dirty="0" err="1"/>
              <a:t>you</a:t>
            </a:r>
            <a:r>
              <a:rPr lang="it-IT" b="1" dirty="0"/>
              <a:t> </a:t>
            </a:r>
            <a:r>
              <a:rPr lang="it-IT" b="1" dirty="0" err="1"/>
              <a:t>through</a:t>
            </a:r>
            <a:r>
              <a:rPr lang="it-IT" b="1" dirty="0"/>
              <a:t> the key stages.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same</a:t>
            </a:r>
            <a:r>
              <a:rPr lang="it-IT" dirty="0"/>
              <a:t> story, </a:t>
            </a:r>
            <a:r>
              <a:rPr lang="it-IT" dirty="0" err="1"/>
              <a:t>seen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funnel</a:t>
            </a:r>
            <a:r>
              <a:rPr lang="it-IT" dirty="0"/>
              <a:t>. The </a:t>
            </a:r>
            <a:r>
              <a:rPr lang="it-IT" dirty="0" err="1"/>
              <a:t>bars</a:t>
            </a:r>
            <a:r>
              <a:rPr lang="it-IT" dirty="0"/>
              <a:t> show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many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move</a:t>
            </a:r>
            <a:r>
              <a:rPr lang="it-IT" dirty="0"/>
              <a:t> </a:t>
            </a:r>
            <a:r>
              <a:rPr lang="it-IT" dirty="0" err="1"/>
              <a:t>through</a:t>
            </a:r>
            <a:r>
              <a:rPr lang="it-IT" dirty="0"/>
              <a:t> the pipeline.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biggest</a:t>
            </a:r>
            <a:r>
              <a:rPr lang="it-IT" dirty="0"/>
              <a:t> drop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start, in stage one. Over 12,600 </a:t>
            </a:r>
            <a:r>
              <a:rPr lang="it-IT" dirty="0" err="1"/>
              <a:t>rows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But </a:t>
            </a:r>
            <a:r>
              <a:rPr lang="it-IT" dirty="0" err="1"/>
              <a:t>almost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empty</a:t>
            </a:r>
            <a:r>
              <a:rPr lang="it-IT" dirty="0"/>
              <a:t> or </a:t>
            </a:r>
            <a:r>
              <a:rPr lang="it-IT" dirty="0" err="1"/>
              <a:t>null</a:t>
            </a:r>
            <a:r>
              <a:rPr lang="it-IT" dirty="0"/>
              <a:t>. </a:t>
            </a:r>
            <a:r>
              <a:rPr lang="it-IT" dirty="0" err="1"/>
              <a:t>Only</a:t>
            </a:r>
            <a:r>
              <a:rPr lang="it-IT" dirty="0"/>
              <a:t> 86 are meta-</a:t>
            </a:r>
            <a:r>
              <a:rPr lang="it-IT" dirty="0" err="1"/>
              <a:t>comments</a:t>
            </a:r>
            <a:r>
              <a:rPr lang="it-IT" dirty="0"/>
              <a:t>. </a:t>
            </a:r>
            <a:r>
              <a:rPr lang="it-IT" dirty="0" err="1"/>
              <a:t>Only</a:t>
            </a:r>
            <a:r>
              <a:rPr lang="it-IT" dirty="0"/>
              <a:t> 68 are </a:t>
            </a:r>
            <a:r>
              <a:rPr lang="it-IT" dirty="0" err="1"/>
              <a:t>tiny</a:t>
            </a:r>
            <a:r>
              <a:rPr lang="it-IT" dirty="0"/>
              <a:t> </a:t>
            </a:r>
            <a:r>
              <a:rPr lang="it-IT" dirty="0" err="1"/>
              <a:t>fragments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are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throwing</a:t>
            </a:r>
            <a:r>
              <a:rPr lang="it-IT" dirty="0"/>
              <a:t> </a:t>
            </a:r>
            <a:r>
              <a:rPr lang="it-IT" dirty="0" err="1"/>
              <a:t>away</a:t>
            </a:r>
            <a:r>
              <a:rPr lang="it-IT" dirty="0"/>
              <a:t> </a:t>
            </a:r>
            <a:r>
              <a:rPr lang="it-IT" dirty="0" err="1"/>
              <a:t>sensory</a:t>
            </a:r>
            <a:r>
              <a:rPr lang="it-IT" dirty="0"/>
              <a:t> </a:t>
            </a:r>
            <a:r>
              <a:rPr lang="it-IT" dirty="0" err="1"/>
              <a:t>content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are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removing</a:t>
            </a:r>
            <a:r>
              <a:rPr lang="it-IT" dirty="0"/>
              <a:t> </a:t>
            </a:r>
            <a:r>
              <a:rPr lang="it-IT" dirty="0" err="1"/>
              <a:t>certain</a:t>
            </a:r>
            <a:r>
              <a:rPr lang="it-IT" dirty="0"/>
              <a:t>, </a:t>
            </a:r>
            <a:r>
              <a:rPr lang="it-IT" dirty="0" err="1"/>
              <a:t>obvious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But </a:t>
            </a:r>
            <a:r>
              <a:rPr lang="it-IT" b="1" dirty="0" err="1"/>
              <a:t>how</a:t>
            </a:r>
            <a:r>
              <a:rPr lang="it-IT" b="1" dirty="0"/>
              <a:t> do </a:t>
            </a:r>
            <a:r>
              <a:rPr lang="it-IT" b="1" dirty="0" err="1"/>
              <a:t>we</a:t>
            </a:r>
            <a:r>
              <a:rPr lang="it-IT" b="1" dirty="0"/>
              <a:t> know </a:t>
            </a:r>
            <a:r>
              <a:rPr lang="it-IT" b="1" dirty="0" err="1"/>
              <a:t>it's</a:t>
            </a:r>
            <a:r>
              <a:rPr lang="it-IT" b="1" dirty="0"/>
              <a:t> safe to drop? </a:t>
            </a:r>
            <a:r>
              <a:rPr lang="it-IT" b="1" dirty="0" err="1"/>
              <a:t>That's</a:t>
            </a:r>
            <a:r>
              <a:rPr lang="it-IT" b="1" dirty="0"/>
              <a:t> the rule of stage one.</a:t>
            </a:r>
            <a:endParaRPr lang="it-IT" dirty="0"/>
          </a:p>
          <a:p>
            <a:pPr rtl="0"/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stage one: the </a:t>
            </a:r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prep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golden rule </a:t>
            </a:r>
            <a:r>
              <a:rPr lang="it-IT" dirty="0" err="1"/>
              <a:t>here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: </a:t>
            </a:r>
            <a:r>
              <a:rPr lang="it-IT" dirty="0" err="1"/>
              <a:t>clean</a:t>
            </a:r>
            <a:r>
              <a:rPr lang="it-IT" dirty="0"/>
              <a:t>, </a:t>
            </a:r>
            <a:r>
              <a:rPr lang="it-IT" dirty="0" err="1"/>
              <a:t>don't</a:t>
            </a:r>
            <a:r>
              <a:rPr lang="it-IT" dirty="0"/>
              <a:t> </a:t>
            </a:r>
            <a:r>
              <a:rPr lang="it-IT" dirty="0" err="1"/>
              <a:t>rewrite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never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the </a:t>
            </a:r>
            <a:r>
              <a:rPr lang="it-IT" dirty="0" err="1"/>
              <a:t>taster's</a:t>
            </a:r>
            <a:r>
              <a:rPr lang="it-IT" dirty="0"/>
              <a:t> words.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tidy</a:t>
            </a:r>
            <a:r>
              <a:rPr lang="it-IT" dirty="0"/>
              <a:t> </a:t>
            </a:r>
            <a:r>
              <a:rPr lang="it-IT" dirty="0" err="1"/>
              <a:t>them</a:t>
            </a:r>
            <a:r>
              <a:rPr lang="it-IT" dirty="0"/>
              <a:t> up.</a:t>
            </a:r>
          </a:p>
          <a:p>
            <a:endParaRPr lang="it-IT" dirty="0"/>
          </a:p>
          <a:p>
            <a:r>
              <a:rPr lang="it-IT" dirty="0" err="1"/>
              <a:t>Everything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do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mechanical</a:t>
            </a:r>
            <a:r>
              <a:rPr lang="it-IT" dirty="0"/>
              <a:t> and </a:t>
            </a:r>
            <a:r>
              <a:rPr lang="it-IT" dirty="0" err="1"/>
              <a:t>checkable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remove</a:t>
            </a:r>
            <a:r>
              <a:rPr lang="it-IT" dirty="0"/>
              <a:t> </a:t>
            </a:r>
            <a:r>
              <a:rPr lang="it-IT" dirty="0" err="1"/>
              <a:t>empties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fix the </a:t>
            </a:r>
            <a:r>
              <a:rPr lang="it-IT" dirty="0" err="1"/>
              <a:t>character</a:t>
            </a:r>
            <a:r>
              <a:rPr lang="it-IT" dirty="0"/>
              <a:t> </a:t>
            </a:r>
            <a:r>
              <a:rPr lang="it-IT" dirty="0" err="1"/>
              <a:t>encoding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strip out </a:t>
            </a:r>
            <a:r>
              <a:rPr lang="it-IT" dirty="0" err="1"/>
              <a:t>hidden</a:t>
            </a:r>
            <a:r>
              <a:rPr lang="it-IT" dirty="0"/>
              <a:t>, </a:t>
            </a:r>
            <a:r>
              <a:rPr lang="it-IT" dirty="0" err="1"/>
              <a:t>broken</a:t>
            </a:r>
            <a:r>
              <a:rPr lang="it-IT" dirty="0"/>
              <a:t> </a:t>
            </a:r>
            <a:r>
              <a:rPr lang="it-IT" dirty="0" err="1"/>
              <a:t>characters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drop meta-</a:t>
            </a:r>
            <a:r>
              <a:rPr lang="it-IT" dirty="0" err="1"/>
              <a:t>comments</a:t>
            </a:r>
            <a:r>
              <a:rPr lang="it-IT" dirty="0"/>
              <a:t>, </a:t>
            </a:r>
            <a:r>
              <a:rPr lang="it-IT" dirty="0" err="1"/>
              <a:t>using</a:t>
            </a:r>
            <a:r>
              <a:rPr lang="it-IT" dirty="0"/>
              <a:t> a </a:t>
            </a:r>
            <a:r>
              <a:rPr lang="it-IT" dirty="0" err="1"/>
              <a:t>very</a:t>
            </a:r>
            <a:r>
              <a:rPr lang="it-IT" dirty="0"/>
              <a:t> short </a:t>
            </a:r>
          </a:p>
          <a:p>
            <a:r>
              <a:rPr lang="it-IT" dirty="0" err="1"/>
              <a:t>blacklist</a:t>
            </a:r>
            <a:r>
              <a:rPr lang="it-IT" dirty="0"/>
              <a:t>. And </a:t>
            </a:r>
            <a:r>
              <a:rPr lang="it-IT" dirty="0" err="1"/>
              <a:t>we</a:t>
            </a:r>
            <a:r>
              <a:rPr lang="it-IT" dirty="0"/>
              <a:t> drop </a:t>
            </a:r>
            <a:r>
              <a:rPr lang="it-IT" dirty="0" err="1"/>
              <a:t>tiny</a:t>
            </a:r>
            <a:r>
              <a:rPr lang="it-IT" dirty="0"/>
              <a:t> </a:t>
            </a:r>
            <a:r>
              <a:rPr lang="it-IT" dirty="0" err="1"/>
              <a:t>fragments</a:t>
            </a:r>
            <a:r>
              <a:rPr lang="it-IT" dirty="0"/>
              <a:t>, the </a:t>
            </a:r>
            <a:r>
              <a:rPr lang="it-IT" dirty="0" err="1"/>
              <a:t>ones</a:t>
            </a:r>
            <a:r>
              <a:rPr lang="it-IT" dirty="0"/>
              <a:t> with </a:t>
            </a:r>
            <a:r>
              <a:rPr lang="it-IT" dirty="0" err="1"/>
              <a:t>almost</a:t>
            </a:r>
            <a:r>
              <a:rPr lang="it-IT" dirty="0"/>
              <a:t> no </a:t>
            </a:r>
            <a:r>
              <a:rPr lang="it-IT" dirty="0" err="1"/>
              <a:t>letters</a:t>
            </a:r>
            <a:r>
              <a:rPr lang="it-IT" dirty="0"/>
              <a:t> </a:t>
            </a:r>
            <a:r>
              <a:rPr lang="it-IT" dirty="0" err="1"/>
              <a:t>left</a:t>
            </a:r>
            <a:r>
              <a:rPr lang="it-IT" dirty="0"/>
              <a:t> after </a:t>
            </a:r>
            <a:r>
              <a:rPr lang="it-IT" dirty="0" err="1"/>
              <a:t>cleaning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always</a:t>
            </a:r>
            <a:r>
              <a:rPr lang="it-IT" dirty="0"/>
              <a:t>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columns</a:t>
            </a:r>
            <a:r>
              <a:rPr lang="it-IT" dirty="0"/>
              <a:t>: the </a:t>
            </a:r>
            <a:r>
              <a:rPr lang="it-IT" dirty="0" err="1"/>
              <a:t>raw</a:t>
            </a:r>
            <a:r>
              <a:rPr lang="it-IT" dirty="0"/>
              <a:t> text, and the </a:t>
            </a:r>
            <a:r>
              <a:rPr lang="it-IT" dirty="0" err="1"/>
              <a:t>cleaned</a:t>
            </a:r>
            <a:r>
              <a:rPr lang="it-IT" dirty="0"/>
              <a:t> text. So </a:t>
            </a:r>
            <a:r>
              <a:rPr lang="it-IT" dirty="0" err="1"/>
              <a:t>every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can be </a:t>
            </a:r>
            <a:r>
              <a:rPr lang="it-IT" dirty="0" err="1"/>
              <a:t>undone</a:t>
            </a:r>
            <a:r>
              <a:rPr lang="it-IT" dirty="0"/>
              <a:t> and </a:t>
            </a:r>
            <a:r>
              <a:rPr lang="it-IT" dirty="0" err="1"/>
              <a:t>checked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rule on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heart</a:t>
            </a:r>
            <a:r>
              <a:rPr lang="it-IT" dirty="0"/>
              <a:t> of </a:t>
            </a:r>
            <a:r>
              <a:rPr lang="it-IT" dirty="0" err="1"/>
              <a:t>it</a:t>
            </a:r>
            <a:r>
              <a:rPr lang="it-IT" dirty="0"/>
              <a:t>: a drop </a:t>
            </a:r>
            <a:r>
              <a:rPr lang="it-IT" dirty="0" err="1"/>
              <a:t>has</a:t>
            </a:r>
            <a:r>
              <a:rPr lang="it-IT" dirty="0"/>
              <a:t> to be </a:t>
            </a:r>
            <a:r>
              <a:rPr lang="it-IT" dirty="0" err="1"/>
              <a:t>certain</a:t>
            </a:r>
            <a:r>
              <a:rPr lang="it-IT" dirty="0"/>
              <a:t>.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something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unclear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, </a:t>
            </a:r>
            <a:r>
              <a:rPr lang="it-IT" dirty="0" err="1"/>
              <a:t>because</a:t>
            </a:r>
            <a:r>
              <a:rPr lang="it-IT" dirty="0"/>
              <a:t> the LLM </a:t>
            </a:r>
            <a:r>
              <a:rPr lang="it-IT" dirty="0" err="1"/>
              <a:t>will</a:t>
            </a:r>
            <a:r>
              <a:rPr lang="it-IT" dirty="0"/>
              <a:t> handle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better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fixed</a:t>
            </a:r>
            <a:r>
              <a:rPr lang="it-IT" dirty="0"/>
              <a:t> rule.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result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39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. And </a:t>
            </a:r>
            <a:r>
              <a:rPr lang="it-IT" dirty="0" err="1"/>
              <a:t>remember</a:t>
            </a:r>
            <a:r>
              <a:rPr lang="it-IT" dirty="0"/>
              <a:t>, 99 </a:t>
            </a:r>
            <a:r>
              <a:rPr lang="it-IT" dirty="0" err="1"/>
              <a:t>percent</a:t>
            </a:r>
            <a:r>
              <a:rPr lang="it-IT" dirty="0"/>
              <a:t> of </a:t>
            </a:r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dropped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simply</a:t>
            </a:r>
            <a:r>
              <a:rPr lang="it-IT" dirty="0"/>
              <a:t> </a:t>
            </a:r>
            <a:r>
              <a:rPr lang="it-IT" dirty="0" err="1"/>
              <a:t>empty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In stages </a:t>
            </a:r>
            <a:r>
              <a:rPr lang="it-IT" dirty="0" err="1"/>
              <a:t>two</a:t>
            </a:r>
            <a:r>
              <a:rPr lang="it-IT" dirty="0"/>
              <a:t> and </a:t>
            </a:r>
            <a:r>
              <a:rPr lang="it-IT" dirty="0" err="1"/>
              <a:t>three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build a </a:t>
            </a:r>
            <a:r>
              <a:rPr lang="it-IT" dirty="0" err="1"/>
              <a:t>controlled</a:t>
            </a:r>
            <a:r>
              <a:rPr lang="it-IT" dirty="0"/>
              <a:t> </a:t>
            </a:r>
            <a:r>
              <a:rPr lang="it-IT" dirty="0" err="1"/>
              <a:t>vocabulary</a:t>
            </a:r>
            <a:r>
              <a:rPr lang="it-IT" dirty="0"/>
              <a:t>, one for </a:t>
            </a:r>
            <a:r>
              <a:rPr lang="it-IT" dirty="0" err="1"/>
              <a:t>each</a:t>
            </a:r>
            <a:r>
              <a:rPr lang="it-IT" dirty="0"/>
              <a:t> of the </a:t>
            </a:r>
            <a:r>
              <a:rPr lang="it-IT" dirty="0" err="1"/>
              <a:t>seven</a:t>
            </a:r>
            <a:r>
              <a:rPr lang="it-IT" dirty="0"/>
              <a:t> </a:t>
            </a:r>
            <a:r>
              <a:rPr lang="it-IT" dirty="0" err="1"/>
              <a:t>attributes</a:t>
            </a:r>
            <a:r>
              <a:rPr lang="it-IT" dirty="0"/>
              <a:t>. The </a:t>
            </a:r>
            <a:r>
              <a:rPr lang="it-IT" dirty="0" err="1"/>
              <a:t>most</a:t>
            </a:r>
            <a:r>
              <a:rPr lang="it-IT" dirty="0"/>
              <a:t> common words, and the </a:t>
            </a:r>
            <a:r>
              <a:rPr lang="it-IT" dirty="0" err="1"/>
              <a:t>most</a:t>
            </a:r>
            <a:r>
              <a:rPr lang="it-IT" dirty="0"/>
              <a:t> common word </a:t>
            </a:r>
            <a:r>
              <a:rPr lang="it-IT" dirty="0" err="1"/>
              <a:t>pairs</a:t>
            </a:r>
            <a:r>
              <a:rPr lang="it-IT" dirty="0"/>
              <a:t>. And </a:t>
            </a:r>
            <a:r>
              <a:rPr lang="it-IT" dirty="0" err="1"/>
              <a:t>we</a:t>
            </a:r>
            <a:r>
              <a:rPr lang="it-IT" dirty="0"/>
              <a:t> do </a:t>
            </a:r>
            <a:r>
              <a:rPr lang="it-IT" dirty="0" err="1"/>
              <a:t>it</a:t>
            </a:r>
            <a:r>
              <a:rPr lang="it-IT" dirty="0"/>
              <a:t> with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own</a:t>
            </a:r>
            <a:r>
              <a:rPr lang="it-IT" dirty="0"/>
              <a:t> </a:t>
            </a:r>
            <a:r>
              <a:rPr lang="it-IT" dirty="0" err="1"/>
              <a:t>Italian</a:t>
            </a:r>
            <a:r>
              <a:rPr lang="it-IT" dirty="0"/>
              <a:t> </a:t>
            </a:r>
            <a:r>
              <a:rPr lang="it-IT" dirty="0" err="1"/>
              <a:t>lemmatiser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Why </a:t>
            </a:r>
            <a:r>
              <a:rPr lang="it-IT" dirty="0" err="1"/>
              <a:t>not</a:t>
            </a:r>
            <a:r>
              <a:rPr lang="it-IT" dirty="0"/>
              <a:t> just use a standard NLP library? </a:t>
            </a:r>
            <a:r>
              <a:rPr lang="it-IT" dirty="0" err="1"/>
              <a:t>Because</a:t>
            </a:r>
            <a:r>
              <a:rPr lang="it-IT" dirty="0"/>
              <a:t> on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kind</a:t>
            </a:r>
            <a:r>
              <a:rPr lang="it-IT" dirty="0"/>
              <a:t> of </a:t>
            </a:r>
            <a:r>
              <a:rPr lang="it-IT" dirty="0" err="1"/>
              <a:t>vocabulary</a:t>
            </a:r>
            <a:r>
              <a:rPr lang="it-IT" dirty="0"/>
              <a:t>, </a:t>
            </a:r>
            <a:r>
              <a:rPr lang="it-IT" dirty="0" err="1"/>
              <a:t>they</a:t>
            </a:r>
            <a:r>
              <a:rPr lang="it-IT" dirty="0"/>
              <a:t> </a:t>
            </a:r>
            <a:r>
              <a:rPr lang="it-IT" dirty="0" err="1"/>
              <a:t>get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wrong</a:t>
            </a:r>
            <a:r>
              <a:rPr lang="it-IT" dirty="0"/>
              <a:t>. "Panna", </a:t>
            </a:r>
            <a:r>
              <a:rPr lang="it-IT" dirty="0" err="1"/>
              <a:t>cream</a:t>
            </a:r>
            <a:r>
              <a:rPr lang="it-IT" dirty="0"/>
              <a:t>, </a:t>
            </a:r>
            <a:r>
              <a:rPr lang="it-IT" dirty="0" err="1"/>
              <a:t>becomes</a:t>
            </a:r>
            <a:r>
              <a:rPr lang="it-IT" dirty="0"/>
              <a:t> "panno", </a:t>
            </a:r>
            <a:r>
              <a:rPr lang="it-IT" dirty="0" err="1"/>
              <a:t>cloth</a:t>
            </a:r>
            <a:r>
              <a:rPr lang="it-IT" dirty="0"/>
              <a:t>. "Latte", </a:t>
            </a:r>
            <a:r>
              <a:rPr lang="it-IT" dirty="0" err="1"/>
              <a:t>milk</a:t>
            </a:r>
            <a:r>
              <a:rPr lang="it-IT" dirty="0"/>
              <a:t>, </a:t>
            </a:r>
            <a:r>
              <a:rPr lang="it-IT" dirty="0" err="1"/>
              <a:t>becomes</a:t>
            </a:r>
            <a:r>
              <a:rPr lang="it-IT" dirty="0"/>
              <a:t> "latto",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isn't</a:t>
            </a:r>
            <a:r>
              <a:rPr lang="it-IT" dirty="0"/>
              <a:t> </a:t>
            </a:r>
            <a:r>
              <a:rPr lang="it-IT" dirty="0" err="1"/>
              <a:t>even</a:t>
            </a:r>
            <a:r>
              <a:rPr lang="it-IT" dirty="0"/>
              <a:t> a word. 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worse</a:t>
            </a:r>
            <a:r>
              <a:rPr lang="it-IT" dirty="0"/>
              <a:t>, </a:t>
            </a:r>
            <a:r>
              <a:rPr lang="it-IT" dirty="0" err="1"/>
              <a:t>they</a:t>
            </a:r>
            <a:r>
              <a:rPr lang="it-IT" dirty="0"/>
              <a:t> </a:t>
            </a:r>
            <a:r>
              <a:rPr lang="it-IT" dirty="0" err="1"/>
              <a:t>throw</a:t>
            </a:r>
            <a:r>
              <a:rPr lang="it-IT" dirty="0"/>
              <a:t> </a:t>
            </a:r>
            <a:r>
              <a:rPr lang="it-IT" dirty="0" err="1"/>
              <a:t>away</a:t>
            </a:r>
            <a:r>
              <a:rPr lang="it-IT" dirty="0"/>
              <a:t> the </a:t>
            </a:r>
            <a:r>
              <a:rPr lang="it-IT" dirty="0" err="1"/>
              <a:t>little</a:t>
            </a:r>
            <a:r>
              <a:rPr lang="it-IT" dirty="0"/>
              <a:t> </a:t>
            </a:r>
            <a:r>
              <a:rPr lang="it-IT" dirty="0" err="1"/>
              <a:t>intensifier</a:t>
            </a:r>
            <a:r>
              <a:rPr lang="it-IT" dirty="0"/>
              <a:t> words, like "</a:t>
            </a:r>
            <a:r>
              <a:rPr lang="it-IT" dirty="0" err="1"/>
              <a:t>very</a:t>
            </a:r>
            <a:r>
              <a:rPr lang="it-IT" dirty="0"/>
              <a:t>" or "</a:t>
            </a:r>
            <a:r>
              <a:rPr lang="it-IT" dirty="0" err="1"/>
              <a:t>slightly</a:t>
            </a:r>
            <a:r>
              <a:rPr lang="it-IT" dirty="0"/>
              <a:t>",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carry</a:t>
            </a:r>
            <a:r>
              <a:rPr lang="it-IT" dirty="0"/>
              <a:t> the </a:t>
            </a:r>
            <a:r>
              <a:rPr lang="it-IT" dirty="0" err="1"/>
              <a:t>meaning</a:t>
            </a:r>
            <a:r>
              <a:rPr lang="it-IT" dirty="0"/>
              <a:t> </a:t>
            </a:r>
            <a:r>
              <a:rPr lang="it-IT" dirty="0" err="1"/>
              <a:t>here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built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own</a:t>
            </a:r>
            <a:r>
              <a:rPr lang="it-IT" dirty="0"/>
              <a:t>, 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deterministic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expands</a:t>
            </a:r>
            <a:r>
              <a:rPr lang="it-IT" dirty="0"/>
              <a:t> </a:t>
            </a:r>
            <a:r>
              <a:rPr lang="it-IT" dirty="0" err="1"/>
              <a:t>abbreviations</a:t>
            </a:r>
            <a:r>
              <a:rPr lang="it-IT" dirty="0"/>
              <a:t>, </a:t>
            </a:r>
            <a:r>
              <a:rPr lang="it-IT" dirty="0" err="1"/>
              <a:t>fixes</a:t>
            </a:r>
            <a:r>
              <a:rPr lang="it-IT" dirty="0"/>
              <a:t> the </a:t>
            </a:r>
            <a:r>
              <a:rPr lang="it-IT" dirty="0" err="1"/>
              <a:t>typos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in the audit, and </a:t>
            </a:r>
            <a:r>
              <a:rPr lang="it-IT" dirty="0" err="1"/>
              <a:t>restores</a:t>
            </a:r>
            <a:r>
              <a:rPr lang="it-IT" dirty="0"/>
              <a:t> </a:t>
            </a:r>
            <a:r>
              <a:rPr lang="it-IT" dirty="0" err="1"/>
              <a:t>accents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</a:t>
            </a:r>
            <a:r>
              <a:rPr lang="it-IT" dirty="0" err="1"/>
              <a:t>accented</a:t>
            </a:r>
            <a:r>
              <a:rPr lang="it-IT" dirty="0"/>
              <a:t> word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exists</a:t>
            </a:r>
            <a:r>
              <a:rPr lang="it-IT" dirty="0"/>
              <a:t> in the data.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avoid</a:t>
            </a:r>
            <a:r>
              <a:rPr lang="it-IT" dirty="0"/>
              <a:t> blind </a:t>
            </a:r>
            <a:r>
              <a:rPr lang="it-IT" dirty="0" err="1"/>
              <a:t>suffix</a:t>
            </a:r>
            <a:r>
              <a:rPr lang="it-IT" dirty="0"/>
              <a:t>-cutting. A small </a:t>
            </a:r>
            <a:r>
              <a:rPr lang="it-IT" dirty="0" err="1"/>
              <a:t>handcrafted</a:t>
            </a:r>
            <a:r>
              <a:rPr lang="it-IT" dirty="0"/>
              <a:t> </a:t>
            </a:r>
            <a:r>
              <a:rPr lang="it-IT" dirty="0" err="1"/>
              <a:t>dictionary</a:t>
            </a:r>
            <a:r>
              <a:rPr lang="it-IT" dirty="0"/>
              <a:t> deals with the </a:t>
            </a:r>
            <a:r>
              <a:rPr lang="it-IT" dirty="0" err="1"/>
              <a:t>tricky</a:t>
            </a:r>
            <a:r>
              <a:rPr lang="it-IT" dirty="0"/>
              <a:t> </a:t>
            </a:r>
            <a:r>
              <a:rPr lang="it-IT" dirty="0" err="1"/>
              <a:t>cases</a:t>
            </a:r>
            <a:r>
              <a:rPr lang="it-IT" dirty="0"/>
              <a:t>. And </a:t>
            </a:r>
            <a:r>
              <a:rPr lang="it-IT" dirty="0" err="1"/>
              <a:t>we</a:t>
            </a:r>
            <a:r>
              <a:rPr lang="it-IT" dirty="0"/>
              <a:t> merge </a:t>
            </a:r>
            <a:r>
              <a:rPr lang="it-IT" dirty="0" err="1"/>
              <a:t>singular</a:t>
            </a:r>
            <a:r>
              <a:rPr lang="it-IT" dirty="0"/>
              <a:t> and </a:t>
            </a:r>
            <a:r>
              <a:rPr lang="it-IT" dirty="0" err="1"/>
              <a:t>plural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forms</a:t>
            </a:r>
            <a:r>
              <a:rPr lang="it-IT" dirty="0"/>
              <a:t> </a:t>
            </a:r>
            <a:r>
              <a:rPr lang="it-IT" dirty="0" err="1"/>
              <a:t>really</a:t>
            </a:r>
            <a:r>
              <a:rPr lang="it-IT" dirty="0"/>
              <a:t> </a:t>
            </a:r>
            <a:r>
              <a:rPr lang="it-IT" dirty="0" err="1"/>
              <a:t>appear</a:t>
            </a:r>
            <a:r>
              <a:rPr lang="it-IT" dirty="0"/>
              <a:t>, keeping the more common one.</a:t>
            </a:r>
          </a:p>
          <a:p>
            <a:endParaRPr lang="it-IT" dirty="0"/>
          </a:p>
          <a:p>
            <a:r>
              <a:rPr lang="it-IT" dirty="0"/>
              <a:t>The chart shows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rich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vocabulary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. Paste </a:t>
            </a:r>
            <a:r>
              <a:rPr lang="it-IT" dirty="0" err="1"/>
              <a:t>structure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richest</a:t>
            </a:r>
            <a:r>
              <a:rPr lang="it-IT" dirty="0"/>
              <a:t>, </a:t>
            </a:r>
            <a:r>
              <a:rPr lang="it-IT" dirty="0" err="1"/>
              <a:t>around</a:t>
            </a:r>
            <a:r>
              <a:rPr lang="it-IT" dirty="0"/>
              <a:t> 780 words. Rind </a:t>
            </a:r>
            <a:r>
              <a:rPr lang="it-IT" dirty="0" err="1"/>
              <a:t>thickness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smallest</a:t>
            </a:r>
            <a:r>
              <a:rPr lang="it-IT" dirty="0"/>
              <a:t>, </a:t>
            </a:r>
            <a:r>
              <a:rPr lang="it-IT" dirty="0" err="1"/>
              <a:t>around</a:t>
            </a:r>
            <a:r>
              <a:rPr lang="it-IT" dirty="0"/>
              <a:t> 250. </a:t>
            </a:r>
            <a:r>
              <a:rPr lang="it-IT" dirty="0" err="1"/>
              <a:t>That</a:t>
            </a:r>
            <a:r>
              <a:rPr lang="it-IT" dirty="0"/>
              <a:t> makes </a:t>
            </a:r>
            <a:r>
              <a:rPr lang="it-IT" dirty="0" err="1"/>
              <a:t>sense</a:t>
            </a:r>
            <a:r>
              <a:rPr lang="it-IT" dirty="0"/>
              <a:t>: </a:t>
            </a:r>
            <a:r>
              <a:rPr lang="it-IT" dirty="0" err="1"/>
              <a:t>there's</a:t>
            </a:r>
            <a:r>
              <a:rPr lang="it-IT" dirty="0"/>
              <a:t> just </a:t>
            </a:r>
            <a:r>
              <a:rPr lang="it-IT" dirty="0" err="1"/>
              <a:t>less</a:t>
            </a:r>
            <a:r>
              <a:rPr lang="it-IT" dirty="0"/>
              <a:t> to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rind</a:t>
            </a:r>
            <a:r>
              <a:rPr lang="it-IT" dirty="0"/>
              <a:t> </a:t>
            </a:r>
            <a:r>
              <a:rPr lang="it-IT" dirty="0" err="1"/>
              <a:t>thickness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keep</a:t>
            </a:r>
            <a:r>
              <a:rPr lang="it-IT" dirty="0"/>
              <a:t> the top words and word </a:t>
            </a:r>
            <a:r>
              <a:rPr lang="it-IT" dirty="0" err="1"/>
              <a:t>pairs</a:t>
            </a:r>
            <a:r>
              <a:rPr lang="it-IT" dirty="0"/>
              <a:t>. </a:t>
            </a:r>
            <a:r>
              <a:rPr lang="it-IT" dirty="0" err="1"/>
              <a:t>They</a:t>
            </a:r>
            <a:r>
              <a:rPr lang="it-IT" dirty="0"/>
              <a:t> do </a:t>
            </a:r>
            <a:r>
              <a:rPr lang="it-IT" dirty="0" err="1"/>
              <a:t>two</a:t>
            </a:r>
            <a:r>
              <a:rPr lang="it-IT" dirty="0"/>
              <a:t> jobs: </a:t>
            </a:r>
            <a:r>
              <a:rPr lang="it-IT" dirty="0" err="1"/>
              <a:t>they're</a:t>
            </a:r>
            <a:r>
              <a:rPr lang="it-IT" dirty="0"/>
              <a:t> the </a:t>
            </a:r>
            <a:r>
              <a:rPr lang="it-IT" dirty="0" err="1"/>
              <a:t>basis</a:t>
            </a:r>
            <a:r>
              <a:rPr lang="it-IT" dirty="0"/>
              <a:t> for </a:t>
            </a:r>
            <a:r>
              <a:rPr lang="it-IT" dirty="0" err="1"/>
              <a:t>our</a:t>
            </a:r>
            <a:r>
              <a:rPr lang="it-IT" dirty="0"/>
              <a:t> audit, and </a:t>
            </a:r>
            <a:r>
              <a:rPr lang="it-IT" dirty="0" err="1"/>
              <a:t>later</a:t>
            </a:r>
            <a:r>
              <a:rPr lang="it-IT" dirty="0"/>
              <a:t> </a:t>
            </a:r>
            <a:r>
              <a:rPr lang="it-IT" dirty="0" err="1"/>
              <a:t>they</a:t>
            </a:r>
            <a:r>
              <a:rPr lang="it-IT" dirty="0"/>
              <a:t> guide the </a:t>
            </a:r>
            <a:r>
              <a:rPr lang="it-IT" dirty="0" err="1"/>
              <a:t>LLM's</a:t>
            </a:r>
            <a:r>
              <a:rPr lang="it-IT" dirty="0"/>
              <a:t> style,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ever</a:t>
            </a:r>
            <a:r>
              <a:rPr lang="it-IT" dirty="0"/>
              <a:t> </a:t>
            </a:r>
            <a:r>
              <a:rPr lang="it-IT" dirty="0" err="1"/>
              <a:t>being</a:t>
            </a:r>
            <a:r>
              <a:rPr lang="it-IT" dirty="0"/>
              <a:t> a </a:t>
            </a:r>
            <a:r>
              <a:rPr lang="it-IT" dirty="0" err="1"/>
              <a:t>closed</a:t>
            </a:r>
            <a:r>
              <a:rPr lang="it-IT" dirty="0"/>
              <a:t> list. The model </a:t>
            </a:r>
            <a:r>
              <a:rPr lang="it-IT" dirty="0" err="1"/>
              <a:t>already</a:t>
            </a:r>
            <a:r>
              <a:rPr lang="it-IT" dirty="0"/>
              <a:t> </a:t>
            </a:r>
            <a:r>
              <a:rPr lang="it-IT" dirty="0" err="1"/>
              <a:t>speaks</a:t>
            </a:r>
            <a:r>
              <a:rPr lang="it-IT" dirty="0"/>
              <a:t> </a:t>
            </a:r>
            <a:r>
              <a:rPr lang="it-IT" dirty="0" err="1"/>
              <a:t>Italian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just </a:t>
            </a:r>
            <a:r>
              <a:rPr lang="it-IT" dirty="0" err="1"/>
              <a:t>remind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the panel talks.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Stage </a:t>
            </a:r>
            <a:r>
              <a:rPr lang="it-IT" dirty="0" err="1"/>
              <a:t>four</a:t>
            </a:r>
            <a:r>
              <a:rPr lang="it-IT" dirty="0"/>
              <a:t> deals with </a:t>
            </a:r>
            <a:r>
              <a:rPr lang="it-IT" dirty="0" err="1"/>
              <a:t>something</a:t>
            </a:r>
            <a:r>
              <a:rPr lang="it-IT" dirty="0"/>
              <a:t> the brief </a:t>
            </a:r>
            <a:r>
              <a:rPr lang="it-IT" dirty="0" err="1"/>
              <a:t>asked</a:t>
            </a:r>
            <a:r>
              <a:rPr lang="it-IT" dirty="0"/>
              <a:t> for </a:t>
            </a:r>
            <a:r>
              <a:rPr lang="it-IT" dirty="0" err="1"/>
              <a:t>directly</a:t>
            </a:r>
            <a:r>
              <a:rPr lang="it-IT" dirty="0"/>
              <a:t>: </a:t>
            </a:r>
            <a:r>
              <a:rPr lang="it-IT" dirty="0" err="1"/>
              <a:t>turning</a:t>
            </a:r>
            <a:r>
              <a:rPr lang="it-IT" dirty="0"/>
              <a:t>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words.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clearest</a:t>
            </a:r>
            <a:r>
              <a:rPr lang="it-IT" dirty="0"/>
              <a:t> case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rind</a:t>
            </a:r>
            <a:r>
              <a:rPr lang="it-IT" dirty="0"/>
              <a:t> </a:t>
            </a:r>
            <a:r>
              <a:rPr lang="it-IT" dirty="0" err="1"/>
              <a:t>thickness</a:t>
            </a:r>
            <a:r>
              <a:rPr lang="it-IT" dirty="0"/>
              <a:t>. </a:t>
            </a:r>
            <a:r>
              <a:rPr lang="it-IT" dirty="0" err="1"/>
              <a:t>Hundreds</a:t>
            </a:r>
            <a:r>
              <a:rPr lang="it-IT" dirty="0"/>
              <a:t> of </a:t>
            </a:r>
            <a:r>
              <a:rPr lang="it-IT" dirty="0" err="1"/>
              <a:t>captions</a:t>
            </a:r>
            <a:r>
              <a:rPr lang="it-IT" dirty="0"/>
              <a:t> </a:t>
            </a:r>
            <a:r>
              <a:rPr lang="it-IT" dirty="0" err="1"/>
              <a:t>were</a:t>
            </a:r>
            <a:r>
              <a:rPr lang="it-IT" dirty="0"/>
              <a:t> just </a:t>
            </a:r>
            <a:r>
              <a:rPr lang="it-IT" dirty="0" err="1"/>
              <a:t>numbers</a:t>
            </a:r>
            <a:r>
              <a:rPr lang="it-IT" dirty="0"/>
              <a:t>. "10". "1 cm". "</a:t>
            </a:r>
            <a:r>
              <a:rPr lang="it-IT" dirty="0" err="1"/>
              <a:t>around</a:t>
            </a:r>
            <a:r>
              <a:rPr lang="it-IT" dirty="0"/>
              <a:t> 9 mm". "8 to 10 mm".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wrote</a:t>
            </a:r>
            <a:r>
              <a:rPr lang="it-IT" dirty="0"/>
              <a:t> a </a:t>
            </a:r>
            <a:r>
              <a:rPr lang="it-IT" dirty="0" err="1"/>
              <a:t>function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spots </a:t>
            </a:r>
            <a:r>
              <a:rPr lang="it-IT" dirty="0" err="1"/>
              <a:t>these</a:t>
            </a:r>
            <a:r>
              <a:rPr lang="it-IT" dirty="0"/>
              <a:t> pure </a:t>
            </a:r>
            <a:r>
              <a:rPr lang="it-IT" dirty="0" err="1"/>
              <a:t>numbers</a:t>
            </a:r>
            <a:r>
              <a:rPr lang="it-IT" dirty="0"/>
              <a:t>, </a:t>
            </a:r>
            <a:r>
              <a:rPr lang="it-IT" dirty="0" err="1"/>
              <a:t>converts</a:t>
            </a:r>
            <a:r>
              <a:rPr lang="it-IT" dirty="0"/>
              <a:t> </a:t>
            </a:r>
            <a:r>
              <a:rPr lang="it-IT" dirty="0" err="1"/>
              <a:t>everything</a:t>
            </a:r>
            <a:r>
              <a:rPr lang="it-IT" dirty="0"/>
              <a:t> to </a:t>
            </a:r>
            <a:r>
              <a:rPr lang="it-IT" dirty="0" err="1"/>
              <a:t>millimetres</a:t>
            </a:r>
            <a:r>
              <a:rPr lang="it-IT" dirty="0"/>
              <a:t>, and sorts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named</a:t>
            </a:r>
            <a:r>
              <a:rPr lang="it-IT" dirty="0"/>
              <a:t> buckets. Below 8,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thin</a:t>
            </a:r>
            <a:r>
              <a:rPr lang="it-IT" dirty="0"/>
              <a:t>. Up to 10, </a:t>
            </a:r>
            <a:r>
              <a:rPr lang="it-IT" dirty="0" err="1"/>
              <a:t>thin</a:t>
            </a:r>
            <a:r>
              <a:rPr lang="it-IT" dirty="0"/>
              <a:t>. And so on, up to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thick</a:t>
            </a:r>
            <a:r>
              <a:rPr lang="it-IT" dirty="0"/>
              <a:t> </a:t>
            </a:r>
            <a:r>
              <a:rPr lang="it-IT" dirty="0" err="1"/>
              <a:t>above</a:t>
            </a:r>
            <a:r>
              <a:rPr lang="it-IT" dirty="0"/>
              <a:t> 18.</a:t>
            </a:r>
          </a:p>
          <a:p>
            <a:endParaRPr lang="it-IT" dirty="0"/>
          </a:p>
          <a:p>
            <a:r>
              <a:rPr lang="it-IT" dirty="0"/>
              <a:t>Why do </a:t>
            </a:r>
            <a:r>
              <a:rPr lang="it-IT" dirty="0" err="1"/>
              <a:t>this</a:t>
            </a:r>
            <a:r>
              <a:rPr lang="it-IT" dirty="0"/>
              <a:t> with code, and </a:t>
            </a:r>
            <a:r>
              <a:rPr lang="it-IT" dirty="0" err="1"/>
              <a:t>not</a:t>
            </a:r>
            <a:r>
              <a:rPr lang="it-IT" dirty="0"/>
              <a:t> the LLM? </a:t>
            </a:r>
            <a:r>
              <a:rPr lang="it-IT" dirty="0" err="1"/>
              <a:t>Because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kills</a:t>
            </a:r>
            <a:r>
              <a:rPr lang="it-IT" dirty="0"/>
              <a:t> the </a:t>
            </a:r>
            <a:r>
              <a:rPr lang="it-IT" dirty="0" err="1"/>
              <a:t>model's</a:t>
            </a:r>
            <a:r>
              <a:rPr lang="it-IT" dirty="0"/>
              <a:t> </a:t>
            </a:r>
            <a:r>
              <a:rPr lang="it-IT" dirty="0" err="1"/>
              <a:t>biggest</a:t>
            </a:r>
            <a:r>
              <a:rPr lang="it-IT" dirty="0"/>
              <a:t> source of </a:t>
            </a:r>
            <a:r>
              <a:rPr lang="it-IT" dirty="0" err="1"/>
              <a:t>confusion</a:t>
            </a:r>
            <a:r>
              <a:rPr lang="it-IT" dirty="0"/>
              <a:t>. The LLM </a:t>
            </a:r>
            <a:r>
              <a:rPr lang="it-IT" dirty="0" err="1"/>
              <a:t>would</a:t>
            </a:r>
            <a:r>
              <a:rPr lang="it-IT" dirty="0"/>
              <a:t> </a:t>
            </a:r>
            <a:r>
              <a:rPr lang="it-IT" dirty="0" err="1"/>
              <a:t>read</a:t>
            </a:r>
            <a:r>
              <a:rPr lang="it-IT" dirty="0"/>
              <a:t> "1 cm" and "10 mm"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things</a:t>
            </a:r>
            <a:r>
              <a:rPr lang="it-IT" dirty="0"/>
              <a:t>, </a:t>
            </a:r>
            <a:r>
              <a:rPr lang="it-IT" dirty="0" err="1"/>
              <a:t>even</a:t>
            </a:r>
            <a:r>
              <a:rPr lang="it-IT" dirty="0"/>
              <a:t> </a:t>
            </a:r>
            <a:r>
              <a:rPr lang="it-IT" dirty="0" err="1"/>
              <a:t>though</a:t>
            </a:r>
            <a:r>
              <a:rPr lang="it-IT" dirty="0"/>
              <a:t> </a:t>
            </a:r>
            <a:r>
              <a:rPr lang="it-IT" dirty="0" err="1"/>
              <a:t>they're</a:t>
            </a:r>
            <a:r>
              <a:rPr lang="it-IT" dirty="0"/>
              <a:t> the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same</a:t>
            </a:r>
            <a:r>
              <a:rPr lang="it-IT" dirty="0"/>
              <a:t> size.</a:t>
            </a:r>
          </a:p>
          <a:p>
            <a:endParaRPr lang="it-IT" dirty="0"/>
          </a:p>
          <a:p>
            <a:r>
              <a:rPr lang="it-IT" dirty="0"/>
              <a:t>On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see</a:t>
            </a:r>
            <a:r>
              <a:rPr lang="it-IT" dirty="0"/>
              <a:t> the </a:t>
            </a:r>
            <a:r>
              <a:rPr lang="it-IT" dirty="0" err="1"/>
              <a:t>result</a:t>
            </a:r>
            <a:r>
              <a:rPr lang="it-IT" dirty="0"/>
              <a:t>: 424 </a:t>
            </a:r>
            <a:r>
              <a:rPr lang="it-IT" dirty="0" err="1"/>
              <a:t>numeric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, </a:t>
            </a:r>
            <a:r>
              <a:rPr lang="it-IT" dirty="0" err="1"/>
              <a:t>sorted</a:t>
            </a:r>
            <a:r>
              <a:rPr lang="it-IT" dirty="0"/>
              <a:t> </a:t>
            </a:r>
            <a:r>
              <a:rPr lang="it-IT" dirty="0" err="1"/>
              <a:t>cleanly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five</a:t>
            </a:r>
            <a:r>
              <a:rPr lang="it-IT" dirty="0"/>
              <a:t> buckets.</a:t>
            </a:r>
          </a:p>
          <a:p>
            <a:endParaRPr lang="it-IT" dirty="0"/>
          </a:p>
          <a:p>
            <a:r>
              <a:rPr lang="it-IT" dirty="0"/>
              <a:t>The mixed </a:t>
            </a:r>
            <a:r>
              <a:rPr lang="it-IT" dirty="0" err="1"/>
              <a:t>captions</a:t>
            </a:r>
            <a:r>
              <a:rPr lang="it-IT" dirty="0"/>
              <a:t>, the </a:t>
            </a:r>
            <a:r>
              <a:rPr lang="it-IT" dirty="0" err="1"/>
              <a:t>ones</a:t>
            </a:r>
            <a:r>
              <a:rPr lang="it-IT" dirty="0"/>
              <a:t> with </a:t>
            </a:r>
            <a:r>
              <a:rPr lang="it-IT" dirty="0" err="1"/>
              <a:t>both</a:t>
            </a:r>
            <a:r>
              <a:rPr lang="it-IT" dirty="0"/>
              <a:t> a </a:t>
            </a:r>
            <a:r>
              <a:rPr lang="it-IT" dirty="0" err="1"/>
              <a:t>number</a:t>
            </a:r>
            <a:r>
              <a:rPr lang="it-IT" dirty="0"/>
              <a:t> and a </a:t>
            </a:r>
            <a:r>
              <a:rPr lang="it-IT" dirty="0" err="1"/>
              <a:t>description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leave</a:t>
            </a:r>
            <a:r>
              <a:rPr lang="it-IT" dirty="0"/>
              <a:t> to the LLM, </a:t>
            </a:r>
            <a:r>
              <a:rPr lang="it-IT" dirty="0" err="1"/>
              <a:t>because</a:t>
            </a:r>
            <a:r>
              <a:rPr lang="it-IT" dirty="0"/>
              <a:t> </a:t>
            </a:r>
            <a:r>
              <a:rPr lang="it-IT" dirty="0" err="1"/>
              <a:t>those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judgement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single </a:t>
            </a:r>
            <a:r>
              <a:rPr lang="it-IT" dirty="0" err="1"/>
              <a:t>trick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made the project cheap: </a:t>
            </a:r>
            <a:r>
              <a:rPr lang="it-IT" dirty="0" err="1"/>
              <a:t>deduplication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Remember the broadcast?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copied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comment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images.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means</a:t>
            </a:r>
            <a:r>
              <a:rPr lang="it-IT" dirty="0"/>
              <a:t> the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same</a:t>
            </a:r>
            <a:r>
              <a:rPr lang="it-IT" dirty="0"/>
              <a:t> text </a:t>
            </a:r>
            <a:r>
              <a:rPr lang="it-IT" dirty="0" err="1"/>
              <a:t>would</a:t>
            </a:r>
            <a:r>
              <a:rPr lang="it-IT" dirty="0"/>
              <a:t> be </a:t>
            </a:r>
            <a:r>
              <a:rPr lang="it-IT" dirty="0" err="1"/>
              <a:t>sent</a:t>
            </a:r>
            <a:r>
              <a:rPr lang="it-IT" dirty="0"/>
              <a:t> to the LLM over and over, and </a:t>
            </a:r>
            <a:r>
              <a:rPr lang="it-IT" dirty="0" err="1"/>
              <a:t>we'd</a:t>
            </a:r>
            <a:r>
              <a:rPr lang="it-IT" dirty="0"/>
              <a:t> </a:t>
            </a:r>
            <a:r>
              <a:rPr lang="it-IT" dirty="0" err="1"/>
              <a:t>pay</a:t>
            </a:r>
            <a:r>
              <a:rPr lang="it-IT" dirty="0"/>
              <a:t> </a:t>
            </a:r>
            <a:r>
              <a:rPr lang="it-IT" dirty="0" err="1"/>
              <a:t>every</a:t>
            </a:r>
            <a:r>
              <a:rPr lang="it-IT" dirty="0"/>
              <a:t> time. </a:t>
            </a:r>
            <a:r>
              <a:rPr lang="it-IT" dirty="0" err="1"/>
              <a:t>That</a:t>
            </a:r>
            <a:r>
              <a:rPr lang="it-IT" dirty="0"/>
              <a:t> makes no </a:t>
            </a:r>
            <a:r>
              <a:rPr lang="it-IT" dirty="0" err="1"/>
              <a:t>sense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call the model,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remove</a:t>
            </a:r>
            <a:r>
              <a:rPr lang="it-IT" dirty="0"/>
              <a:t> the </a:t>
            </a:r>
            <a:r>
              <a:rPr lang="it-IT" dirty="0" err="1"/>
              <a:t>duplicates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group by </a:t>
            </a:r>
            <a:r>
              <a:rPr lang="it-IT" dirty="0" err="1"/>
              <a:t>caption</a:t>
            </a:r>
            <a:r>
              <a:rPr lang="it-IT" dirty="0"/>
              <a:t> and </a:t>
            </a:r>
            <a:r>
              <a:rPr lang="it-IT" dirty="0" err="1"/>
              <a:t>attribute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result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sharp</a:t>
            </a:r>
            <a:r>
              <a:rPr lang="it-IT" dirty="0"/>
              <a:t>. Over 39 </a:t>
            </a:r>
            <a:r>
              <a:rPr lang="it-IT" dirty="0" err="1"/>
              <a:t>thousand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</a:t>
            </a:r>
            <a:r>
              <a:rPr lang="it-IT" dirty="0" err="1"/>
              <a:t>shrink</a:t>
            </a:r>
            <a:r>
              <a:rPr lang="it-IT" dirty="0"/>
              <a:t> to </a:t>
            </a:r>
            <a:r>
              <a:rPr lang="it-IT" dirty="0" err="1"/>
              <a:t>about</a:t>
            </a:r>
            <a:r>
              <a:rPr lang="it-IT" dirty="0"/>
              <a:t> 7,700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. </a:t>
            </a:r>
            <a:r>
              <a:rPr lang="it-IT" dirty="0" err="1"/>
              <a:t>That's</a:t>
            </a:r>
            <a:r>
              <a:rPr lang="it-IT" dirty="0"/>
              <a:t> a 5-fold </a:t>
            </a:r>
            <a:r>
              <a:rPr lang="it-IT" dirty="0" err="1"/>
              <a:t>cut</a:t>
            </a:r>
            <a:r>
              <a:rPr lang="it-IT" dirty="0"/>
              <a:t>. The chart shows </a:t>
            </a:r>
            <a:r>
              <a:rPr lang="it-IT" dirty="0" err="1"/>
              <a:t>it</a:t>
            </a:r>
            <a:r>
              <a:rPr lang="it-IT" dirty="0"/>
              <a:t> per </a:t>
            </a:r>
            <a:r>
              <a:rPr lang="it-IT" dirty="0" err="1"/>
              <a:t>attribute</a:t>
            </a:r>
            <a:r>
              <a:rPr lang="it-IT" dirty="0"/>
              <a:t>: </a:t>
            </a:r>
            <a:r>
              <a:rPr lang="it-IT" dirty="0" err="1"/>
              <a:t>prepared</a:t>
            </a:r>
            <a:r>
              <a:rPr lang="it-IT" dirty="0"/>
              <a:t> </a:t>
            </a:r>
            <a:r>
              <a:rPr lang="it-IT" dirty="0" err="1"/>
              <a:t>rows</a:t>
            </a:r>
            <a:r>
              <a:rPr lang="it-IT" dirty="0"/>
              <a:t> on one side,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 on the </a:t>
            </a:r>
            <a:r>
              <a:rPr lang="it-IT" dirty="0" err="1"/>
              <a:t>other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 the </a:t>
            </a:r>
            <a:r>
              <a:rPr lang="it-IT" dirty="0" err="1"/>
              <a:t>broadcast's</a:t>
            </a:r>
            <a:r>
              <a:rPr lang="it-IT" dirty="0"/>
              <a:t> </a:t>
            </a:r>
            <a:r>
              <a:rPr lang="it-IT" dirty="0" err="1"/>
              <a:t>fingerprint</a:t>
            </a:r>
            <a:r>
              <a:rPr lang="it-IT" dirty="0"/>
              <a:t>: </a:t>
            </a:r>
            <a:r>
              <a:rPr lang="it-IT" dirty="0" err="1"/>
              <a:t>almost</a:t>
            </a:r>
            <a:r>
              <a:rPr lang="it-IT" dirty="0"/>
              <a:t> 6,600 </a:t>
            </a:r>
            <a:r>
              <a:rPr lang="it-IT" dirty="0" err="1"/>
              <a:t>captions</a:t>
            </a:r>
            <a:r>
              <a:rPr lang="it-IT" dirty="0"/>
              <a:t> </a:t>
            </a:r>
            <a:r>
              <a:rPr lang="it-IT" dirty="0" err="1"/>
              <a:t>appear</a:t>
            </a:r>
            <a:r>
              <a:rPr lang="it-IT" dirty="0"/>
              <a:t> </a:t>
            </a:r>
            <a:r>
              <a:rPr lang="it-IT" dirty="0" err="1"/>
              <a:t>exactly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times.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send</a:t>
            </a:r>
            <a:r>
              <a:rPr lang="it-IT" dirty="0"/>
              <a:t> the LLM the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.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cuts</a:t>
            </a:r>
            <a:r>
              <a:rPr lang="it-IT" dirty="0"/>
              <a:t> the cost by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five</a:t>
            </a:r>
            <a:r>
              <a:rPr lang="it-IT" dirty="0"/>
              <a:t> times.</a:t>
            </a:r>
          </a:p>
          <a:p>
            <a:endParaRPr lang="it-IT" dirty="0"/>
          </a:p>
          <a:p>
            <a:r>
              <a:rPr lang="it-IT" dirty="0" err="1"/>
              <a:t>It's</a:t>
            </a:r>
            <a:r>
              <a:rPr lang="it-IT" dirty="0"/>
              <a:t> the </a:t>
            </a:r>
            <a:r>
              <a:rPr lang="it-IT" dirty="0" err="1"/>
              <a:t>perfect</a:t>
            </a:r>
            <a:r>
              <a:rPr lang="it-IT" dirty="0"/>
              <a:t> </a:t>
            </a:r>
            <a:r>
              <a:rPr lang="it-IT" dirty="0" err="1"/>
              <a:t>example</a:t>
            </a:r>
            <a:r>
              <a:rPr lang="it-IT" dirty="0"/>
              <a:t> of "</a:t>
            </a:r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the LLM". One free, </a:t>
            </a:r>
            <a:r>
              <a:rPr lang="it-IT" dirty="0" err="1"/>
              <a:t>simple</a:t>
            </a:r>
            <a:r>
              <a:rPr lang="it-IT" dirty="0"/>
              <a:t> step. Five times </a:t>
            </a:r>
            <a:r>
              <a:rPr lang="it-IT" dirty="0" err="1"/>
              <a:t>less</a:t>
            </a:r>
            <a:r>
              <a:rPr lang="it-IT" dirty="0"/>
              <a:t> to </a:t>
            </a:r>
            <a:r>
              <a:rPr lang="it-IT" dirty="0" err="1"/>
              <a:t>pay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 err="1"/>
              <a:t>Now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reach</a:t>
            </a:r>
            <a:r>
              <a:rPr lang="it-IT" dirty="0"/>
              <a:t> the smart part: the LLM </a:t>
            </a:r>
            <a:r>
              <a:rPr lang="it-IT" dirty="0" err="1"/>
              <a:t>rewriting</a:t>
            </a:r>
            <a:r>
              <a:rPr lang="it-IT" dirty="0"/>
              <a:t>. Stages </a:t>
            </a:r>
            <a:r>
              <a:rPr lang="it-IT" dirty="0" err="1"/>
              <a:t>six</a:t>
            </a:r>
            <a:r>
              <a:rPr lang="it-IT" dirty="0"/>
              <a:t>, </a:t>
            </a:r>
            <a:r>
              <a:rPr lang="it-IT" dirty="0" err="1"/>
              <a:t>seven</a:t>
            </a:r>
            <a:r>
              <a:rPr lang="it-IT" dirty="0"/>
              <a:t> and </a:t>
            </a:r>
            <a:r>
              <a:rPr lang="it-IT" dirty="0" err="1"/>
              <a:t>eight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Here the model </a:t>
            </a:r>
            <a:r>
              <a:rPr lang="it-IT" dirty="0" err="1"/>
              <a:t>does</a:t>
            </a:r>
            <a:r>
              <a:rPr lang="it-IT" dirty="0"/>
              <a:t> the work no </a:t>
            </a:r>
            <a:r>
              <a:rPr lang="it-IT" dirty="0" err="1"/>
              <a:t>fixed</a:t>
            </a:r>
            <a:r>
              <a:rPr lang="it-IT" dirty="0"/>
              <a:t> rule </a:t>
            </a:r>
            <a:r>
              <a:rPr lang="it-IT" dirty="0" err="1"/>
              <a:t>could</a:t>
            </a:r>
            <a:r>
              <a:rPr lang="it-IT" dirty="0"/>
              <a:t> do </a:t>
            </a:r>
            <a:r>
              <a:rPr lang="it-IT" dirty="0" err="1"/>
              <a:t>well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turns "</a:t>
            </a:r>
            <a:r>
              <a:rPr lang="it-IT" dirty="0" err="1"/>
              <a:t>Sauerkraut</a:t>
            </a:r>
            <a:r>
              <a:rPr lang="it-IT" dirty="0"/>
              <a:t>" </a:t>
            </a:r>
            <a:r>
              <a:rPr lang="it-IT" dirty="0" err="1"/>
              <a:t>into</a:t>
            </a:r>
            <a:r>
              <a:rPr lang="it-IT" dirty="0"/>
              <a:t> "Smell of </a:t>
            </a:r>
            <a:r>
              <a:rPr lang="it-IT" dirty="0" err="1"/>
              <a:t>sauerkraut</a:t>
            </a:r>
            <a:r>
              <a:rPr lang="it-IT" dirty="0"/>
              <a:t>".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cleans</a:t>
            </a:r>
            <a:r>
              <a:rPr lang="it-IT" dirty="0"/>
              <a:t> up </a:t>
            </a:r>
            <a:r>
              <a:rPr lang="it-IT" dirty="0" err="1"/>
              <a:t>dialect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removes</a:t>
            </a:r>
            <a:r>
              <a:rPr lang="it-IT" dirty="0"/>
              <a:t> the meta-</a:t>
            </a:r>
            <a:r>
              <a:rPr lang="it-IT" dirty="0" err="1"/>
              <a:t>comments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keeps</a:t>
            </a:r>
            <a:r>
              <a:rPr lang="it-IT" dirty="0"/>
              <a:t> the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description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turns </a:t>
            </a:r>
            <a:r>
              <a:rPr lang="it-IT" dirty="0" err="1"/>
              <a:t>questions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statements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Stage </a:t>
            </a:r>
            <a:r>
              <a:rPr lang="it-IT" dirty="0" err="1"/>
              <a:t>six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prompt. One prompt per </a:t>
            </a:r>
            <a:r>
              <a:rPr lang="it-IT" dirty="0" err="1"/>
              <a:t>attribute</a:t>
            </a:r>
            <a:r>
              <a:rPr lang="it-IT" dirty="0"/>
              <a:t>, with </a:t>
            </a:r>
            <a:r>
              <a:rPr lang="it-IT" dirty="0" err="1"/>
              <a:t>eleven</a:t>
            </a:r>
            <a:r>
              <a:rPr lang="it-IT" dirty="0"/>
              <a:t> rules. One of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"</a:t>
            </a:r>
            <a:r>
              <a:rPr lang="it-IT" dirty="0" err="1"/>
              <a:t>invent</a:t>
            </a:r>
            <a:r>
              <a:rPr lang="it-IT" dirty="0"/>
              <a:t> </a:t>
            </a:r>
            <a:r>
              <a:rPr lang="it-IT" dirty="0" err="1"/>
              <a:t>nothing</a:t>
            </a:r>
            <a:r>
              <a:rPr lang="it-IT" dirty="0"/>
              <a:t>". </a:t>
            </a:r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</a:t>
            </a:r>
            <a:r>
              <a:rPr lang="it-IT" dirty="0" err="1"/>
              <a:t>escape</a:t>
            </a:r>
            <a:r>
              <a:rPr lang="it-IT" dirty="0"/>
              <a:t> word, NON_DESCRITTO, for inputs with no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content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give</a:t>
            </a:r>
            <a:r>
              <a:rPr lang="it-IT" dirty="0"/>
              <a:t> </a:t>
            </a:r>
          </a:p>
          <a:p>
            <a:r>
              <a:rPr lang="it-IT" dirty="0" err="1"/>
              <a:t>it</a:t>
            </a:r>
            <a:r>
              <a:rPr lang="it-IT" dirty="0"/>
              <a:t> the </a:t>
            </a:r>
            <a:r>
              <a:rPr lang="it-IT" dirty="0" err="1"/>
              <a:t>sixty</a:t>
            </a:r>
            <a:r>
              <a:rPr lang="it-IT" dirty="0"/>
              <a:t> </a:t>
            </a:r>
            <a:r>
              <a:rPr lang="it-IT" dirty="0" err="1"/>
              <a:t>most</a:t>
            </a:r>
            <a:r>
              <a:rPr lang="it-IT" dirty="0"/>
              <a:t> common words </a:t>
            </a:r>
            <a:r>
              <a:rPr lang="it-IT" dirty="0" err="1"/>
              <a:t>as</a:t>
            </a:r>
            <a:r>
              <a:rPr lang="it-IT" dirty="0"/>
              <a:t> a style guide, and </a:t>
            </a:r>
            <a:r>
              <a:rPr lang="it-IT" dirty="0" err="1"/>
              <a:t>six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examples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Stage </a:t>
            </a:r>
            <a:r>
              <a:rPr lang="it-IT" dirty="0" err="1"/>
              <a:t>seven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pilot, on 105 </a:t>
            </a:r>
            <a:r>
              <a:rPr lang="it-IT" dirty="0" err="1"/>
              <a:t>captions</a:t>
            </a:r>
            <a:r>
              <a:rPr lang="it-IT" dirty="0"/>
              <a:t>.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where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caught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problems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spending money: the </a:t>
            </a:r>
            <a:r>
              <a:rPr lang="it-IT" dirty="0" err="1"/>
              <a:t>centimetre-millimetre</a:t>
            </a:r>
            <a:r>
              <a:rPr lang="it-IT" dirty="0"/>
              <a:t> mix-up, and some </a:t>
            </a:r>
            <a:r>
              <a:rPr lang="it-IT" dirty="0" err="1"/>
              <a:t>formatting</a:t>
            </a:r>
            <a:r>
              <a:rPr lang="it-IT" dirty="0"/>
              <a:t> </a:t>
            </a:r>
            <a:r>
              <a:rPr lang="it-IT" dirty="0" err="1"/>
              <a:t>errors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fixed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in the prompt. One </a:t>
            </a:r>
            <a:r>
              <a:rPr lang="it-IT" dirty="0" err="1"/>
              <a:t>practical</a:t>
            </a:r>
            <a:r>
              <a:rPr lang="it-IT" dirty="0"/>
              <a:t> </a:t>
            </a:r>
            <a:r>
              <a:rPr lang="it-IT" dirty="0" err="1"/>
              <a:t>lesson</a:t>
            </a:r>
            <a:r>
              <a:rPr lang="it-IT" dirty="0"/>
              <a:t>: </a:t>
            </a:r>
            <a:r>
              <a:rPr lang="it-IT" dirty="0" err="1"/>
              <a:t>three</a:t>
            </a:r>
            <a:r>
              <a:rPr lang="it-IT" dirty="0"/>
              <a:t> workers </a:t>
            </a:r>
            <a:r>
              <a:rPr lang="it-IT" dirty="0" err="1"/>
              <a:t>at</a:t>
            </a:r>
            <a:r>
              <a:rPr lang="it-IT" dirty="0"/>
              <a:t> a time </a:t>
            </a:r>
            <a:r>
              <a:rPr lang="it-IT" dirty="0" err="1"/>
              <a:t>was</a:t>
            </a:r>
            <a:r>
              <a:rPr lang="it-IT" dirty="0"/>
              <a:t> the </a:t>
            </a:r>
            <a:r>
              <a:rPr lang="it-IT" dirty="0" err="1"/>
              <a:t>sweet</a:t>
            </a:r>
            <a:r>
              <a:rPr lang="it-IT" dirty="0"/>
              <a:t> spot. </a:t>
            </a:r>
            <a:r>
              <a:rPr lang="it-IT" dirty="0" err="1"/>
              <a:t>Eight</a:t>
            </a:r>
            <a:r>
              <a:rPr lang="it-IT" dirty="0"/>
              <a:t> workers, and </a:t>
            </a:r>
            <a:r>
              <a:rPr lang="it-IT" dirty="0" err="1"/>
              <a:t>we</a:t>
            </a:r>
            <a:r>
              <a:rPr lang="it-IT" dirty="0"/>
              <a:t> hit rate-</a:t>
            </a:r>
            <a:r>
              <a:rPr lang="it-IT" dirty="0" err="1"/>
              <a:t>limit</a:t>
            </a:r>
            <a:r>
              <a:rPr lang="it-IT" dirty="0"/>
              <a:t> </a:t>
            </a:r>
            <a:r>
              <a:rPr lang="it-IT" dirty="0" err="1"/>
              <a:t>storms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Stage </a:t>
            </a:r>
            <a:r>
              <a:rPr lang="it-IT" dirty="0" err="1"/>
              <a:t>eight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full batch. All 7,689 </a:t>
            </a:r>
            <a:r>
              <a:rPr lang="it-IT" dirty="0" err="1"/>
              <a:t>captions</a:t>
            </a:r>
            <a:r>
              <a:rPr lang="it-IT" dirty="0"/>
              <a:t>, in one job. The </a:t>
            </a:r>
            <a:r>
              <a:rPr lang="it-IT" dirty="0" err="1"/>
              <a:t>result</a:t>
            </a:r>
            <a:r>
              <a:rPr lang="it-IT" dirty="0"/>
              <a:t>: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, zero </a:t>
            </a:r>
            <a:r>
              <a:rPr lang="it-IT" dirty="0" err="1"/>
              <a:t>errors</a:t>
            </a:r>
            <a:r>
              <a:rPr lang="it-IT" dirty="0"/>
              <a:t>, in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half</a:t>
            </a:r>
            <a:r>
              <a:rPr lang="it-IT" dirty="0"/>
              <a:t> an hour, for </a:t>
            </a:r>
            <a:r>
              <a:rPr lang="it-IT" dirty="0" err="1"/>
              <a:t>around</a:t>
            </a:r>
            <a:r>
              <a:rPr lang="it-IT" dirty="0"/>
              <a:t> </a:t>
            </a:r>
            <a:r>
              <a:rPr lang="it-IT" dirty="0" err="1"/>
              <a:t>four</a:t>
            </a:r>
            <a:r>
              <a:rPr lang="it-IT" dirty="0"/>
              <a:t> and a </a:t>
            </a:r>
            <a:r>
              <a:rPr lang="it-IT" dirty="0" err="1"/>
              <a:t>half</a:t>
            </a:r>
            <a:r>
              <a:rPr lang="it-IT" dirty="0"/>
              <a:t> </a:t>
            </a:r>
            <a:r>
              <a:rPr lang="it-IT" dirty="0" err="1"/>
              <a:t>dollars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 err="1"/>
              <a:t>Which</a:t>
            </a:r>
            <a:r>
              <a:rPr lang="it-IT" b="1" dirty="0"/>
              <a:t> </a:t>
            </a:r>
            <a:r>
              <a:rPr lang="it-IT" b="1" dirty="0" err="1"/>
              <a:t>brings</a:t>
            </a:r>
            <a:r>
              <a:rPr lang="it-IT" b="1" dirty="0"/>
              <a:t> </a:t>
            </a:r>
            <a:r>
              <a:rPr lang="it-IT" b="1" dirty="0" err="1"/>
              <a:t>us</a:t>
            </a:r>
            <a:r>
              <a:rPr lang="it-IT" b="1" dirty="0"/>
              <a:t> to one </a:t>
            </a:r>
            <a:r>
              <a:rPr lang="it-IT" b="1" dirty="0" err="1"/>
              <a:t>question</a:t>
            </a:r>
            <a:r>
              <a:rPr lang="it-IT" b="1" dirty="0"/>
              <a:t>: </a:t>
            </a:r>
            <a:r>
              <a:rPr lang="it-IT" b="1" dirty="0" err="1"/>
              <a:t>why</a:t>
            </a:r>
            <a:r>
              <a:rPr lang="it-IT" b="1" dirty="0"/>
              <a:t> Haiku?</a:t>
            </a:r>
            <a:endParaRPr lang="it-IT" dirty="0"/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So </a:t>
            </a:r>
            <a:r>
              <a:rPr lang="it-IT" dirty="0" err="1"/>
              <a:t>how</a:t>
            </a:r>
            <a:r>
              <a:rPr lang="it-IT" dirty="0"/>
              <a:t> do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actually</a:t>
            </a:r>
            <a:r>
              <a:rPr lang="it-IT" dirty="0"/>
              <a:t> know Step One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? Not by feeling. By checking, </a:t>
            </a:r>
            <a:r>
              <a:rPr lang="it-IT" dirty="0" err="1"/>
              <a:t>automatically</a:t>
            </a:r>
            <a:r>
              <a:rPr lang="it-IT" dirty="0"/>
              <a:t>, </a:t>
            </a:r>
            <a:r>
              <a:rPr lang="it-IT" dirty="0" err="1"/>
              <a:t>all</a:t>
            </a:r>
            <a:r>
              <a:rPr lang="it-IT" dirty="0"/>
              <a:t> 7,689 outputs.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table</a:t>
            </a:r>
            <a:r>
              <a:rPr lang="it-IT" dirty="0"/>
              <a:t> shows the checks. Every output starts with the </a:t>
            </a:r>
            <a:r>
              <a:rPr lang="it-IT" dirty="0" err="1"/>
              <a:t>right</a:t>
            </a:r>
            <a:r>
              <a:rPr lang="it-IT" dirty="0"/>
              <a:t> </a:t>
            </a:r>
            <a:r>
              <a:rPr lang="it-IT" dirty="0" err="1"/>
              <a:t>prefix</a:t>
            </a:r>
            <a:r>
              <a:rPr lang="it-IT" dirty="0"/>
              <a:t>, with one "</a:t>
            </a:r>
            <a:r>
              <a:rPr lang="it-IT" dirty="0" err="1"/>
              <a:t>violation</a:t>
            </a:r>
            <a:r>
              <a:rPr lang="it-IT" dirty="0"/>
              <a:t>" </a:t>
            </a:r>
            <a:r>
              <a:rPr lang="it-IT" dirty="0" err="1"/>
              <a:t>that's</a:t>
            </a:r>
            <a:r>
              <a:rPr lang="it-IT" dirty="0"/>
              <a:t> </a:t>
            </a:r>
            <a:r>
              <a:rPr lang="it-IT" dirty="0" err="1"/>
              <a:t>really</a:t>
            </a:r>
            <a:r>
              <a:rPr lang="it-IT" dirty="0"/>
              <a:t> just a </a:t>
            </a:r>
            <a:r>
              <a:rPr lang="it-IT" dirty="0" err="1"/>
              <a:t>valid</a:t>
            </a:r>
            <a:r>
              <a:rPr lang="it-IT" dirty="0"/>
              <a:t> alternative.</a:t>
            </a:r>
          </a:p>
          <a:p>
            <a:endParaRPr lang="it-IT" dirty="0"/>
          </a:p>
          <a:p>
            <a:r>
              <a:rPr lang="it-IT" dirty="0"/>
              <a:t>But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matter</a:t>
            </a:r>
            <a:r>
              <a:rPr lang="it-IT" dirty="0"/>
              <a:t>. Zero outputs with </a:t>
            </a:r>
            <a:r>
              <a:rPr lang="it-IT" dirty="0" err="1"/>
              <a:t>digits</a:t>
            </a:r>
            <a:r>
              <a:rPr lang="it-IT" dirty="0"/>
              <a:t>. Zero with </a:t>
            </a:r>
            <a:r>
              <a:rPr lang="it-IT" dirty="0" err="1"/>
              <a:t>units</a:t>
            </a:r>
            <a:r>
              <a:rPr lang="it-IT" dirty="0"/>
              <a:t> like </a:t>
            </a:r>
            <a:r>
              <a:rPr lang="it-IT" dirty="0" err="1"/>
              <a:t>millimetres</a:t>
            </a:r>
            <a:r>
              <a:rPr lang="it-IT" dirty="0"/>
              <a:t>. Zero </a:t>
            </a:r>
            <a:r>
              <a:rPr lang="it-IT" dirty="0" err="1"/>
              <a:t>too</a:t>
            </a:r>
            <a:r>
              <a:rPr lang="it-IT" dirty="0"/>
              <a:t> long. Zero </a:t>
            </a:r>
            <a:r>
              <a:rPr lang="it-IT" dirty="0" err="1"/>
              <a:t>empty</a:t>
            </a:r>
            <a:r>
              <a:rPr lang="it-IT" dirty="0"/>
              <a:t>. Zero with markup. All </a:t>
            </a:r>
            <a:r>
              <a:rPr lang="it-IT" dirty="0" err="1"/>
              <a:t>zeros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the job the brief </a:t>
            </a:r>
            <a:r>
              <a:rPr lang="it-IT" dirty="0" err="1"/>
              <a:t>asked</a:t>
            </a:r>
            <a:r>
              <a:rPr lang="it-IT" dirty="0"/>
              <a:t> for, </a:t>
            </a:r>
            <a:r>
              <a:rPr lang="it-IT" dirty="0" err="1"/>
              <a:t>turning</a:t>
            </a:r>
            <a:r>
              <a:rPr lang="it-IT" dirty="0"/>
              <a:t>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words,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one </a:t>
            </a:r>
            <a:r>
              <a:rPr lang="it-IT" dirty="0" err="1"/>
              <a:t>hundred</a:t>
            </a:r>
            <a:r>
              <a:rPr lang="it-IT" dirty="0"/>
              <a:t> </a:t>
            </a:r>
            <a:r>
              <a:rPr lang="it-IT" dirty="0" err="1"/>
              <a:t>percent</a:t>
            </a:r>
            <a:r>
              <a:rPr lang="it-IT" dirty="0"/>
              <a:t>. No </a:t>
            </a:r>
            <a:r>
              <a:rPr lang="it-IT" dirty="0" err="1"/>
              <a:t>numbers</a:t>
            </a:r>
            <a:r>
              <a:rPr lang="it-IT" dirty="0"/>
              <a:t> </a:t>
            </a:r>
            <a:r>
              <a:rPr lang="it-IT" dirty="0" err="1"/>
              <a:t>left</a:t>
            </a:r>
            <a:r>
              <a:rPr lang="it-IT" dirty="0"/>
              <a:t>, no </a:t>
            </a:r>
            <a:r>
              <a:rPr lang="it-IT" dirty="0" err="1"/>
              <a:t>units</a:t>
            </a:r>
            <a:r>
              <a:rPr lang="it-IT" dirty="0"/>
              <a:t> </a:t>
            </a:r>
            <a:r>
              <a:rPr lang="it-IT" dirty="0" err="1"/>
              <a:t>left</a:t>
            </a:r>
            <a:r>
              <a:rPr lang="it-IT" dirty="0"/>
              <a:t>, in the </a:t>
            </a:r>
            <a:r>
              <a:rPr lang="it-IT" dirty="0" err="1"/>
              <a:t>final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And </a:t>
            </a:r>
            <a:r>
              <a:rPr lang="it-IT" dirty="0" err="1"/>
              <a:t>when</a:t>
            </a:r>
            <a:r>
              <a:rPr lang="it-IT" dirty="0"/>
              <a:t> a </a:t>
            </a:r>
            <a:r>
              <a:rPr lang="it-IT" dirty="0" err="1"/>
              <a:t>reviewer</a:t>
            </a:r>
            <a:r>
              <a:rPr lang="it-IT" dirty="0"/>
              <a:t> </a:t>
            </a:r>
            <a:r>
              <a:rPr lang="it-IT" dirty="0" err="1"/>
              <a:t>asks</a:t>
            </a:r>
            <a:r>
              <a:rPr lang="it-IT" dirty="0"/>
              <a:t> "are </a:t>
            </a:r>
            <a:r>
              <a:rPr lang="it-IT" dirty="0" err="1"/>
              <a:t>you</a:t>
            </a:r>
            <a:r>
              <a:rPr lang="it-IT" dirty="0"/>
              <a:t> sure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removed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measures</a:t>
            </a:r>
            <a:r>
              <a:rPr lang="it-IT" dirty="0"/>
              <a:t>?", the </a:t>
            </a:r>
            <a:r>
              <a:rPr lang="it-IT" dirty="0" err="1"/>
              <a:t>answer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 </a:t>
            </a:r>
            <a:r>
              <a:rPr lang="it-IT" dirty="0" err="1"/>
              <a:t>table</a:t>
            </a:r>
            <a:r>
              <a:rPr lang="it-IT" dirty="0"/>
              <a:t>, </a:t>
            </a:r>
            <a:r>
              <a:rPr lang="it-IT" dirty="0" err="1"/>
              <a:t>not</a:t>
            </a:r>
            <a:r>
              <a:rPr lang="it-IT" dirty="0"/>
              <a:t> an opinion.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Stage </a:t>
            </a:r>
            <a:r>
              <a:rPr lang="it-IT" dirty="0" err="1"/>
              <a:t>nine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one of </a:t>
            </a:r>
            <a:r>
              <a:rPr lang="it-IT" dirty="0" err="1"/>
              <a:t>those</a:t>
            </a:r>
            <a:r>
              <a:rPr lang="it-IT" dirty="0"/>
              <a:t> steps </a:t>
            </a:r>
            <a:r>
              <a:rPr lang="it-IT" dirty="0" err="1"/>
              <a:t>that</a:t>
            </a:r>
            <a:r>
              <a:rPr lang="it-IT" dirty="0"/>
              <a:t> separate a </a:t>
            </a:r>
            <a:r>
              <a:rPr lang="it-IT" dirty="0" err="1"/>
              <a:t>truly</a:t>
            </a:r>
            <a:r>
              <a:rPr lang="it-IT" dirty="0"/>
              <a:t> </a:t>
            </a:r>
            <a:r>
              <a:rPr lang="it-IT" dirty="0" err="1"/>
              <a:t>curated</a:t>
            </a:r>
            <a:r>
              <a:rPr lang="it-IT" dirty="0"/>
              <a:t> dataset from one </a:t>
            </a:r>
            <a:r>
              <a:rPr lang="it-IT" dirty="0" err="1"/>
              <a:t>that's</a:t>
            </a:r>
            <a:r>
              <a:rPr lang="it-IT" dirty="0"/>
              <a:t> just "</a:t>
            </a:r>
            <a:r>
              <a:rPr lang="it-IT" dirty="0" err="1"/>
              <a:t>cleaned</a:t>
            </a:r>
            <a:r>
              <a:rPr lang="it-IT" dirty="0"/>
              <a:t>".</a:t>
            </a:r>
          </a:p>
          <a:p>
            <a:endParaRPr lang="it-IT" dirty="0"/>
          </a:p>
          <a:p>
            <a:r>
              <a:rPr lang="it-IT" dirty="0"/>
              <a:t>After the batch,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</a:t>
            </a:r>
            <a:r>
              <a:rPr lang="it-IT" dirty="0" err="1"/>
              <a:t>something</a:t>
            </a:r>
            <a:r>
              <a:rPr lang="it-IT" dirty="0"/>
              <a:t> </a:t>
            </a:r>
            <a:r>
              <a:rPr lang="it-IT" dirty="0" err="1"/>
              <a:t>interesting</a:t>
            </a:r>
            <a:r>
              <a:rPr lang="it-IT" dirty="0"/>
              <a:t>. Of the 362 </a:t>
            </a:r>
            <a:r>
              <a:rPr lang="it-IT" dirty="0" err="1"/>
              <a:t>captions</a:t>
            </a:r>
            <a:r>
              <a:rPr lang="it-IT" dirty="0"/>
              <a:t> the model </a:t>
            </a:r>
            <a:r>
              <a:rPr lang="it-IT" dirty="0" err="1"/>
              <a:t>marked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"no </a:t>
            </a:r>
            <a:r>
              <a:rPr lang="it-IT" dirty="0" err="1"/>
              <a:t>description</a:t>
            </a:r>
            <a:r>
              <a:rPr lang="it-IT" dirty="0"/>
              <a:t> </a:t>
            </a:r>
            <a:r>
              <a:rPr lang="it-IT" dirty="0" err="1"/>
              <a:t>here</a:t>
            </a:r>
            <a:r>
              <a:rPr lang="it-IT" dirty="0"/>
              <a:t>", 291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had</a:t>
            </a:r>
            <a:r>
              <a:rPr lang="it-IT" dirty="0"/>
              <a:t> a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vocabulary</a:t>
            </a:r>
            <a:r>
              <a:rPr lang="it-IT" dirty="0"/>
              <a:t> word in </a:t>
            </a:r>
            <a:r>
              <a:rPr lang="it-IT" dirty="0" err="1"/>
              <a:t>them</a:t>
            </a:r>
            <a:r>
              <a:rPr lang="it-IT" dirty="0"/>
              <a:t>. The model </a:t>
            </a:r>
            <a:r>
              <a:rPr lang="it-IT" dirty="0" err="1"/>
              <a:t>had</a:t>
            </a:r>
            <a:r>
              <a:rPr lang="it-IT" dirty="0"/>
              <a:t> just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too</a:t>
            </a:r>
            <a:r>
              <a:rPr lang="it-IT" dirty="0"/>
              <a:t> </a:t>
            </a:r>
            <a:r>
              <a:rPr lang="it-IT" dirty="0" err="1"/>
              <a:t>cautious</a:t>
            </a:r>
            <a:r>
              <a:rPr lang="it-IT" dirty="0"/>
              <a:t> on the borderline </a:t>
            </a:r>
            <a:r>
              <a:rPr lang="it-IT" dirty="0" err="1"/>
              <a:t>cases</a:t>
            </a:r>
            <a:r>
              <a:rPr lang="it-IT" dirty="0"/>
              <a:t>, the </a:t>
            </a:r>
            <a:r>
              <a:rPr lang="it-IT" dirty="0" err="1"/>
              <a:t>ones</a:t>
            </a:r>
            <a:r>
              <a:rPr lang="it-IT" dirty="0"/>
              <a:t> mixing a </a:t>
            </a:r>
            <a:r>
              <a:rPr lang="it-IT" dirty="0" err="1"/>
              <a:t>judgement</a:t>
            </a:r>
            <a:r>
              <a:rPr lang="it-IT" dirty="0"/>
              <a:t> with a </a:t>
            </a:r>
            <a:r>
              <a:rPr lang="it-IT" dirty="0" err="1"/>
              <a:t>description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So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went</a:t>
            </a:r>
            <a:r>
              <a:rPr lang="it-IT" dirty="0"/>
              <a:t> in by hand and </a:t>
            </a:r>
            <a:r>
              <a:rPr lang="it-IT" dirty="0" err="1"/>
              <a:t>rescued</a:t>
            </a:r>
            <a:r>
              <a:rPr lang="it-IT" dirty="0"/>
              <a:t> 178 of </a:t>
            </a:r>
            <a:r>
              <a:rPr lang="it-IT" dirty="0" err="1"/>
              <a:t>them</a:t>
            </a:r>
            <a:r>
              <a:rPr lang="it-IT" dirty="0"/>
              <a:t>, </a:t>
            </a:r>
            <a:r>
              <a:rPr lang="it-IT" dirty="0" err="1"/>
              <a:t>where</a:t>
            </a:r>
            <a:r>
              <a:rPr lang="it-IT" dirty="0"/>
              <a:t> the </a:t>
            </a:r>
            <a:r>
              <a:rPr lang="it-IT" dirty="0" err="1"/>
              <a:t>description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real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A </a:t>
            </a:r>
            <a:r>
              <a:rPr lang="it-IT" dirty="0" err="1"/>
              <a:t>couple</a:t>
            </a:r>
            <a:r>
              <a:rPr lang="it-IT" dirty="0"/>
              <a:t> of </a:t>
            </a:r>
            <a:r>
              <a:rPr lang="it-IT" dirty="0" err="1"/>
              <a:t>examples</a:t>
            </a:r>
            <a:r>
              <a:rPr lang="it-IT" dirty="0"/>
              <a:t>. "marcio, putrido" </a:t>
            </a:r>
            <a:r>
              <a:rPr lang="it-IT" dirty="0" err="1"/>
              <a:t>becomes</a:t>
            </a:r>
            <a:r>
              <a:rPr lang="it-IT" dirty="0"/>
              <a:t> "Smell of rot and </a:t>
            </a:r>
            <a:r>
              <a:rPr lang="it-IT" dirty="0" err="1"/>
              <a:t>putridity</a:t>
            </a:r>
            <a:r>
              <a:rPr lang="it-IT" dirty="0"/>
              <a:t>". "Sangue" </a:t>
            </a:r>
            <a:r>
              <a:rPr lang="it-IT" dirty="0" err="1"/>
              <a:t>becomes</a:t>
            </a:r>
            <a:r>
              <a:rPr lang="it-IT" dirty="0"/>
              <a:t> "Aroma of </a:t>
            </a:r>
            <a:r>
              <a:rPr lang="it-IT" dirty="0" err="1"/>
              <a:t>blood</a:t>
            </a:r>
            <a:r>
              <a:rPr lang="it-IT" dirty="0"/>
              <a:t>".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result</a:t>
            </a:r>
            <a:r>
              <a:rPr lang="it-IT" dirty="0"/>
              <a:t>, in the chart: the </a:t>
            </a:r>
            <a:r>
              <a:rPr lang="it-IT" dirty="0" err="1"/>
              <a:t>unmarked</a:t>
            </a:r>
            <a:r>
              <a:rPr lang="it-IT" dirty="0"/>
              <a:t> </a:t>
            </a:r>
            <a:r>
              <a:rPr lang="it-IT" dirty="0" err="1"/>
              <a:t>ones</a:t>
            </a:r>
            <a:r>
              <a:rPr lang="it-IT" dirty="0"/>
              <a:t> drop from 362 to 184. And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brings</a:t>
            </a:r>
            <a:r>
              <a:rPr lang="it-IT" dirty="0"/>
              <a:t> back 916 training </a:t>
            </a:r>
            <a:r>
              <a:rPr lang="it-IT" dirty="0" err="1"/>
              <a:t>rows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would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lost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simple</a:t>
            </a:r>
            <a:r>
              <a:rPr lang="it-IT" dirty="0"/>
              <a:t>. </a:t>
            </a:r>
            <a:r>
              <a:rPr lang="it-IT" dirty="0" err="1"/>
              <a:t>Cleaning</a:t>
            </a:r>
            <a:r>
              <a:rPr lang="it-IT" dirty="0"/>
              <a:t> data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the </a:t>
            </a:r>
            <a:r>
              <a:rPr lang="it-IT" dirty="0" err="1"/>
              <a:t>same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throwing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away</a:t>
            </a:r>
            <a:r>
              <a:rPr lang="it-IT" dirty="0"/>
              <a:t>. A bit of </a:t>
            </a:r>
            <a:r>
              <a:rPr lang="it-IT" dirty="0" err="1"/>
              <a:t>careful</a:t>
            </a:r>
            <a:r>
              <a:rPr lang="it-IT" dirty="0"/>
              <a:t> work by hand, on a small set, cost </a:t>
            </a:r>
            <a:r>
              <a:rPr lang="it-IT" dirty="0" err="1"/>
              <a:t>less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another</a:t>
            </a:r>
            <a:r>
              <a:rPr lang="it-IT" dirty="0"/>
              <a:t> LLM </a:t>
            </a:r>
            <a:r>
              <a:rPr lang="it-IT" dirty="0" err="1"/>
              <a:t>run</a:t>
            </a:r>
            <a:r>
              <a:rPr lang="it-IT" dirty="0"/>
              <a:t>, and </a:t>
            </a:r>
            <a:r>
              <a:rPr lang="it-IT" dirty="0" err="1"/>
              <a:t>gave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back </a:t>
            </a:r>
            <a:r>
              <a:rPr lang="it-IT" dirty="0" err="1"/>
              <a:t>almost</a:t>
            </a:r>
            <a:r>
              <a:rPr lang="it-IT" dirty="0"/>
              <a:t> a </a:t>
            </a:r>
            <a:r>
              <a:rPr lang="it-IT" dirty="0" err="1"/>
              <a:t>thousand</a:t>
            </a:r>
            <a:r>
              <a:rPr lang="it-IT" dirty="0"/>
              <a:t> good </a:t>
            </a:r>
            <a:r>
              <a:rPr lang="it-IT" dirty="0" err="1"/>
              <a:t>examples</a:t>
            </a:r>
            <a:r>
              <a:rPr lang="it-IT" dirty="0"/>
              <a:t>.</a:t>
            </a:r>
          </a:p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And </a:t>
            </a:r>
            <a:r>
              <a:rPr lang="it-IT" dirty="0" err="1"/>
              <a:t>here's</a:t>
            </a:r>
            <a:r>
              <a:rPr lang="it-IT" dirty="0"/>
              <a:t> the deliverable for Part One. Stage </a:t>
            </a:r>
            <a:r>
              <a:rPr lang="it-IT" dirty="0" err="1"/>
              <a:t>ten</a:t>
            </a:r>
            <a:r>
              <a:rPr lang="it-IT" dirty="0"/>
              <a:t> joins the </a:t>
            </a:r>
            <a:r>
              <a:rPr lang="it-IT" dirty="0" err="1"/>
              <a:t>clean</a:t>
            </a:r>
            <a:r>
              <a:rPr lang="it-IT" dirty="0"/>
              <a:t> </a:t>
            </a:r>
            <a:r>
              <a:rPr lang="it-IT" dirty="0" err="1"/>
              <a:t>captions</a:t>
            </a:r>
            <a:r>
              <a:rPr lang="it-IT" dirty="0"/>
              <a:t> back to the broadcast </a:t>
            </a:r>
            <a:r>
              <a:rPr lang="it-IT" dirty="0" err="1"/>
              <a:t>table</a:t>
            </a:r>
            <a:r>
              <a:rPr lang="it-IT" dirty="0"/>
              <a:t>, and </a:t>
            </a:r>
            <a:r>
              <a:rPr lang="it-IT" dirty="0" err="1"/>
              <a:t>gives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dataset: 38,437 </a:t>
            </a:r>
            <a:r>
              <a:rPr lang="it-IT" dirty="0" err="1"/>
              <a:t>rows</a:t>
            </a:r>
            <a:r>
              <a:rPr lang="it-IT" dirty="0"/>
              <a:t>, over 1,497 </a:t>
            </a:r>
            <a:r>
              <a:rPr lang="it-IT" dirty="0" err="1"/>
              <a:t>unique</a:t>
            </a:r>
            <a:r>
              <a:rPr lang="it-IT" dirty="0"/>
              <a:t> images.</a:t>
            </a:r>
          </a:p>
          <a:p>
            <a:endParaRPr lang="it-IT" dirty="0"/>
          </a:p>
          <a:p>
            <a:r>
              <a:rPr lang="it-IT" dirty="0"/>
              <a:t>The chart shows the </a:t>
            </a:r>
            <a:r>
              <a:rPr lang="it-IT" dirty="0" err="1"/>
              <a:t>rows</a:t>
            </a:r>
            <a:r>
              <a:rPr lang="it-IT" dirty="0"/>
              <a:t> per </a:t>
            </a:r>
            <a:r>
              <a:rPr lang="it-IT" dirty="0" err="1"/>
              <a:t>attribute</a:t>
            </a:r>
            <a:r>
              <a:rPr lang="it-IT" dirty="0"/>
              <a:t>, and </a:t>
            </a:r>
            <a:r>
              <a:rPr lang="it-IT" dirty="0" err="1"/>
              <a:t>notice</a:t>
            </a:r>
            <a:r>
              <a:rPr lang="it-IT" dirty="0"/>
              <a:t> </a:t>
            </a:r>
            <a:r>
              <a:rPr lang="it-IT" dirty="0" err="1"/>
              <a:t>there's</a:t>
            </a:r>
            <a:r>
              <a:rPr lang="it-IT" dirty="0"/>
              <a:t> a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imbalance</a:t>
            </a:r>
            <a:r>
              <a:rPr lang="it-IT" dirty="0"/>
              <a:t>. Paste </a:t>
            </a:r>
            <a:r>
              <a:rPr lang="it-IT" dirty="0" err="1"/>
              <a:t>structure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almost</a:t>
            </a:r>
            <a:r>
              <a:rPr lang="it-IT" dirty="0"/>
              <a:t> double the </a:t>
            </a:r>
            <a:r>
              <a:rPr lang="it-IT" dirty="0" err="1"/>
              <a:t>rows</a:t>
            </a:r>
            <a:r>
              <a:rPr lang="it-IT" dirty="0"/>
              <a:t> of </a:t>
            </a:r>
            <a:r>
              <a:rPr lang="it-IT" dirty="0" err="1"/>
              <a:t>rind</a:t>
            </a:r>
            <a:r>
              <a:rPr lang="it-IT" dirty="0"/>
              <a:t> </a:t>
            </a:r>
            <a:r>
              <a:rPr lang="it-IT" dirty="0" err="1"/>
              <a:t>thickness</a:t>
            </a:r>
            <a:r>
              <a:rPr lang="it-IT" dirty="0"/>
              <a:t>. </a:t>
            </a:r>
            <a:r>
              <a:rPr lang="it-IT" dirty="0" err="1"/>
              <a:t>That</a:t>
            </a:r>
            <a:r>
              <a:rPr lang="it-IT" dirty="0"/>
              <a:t> gap </a:t>
            </a:r>
            <a:r>
              <a:rPr lang="it-IT" dirty="0" err="1"/>
              <a:t>will</a:t>
            </a:r>
            <a:r>
              <a:rPr lang="it-IT" dirty="0"/>
              <a:t> </a:t>
            </a:r>
            <a:r>
              <a:rPr lang="it-IT" dirty="0" err="1"/>
              <a:t>matter</a:t>
            </a:r>
            <a:r>
              <a:rPr lang="it-IT" dirty="0"/>
              <a:t> </a:t>
            </a:r>
            <a:r>
              <a:rPr lang="it-IT" dirty="0" err="1"/>
              <a:t>later</a:t>
            </a:r>
            <a:r>
              <a:rPr lang="it-IT" dirty="0"/>
              <a:t>, in Part Two.</a:t>
            </a:r>
          </a:p>
          <a:p>
            <a:endParaRPr lang="it-IT" dirty="0"/>
          </a:p>
          <a:p>
            <a:r>
              <a:rPr lang="it-IT" dirty="0"/>
              <a:t>On the format side, </a:t>
            </a:r>
            <a:r>
              <a:rPr lang="it-IT" dirty="0" err="1"/>
              <a:t>we</a:t>
            </a:r>
            <a:r>
              <a:rPr lang="it-IT" dirty="0"/>
              <a:t> made a </a:t>
            </a:r>
            <a:r>
              <a:rPr lang="it-IT" dirty="0" err="1"/>
              <a:t>flexible</a:t>
            </a:r>
            <a:r>
              <a:rPr lang="it-IT" dirty="0"/>
              <a:t> </a:t>
            </a:r>
            <a:r>
              <a:rPr lang="it-IT" dirty="0" err="1"/>
              <a:t>choice</a:t>
            </a:r>
            <a:r>
              <a:rPr lang="it-IT" dirty="0"/>
              <a:t>. Every </a:t>
            </a:r>
            <a:r>
              <a:rPr lang="it-IT" dirty="0" err="1"/>
              <a:t>row</a:t>
            </a:r>
            <a:r>
              <a:rPr lang="it-IT" dirty="0"/>
              <a:t> </a:t>
            </a:r>
            <a:r>
              <a:rPr lang="it-IT" dirty="0" err="1"/>
              <a:t>carries</a:t>
            </a:r>
            <a:r>
              <a:rPr lang="it-IT" dirty="0"/>
              <a:t>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versions</a:t>
            </a:r>
            <a:r>
              <a:rPr lang="it-IT" dirty="0"/>
              <a:t> of the </a:t>
            </a:r>
            <a:r>
              <a:rPr lang="it-IT" dirty="0" err="1"/>
              <a:t>caption</a:t>
            </a:r>
            <a:r>
              <a:rPr lang="it-IT" dirty="0"/>
              <a:t>. A short one, </a:t>
            </a:r>
            <a:r>
              <a:rPr lang="it-IT" dirty="0" err="1"/>
              <a:t>four</a:t>
            </a:r>
            <a:r>
              <a:rPr lang="it-IT" dirty="0"/>
              <a:t> to </a:t>
            </a:r>
            <a:r>
              <a:rPr lang="it-IT" dirty="0" err="1"/>
              <a:t>eight</a:t>
            </a:r>
            <a:r>
              <a:rPr lang="it-IT" dirty="0"/>
              <a:t> words, like "Smell of </a:t>
            </a:r>
            <a:r>
              <a:rPr lang="it-IT" dirty="0" err="1"/>
              <a:t>cream</a:t>
            </a:r>
            <a:r>
              <a:rPr lang="it-IT" dirty="0"/>
              <a:t>". And a full </a:t>
            </a:r>
            <a:r>
              <a:rPr lang="it-IT" dirty="0" err="1"/>
              <a:t>Italian</a:t>
            </a:r>
            <a:r>
              <a:rPr lang="it-IT" dirty="0"/>
              <a:t> </a:t>
            </a:r>
            <a:r>
              <a:rPr lang="it-IT" dirty="0" err="1"/>
              <a:t>sentence</a:t>
            </a:r>
            <a:r>
              <a:rPr lang="it-IT" dirty="0"/>
              <a:t>, "The </a:t>
            </a:r>
            <a:r>
              <a:rPr lang="it-IT" dirty="0" err="1"/>
              <a:t>cheese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a </a:t>
            </a:r>
          </a:p>
          <a:p>
            <a:r>
              <a:rPr lang="it-IT" dirty="0" err="1"/>
              <a:t>smell</a:t>
            </a:r>
            <a:r>
              <a:rPr lang="it-IT" dirty="0"/>
              <a:t> of </a:t>
            </a:r>
            <a:r>
              <a:rPr lang="it-IT" dirty="0" err="1"/>
              <a:t>cream</a:t>
            </a:r>
            <a:r>
              <a:rPr lang="it-IT" dirty="0"/>
              <a:t>", </a:t>
            </a:r>
            <a:r>
              <a:rPr lang="it-IT" dirty="0" err="1"/>
              <a:t>which</a:t>
            </a:r>
            <a:r>
              <a:rPr lang="it-IT" dirty="0"/>
              <a:t> works </a:t>
            </a:r>
            <a:r>
              <a:rPr lang="it-IT" dirty="0" err="1"/>
              <a:t>better</a:t>
            </a:r>
            <a:r>
              <a:rPr lang="it-IT" dirty="0"/>
              <a:t> for the models and the </a:t>
            </a:r>
            <a:r>
              <a:rPr lang="it-IT" dirty="0" err="1"/>
              <a:t>metrics</a:t>
            </a:r>
            <a:r>
              <a:rPr lang="it-IT" dirty="0"/>
              <a:t>. And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sentence</a:t>
            </a:r>
            <a:r>
              <a:rPr lang="it-IT" dirty="0"/>
              <a:t> step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deterministic</a:t>
            </a:r>
            <a:r>
              <a:rPr lang="it-IT" dirty="0"/>
              <a:t>, no extra LLM call.</a:t>
            </a:r>
          </a:p>
          <a:p>
            <a:endParaRPr lang="it-IT" dirty="0"/>
          </a:p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deliver</a:t>
            </a:r>
            <a:r>
              <a:rPr lang="it-IT" dirty="0"/>
              <a:t> the dataset in a </a:t>
            </a:r>
            <a:r>
              <a:rPr lang="it-IT" dirty="0" err="1"/>
              <a:t>few</a:t>
            </a:r>
            <a:r>
              <a:rPr lang="it-IT" dirty="0"/>
              <a:t> </a:t>
            </a:r>
            <a:r>
              <a:rPr lang="it-IT" dirty="0" err="1"/>
              <a:t>shapes</a:t>
            </a:r>
            <a:r>
              <a:rPr lang="it-IT" dirty="0"/>
              <a:t>: the full </a:t>
            </a:r>
            <a:r>
              <a:rPr lang="it-IT" dirty="0" err="1"/>
              <a:t>table</a:t>
            </a:r>
            <a:r>
              <a:rPr lang="it-IT" dirty="0"/>
              <a:t> with </a:t>
            </a:r>
            <a:r>
              <a:rPr lang="it-IT" dirty="0" err="1"/>
              <a:t>all</a:t>
            </a:r>
            <a:r>
              <a:rPr lang="it-IT" dirty="0"/>
              <a:t> the </a:t>
            </a:r>
            <a:r>
              <a:rPr lang="it-IT" dirty="0" err="1"/>
              <a:t>provenance</a:t>
            </a:r>
            <a:r>
              <a:rPr lang="it-IT" dirty="0"/>
              <a:t>, a </a:t>
            </a:r>
            <a:r>
              <a:rPr lang="it-IT" dirty="0" err="1"/>
              <a:t>simple</a:t>
            </a:r>
            <a:r>
              <a:rPr lang="it-IT" dirty="0"/>
              <a:t> </a:t>
            </a:r>
            <a:r>
              <a:rPr lang="it-IT" dirty="0" err="1"/>
              <a:t>four-column</a:t>
            </a:r>
            <a:r>
              <a:rPr lang="it-IT" dirty="0"/>
              <a:t> </a:t>
            </a:r>
            <a:r>
              <a:rPr lang="it-IT" dirty="0" err="1"/>
              <a:t>view</a:t>
            </a:r>
            <a:r>
              <a:rPr lang="it-IT" dirty="0"/>
              <a:t>, and </a:t>
            </a:r>
            <a:r>
              <a:rPr lang="it-IT" dirty="0" err="1"/>
              <a:t>seven</a:t>
            </a:r>
            <a:r>
              <a:rPr lang="it-IT" dirty="0"/>
              <a:t> </a:t>
            </a:r>
            <a:r>
              <a:rPr lang="it-IT" dirty="0" err="1"/>
              <a:t>splits</a:t>
            </a:r>
            <a:r>
              <a:rPr lang="it-IT" dirty="0"/>
              <a:t>, one per </a:t>
            </a:r>
            <a:r>
              <a:rPr lang="it-IT" dirty="0" err="1"/>
              <a:t>attribute</a:t>
            </a:r>
            <a:r>
              <a:rPr lang="it-IT" dirty="0"/>
              <a:t>, so </a:t>
            </a:r>
            <a:r>
              <a:rPr lang="it-IT" dirty="0" err="1"/>
              <a:t>any</a:t>
            </a:r>
            <a:r>
              <a:rPr lang="it-IT" dirty="0"/>
              <a:t> model can use </a:t>
            </a:r>
            <a:r>
              <a:rPr lang="it-IT" dirty="0" err="1"/>
              <a:t>it</a:t>
            </a:r>
            <a:r>
              <a:rPr lang="it-IT" dirty="0"/>
              <a:t>.</a:t>
            </a:r>
          </a:p>
          <a:p>
            <a:endParaRPr lang="it-IT" b="1" dirty="0"/>
          </a:p>
          <a:p>
            <a:r>
              <a:rPr lang="it-IT" b="1" dirty="0"/>
              <a:t>And with </a:t>
            </a:r>
            <a:r>
              <a:rPr lang="it-IT" b="1" dirty="0" err="1"/>
              <a:t>that</a:t>
            </a:r>
            <a:r>
              <a:rPr lang="it-IT" b="1" dirty="0"/>
              <a:t>, </a:t>
            </a:r>
            <a:r>
              <a:rPr lang="it-IT" b="1" dirty="0" err="1"/>
              <a:t>we</a:t>
            </a:r>
            <a:r>
              <a:rPr lang="it-IT" b="1" dirty="0"/>
              <a:t> close the data part, and </a:t>
            </a:r>
            <a:r>
              <a:rPr lang="it-IT" b="1" dirty="0" err="1"/>
              <a:t>move</a:t>
            </a:r>
            <a:r>
              <a:rPr lang="it-IT" b="1" dirty="0"/>
              <a:t> on to the models.</a:t>
            </a:r>
            <a:endParaRPr lang="it-IT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part: the models.</a:t>
            </a:r>
          </a:p>
          <a:p>
            <a:r>
              <a:rPr dirty="0"/>
              <a:t>Here the brief's goal is the comparison of methods, and let me give you the conclusion upfront, so</a:t>
            </a:r>
          </a:p>
          <a:p>
            <a:r>
              <a:rPr dirty="0"/>
              <a:t>you can follow the data with the right key. Among everything we could change — the decoder, the</a:t>
            </a:r>
          </a:p>
          <a:p>
            <a:r>
              <a:rPr dirty="0"/>
              <a:t>amount of data, the hyperparameters — the single factor that decides whether the model truly uses</a:t>
            </a:r>
          </a:p>
          <a:p>
            <a:r>
              <a:rPr dirty="0"/>
              <a:t>the image is one: the visual encoder.</a:t>
            </a:r>
          </a:p>
          <a:p>
            <a:r>
              <a:rPr dirty="0"/>
              <a:t>We'll build this conclusion step by step, and verify it with two independent tools: the shuffle test</a:t>
            </a:r>
          </a:p>
          <a:p>
            <a:r>
              <a:rPr dirty="0"/>
              <a:t>and the </a:t>
            </a:r>
            <a:r>
              <a:rPr dirty="0" err="1"/>
              <a:t>CLIPScore</a:t>
            </a:r>
            <a:r>
              <a:rPr dirty="0"/>
              <a:t>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brief asks for three methods "as conceptually different as possible". We chose them to isolate</a:t>
            </a:r>
          </a:p>
          <a:p>
            <a:r>
              <a:rPr dirty="0"/>
              <a:t>the three main axes of variation in captioning.</a:t>
            </a:r>
          </a:p>
          <a:p>
            <a:r>
              <a:rPr dirty="0"/>
              <a:t>m1 is the classic: a convolutional encoder, ResNet-50, with an LSTM decoder trained from scratch.</a:t>
            </a:r>
          </a:p>
          <a:p>
            <a:r>
              <a:rPr dirty="0"/>
              <a:t>m3 changes the encoder: a Vision Transformer, </a:t>
            </a:r>
            <a:r>
              <a:rPr dirty="0" err="1"/>
              <a:t>ViT</a:t>
            </a:r>
            <a:r>
              <a:rPr dirty="0"/>
              <a:t>-B/16, with a Transformer decoder, still from</a:t>
            </a:r>
          </a:p>
          <a:p>
            <a:r>
              <a:rPr dirty="0"/>
              <a:t>scratch. m6 changes the decoder: the same </a:t>
            </a:r>
            <a:r>
              <a:rPr dirty="0" err="1"/>
              <a:t>ViT</a:t>
            </a:r>
            <a:r>
              <a:rPr dirty="0"/>
              <a:t>, but the decoder is </a:t>
            </a:r>
            <a:r>
              <a:rPr dirty="0" err="1"/>
              <a:t>GePpeTto</a:t>
            </a:r>
            <a:r>
              <a:rPr dirty="0"/>
              <a:t>, an already-pretrained</a:t>
            </a:r>
          </a:p>
          <a:p>
            <a:r>
              <a:rPr dirty="0"/>
              <a:t>Italian GPT-2.</a:t>
            </a:r>
          </a:p>
          <a:p>
            <a:r>
              <a:rPr dirty="0"/>
              <a:t>The beauty of this design is in the axes, at the bottom. Comparing m1 with m3 isolates the encoder's</a:t>
            </a:r>
          </a:p>
          <a:p>
            <a:r>
              <a:rPr dirty="0"/>
              <a:t>effect, because the decoder stays the same "from scratch" type. Comparing m3 with m6 isolates the</a:t>
            </a:r>
          </a:p>
          <a:p>
            <a:r>
              <a:rPr dirty="0"/>
              <a:t>decoder's effect, because the encoder is identical. It's a small controlled experiment.</a:t>
            </a:r>
          </a:p>
          <a:p>
            <a:r>
              <a:rPr dirty="0"/>
              <a:t>A crucial choice for fairness: all encoders are frozen. We train only the decoder and the</a:t>
            </a:r>
          </a:p>
          <a:p>
            <a:r>
              <a:rPr dirty="0"/>
              <a:t>cross-attention projection. So each decoder receives exactly the same visual features, and the</a:t>
            </a:r>
          </a:p>
          <a:p>
            <a:r>
              <a:rPr dirty="0"/>
              <a:t>differences we observe are attributable to architecture, not to a lucky encoder. This, we'll see,</a:t>
            </a:r>
          </a:p>
          <a:p>
            <a:r>
              <a:rPr dirty="0"/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experimental setup, briefly. All training ran on Kaggle's free GPU tier, with T4 or P100. The</a:t>
            </a:r>
          </a:p>
          <a:p>
            <a:r>
              <a:rPr dirty="0"/>
              <a:t>hyperparameters in the table are reasonable defaults for each architecture, not the fruit of an</a:t>
            </a:r>
          </a:p>
          <a:p>
            <a:r>
              <a:rPr dirty="0"/>
              <a:t>exhaustive search: m1 more epochs and a higher learning rate, m6 few epochs and a small learning</a:t>
            </a:r>
          </a:p>
          <a:p>
            <a:r>
              <a:rPr dirty="0"/>
              <a:t>rate, as is natural for a pretrained model that only needs fine-tuning.</a:t>
            </a:r>
          </a:p>
          <a:p>
            <a:r>
              <a:rPr dirty="0"/>
              <a:t>Two choices ensure a fair comparison. First, the split is sample-disjoint: the same cheese never</a:t>
            </a:r>
          </a:p>
          <a:p>
            <a:r>
              <a:rPr dirty="0"/>
              <a:t>appears both in training and in test, so we avoid leakage. Second, at inference we use nucleus</a:t>
            </a:r>
          </a:p>
          <a:p>
            <a:r>
              <a:rPr dirty="0"/>
              <a:t>sampling instead of beam search, because on small datasets beam collapses to the most frequent</a:t>
            </a:r>
          </a:p>
          <a:p>
            <a:r>
              <a:rPr dirty="0"/>
              <a:t>caption, artificially inflating BLEU but reducing diversity.</a:t>
            </a:r>
          </a:p>
          <a:p>
            <a:r>
              <a:rPr dirty="0"/>
              <a:t>The training curves are healthy across all three models, no overfitting, no </a:t>
            </a:r>
            <a:r>
              <a:rPr dirty="0" err="1"/>
              <a:t>NaN</a:t>
            </a:r>
            <a:r>
              <a:rPr dirty="0"/>
              <a:t>, no collapse, so</a:t>
            </a:r>
          </a:p>
          <a:p>
            <a:r>
              <a:rPr dirty="0"/>
              <a:t>the differences in results are not due to training pathologies.</a:t>
            </a:r>
          </a:p>
          <a:p>
            <a:r>
              <a:rPr dirty="0"/>
              <a:t>On the right, a Kaggle lesson learned the hard way, for anyone wanting to reproduce: the </a:t>
            </a:r>
            <a:r>
              <a:rPr dirty="0" err="1"/>
              <a:t>enable_gpu</a:t>
            </a:r>
            <a:endParaRPr dirty="0"/>
          </a:p>
          <a:p>
            <a:r>
              <a:rPr dirty="0"/>
              <a:t>flag in the metadata is not enough, and the preinstalled </a:t>
            </a:r>
            <a:r>
              <a:rPr dirty="0" err="1"/>
              <a:t>PyTorch</a:t>
            </a:r>
            <a:r>
              <a:rPr dirty="0"/>
              <a:t> on P100s must be reinstalled.</a:t>
            </a:r>
          </a:p>
          <a:p>
            <a:r>
              <a:rPr dirty="0"/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see the first results, in the per-attribute regime: seven separate models, one per sensory</a:t>
            </a:r>
          </a:p>
          <a:p>
            <a:r>
              <a:rPr dirty="0"/>
              <a:t>dimension. The chart shows BLEU-4 per attribute, compared with the </a:t>
            </a:r>
            <a:r>
              <a:rPr dirty="0" err="1"/>
              <a:t>most_frequent</a:t>
            </a:r>
            <a:r>
              <a:rPr dirty="0"/>
              <a:t> baseline, the one</a:t>
            </a:r>
          </a:p>
          <a:p>
            <a:r>
              <a:rPr dirty="0"/>
              <a:t>that always emits the most frequent caption.</a:t>
            </a:r>
          </a:p>
          <a:p>
            <a:r>
              <a:rPr dirty="0"/>
              <a:t>The picture is sharp and two-sided. The trained models clearly beat the constant baseline on four</a:t>
            </a:r>
          </a:p>
          <a:p>
            <a:r>
              <a:rPr dirty="0"/>
              <a:t>attributes: paste structure, with a notable margin of over 0.12 points, then smell, texture and</a:t>
            </a:r>
          </a:p>
          <a:p>
            <a:r>
              <a:rPr dirty="0" err="1"/>
              <a:t>colour</a:t>
            </a:r>
            <a:r>
              <a:rPr dirty="0"/>
              <a:t>. On the other three, aroma, taste and rind thickness, they tie or lose.</a:t>
            </a:r>
          </a:p>
          <a:p>
            <a:r>
              <a:rPr dirty="0"/>
              <a:t>Be careful not to misread this "lose". It does not mean the models are poor on those attributes. It</a:t>
            </a:r>
          </a:p>
          <a:p>
            <a:r>
              <a:rPr dirty="0"/>
              <a:t>means that there the reference captions are not very diverse, very template-heavy, and under those</a:t>
            </a:r>
          </a:p>
          <a:p>
            <a:r>
              <a:rPr dirty="0"/>
              <a:t>conditions BLEU rewards whoever always predicts the majority. It's a flaw of the metric, not of the</a:t>
            </a:r>
          </a:p>
          <a:p>
            <a:r>
              <a:rPr dirty="0"/>
              <a:t>model, and we'll prove it shortly with the shuffle test, which on thickness confirms m3 and m6 do</a:t>
            </a:r>
          </a:p>
          <a:p>
            <a:r>
              <a:rPr dirty="0"/>
              <a:t>use the image.</a:t>
            </a:r>
          </a:p>
          <a:p>
            <a:r>
              <a:rPr dirty="0"/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move to the global regime: a single model trained across all attributes together. It's an</a:t>
            </a:r>
          </a:p>
          <a:p>
            <a:r>
              <a:rPr dirty="0"/>
              <a:t>intrinsically harder task, because the model must also choose which sensory dimension to describe,</a:t>
            </a:r>
          </a:p>
          <a:p>
            <a:r>
              <a:rPr dirty="0"/>
              <a:t>and it works with a much larger vocabulary.</a:t>
            </a:r>
          </a:p>
          <a:p>
            <a:r>
              <a:rPr dirty="0"/>
              <a:t>The chart compares the three models on five metrics. Two observations. First, m6, the </a:t>
            </a:r>
            <a:r>
              <a:rPr dirty="0" err="1"/>
              <a:t>ViT</a:t>
            </a:r>
            <a:r>
              <a:rPr dirty="0"/>
              <a:t> with</a:t>
            </a:r>
          </a:p>
          <a:p>
            <a:r>
              <a:rPr dirty="0" err="1"/>
              <a:t>GePpeTto</a:t>
            </a:r>
            <a:r>
              <a:rPr dirty="0"/>
              <a:t>, wins narrowly almost everywhere: it's first on BLEU-1, BLEU-4 and ROUGE-L, and</a:t>
            </a:r>
          </a:p>
          <a:p>
            <a:r>
              <a:rPr dirty="0"/>
              <a:t>essentially tied on METEOR; m3 only beats it on </a:t>
            </a:r>
            <a:r>
              <a:rPr dirty="0" err="1"/>
              <a:t>CIDEr</a:t>
            </a:r>
            <a:r>
              <a:rPr dirty="0"/>
              <a:t>. Second, and equally important, the three</a:t>
            </a:r>
          </a:p>
          <a:p>
            <a:r>
              <a:rPr dirty="0"/>
              <a:t>models are in a very tight cluster: the BLEU-4 spread is just seven thousandths. They are very close.</a:t>
            </a:r>
          </a:p>
          <a:p>
            <a:r>
              <a:rPr dirty="0"/>
              <a:t>A note on the baseline, which I left out of the chart for readability but is crucial: </a:t>
            </a:r>
            <a:r>
              <a:rPr dirty="0" err="1"/>
              <a:t>most_frequent</a:t>
            </a:r>
            <a:r>
              <a:rPr dirty="0"/>
              <a:t>,</a:t>
            </a:r>
          </a:p>
          <a:p>
            <a:r>
              <a:rPr dirty="0"/>
              <a:t>the constant sentence, would have the highest BLEU-1 of all but the worst BLEU-4. It's the</a:t>
            </a:r>
          </a:p>
          <a:p>
            <a:r>
              <a:rPr dirty="0"/>
              <a:t>degenerate </a:t>
            </a:r>
            <a:r>
              <a:rPr dirty="0" err="1"/>
              <a:t>behaviour</a:t>
            </a:r>
            <a:r>
              <a:rPr dirty="0"/>
              <a:t> of "always predict the majority": you guess many single words, but you never</a:t>
            </a:r>
          </a:p>
          <a:p>
            <a:r>
              <a:rPr dirty="0"/>
              <a:t>compose a correct four-word sequence different from the template. Keep this anomaly in mind: it's</a:t>
            </a:r>
          </a:p>
          <a:p>
            <a:r>
              <a:rPr dirty="0"/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slide of methodological caution, because it's easy to draw the wrong conclusion.</a:t>
            </a:r>
          </a:p>
          <a:p>
            <a:r>
              <a:rPr dirty="0"/>
              <a:t>You'll have noticed that the per-attribute numbers, BLEU-4 from 0.33 to 0.47, are much higher than</a:t>
            </a:r>
          </a:p>
          <a:p>
            <a:r>
              <a:rPr dirty="0"/>
              <a:t>the global BLEU-4, around 0.13. A three- or four-fold jump. The temptation is to say: "so the</a:t>
            </a:r>
          </a:p>
          <a:p>
            <a:r>
              <a:rPr dirty="0"/>
              <a:t>per-attribute models are much better". Wrong.</a:t>
            </a:r>
          </a:p>
          <a:p>
            <a:r>
              <a:rPr dirty="0"/>
              <a:t>That jump doesn't reflect better learning, but the fact that per-attribute evaluation runs on a much</a:t>
            </a:r>
          </a:p>
          <a:p>
            <a:r>
              <a:rPr dirty="0"/>
              <a:t>narrower distribution. When you focus on a single attribute, the vocabulary collapses from over 600</a:t>
            </a:r>
          </a:p>
          <a:p>
            <a:r>
              <a:rPr dirty="0"/>
              <a:t>words to about 80-140, and the shared scaffolding — "the cheese has a such-and-such attribute of..."</a:t>
            </a:r>
          </a:p>
          <a:p>
            <a:r>
              <a:rPr dirty="0"/>
              <a:t>— alone contributes five words of constant 4-gram that send BLEU soaring.</a:t>
            </a:r>
          </a:p>
          <a:p>
            <a:r>
              <a:rPr dirty="0"/>
              <a:t>They are two different rulers measuring performance on different distributions. The global model is</a:t>
            </a:r>
          </a:p>
          <a:p>
            <a:r>
              <a:rPr dirty="0"/>
              <a:t>intrinsically harder because it must also choose which dimension to describe. Comparing the two</a:t>
            </a:r>
          </a:p>
          <a:p>
            <a:r>
              <a:rPr dirty="0"/>
              <a:t>numbers as if on the same scale would be a mistake, and it's the kind of subtlety that separates an</a:t>
            </a:r>
          </a:p>
          <a:p>
            <a:r>
              <a:rPr dirty="0"/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We're at the most important result of the whole project. The question is as simple as it is</a:t>
            </a:r>
          </a:p>
          <a:p>
            <a:r>
              <a:rPr dirty="0"/>
              <a:t>fundamental: is the model actually using the image, or just mimicking the caption distribution?</a:t>
            </a:r>
          </a:p>
          <a:p>
            <a:r>
              <a:rPr dirty="0"/>
              <a:t>The tool is the shuffle test. The idea: if a model is truly conditioned on the image, its prediction</a:t>
            </a:r>
          </a:p>
          <a:p>
            <a:r>
              <a:rPr dirty="0"/>
              <a:t>for image </a:t>
            </a:r>
            <a:r>
              <a:rPr dirty="0" err="1"/>
              <a:t>i</a:t>
            </a:r>
            <a:r>
              <a:rPr dirty="0"/>
              <a:t> must match the reference of </a:t>
            </a:r>
            <a:r>
              <a:rPr dirty="0" err="1"/>
              <a:t>i</a:t>
            </a:r>
            <a:r>
              <a:rPr dirty="0"/>
              <a:t> better than a randomly picked prediction. So we shuffle the</a:t>
            </a:r>
          </a:p>
          <a:p>
            <a:r>
              <a:rPr dirty="0"/>
              <a:t>predictions across test rows, breaking the alignment, recompute the overlap a hundred times to get a</a:t>
            </a:r>
          </a:p>
          <a:p>
            <a:r>
              <a:rPr dirty="0"/>
              <a:t>null distribution, and measure the z-score. A z above 3 corresponds to p below 0.001: strong</a:t>
            </a:r>
          </a:p>
          <a:p>
            <a:r>
              <a:rPr dirty="0"/>
              <a:t>evidence.</a:t>
            </a:r>
          </a:p>
          <a:p>
            <a:r>
              <a:rPr dirty="0"/>
              <a:t>The verdict, in the chart, is crystal clear. m1, the </a:t>
            </a:r>
            <a:r>
              <a:rPr dirty="0" err="1"/>
              <a:t>ResNet</a:t>
            </a:r>
            <a:r>
              <a:rPr dirty="0"/>
              <a:t> model, has z near zero everywhere: it</a:t>
            </a:r>
          </a:p>
          <a:p>
            <a:r>
              <a:rPr dirty="0"/>
              <a:t>never uses the image, it's effectively a pure language model guessing from the distribution. m3 and</a:t>
            </a:r>
          </a:p>
          <a:p>
            <a:r>
              <a:rPr dirty="0"/>
              <a:t>m6, the </a:t>
            </a:r>
            <a:r>
              <a:rPr dirty="0" err="1"/>
              <a:t>ViT</a:t>
            </a:r>
            <a:r>
              <a:rPr dirty="0"/>
              <a:t> models, clearly use the image on four attributes out of seven: smell, thickness, </a:t>
            </a:r>
            <a:r>
              <a:rPr dirty="0" err="1"/>
              <a:t>colour</a:t>
            </a:r>
            <a:endParaRPr dirty="0"/>
          </a:p>
          <a:p>
            <a:r>
              <a:rPr dirty="0"/>
              <a:t>and structure. The only one where no model uses the image is aroma.</a:t>
            </a:r>
          </a:p>
          <a:p>
            <a:r>
              <a:rPr dirty="0"/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Put the shuffle test together with the two-axis design from the architectures slide, and the</a:t>
            </a:r>
          </a:p>
          <a:p>
            <a:r>
              <a:rPr dirty="0"/>
              <a:t>conclusion writes itself.</a:t>
            </a:r>
          </a:p>
          <a:p>
            <a:r>
              <a:rPr dirty="0"/>
              <a:t>Comparing m1 with m3, which isolates the encoder: m1 with </a:t>
            </a:r>
            <a:r>
              <a:rPr dirty="0" err="1"/>
              <a:t>ResNet</a:t>
            </a:r>
            <a:r>
              <a:rPr dirty="0"/>
              <a:t> never conditions on the image, m3</a:t>
            </a:r>
          </a:p>
          <a:p>
            <a:r>
              <a:rPr dirty="0"/>
              <a:t>with </a:t>
            </a:r>
            <a:r>
              <a:rPr dirty="0" err="1"/>
              <a:t>ViT</a:t>
            </a:r>
            <a:r>
              <a:rPr dirty="0"/>
              <a:t> does on most attributes. By changing only the encoder, image use switches on. The reading</a:t>
            </a:r>
          </a:p>
          <a:p>
            <a:r>
              <a:rPr dirty="0"/>
              <a:t>is that a frozen ResNet-50's features aren't informative enough at this data scale, while a frozen</a:t>
            </a:r>
          </a:p>
          <a:p>
            <a:r>
              <a:rPr dirty="0" err="1"/>
              <a:t>ViT</a:t>
            </a:r>
            <a:r>
              <a:rPr dirty="0"/>
              <a:t>-B/16's are.</a:t>
            </a:r>
          </a:p>
          <a:p>
            <a:r>
              <a:rPr dirty="0"/>
              <a:t>Comparing m3 with m6, which isolates the decoder: they produce different outputs, they never give</a:t>
            </a:r>
          </a:p>
          <a:p>
            <a:r>
              <a:rPr dirty="0"/>
              <a:t>the same caption for the same image, yet they have exactly the same image-conditioning profile. The</a:t>
            </a:r>
          </a:p>
          <a:p>
            <a:r>
              <a:rPr dirty="0"/>
              <a:t>same attributes succeed, the same fail. Changing the decoder changes the sentence's style, not</a:t>
            </a:r>
          </a:p>
          <a:p>
            <a:r>
              <a:rPr dirty="0"/>
              <a:t>whether the image is used.</a:t>
            </a:r>
          </a:p>
          <a:p>
            <a:r>
              <a:rPr dirty="0"/>
              <a:t>The synthesis is at the bottom: the binary gate of image-conditioning, on this dataset, is the</a:t>
            </a:r>
          </a:p>
          <a:p>
            <a:r>
              <a:rPr dirty="0"/>
              <a:t>visual encoder. Not the decoder, not the amount of data, not the hyperparameters. It's a clean</a:t>
            </a:r>
          </a:p>
          <a:p>
            <a:r>
              <a:rPr dirty="0"/>
              <a:t>result, and it also tells us where to act in future: on the encoder. Now let's reinforce this</a:t>
            </a:r>
          </a:p>
          <a:p>
            <a:r>
              <a:rPr dirty="0"/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We've seen that BLEU, on its own, misleads: it rewards template repetition and never looks at the</a:t>
            </a:r>
          </a:p>
          <a:p>
            <a:r>
              <a:rPr dirty="0"/>
              <a:t>image. To read the models more honestly, we paired BLEU with six complementary metrics, groupable</a:t>
            </a:r>
          </a:p>
          <a:p>
            <a:r>
              <a:rPr dirty="0"/>
              <a:t>into three families.</a:t>
            </a:r>
          </a:p>
          <a:p>
            <a:r>
              <a:rPr dirty="0"/>
              <a:t>The text metrics compare the prediction with the textual reference: besides BLEU, METEOR, which is</a:t>
            </a:r>
          </a:p>
          <a:p>
            <a:r>
              <a:rPr dirty="0"/>
              <a:t>more lenient because it aligns with stemming and synonyms, ROUGE-L, which rewards word order, and</a:t>
            </a:r>
          </a:p>
          <a:p>
            <a:r>
              <a:rPr dirty="0" err="1"/>
              <a:t>CIDEr</a:t>
            </a:r>
            <a:r>
              <a:rPr dirty="0"/>
              <a:t>, designed specifically for captioning, which weights n-grams with TF-IDF and so rewards rare,</a:t>
            </a:r>
          </a:p>
          <a:p>
            <a:r>
              <a:rPr dirty="0"/>
              <a:t>informative sensory terms like "eyes" (</a:t>
            </a:r>
            <a:r>
              <a:rPr dirty="0" err="1"/>
              <a:t>occhiatura</a:t>
            </a:r>
            <a:r>
              <a:rPr dirty="0"/>
              <a:t>) over common words.</a:t>
            </a:r>
          </a:p>
          <a:p>
            <a:r>
              <a:rPr dirty="0"/>
              <a:t>Then a semantic metric, </a:t>
            </a:r>
            <a:r>
              <a:rPr dirty="0" err="1"/>
              <a:t>BERTScore</a:t>
            </a:r>
            <a:r>
              <a:rPr dirty="0"/>
              <a:t>, measuring meaning similarity via embeddings. A domain metric,</a:t>
            </a:r>
          </a:p>
          <a:p>
            <a:r>
              <a:rPr dirty="0"/>
              <a:t>vocabulary conformity, which asks: does the model "speak cheese" in the certified register?</a:t>
            </a:r>
          </a:p>
          <a:p>
            <a:r>
              <a:rPr dirty="0"/>
              <a:t>And finally, highlighted at the bottom, the most important for captioning: </a:t>
            </a:r>
            <a:r>
              <a:rPr dirty="0" err="1"/>
              <a:t>CLIPScore</a:t>
            </a:r>
            <a:r>
              <a:rPr dirty="0"/>
              <a:t>, the only one</a:t>
            </a:r>
          </a:p>
          <a:p>
            <a:r>
              <a:rPr dirty="0"/>
              <a:t>that truly looks at the image. It compares the caption with the slice in CLIP space, ignoring the</a:t>
            </a:r>
          </a:p>
          <a:p>
            <a:r>
              <a:rPr dirty="0"/>
              <a:t>panel reference. The next two slides show what </a:t>
            </a:r>
            <a:r>
              <a:rPr dirty="0" err="1"/>
              <a:t>CIDEr</a:t>
            </a:r>
            <a:r>
              <a:rPr dirty="0"/>
              <a:t> and </a:t>
            </a:r>
            <a:r>
              <a:rPr dirty="0" err="1"/>
              <a:t>CLIPScore</a:t>
            </a:r>
            <a:r>
              <a:rPr dirty="0"/>
              <a:t>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start with </a:t>
            </a:r>
            <a:r>
              <a:rPr dirty="0" err="1"/>
              <a:t>CIDEr</a:t>
            </a:r>
            <a:r>
              <a:rPr dirty="0"/>
              <a:t>, the metric designed specifically for captioning. Unlike BLEU, which</a:t>
            </a:r>
          </a:p>
          <a:p>
            <a:r>
              <a:rPr dirty="0"/>
              <a:t>flattened the models onto close values, </a:t>
            </a:r>
            <a:r>
              <a:rPr dirty="0" err="1"/>
              <a:t>CIDEr</a:t>
            </a:r>
            <a:r>
              <a:rPr dirty="0"/>
              <a:t> weights rare terms with TF-IDF and so separates them.</a:t>
            </a:r>
          </a:p>
          <a:p>
            <a:r>
              <a:rPr dirty="0"/>
              <a:t>Look at the ordering in the chart, on the seven-attribute means: random 0.23, then </a:t>
            </a:r>
            <a:r>
              <a:rPr dirty="0" err="1"/>
              <a:t>freq_weighted</a:t>
            </a:r>
            <a:endParaRPr dirty="0"/>
          </a:p>
          <a:p>
            <a:r>
              <a:rPr dirty="0"/>
              <a:t>0.37, then the trained models rising clearly: m1 at 0.59, m3 at 0.65, m6 at 0.70. </a:t>
            </a:r>
            <a:r>
              <a:rPr dirty="0" err="1"/>
              <a:t>CIDEr</a:t>
            </a:r>
            <a:r>
              <a:rPr dirty="0"/>
              <a:t> orders the</a:t>
            </a:r>
          </a:p>
          <a:p>
            <a:r>
              <a:rPr dirty="0"/>
              <a:t>models correctly, and confirms m6 is the best. It's exactly the information BLEU couldn't give us: a</a:t>
            </a:r>
          </a:p>
          <a:p>
            <a:r>
              <a:rPr dirty="0"/>
              <a:t>clean ranking.</a:t>
            </a:r>
          </a:p>
          <a:p>
            <a:r>
              <a:rPr dirty="0"/>
              <a:t>There's one column taller than all, in gold: </a:t>
            </a:r>
            <a:r>
              <a:rPr dirty="0" err="1"/>
              <a:t>most_frequent</a:t>
            </a:r>
            <a:r>
              <a:rPr dirty="0"/>
              <a:t>, at 0.79. Don't be fooled: the constant</a:t>
            </a:r>
          </a:p>
          <a:p>
            <a:r>
              <a:rPr dirty="0"/>
              <a:t>baseline leads only because, on this dataset, the panel reference is often the frequent sentence</a:t>
            </a:r>
          </a:p>
          <a:p>
            <a:r>
              <a:rPr dirty="0"/>
              <a:t>itself. It's an artifact of the single reference, not real quality. On an extreme case like rind</a:t>
            </a:r>
          </a:p>
          <a:p>
            <a:r>
              <a:rPr dirty="0"/>
              <a:t>thickness, where BLEU gave 0.39 for everyone, </a:t>
            </a:r>
            <a:r>
              <a:rPr dirty="0" err="1"/>
              <a:t>CIDEr</a:t>
            </a:r>
            <a:r>
              <a:rPr dirty="0"/>
              <a:t> ranges from 1.04 to 2.29: a rich ordering BLEU</a:t>
            </a:r>
          </a:p>
          <a:p>
            <a:r>
              <a:rPr dirty="0"/>
              <a:t>simply did not see.</a:t>
            </a:r>
          </a:p>
          <a:p>
            <a:r>
              <a:rPr dirty="0"/>
              <a:t>Conclusion: </a:t>
            </a:r>
            <a:r>
              <a:rPr dirty="0" err="1"/>
              <a:t>CIDEr</a:t>
            </a:r>
            <a:r>
              <a:rPr dirty="0"/>
              <a:t>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</a:t>
            </a:r>
            <a:r>
              <a:rPr dirty="0" err="1"/>
              <a:t>CLIPScore</a:t>
            </a:r>
            <a:r>
              <a:rPr dirty="0"/>
              <a:t>, the only metric that looks at the image, and the independent confirmation of the</a:t>
            </a:r>
          </a:p>
          <a:p>
            <a:r>
              <a:rPr dirty="0"/>
              <a:t>shuffle test. Two charts, two messages.</a:t>
            </a:r>
          </a:p>
          <a:p>
            <a:r>
              <a:rPr dirty="0"/>
              <a:t>On the left, mean </a:t>
            </a:r>
            <a:r>
              <a:rPr dirty="0" err="1"/>
              <a:t>CLIPScore</a:t>
            </a:r>
            <a:r>
              <a:rPr dirty="0"/>
              <a:t> by model. Note the axis: I deliberately zoomed in, and despite the zoom</a:t>
            </a:r>
          </a:p>
          <a:p>
            <a:r>
              <a:rPr dirty="0"/>
              <a:t>the bars are practically identical. The trained models m1, m3, m6 do not beat the constant baseline</a:t>
            </a:r>
          </a:p>
          <a:p>
            <a:r>
              <a:rPr dirty="0" err="1"/>
              <a:t>most_frequent</a:t>
            </a:r>
            <a:r>
              <a:rPr dirty="0"/>
              <a:t>, the one that always fires the same sentence ignoring the image. The gap is below</a:t>
            </a:r>
          </a:p>
          <a:p>
            <a:r>
              <a:rPr dirty="0"/>
              <a:t>0.004, within the noise. It's the quantitative, independent confirmation of what the shuffle test</a:t>
            </a:r>
          </a:p>
          <a:p>
            <a:r>
              <a:rPr dirty="0"/>
              <a:t>already told us: with a frozen encoder, the models don't anchor the caption to the visual content,</a:t>
            </a:r>
          </a:p>
          <a:p>
            <a:r>
              <a:rPr dirty="0"/>
              <a:t>they do language modeling on the caption distribution.</a:t>
            </a:r>
          </a:p>
          <a:p>
            <a:r>
              <a:rPr dirty="0"/>
              <a:t>On the right, the real variation: it's per attribute, not per model. CLIP "sees" that texture,</a:t>
            </a:r>
          </a:p>
          <a:p>
            <a:r>
              <a:rPr dirty="0" err="1"/>
              <a:t>colour</a:t>
            </a:r>
            <a:r>
              <a:rPr dirty="0"/>
              <a:t> and structure, the visual attributes, get higher scores, while aroma, taste and smell stay</a:t>
            </a:r>
          </a:p>
          <a:p>
            <a:r>
              <a:rPr dirty="0"/>
              <a:t>low for everyone, because no image can reveal a taste. It's a sanity check that validates the metric.</a:t>
            </a:r>
          </a:p>
          <a:p>
            <a:r>
              <a:rPr dirty="0"/>
              <a:t>And remember the exception: rind thickness is visible but low, because the rind is a small portion</a:t>
            </a:r>
          </a:p>
          <a:p>
            <a:r>
              <a:rPr dirty="0"/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numbers tell half the story; the generated captions tell the other half. Here you see real</a:t>
            </a:r>
          </a:p>
          <a:p>
            <a:r>
              <a:rPr dirty="0"/>
              <a:t>predictions from m6 alongside the panel reference, on test-set samples.</a:t>
            </a:r>
          </a:p>
          <a:p>
            <a:r>
              <a:rPr dirty="0"/>
              <a:t>Sometimes it's an exact match: on the aroma of cream, prediction and reference coincide word for</a:t>
            </a:r>
          </a:p>
          <a:p>
            <a:r>
              <a:rPr dirty="0"/>
              <a:t>word. On thickness, "the rind is medium-thick", again perfect. But look at the other cases: on taste</a:t>
            </a:r>
          </a:p>
          <a:p>
            <a:r>
              <a:rPr dirty="0"/>
              <a:t>the model says "slightly salty and spicy" where the panel said just "salty"; on structure it</a:t>
            </a:r>
          </a:p>
          <a:p>
            <a:r>
              <a:rPr dirty="0"/>
              <a:t>proposes "irregular fracture and fine grain" while the reference talks about stretched paste.</a:t>
            </a:r>
          </a:p>
          <a:p>
            <a:r>
              <a:rPr dirty="0"/>
              <a:t>From these examples four patterns emerge, </a:t>
            </a:r>
            <a:r>
              <a:rPr dirty="0" err="1"/>
              <a:t>summarised</a:t>
            </a:r>
            <a:r>
              <a:rPr dirty="0"/>
              <a:t> at the bottom. First: the scaffolding, "the</a:t>
            </a:r>
          </a:p>
          <a:p>
            <a:r>
              <a:rPr dirty="0"/>
              <a:t>cheese has a...", is always correct and alone worth about half the BLEU-4, which is why the numbers</a:t>
            </a:r>
          </a:p>
          <a:p>
            <a:r>
              <a:rPr dirty="0"/>
              <a:t>aren't tiny. Second: the language is fluent and grammatical, thanks to the pretrained model. Third,</a:t>
            </a:r>
          </a:p>
          <a:p>
            <a:r>
              <a:rPr dirty="0"/>
              <a:t>and most telling: the descriptor is often plausible but refers to another cheese, exactly what we</a:t>
            </a:r>
          </a:p>
          <a:p>
            <a:r>
              <a:rPr dirty="0"/>
              <a:t>expect from a model only partially conditioned on the image. Fourth: the variability across tasters</a:t>
            </a:r>
          </a:p>
          <a:p>
            <a:r>
              <a:rPr dirty="0"/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wrap up. The project delivers two results and one promise for the future.</a:t>
            </a:r>
          </a:p>
          <a:p>
            <a:r>
              <a:rPr dirty="0"/>
              <a:t>The scientific result is the most solid: on this dataset, the determinant of image use is the visual</a:t>
            </a:r>
          </a:p>
          <a:p>
            <a:r>
              <a:rPr dirty="0"/>
              <a:t>encoder. </a:t>
            </a:r>
            <a:r>
              <a:rPr dirty="0" err="1"/>
              <a:t>ResNet</a:t>
            </a:r>
            <a:r>
              <a:rPr dirty="0"/>
              <a:t> ignores the image on all seven attributes, </a:t>
            </a:r>
            <a:r>
              <a:rPr dirty="0" err="1"/>
              <a:t>ViT</a:t>
            </a:r>
            <a:r>
              <a:rPr dirty="0"/>
              <a:t> uses it on four out of seven,</a:t>
            </a:r>
          </a:p>
          <a:p>
            <a:r>
              <a:rPr dirty="0"/>
              <a:t>independent of the decoder, the data scale and the hyperparameters. And it's not an isolated claim:</a:t>
            </a:r>
          </a:p>
          <a:p>
            <a:r>
              <a:rPr dirty="0"/>
              <a:t>two independent tools, the shuffle test and </a:t>
            </a:r>
            <a:r>
              <a:rPr dirty="0" err="1"/>
              <a:t>CLIPScore</a:t>
            </a:r>
            <a:r>
              <a:rPr dirty="0"/>
              <a:t>, converge on the same conclusion.</a:t>
            </a:r>
          </a:p>
          <a:p>
            <a:r>
              <a:rPr dirty="0"/>
              <a:t>The practical result: the trained models beat the constant baseline on four attributes out of seven,</a:t>
            </a:r>
          </a:p>
          <a:p>
            <a:r>
              <a:rPr dirty="0"/>
              <a:t>with the maximum on structure. m6, the </a:t>
            </a:r>
            <a:r>
              <a:rPr dirty="0" err="1"/>
              <a:t>ViT</a:t>
            </a:r>
            <a:r>
              <a:rPr dirty="0"/>
              <a:t> with </a:t>
            </a:r>
            <a:r>
              <a:rPr dirty="0" err="1"/>
              <a:t>GePpeTto</a:t>
            </a:r>
            <a:r>
              <a:rPr dirty="0"/>
              <a:t>, wins narrowly almost everywhere. And all</a:t>
            </a:r>
          </a:p>
          <a:p>
            <a:r>
              <a:rPr dirty="0"/>
              <a:t>this rests on a 38-thousand-pair dataset built with just 5 dollars and 60 cents of LLM cost.</a:t>
            </a:r>
          </a:p>
          <a:p>
            <a:r>
              <a:rPr dirty="0"/>
              <a:t>Future work follows directly from the diagnosis: since the bottleneck is the frozen encoder, the</a:t>
            </a:r>
          </a:p>
          <a:p>
            <a:r>
              <a:rPr dirty="0"/>
              <a:t>natural next experiment is fine-tuning the encoder and re-measuring </a:t>
            </a:r>
            <a:r>
              <a:rPr dirty="0" err="1"/>
              <a:t>CLIPScore</a:t>
            </a:r>
            <a:r>
              <a:rPr dirty="0"/>
              <a:t>. If the models start</a:t>
            </a:r>
          </a:p>
          <a:p>
            <a:r>
              <a:rPr dirty="0"/>
              <a:t>pulling away from the constant baseline, we'll have direct proof that the image is finally being</a:t>
            </a:r>
          </a:p>
          <a:p>
            <a:r>
              <a:rPr dirty="0"/>
              <a:t>exploited.</a:t>
            </a:r>
          </a:p>
          <a:p>
            <a:r>
              <a:rPr dirty="0"/>
              <a:t>I'll close with an honest framing: none of these models would replace a taster today. They learned</a:t>
            </a:r>
          </a:p>
          <a:p>
            <a:r>
              <a:rPr dirty="0"/>
              <a:t>the sensory vocabulary and a partial map from image to descriptor, a result consistent with the</a:t>
            </a:r>
          </a:p>
          <a:p>
            <a:r>
              <a:rPr dirty="0"/>
              <a:t>data scale and the intrinsic noise of multi-taster annotation. But the path is mapped, and we know</a:t>
            </a:r>
          </a:p>
          <a:p>
            <a:r>
              <a:rPr dirty="0"/>
              <a:t>exactly where to act.</a:t>
            </a:r>
          </a:p>
          <a:p>
            <a:r>
              <a:rPr dirty="0"/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the methodological moral of the whole evaluation, condensed into one image.</a:t>
            </a:r>
          </a:p>
          <a:p>
            <a:r>
              <a:rPr dirty="0"/>
              <a:t>Look at the same pair of models, the constant baseline </a:t>
            </a:r>
            <a:r>
              <a:rPr dirty="0" err="1"/>
              <a:t>most_frequent</a:t>
            </a:r>
            <a:r>
              <a:rPr dirty="0"/>
              <a:t> against m6, seen by two</a:t>
            </a:r>
          </a:p>
          <a:p>
            <a:r>
              <a:rPr dirty="0"/>
              <a:t>different metrics. On the left, with BLEU-1, the constant caption wins: it always emits the same</a:t>
            </a:r>
          </a:p>
          <a:p>
            <a:r>
              <a:rPr dirty="0"/>
              <a:t>sentence and matches on the prefix. On the right, with </a:t>
            </a:r>
            <a:r>
              <a:rPr dirty="0" err="1"/>
              <a:t>CLIPScore</a:t>
            </a:r>
            <a:r>
              <a:rPr dirty="0"/>
              <a:t>, the two are practically</a:t>
            </a:r>
          </a:p>
          <a:p>
            <a:r>
              <a:rPr dirty="0"/>
              <a:t>indistinguishable.</a:t>
            </a:r>
          </a:p>
          <a:p>
            <a:r>
              <a:rPr dirty="0"/>
              <a:t>The exact same comparison, two opposite verdicts. This vividly demonstrates that a single metric, on</a:t>
            </a:r>
          </a:p>
          <a:p>
            <a:r>
              <a:rPr dirty="0"/>
              <a:t>its own, can lie. Had we looked only at BLEU-1, we'd have concluded that a constant sentence beats a</a:t>
            </a:r>
          </a:p>
          <a:p>
            <a:r>
              <a:rPr dirty="0"/>
              <a:t>trained model: an absurd conclusion. This is exactly why we built a battery of metrics and read</a:t>
            </a:r>
          </a:p>
          <a:p>
            <a:r>
              <a:rPr dirty="0"/>
              <a:t>them together: BLEU for phrasing, </a:t>
            </a:r>
            <a:r>
              <a:rPr dirty="0" err="1"/>
              <a:t>CIDEr</a:t>
            </a:r>
            <a:r>
              <a:rPr dirty="0"/>
              <a:t> for salient terms, </a:t>
            </a:r>
            <a:r>
              <a:rPr dirty="0" err="1"/>
              <a:t>BERTScore</a:t>
            </a:r>
            <a:r>
              <a:rPr dirty="0"/>
              <a:t> for meaning, and </a:t>
            </a:r>
            <a:r>
              <a:rPr dirty="0" err="1"/>
              <a:t>CLIPScore</a:t>
            </a:r>
            <a:r>
              <a:rPr dirty="0"/>
              <a:t> for</a:t>
            </a:r>
          </a:p>
          <a:p>
            <a:r>
              <a:rPr dirty="0"/>
              <a:t>image grounding.</a:t>
            </a:r>
          </a:p>
          <a:p>
            <a:r>
              <a:rPr dirty="0" err="1"/>
              <a:t>BERTScore</a:t>
            </a:r>
            <a:r>
              <a:rPr dirty="0"/>
              <a:t>, for completeness, is poorly discriminating here: all values fall between 0.83 and 0.92,</a:t>
            </a:r>
          </a:p>
          <a:p>
            <a:r>
              <a:rPr dirty="0"/>
              <a:t>because all sentences talk about cheese with the same structure. It's useful as a sanity check, not</a:t>
            </a:r>
          </a:p>
          <a:p>
            <a:r>
              <a:rPr dirty="0"/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dirty="0">
                <a:solidFill>
                  <a:srgbClr val="1B334A"/>
                </a:solidFill>
                <a:latin typeface="Georgia"/>
              </a:rPr>
              <a:t>Colore della pasta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</a:t>
            </a:r>
            <a:r>
              <a:rPr lang="it-IT" sz="1600" b="1" spc="150" dirty="0">
                <a:solidFill>
                  <a:srgbClr val="5B8C5A"/>
                </a:solidFill>
                <a:latin typeface="Calibri"/>
              </a:rPr>
              <a:t>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i="0" dirty="0">
                <a:solidFill>
                  <a:srgbClr val="1B334A"/>
                </a:solidFill>
                <a:latin typeface="Georgia"/>
              </a:rPr>
              <a:t>Struttura della pasta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Spessore della crosta</a:t>
            </a:r>
          </a:p>
          <a:p>
            <a:pPr>
              <a:spcBef>
                <a:spcPts val="400"/>
              </a:spcBef>
            </a:pPr>
            <a:r>
              <a:rPr lang="it-IT" sz="1600" b="1" i="0" spc="150" dirty="0">
                <a:solidFill>
                  <a:srgbClr val="C88836"/>
                </a:solidFill>
                <a:latin typeface="Calibri"/>
              </a:rPr>
              <a:t>VISUAL</a:t>
            </a:r>
            <a:r>
              <a:rPr sz="1600" b="1" i="0" spc="150" dirty="0">
                <a:solidFill>
                  <a:srgbClr val="C88836"/>
                </a:solidFill>
                <a:latin typeface="Calibri"/>
              </a:rPr>
              <a:t>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Odore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</a:t>
            </a:r>
            <a:r>
              <a:rPr lang="it-IT" sz="1600" b="1" i="0" spc="150" dirty="0">
                <a:solidFill>
                  <a:srgbClr val="2C5F8A"/>
                </a:solidFill>
                <a:latin typeface="Calibri"/>
              </a:rPr>
              <a:t>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2C5F8A"/>
                </a:solidFill>
              </a:rPr>
              <a:t>OLFACTORY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 err="1">
                <a:solidFill>
                  <a:srgbClr val="1B334A"/>
                </a:solidFill>
                <a:latin typeface="Georgia"/>
              </a:rPr>
              <a:t>Sapore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1492E"/>
                </a:solidFill>
                <a:latin typeface="Calibri"/>
              </a:rPr>
              <a:t>GUSTATI</a:t>
            </a:r>
            <a:r>
              <a:rPr lang="it-IT" sz="1600" b="1" spc="150" dirty="0">
                <a:solidFill>
                  <a:srgbClr val="C1492E"/>
                </a:solidFill>
                <a:latin typeface="Calibri"/>
              </a:rPr>
              <a:t>VE</a:t>
            </a:r>
            <a:endParaRPr sz="1600" b="1" i="0" spc="150" dirty="0">
              <a:solidFill>
                <a:srgbClr val="C1492E"/>
              </a:solidFill>
              <a:latin typeface="Calibr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418522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«spoke different languages»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1" i="0" dirty="0">
                <a:solidFill>
                  <a:srgbClr val="F7F1E3"/>
                </a:solidFill>
                <a:latin typeface="Calibri"/>
              </a:rPr>
              <a:t>«Drops must be certain».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LLM will handle ambiguity better: a negation with a descriptor: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«I don't penalize it, but it smells of barn»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55" y="2250226"/>
            <a:ext cx="6418446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84719" y="2058871"/>
            <a:ext cx="4618818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84718" y="2058871"/>
            <a:ext cx="90195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40750" y="2205175"/>
            <a:ext cx="4280195" cy="346248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/>
              <a:t>I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talian NLP tools err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r>
              <a:rPr lang="en-US" sz="1600" b="1" dirty="0">
                <a:solidFill>
                  <a:srgbClr val="2C5F8A"/>
                </a:solidFill>
              </a:rPr>
              <a:t>.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 Our </a:t>
            </a:r>
            <a:r>
              <a:rPr lang="en-US" sz="1600" b="1" i="0" dirty="0" err="1">
                <a:solidFill>
                  <a:srgbClr val="2B2A26"/>
                </a:solidFill>
                <a:latin typeface="Calibri"/>
              </a:rPr>
              <a:t>stoplist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 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keeps the intensifiers that matter: «molto», «poco», «</a:t>
            </a:r>
            <a:r>
              <a:rPr lang="en-US"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Deterministic normalization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: abbreviation + typo maps, accent restoration, measurement units dropped</a:t>
            </a: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 err="1">
                <a:solidFill>
                  <a:srgbClr val="2B2A26"/>
                </a:solidFill>
                <a:latin typeface="Calibri"/>
              </a:rPr>
              <a:t>Singular↔plural</a:t>
            </a:r>
            <a:r>
              <a:rPr lang="en-US" sz="1600" b="1" dirty="0">
                <a:solidFill>
                  <a:srgbClr val="2B2A26"/>
                </a:solidFill>
                <a:latin typeface="Calibri"/>
              </a:rPr>
              <a:t> merge 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only when both forms are attested → antonyms stay split (</a:t>
            </a:r>
            <a:r>
              <a:rPr lang="en-US" sz="1600" dirty="0" err="1">
                <a:solidFill>
                  <a:srgbClr val="2B2A26"/>
                </a:solidFill>
                <a:latin typeface="Calibri"/>
              </a:rPr>
              <a:t>carico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 ≠ </a:t>
            </a:r>
            <a:r>
              <a:rPr lang="en-US" sz="1600" dirty="0" err="1">
                <a:solidFill>
                  <a:srgbClr val="2B2A26"/>
                </a:solidFill>
                <a:latin typeface="Calibri"/>
              </a:rPr>
              <a:t>scarico</a:t>
            </a:r>
            <a:r>
              <a:rPr lang="en-US" sz="1600" dirty="0">
                <a:solidFill>
                  <a:srgbClr val="2B2A26"/>
                </a:solidFill>
                <a:latin typeface="Calibri"/>
              </a:rPr>
              <a:t>)</a:t>
            </a:r>
            <a:endParaRPr lang="it-IT" sz="160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dirty="0">
                <a:solidFill>
                  <a:srgbClr val="2C5F8A"/>
                </a:solidFill>
              </a:rPr>
              <a:t>● </a:t>
            </a:r>
            <a:r>
              <a:rPr lang="en-US" sz="1600" b="1" dirty="0">
                <a:solidFill>
                  <a:srgbClr val="2B2A26"/>
                </a:solidFill>
              </a:rPr>
              <a:t>Top-200 lemmas + top-80 bigrams </a:t>
            </a:r>
            <a:r>
              <a:rPr lang="en-US" sz="1600" dirty="0">
                <a:solidFill>
                  <a:srgbClr val="2B2A26"/>
                </a:solidFill>
              </a:rPr>
              <a:t>per attribute (</a:t>
            </a:r>
            <a:r>
              <a:rPr lang="en-US" sz="1600" dirty="0" err="1">
                <a:solidFill>
                  <a:srgbClr val="2B2A26"/>
                </a:solidFill>
              </a:rPr>
              <a:t>freq</a:t>
            </a:r>
            <a:r>
              <a:rPr lang="en-US" sz="1600" dirty="0">
                <a:solidFill>
                  <a:srgbClr val="2B2A26"/>
                </a:solidFill>
              </a:rPr>
              <a:t> ≥ 3): audit basis + style anchor in the prompt, never a closed dictionary</a:t>
            </a:r>
            <a:endParaRPr sz="160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Molto sottile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Sottile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Spessa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Molto spessa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 dirty="0">
                <a:solidFill>
                  <a:srgbClr val="C88836"/>
                </a:solidFill>
                <a:latin typeface="Calibri"/>
              </a:rPr>
              <a:t>STAGE </a:t>
            </a:r>
            <a:r>
              <a:rPr lang="it-IT" sz="1250" b="1" spc="220" dirty="0">
                <a:solidFill>
                  <a:srgbClr val="C88836"/>
                </a:solidFill>
                <a:latin typeface="Calibri"/>
              </a:rPr>
              <a:t>5</a:t>
            </a:r>
            <a:r>
              <a:rPr sz="1250" b="1" i="0" spc="220" dirty="0">
                <a:solidFill>
                  <a:srgbClr val="C88836"/>
                </a:solidFill>
                <a:latin typeface="Calibri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10999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0041" y="1920240"/>
            <a:ext cx="412675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1" y="1920240"/>
            <a:ext cx="96469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168" y="2066544"/>
            <a:ext cx="4000359" cy="301108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Faithfulness:</a:t>
            </a:r>
            <a:r>
              <a:rPr lang="en-US" sz="1600" dirty="0"/>
              <a:t> zero invention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Normalization: </a:t>
            </a:r>
            <a:r>
              <a:rPr lang="en-US" sz="1600" dirty="0" err="1"/>
              <a:t>numbers→quality</a:t>
            </a:r>
            <a:r>
              <a:rPr lang="en-US" sz="1600" dirty="0"/>
              <a:t>, </a:t>
            </a:r>
            <a:r>
              <a:rPr lang="en-US" sz="1600" dirty="0" err="1"/>
              <a:t>synonyms→controlled</a:t>
            </a:r>
            <a:r>
              <a:rPr lang="en-US" sz="1600" dirty="0"/>
              <a:t> lexicon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Cleanup: </a:t>
            </a:r>
            <a:r>
              <a:rPr lang="en-US" sz="1600" dirty="0"/>
              <a:t>remove pure meta comments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Safety:</a:t>
            </a:r>
            <a:r>
              <a:rPr lang="en-US" sz="1600" dirty="0"/>
              <a:t> NON_DESCRITTO escape when no descriptor is present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97F420-A9C4-6AB6-15C8-4F7102E387DC}"/>
              </a:ext>
            </a:extLst>
          </p:cNvPr>
          <p:cNvGrpSpPr/>
          <p:nvPr/>
        </p:nvGrpSpPr>
        <p:grpSpPr>
          <a:xfrm>
            <a:off x="4620527" y="1920240"/>
            <a:ext cx="3520440" cy="3291840"/>
            <a:chOff x="4297680" y="1920240"/>
            <a:chExt cx="3520440" cy="3291840"/>
          </a:xfrm>
        </p:grpSpPr>
        <p:sp>
          <p:nvSpPr>
            <p:cNvPr id="11" name="Rounded Rectangle 10"/>
            <p:cNvSpPr/>
            <p:nvPr/>
          </p:nvSpPr>
          <p:spPr>
            <a:xfrm>
              <a:off x="4297680" y="1920240"/>
              <a:ext cx="352044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97680" y="1920240"/>
              <a:ext cx="82296" cy="3291840"/>
            </a:xfrm>
            <a:prstGeom prst="rect">
              <a:avLst/>
            </a:prstGeom>
            <a:solidFill>
              <a:srgbClr val="2C5F8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553712" y="2066544"/>
              <a:ext cx="3099816" cy="2077492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7 · Pilot run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105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captions (15 per attribute)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Found 2 failure modes: 1cm vs 10mm; empty format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Both fixed in the prompt</a:t>
              </a:r>
            </a:p>
            <a:p>
              <a:pPr>
                <a:spcBef>
                  <a:spcPts val="400"/>
                </a:spcBef>
              </a:pPr>
              <a:r>
                <a:rPr sz="1600" b="1" i="0" dirty="0">
                  <a:solidFill>
                    <a:srgbClr val="2C5F8A"/>
                  </a:solidFill>
                  <a:latin typeface="Calibri"/>
                </a:rPr>
                <a:t>● </a:t>
              </a:r>
              <a:r>
                <a:rPr sz="1600" b="1" i="0" dirty="0">
                  <a:solidFill>
                    <a:srgbClr val="2B2A26"/>
                  </a:solidFill>
                  <a:latin typeface="Calibri"/>
                </a:rPr>
                <a:t>3 workers</a:t>
              </a:r>
              <a:r>
                <a:rPr sz="1600" b="0" i="0" dirty="0">
                  <a:solidFill>
                    <a:srgbClr val="2B2A26"/>
                  </a:solidFill>
                  <a:latin typeface="Calibri"/>
                </a:rPr>
                <a:t> = optimal; 8 → storms of 429s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E2E734-BB27-A729-532E-79BAFB908D74}"/>
              </a:ext>
            </a:extLst>
          </p:cNvPr>
          <p:cNvGrpSpPr/>
          <p:nvPr/>
        </p:nvGrpSpPr>
        <p:grpSpPr>
          <a:xfrm>
            <a:off x="8372374" y="1920240"/>
            <a:ext cx="3611880" cy="3291840"/>
            <a:chOff x="7955279" y="1920240"/>
            <a:chExt cx="3611880" cy="3291840"/>
          </a:xfrm>
        </p:grpSpPr>
        <p:sp>
          <p:nvSpPr>
            <p:cNvPr id="14" name="Rounded Rectangle 13"/>
            <p:cNvSpPr/>
            <p:nvPr/>
          </p:nvSpPr>
          <p:spPr>
            <a:xfrm>
              <a:off x="7955279" y="1920240"/>
              <a:ext cx="3611880" cy="3291840"/>
            </a:xfrm>
            <a:prstGeom prst="roundRect">
              <a:avLst/>
            </a:prstGeom>
            <a:solidFill>
              <a:srgbClr val="FBF7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955279" y="1920240"/>
              <a:ext cx="82296" cy="3291840"/>
            </a:xfrm>
            <a:prstGeom prst="rect">
              <a:avLst/>
            </a:prstGeom>
            <a:solidFill>
              <a:srgbClr val="5B8C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211311" y="2066544"/>
              <a:ext cx="3191256" cy="1985159"/>
            </a:xfrm>
            <a:prstGeom prst="rect">
              <a:avLst/>
            </a:prstGeom>
            <a:noFill/>
          </p:spPr>
          <p:txBody>
            <a:bodyPr wrap="square" lIns="25400" tIns="12700" rIns="25400" bIns="12700" anchor="t">
              <a:spAutoFit/>
            </a:bodyPr>
            <a:lstStyle/>
            <a:p>
              <a:r>
                <a:rPr sz="2400" b="1" i="0" dirty="0">
                  <a:solidFill>
                    <a:srgbClr val="1B334A"/>
                  </a:solidFill>
                  <a:latin typeface="Georgia"/>
                </a:rPr>
                <a:t>8 · Full batch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7,689 / 7,689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completed, 0 errors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~25</a:t>
              </a:r>
              <a:r>
                <a:rPr lang="it-IT" b="1" i="0" dirty="0">
                  <a:solidFill>
                    <a:srgbClr val="2B2A26"/>
                  </a:solidFill>
                  <a:latin typeface="Calibri"/>
                </a:rPr>
                <a:t>-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30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minutes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Haiku 4.5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· Anthropic Batch API</a:t>
              </a:r>
            </a:p>
            <a:p>
              <a:pPr>
                <a:spcBef>
                  <a:spcPts val="400"/>
                </a:spcBef>
              </a:pPr>
              <a:r>
                <a:rPr b="1" i="0" dirty="0">
                  <a:solidFill>
                    <a:srgbClr val="5B8C5A"/>
                  </a:solidFill>
                  <a:latin typeface="Calibri"/>
                </a:rPr>
                <a:t>● </a:t>
              </a:r>
              <a:r>
                <a:rPr b="1" i="0" dirty="0">
                  <a:solidFill>
                    <a:srgbClr val="2B2A26"/>
                  </a:solidFill>
                  <a:latin typeface="Calibri"/>
                </a:rPr>
                <a:t>~$4.50</a:t>
              </a:r>
              <a:r>
                <a:rPr b="0" i="0" dirty="0">
                  <a:solidFill>
                    <a:srgbClr val="2B2A26"/>
                  </a:solidFill>
                  <a:latin typeface="Calibri"/>
                </a:rPr>
                <a:t> for the batch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950" b="0" i="1" noProof="0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1100" b="1" i="0" noProof="0" dirty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1250" b="1" i="0" spc="220" noProof="0" dirty="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3600" b="1" i="0" noProof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2400" b="1" i="0" noProof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lang="en-US" sz="10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/&lt;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654735"/>
              </p:ext>
            </p:extLst>
          </p:nvPr>
        </p:nvGraphicFramePr>
        <p:xfrm>
          <a:off x="640080" y="1920240"/>
          <a:ext cx="103271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06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79" y="4069080"/>
            <a:ext cx="10327177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674 train / 143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val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/ 147 test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no leak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Healthy curves: no overfitting,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NaN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or collapse</a:t>
            </a:r>
          </a:p>
        </p:txBody>
      </p:sp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Struttura (+0.128), Profumo, Texture, Colore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Sapore, Spessore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3670338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F7F1E3"/>
                </a:solidFill>
                <a:latin typeface="Calibri"/>
              </a:rPr>
              <a:t>Odore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Spessore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Co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lore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</a:t>
            </a:r>
            <a:r>
              <a:rPr lang="it-IT" sz="1600" b="1" i="0" dirty="0" err="1">
                <a:solidFill>
                  <a:srgbClr val="F7F1E3"/>
                </a:solidFill>
                <a:latin typeface="Calibri"/>
              </a:rPr>
              <a:t>ttura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Attributo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Gusto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Colore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Struttura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  <p:extLst>
      <p:ext uri="{BB962C8B-B14F-4D97-AF65-F5344CB8AC3E}">
        <p14:creationId xmlns:p14="http://schemas.microsoft.com/office/powerpoint/2010/main" val="4213987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4326</TotalTime>
  <Words>8232</Words>
  <Application>Microsoft Office PowerPoint</Application>
  <PresentationFormat>Widescreen</PresentationFormat>
  <Paragraphs>790</Paragraphs>
  <Slides>31</Slides>
  <Notes>31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31</vt:i4>
      </vt:variant>
    </vt:vector>
  </HeadingPairs>
  <TitlesOfParts>
    <vt:vector size="35" baseType="lpstr">
      <vt:lpstr>Arial</vt:lpstr>
      <vt:lpstr>Calibri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20</cp:revision>
  <cp:lastPrinted>2026-06-24T18:24:04Z</cp:lastPrinted>
  <dcterms:created xsi:type="dcterms:W3CDTF">2013-01-27T09:14:16Z</dcterms:created>
  <dcterms:modified xsi:type="dcterms:W3CDTF">2026-06-25T07:58:17Z</dcterms:modified>
  <cp:category/>
</cp:coreProperties>
</file>