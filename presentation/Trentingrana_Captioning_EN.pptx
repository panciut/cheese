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charts/chart1.xml" ContentType="application/vnd.openxmlformats-officedocument.drawingml.chart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charts/chart2.xml" ContentType="application/vnd.openxmlformats-officedocument.drawingml.chart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charts/chart3.xml" ContentType="application/vnd.openxmlformats-officedocument.drawingml.chart+xml"/>
  <Override PartName="/ppt/notesSlides/notesSlide26.xml" ContentType="application/vnd.openxmlformats-officedocument.presentationml.notes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317" r:id="rId2"/>
    <p:sldId id="318" r:id="rId3"/>
    <p:sldId id="351" r:id="rId4"/>
    <p:sldId id="290" r:id="rId5"/>
    <p:sldId id="260" r:id="rId6"/>
    <p:sldId id="320" r:id="rId7"/>
    <p:sldId id="321" r:id="rId8"/>
    <p:sldId id="322" r:id="rId9"/>
    <p:sldId id="323" r:id="rId10"/>
    <p:sldId id="324" r:id="rId11"/>
    <p:sldId id="325" r:id="rId12"/>
    <p:sldId id="346" r:id="rId13"/>
    <p:sldId id="298" r:id="rId14"/>
    <p:sldId id="327" r:id="rId15"/>
    <p:sldId id="328" r:id="rId16"/>
    <p:sldId id="330" r:id="rId17"/>
    <p:sldId id="331" r:id="rId18"/>
    <p:sldId id="332" r:id="rId19"/>
    <p:sldId id="333" r:id="rId20"/>
    <p:sldId id="334" r:id="rId21"/>
    <p:sldId id="350" r:id="rId22"/>
    <p:sldId id="336" r:id="rId23"/>
    <p:sldId id="337" r:id="rId24"/>
    <p:sldId id="309" r:id="rId25"/>
    <p:sldId id="340" r:id="rId26"/>
    <p:sldId id="341" r:id="rId27"/>
    <p:sldId id="345" r:id="rId28"/>
    <p:sldId id="344" r:id="rId29"/>
    <p:sldId id="339" r:id="rId30"/>
    <p:sldId id="338" r:id="rId31"/>
    <p:sldId id="342" r:id="rId3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747" autoAdjust="0"/>
    <p:restoredTop sz="71879" autoAdjust="0"/>
  </p:normalViewPr>
  <p:slideViewPr>
    <p:cSldViewPr snapToGrid="0" snapToObjects="1">
      <p:cViewPr varScale="1">
        <p:scale>
          <a:sx n="91" d="100"/>
          <a:sy n="91" d="100"/>
        </p:scale>
        <p:origin x="1352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napToGrid="0" snapToObjects="1">
      <p:cViewPr varScale="1">
        <p:scale>
          <a:sx n="122" d="100"/>
          <a:sy n="122" d="100"/>
        </p:scale>
        <p:origin x="5004" y="7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Estimated cost ($)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solidFill>
                <a:srgbClr val="5B8C5A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1-2115-4AF1-A412-1AC1B3399834}"/>
              </c:ext>
            </c:extLst>
          </c:dPt>
          <c:dPt>
            <c:idx val="1"/>
            <c:invertIfNegative val="1"/>
            <c:bubble3D val="0"/>
            <c:spPr>
              <a:solidFill>
                <a:srgbClr val="E0A45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3-2115-4AF1-A412-1AC1B3399834}"/>
              </c:ext>
            </c:extLst>
          </c:dPt>
          <c:dPt>
            <c:idx val="2"/>
            <c:invertIfNegative val="1"/>
            <c:bubble3D val="0"/>
            <c:spPr>
              <a:solidFill>
                <a:srgbClr val="C1492E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5-2115-4AF1-A412-1AC1B3399834}"/>
              </c:ext>
            </c:extLst>
          </c:dPt>
          <c:dLbls>
            <c:numFmt formatCode="&quot;$&quot;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300" b="1">
                    <a:solidFill>
                      <a:srgbClr val="1B334A"/>
                    </a:solidFill>
                  </a:defRPr>
                </a:pPr>
                <a:endParaRPr lang="it-IT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Haiku 4.5</c:v>
                </c:pt>
                <c:pt idx="1">
                  <c:v>Sonnet</c:v>
                </c:pt>
                <c:pt idx="2">
                  <c:v>Opus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5.6</c:v>
                </c:pt>
                <c:pt idx="1">
                  <c:v>13.5</c:v>
                </c:pt>
                <c:pt idx="2">
                  <c:v>67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2115-4AF1-A412-1AC1B3399834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2B2A26"/>
                </a:solidFill>
                <a:latin typeface="Calibri"/>
              </a:defRPr>
            </a:pPr>
            <a:endParaRPr lang="it-IT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2B2A26"/>
                </a:solidFill>
                <a:latin typeface="Calibri"/>
              </a:defRPr>
            </a:pPr>
            <a:endParaRPr lang="it-IT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m1 · CNN+LSTM</c:v>
                </c:pt>
              </c:strCache>
            </c:strRef>
          </c:tx>
          <c:spPr>
            <a:solidFill>
              <a:srgbClr val="E07A5F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BLEU-1</c:v>
                </c:pt>
                <c:pt idx="1">
                  <c:v>BLEU-4</c:v>
                </c:pt>
                <c:pt idx="2">
                  <c:v>METEOR</c:v>
                </c:pt>
                <c:pt idx="3">
                  <c:v>ROUGE-L</c:v>
                </c:pt>
                <c:pt idx="4">
                  <c:v>CIDEr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0.35010000000000002</c:v>
                </c:pt>
                <c:pt idx="1">
                  <c:v>0.1283</c:v>
                </c:pt>
                <c:pt idx="2">
                  <c:v>0.29380000000000001</c:v>
                </c:pt>
                <c:pt idx="3">
                  <c:v>0.29509999999999997</c:v>
                </c:pt>
                <c:pt idx="4">
                  <c:v>0.25169999999999998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3C9D-4D35-BEBC-F4776DBDD00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m3 · ViT+Transf.</c:v>
                </c:pt>
              </c:strCache>
            </c:strRef>
          </c:tx>
          <c:spPr>
            <a:solidFill>
              <a:srgbClr val="3D7068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BLEU-1</c:v>
                </c:pt>
                <c:pt idx="1">
                  <c:v>BLEU-4</c:v>
                </c:pt>
                <c:pt idx="2">
                  <c:v>METEOR</c:v>
                </c:pt>
                <c:pt idx="3">
                  <c:v>ROUGE-L</c:v>
                </c:pt>
                <c:pt idx="4">
                  <c:v>CIDEr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0.3649</c:v>
                </c:pt>
                <c:pt idx="1">
                  <c:v>0.1237</c:v>
                </c:pt>
                <c:pt idx="2">
                  <c:v>0.28749999999999998</c:v>
                </c:pt>
                <c:pt idx="3">
                  <c:v>0.29809999999999998</c:v>
                </c:pt>
                <c:pt idx="4">
                  <c:v>0.28560000000000002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3C9D-4D35-BEBC-F4776DBDD00A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m6 · ViT+GePpeTto</c:v>
                </c:pt>
              </c:strCache>
            </c:strRef>
          </c:tx>
          <c:spPr>
            <a:solidFill>
              <a:srgbClr val="8A5082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BLEU-1</c:v>
                </c:pt>
                <c:pt idx="1">
                  <c:v>BLEU-4</c:v>
                </c:pt>
                <c:pt idx="2">
                  <c:v>METEOR</c:v>
                </c:pt>
                <c:pt idx="3">
                  <c:v>ROUGE-L</c:v>
                </c:pt>
                <c:pt idx="4">
                  <c:v>CIDEr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0.36570000000000003</c:v>
                </c:pt>
                <c:pt idx="1">
                  <c:v>0.13070000000000001</c:v>
                </c:pt>
                <c:pt idx="2">
                  <c:v>0.2928</c:v>
                </c:pt>
                <c:pt idx="3">
                  <c:v>0.30070000000000002</c:v>
                </c:pt>
                <c:pt idx="4">
                  <c:v>0.27410000000000001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3C9D-4D35-BEBC-F4776DBDD00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9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2B2A26"/>
                </a:solidFill>
                <a:latin typeface="Calibri"/>
              </a:defRPr>
            </a:pPr>
            <a:endParaRPr lang="it-IT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0.4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2B2A26"/>
                </a:solidFill>
                <a:latin typeface="Calibri"/>
              </a:defRPr>
            </a:pPr>
            <a:endParaRPr lang="it-IT"/>
          </a:p>
        </c:txPr>
        <c:crossAx val="-2068027336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100">
              <a:latin typeface="Calibri"/>
            </a:defRPr>
          </a:pPr>
          <a:endParaRPr lang="it-IT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Mean CIDEr (7 attributes)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solidFill>
                <a:srgbClr val="8A8A84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1-8FFA-43ED-9718-248898CDF650}"/>
              </c:ext>
            </c:extLst>
          </c:dPt>
          <c:dPt>
            <c:idx val="1"/>
            <c:invertIfNegative val="1"/>
            <c:bubble3D val="0"/>
            <c:spPr>
              <a:solidFill>
                <a:srgbClr val="8A8A84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3-8FFA-43ED-9718-248898CDF650}"/>
              </c:ext>
            </c:extLst>
          </c:dPt>
          <c:dPt>
            <c:idx val="2"/>
            <c:invertIfNegative val="1"/>
            <c:bubble3D val="0"/>
            <c:spPr>
              <a:solidFill>
                <a:srgbClr val="E07A5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5-8FFA-43ED-9718-248898CDF650}"/>
              </c:ext>
            </c:extLst>
          </c:dPt>
          <c:dPt>
            <c:idx val="3"/>
            <c:invertIfNegative val="1"/>
            <c:bubble3D val="0"/>
            <c:spPr>
              <a:solidFill>
                <a:srgbClr val="3D706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7-8FFA-43ED-9718-248898CDF650}"/>
              </c:ext>
            </c:extLst>
          </c:dPt>
          <c:dPt>
            <c:idx val="4"/>
            <c:invertIfNegative val="1"/>
            <c:bubble3D val="0"/>
            <c:spPr>
              <a:solidFill>
                <a:srgbClr val="8A50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9-8FFA-43ED-9718-248898CDF650}"/>
              </c:ext>
            </c:extLst>
          </c:dPt>
          <c:dPt>
            <c:idx val="5"/>
            <c:invertIfNegative val="1"/>
            <c:bubble3D val="0"/>
            <c:spPr>
              <a:solidFill>
                <a:srgbClr val="E0A45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B-8FFA-43ED-9718-248898CDF650}"/>
              </c:ext>
            </c:extLst>
          </c:dPt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1"/>
                </a:pPr>
                <a:endParaRPr lang="it-IT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random</c:v>
                </c:pt>
                <c:pt idx="1">
                  <c:v>freq_weighted</c:v>
                </c:pt>
                <c:pt idx="2">
                  <c:v>m1</c:v>
                </c:pt>
                <c:pt idx="3">
                  <c:v>m3</c:v>
                </c:pt>
                <c:pt idx="4">
                  <c:v>m6</c:v>
                </c:pt>
                <c:pt idx="5">
                  <c:v>most_frequent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0.23400000000000001</c:v>
                </c:pt>
                <c:pt idx="1">
                  <c:v>0.37</c:v>
                </c:pt>
                <c:pt idx="2">
                  <c:v>0.58599999999999997</c:v>
                </c:pt>
                <c:pt idx="3">
                  <c:v>0.64600000000000002</c:v>
                </c:pt>
                <c:pt idx="4">
                  <c:v>0.70399999999999996</c:v>
                </c:pt>
                <c:pt idx="5">
                  <c:v>0.79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8FFA-43ED-9718-248898CDF650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2B2A26"/>
                </a:solidFill>
                <a:latin typeface="Calibri"/>
              </a:defRPr>
            </a:pPr>
            <a:endParaRPr lang="it-IT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2B2A26"/>
                </a:solidFill>
                <a:latin typeface="Calibri"/>
              </a:defRPr>
            </a:pPr>
            <a:endParaRPr lang="it-IT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Mean CLIPScore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solidFill>
                <a:srgbClr val="E0A45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1-4B74-4716-AD5F-3C5E9D0B2246}"/>
              </c:ext>
            </c:extLst>
          </c:dPt>
          <c:dPt>
            <c:idx val="1"/>
            <c:invertIfNegative val="1"/>
            <c:bubble3D val="0"/>
            <c:spPr>
              <a:solidFill>
                <a:srgbClr val="8A8A84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3-4B74-4716-AD5F-3C5E9D0B2246}"/>
              </c:ext>
            </c:extLst>
          </c:dPt>
          <c:dPt>
            <c:idx val="2"/>
            <c:invertIfNegative val="1"/>
            <c:bubble3D val="0"/>
            <c:spPr>
              <a:solidFill>
                <a:srgbClr val="8A8A84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5-4B74-4716-AD5F-3C5E9D0B2246}"/>
              </c:ext>
            </c:extLst>
          </c:dPt>
          <c:dPt>
            <c:idx val="3"/>
            <c:invertIfNegative val="1"/>
            <c:bubble3D val="0"/>
            <c:spPr>
              <a:solidFill>
                <a:srgbClr val="E07A5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7-4B74-4716-AD5F-3C5E9D0B2246}"/>
              </c:ext>
            </c:extLst>
          </c:dPt>
          <c:dPt>
            <c:idx val="4"/>
            <c:invertIfNegative val="1"/>
            <c:bubble3D val="0"/>
            <c:spPr>
              <a:solidFill>
                <a:srgbClr val="3D706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9-4B74-4716-AD5F-3C5E9D0B2246}"/>
              </c:ext>
            </c:extLst>
          </c:dPt>
          <c:dPt>
            <c:idx val="5"/>
            <c:invertIfNegative val="1"/>
            <c:bubble3D val="0"/>
            <c:spPr>
              <a:solidFill>
                <a:srgbClr val="8A50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B-4B74-4716-AD5F-3C5E9D0B2246}"/>
              </c:ext>
            </c:extLst>
          </c:dPt>
          <c:cat>
            <c:strRef>
              <c:f>Sheet1!$A$2:$A$7</c:f>
              <c:strCache>
                <c:ptCount val="6"/>
                <c:pt idx="0">
                  <c:v>most_freq</c:v>
                </c:pt>
                <c:pt idx="1">
                  <c:v>random</c:v>
                </c:pt>
                <c:pt idx="2">
                  <c:v>freq_w</c:v>
                </c:pt>
                <c:pt idx="3">
                  <c:v>m1</c:v>
                </c:pt>
                <c:pt idx="4">
                  <c:v>m3</c:v>
                </c:pt>
                <c:pt idx="5">
                  <c:v>m6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0.19020000000000001</c:v>
                </c:pt>
                <c:pt idx="1">
                  <c:v>0.1913</c:v>
                </c:pt>
                <c:pt idx="2">
                  <c:v>0.19189999999999999</c:v>
                </c:pt>
                <c:pt idx="3">
                  <c:v>0.1925</c:v>
                </c:pt>
                <c:pt idx="4">
                  <c:v>0.19209999999999999</c:v>
                </c:pt>
                <c:pt idx="5">
                  <c:v>0.1933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4B74-4716-AD5F-3C5E9D0B224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2B2A26"/>
                </a:solidFill>
                <a:latin typeface="Calibri"/>
              </a:defRPr>
            </a:pPr>
            <a:endParaRPr lang="it-IT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0.19500000000000001"/>
          <c:min val="0.185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2B2A26"/>
                </a:solidFill>
                <a:latin typeface="Calibri"/>
              </a:defRPr>
            </a:pPr>
            <a:endParaRPr lang="it-IT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CLIPScore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solidFill>
                <a:srgbClr val="2C5F8A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1-5366-4EA8-BA27-6BB7A10AE28F}"/>
              </c:ext>
            </c:extLst>
          </c:dPt>
          <c:dPt>
            <c:idx val="1"/>
            <c:invertIfNegative val="1"/>
            <c:bubble3D val="0"/>
            <c:spPr>
              <a:solidFill>
                <a:srgbClr val="C1492E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3-5366-4EA8-BA27-6BB7A10AE28F}"/>
              </c:ext>
            </c:extLst>
          </c:dPt>
          <c:dPt>
            <c:idx val="2"/>
            <c:invertIfNegative val="1"/>
            <c:bubble3D val="0"/>
            <c:spPr>
              <a:solidFill>
                <a:srgbClr val="E0A45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5-5366-4EA8-BA27-6BB7A10AE28F}"/>
              </c:ext>
            </c:extLst>
          </c:dPt>
          <c:dPt>
            <c:idx val="3"/>
            <c:invertIfNegative val="1"/>
            <c:bubble3D val="0"/>
            <c:spPr>
              <a:solidFill>
                <a:srgbClr val="2C5F8A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7-5366-4EA8-BA27-6BB7A10AE28F}"/>
              </c:ext>
            </c:extLst>
          </c:dPt>
          <c:dPt>
            <c:idx val="4"/>
            <c:invertIfNegative val="1"/>
            <c:bubble3D val="0"/>
            <c:spPr>
              <a:solidFill>
                <a:srgbClr val="5B8C5A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9-5366-4EA8-BA27-6BB7A10AE28F}"/>
              </c:ext>
            </c:extLst>
          </c:dPt>
          <c:dPt>
            <c:idx val="5"/>
            <c:invertIfNegative val="1"/>
            <c:bubble3D val="0"/>
            <c:spPr>
              <a:solidFill>
                <a:srgbClr val="5B8C5A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B-5366-4EA8-BA27-6BB7A10AE28F}"/>
              </c:ext>
            </c:extLst>
          </c:dPt>
          <c:dPt>
            <c:idx val="6"/>
            <c:invertIfNegative val="1"/>
            <c:bubble3D val="0"/>
            <c:spPr>
              <a:solidFill>
                <a:srgbClr val="5B8C5A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D-5366-4EA8-BA27-6BB7A10AE28F}"/>
              </c:ext>
            </c:extLst>
          </c:dPt>
          <c:cat>
            <c:strRef>
              <c:f>Sheet1!$A$2:$A$8</c:f>
              <c:strCache>
                <c:ptCount val="7"/>
                <c:pt idx="0">
                  <c:v>Aroma</c:v>
                </c:pt>
                <c:pt idx="1">
                  <c:v>Taste</c:v>
                </c:pt>
                <c:pt idx="2">
                  <c:v>Thickness</c:v>
                </c:pt>
                <c:pt idx="3">
                  <c:v>Smell</c:v>
                </c:pt>
                <c:pt idx="4">
                  <c:v>Structure</c:v>
                </c:pt>
                <c:pt idx="5">
                  <c:v>Colour</c:v>
                </c:pt>
                <c:pt idx="6">
                  <c:v>Texture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0.18099999999999999</c:v>
                </c:pt>
                <c:pt idx="1">
                  <c:v>0.184</c:v>
                </c:pt>
                <c:pt idx="2">
                  <c:v>0.184</c:v>
                </c:pt>
                <c:pt idx="3">
                  <c:v>0.185</c:v>
                </c:pt>
                <c:pt idx="4">
                  <c:v>0.19700000000000001</c:v>
                </c:pt>
                <c:pt idx="5">
                  <c:v>0.20599999999999999</c:v>
                </c:pt>
                <c:pt idx="6">
                  <c:v>0.20799999999999999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5366-4EA8-BA27-6BB7A10AE28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2B2A26"/>
                </a:solidFill>
                <a:latin typeface="Calibri"/>
              </a:defRPr>
            </a:pPr>
            <a:endParaRPr lang="it-IT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in val="0.17"/>
        </c:scaling>
        <c:delete val="0"/>
        <c:axPos val="b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2B2A26"/>
                </a:solidFill>
                <a:latin typeface="Calibri"/>
              </a:defRPr>
            </a:pPr>
            <a:endParaRPr lang="it-IT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424068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Good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morning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everyone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and welcome. Today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I'm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presenting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our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project on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sensory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captioning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of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Trentingrana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cheese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br>
              <a:rPr lang="it-IT" b="0" dirty="0">
                <a:effectLst/>
              </a:rPr>
            </a:br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starting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idea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was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to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automatically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generate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sensory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descriptions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in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Italian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from images of grana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cheese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cross-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sections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 </a:t>
            </a:r>
          </a:p>
          <a:p>
            <a:pPr rtl="0"/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other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words,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teach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model to "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describe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 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cheese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by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looking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slice of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br>
              <a:rPr lang="it-IT" b="0" dirty="0">
                <a:effectLst/>
              </a:rPr>
            </a:br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We'll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look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concrete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numbers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38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thousand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image-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caption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pairs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three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models,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seven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sensory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attributes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above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clear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scientific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result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about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what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truly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drives a model to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actually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use the image.</a:t>
            </a:r>
            <a:br>
              <a:rPr lang="it-IT" b="0" dirty="0">
                <a:effectLst/>
              </a:rPr>
            </a:br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Let's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start with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context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it-IT" b="0" dirty="0">
              <a:effectLst/>
            </a:endParaRPr>
          </a:p>
          <a:p>
            <a:br>
              <a:rPr lang="it-IT" dirty="0"/>
            </a:b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rtl="0"/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Let's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begin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with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real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problem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Grana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quality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certified by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tasting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panels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which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are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experts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who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smell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taste 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observe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each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wheel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describing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aroma,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flavor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structure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so on. </a:t>
            </a:r>
            <a:br>
              <a:rPr lang="it-IT" b="0" dirty="0">
                <a:effectLst/>
              </a:rPr>
            </a:br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approach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three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limits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slow,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subjective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two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panelists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describe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same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wheel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with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different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words, 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hard to scale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when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there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are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thousands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of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wheels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it-IT" b="0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project's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idea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to support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work with an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automatic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system.</a:t>
            </a:r>
          </a:p>
          <a:p>
            <a:pPr rtl="0"/>
            <a:endParaRPr lang="it-IT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rtl="0"/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feed the model an image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captured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with the IRIS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electronic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visual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analyzer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like the one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you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on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right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ask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to produce 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sensory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description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Italian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for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each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attribute</a:t>
            </a:r>
            <a:endParaRPr lang="it-IT" b="0" dirty="0">
              <a:effectLst/>
            </a:endParaRPr>
          </a:p>
          <a:p>
            <a:br>
              <a:rPr lang="it-IT" dirty="0"/>
            </a:b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rtl="0"/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These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are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seven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sensory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dimensions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panel rates for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each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wheel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paste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colour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texture, paste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structure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rind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thickness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smell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aroma and taste.</a:t>
            </a:r>
            <a:endParaRPr lang="it-IT" b="0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Please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keep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mind 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distinction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will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become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central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the second part. </a:t>
            </a:r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Three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attributes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paste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colour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texture and paste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structure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are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intrinsically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visual: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can be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read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from the image. </a:t>
            </a:r>
            <a:endParaRPr lang="it-IT" b="0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Smell, aroma and taste,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belong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to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olfaction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gustation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no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photograph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can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reveal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taste.</a:t>
            </a:r>
            <a:br>
              <a:rPr lang="it-IT" b="0" dirty="0">
                <a:effectLst/>
              </a:rPr>
            </a:br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there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instructive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case,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rind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thickness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physically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visible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yet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rind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occupies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small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portion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of the slice, 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we'll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model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struggles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to "weight"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it-IT" b="0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taxonomy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decorative: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when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measure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whether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model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truly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uses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image,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we’ll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find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succeeds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exactly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on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visible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attributes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fails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on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olfactory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gustatory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it-IT" b="0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sanity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check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validates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whole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approach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it-IT" b="0" dirty="0">
              <a:effectLst/>
            </a:endParaRPr>
          </a:p>
          <a:p>
            <a:br>
              <a:rPr lang="it-IT" dirty="0"/>
            </a:b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first step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text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-processing: take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tasters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descriptions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often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telegraphic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sometimes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dialect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occasionally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inconsistent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, and turn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them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into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clean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normalised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captions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the form of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Italian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sentences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 </a:t>
            </a:r>
            <a:endParaRPr lang="it-IT" b="1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specific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recurring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requirement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to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replace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quantitative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measures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rind's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millimetres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centimetres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with qualitative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descriptions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 </a:t>
            </a:r>
            <a:endParaRPr lang="it-IT" b="1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step,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you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accounts for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about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70% of the work: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most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original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part.</a:t>
            </a:r>
            <a:br>
              <a:rPr lang="it-IT" b="0" dirty="0">
                <a:effectLst/>
              </a:rPr>
            </a:br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second step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to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apply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compare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three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encoder-decoder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methods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are "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conceptually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different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possible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".</a:t>
            </a:r>
            <a:endParaRPr lang="it-IT" b="1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Consistently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with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these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weights,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I'll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devote the first 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larger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part of the talk to building the dataset, and the second to the models. </a:t>
            </a:r>
          </a:p>
          <a:p>
            <a:pPr rtl="0"/>
            <a:endParaRPr lang="it-IT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rtl="0"/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Let's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start with the data.</a:t>
            </a:r>
            <a:endParaRPr lang="it-IT" b="1" dirty="0">
              <a:effectLst/>
            </a:endParaRP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it-IT" dirty="0" err="1"/>
              <a:t>Let's</a:t>
            </a:r>
            <a:r>
              <a:rPr lang="it-IT" dirty="0"/>
              <a:t> start with Part One: building the dataset.</a:t>
            </a:r>
          </a:p>
          <a:p>
            <a:endParaRPr lang="it-IT" dirty="0"/>
          </a:p>
          <a:p>
            <a:r>
              <a:rPr lang="it-IT" dirty="0" err="1"/>
              <a:t>Here's</a:t>
            </a:r>
            <a:r>
              <a:rPr lang="it-IT" dirty="0"/>
              <a:t> the </a:t>
            </a:r>
            <a:r>
              <a:rPr lang="it-IT" dirty="0" err="1"/>
              <a:t>whole</a:t>
            </a:r>
            <a:r>
              <a:rPr lang="it-IT" dirty="0"/>
              <a:t> story in one line. </a:t>
            </a:r>
            <a:r>
              <a:rPr lang="it-IT" dirty="0" err="1"/>
              <a:t>We</a:t>
            </a:r>
            <a:r>
              <a:rPr lang="it-IT" dirty="0"/>
              <a:t> start with </a:t>
            </a:r>
            <a:r>
              <a:rPr lang="it-IT" dirty="0" err="1"/>
              <a:t>almost</a:t>
            </a:r>
            <a:r>
              <a:rPr lang="it-IT" dirty="0"/>
              <a:t> 52 </a:t>
            </a:r>
            <a:r>
              <a:rPr lang="it-IT" dirty="0" err="1"/>
              <a:t>thousand</a:t>
            </a:r>
            <a:r>
              <a:rPr lang="it-IT" dirty="0"/>
              <a:t> </a:t>
            </a:r>
            <a:r>
              <a:rPr lang="it-IT" dirty="0" err="1"/>
              <a:t>raw</a:t>
            </a:r>
            <a:r>
              <a:rPr lang="it-IT" dirty="0"/>
              <a:t>, </a:t>
            </a:r>
            <a:r>
              <a:rPr lang="it-IT" dirty="0" err="1"/>
              <a:t>messy</a:t>
            </a:r>
            <a:r>
              <a:rPr lang="it-IT" dirty="0"/>
              <a:t> </a:t>
            </a:r>
            <a:r>
              <a:rPr lang="it-IT" dirty="0" err="1"/>
              <a:t>rows</a:t>
            </a:r>
            <a:r>
              <a:rPr lang="it-IT" dirty="0"/>
              <a:t>. </a:t>
            </a:r>
            <a:r>
              <a:rPr lang="it-IT" dirty="0" err="1"/>
              <a:t>We</a:t>
            </a:r>
            <a:r>
              <a:rPr lang="it-IT" dirty="0"/>
              <a:t> end with 38 </a:t>
            </a:r>
            <a:r>
              <a:rPr lang="it-IT" dirty="0" err="1"/>
              <a:t>thousand</a:t>
            </a:r>
            <a:r>
              <a:rPr lang="it-IT" dirty="0"/>
              <a:t> </a:t>
            </a:r>
            <a:r>
              <a:rPr lang="it-IT" dirty="0" err="1"/>
              <a:t>clean</a:t>
            </a:r>
            <a:r>
              <a:rPr lang="it-IT" dirty="0"/>
              <a:t> image-</a:t>
            </a:r>
            <a:r>
              <a:rPr lang="it-IT" dirty="0" err="1"/>
              <a:t>caption</a:t>
            </a:r>
            <a:r>
              <a:rPr lang="it-IT" dirty="0"/>
              <a:t> </a:t>
            </a:r>
            <a:r>
              <a:rPr lang="it-IT" dirty="0" err="1"/>
              <a:t>pairs</a:t>
            </a:r>
            <a:r>
              <a:rPr lang="it-IT" dirty="0"/>
              <a:t>, </a:t>
            </a:r>
            <a:r>
              <a:rPr lang="it-IT" dirty="0" err="1"/>
              <a:t>written</a:t>
            </a:r>
            <a:r>
              <a:rPr lang="it-IT" dirty="0"/>
              <a:t> </a:t>
            </a:r>
            <a:r>
              <a:rPr lang="it-IT" dirty="0" err="1"/>
              <a:t>as</a:t>
            </a:r>
            <a:r>
              <a:rPr lang="it-IT" dirty="0"/>
              <a:t> </a:t>
            </a:r>
            <a:r>
              <a:rPr lang="it-IT" dirty="0" err="1"/>
              <a:t>real</a:t>
            </a:r>
            <a:r>
              <a:rPr lang="it-IT" dirty="0"/>
              <a:t> </a:t>
            </a:r>
            <a:r>
              <a:rPr lang="it-IT" dirty="0" err="1"/>
              <a:t>sentences</a:t>
            </a:r>
            <a:r>
              <a:rPr lang="it-IT" dirty="0"/>
              <a:t>.</a:t>
            </a:r>
          </a:p>
          <a:p>
            <a:endParaRPr lang="it-IT" b="1" dirty="0"/>
          </a:p>
          <a:p>
            <a:r>
              <a:rPr lang="it-IT" b="1" dirty="0"/>
              <a:t>Let me show </a:t>
            </a:r>
            <a:r>
              <a:rPr lang="it-IT" b="1" dirty="0" err="1"/>
              <a:t>you</a:t>
            </a:r>
            <a:r>
              <a:rPr lang="it-IT" b="1" dirty="0"/>
              <a:t> </a:t>
            </a:r>
            <a:r>
              <a:rPr lang="it-IT" b="1" dirty="0" err="1"/>
              <a:t>how</a:t>
            </a:r>
            <a:r>
              <a:rPr lang="it-IT" b="1" dirty="0"/>
              <a:t> </a:t>
            </a:r>
            <a:r>
              <a:rPr lang="it-IT" b="1" dirty="0" err="1"/>
              <a:t>we</a:t>
            </a:r>
            <a:r>
              <a:rPr lang="it-IT" b="1" dirty="0"/>
              <a:t> </a:t>
            </a:r>
            <a:r>
              <a:rPr lang="it-IT" b="1" dirty="0" err="1"/>
              <a:t>got</a:t>
            </a:r>
            <a:r>
              <a:rPr lang="it-IT" b="1" dirty="0"/>
              <a:t> </a:t>
            </a:r>
            <a:r>
              <a:rPr lang="it-IT" b="1" dirty="0" err="1"/>
              <a:t>there</a:t>
            </a:r>
            <a:r>
              <a:rPr lang="it-IT" b="1" dirty="0"/>
              <a:t>.</a:t>
            </a:r>
            <a:endParaRPr lang="it-IT" dirty="0"/>
          </a:p>
          <a:p>
            <a:br>
              <a:rPr lang="it-IT" dirty="0"/>
            </a:b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it-IT" dirty="0"/>
              <a:t>At first the data </a:t>
            </a:r>
            <a:r>
              <a:rPr lang="it-IT" dirty="0" err="1"/>
              <a:t>looked</a:t>
            </a:r>
            <a:r>
              <a:rPr lang="it-IT" dirty="0"/>
              <a:t> </a:t>
            </a:r>
            <a:r>
              <a:rPr lang="it-IT" dirty="0" err="1"/>
              <a:t>rich</a:t>
            </a:r>
            <a:r>
              <a:rPr lang="it-IT" dirty="0"/>
              <a:t>. </a:t>
            </a:r>
            <a:r>
              <a:rPr lang="it-IT" dirty="0" err="1"/>
              <a:t>We</a:t>
            </a:r>
            <a:r>
              <a:rPr lang="it-IT" dirty="0"/>
              <a:t> </a:t>
            </a:r>
            <a:r>
              <a:rPr lang="it-IT" dirty="0" err="1"/>
              <a:t>had</a:t>
            </a:r>
            <a:r>
              <a:rPr lang="it-IT" dirty="0"/>
              <a:t> </a:t>
            </a:r>
            <a:r>
              <a:rPr lang="it-IT" dirty="0" err="1"/>
              <a:t>almost</a:t>
            </a:r>
            <a:r>
              <a:rPr lang="it-IT" dirty="0"/>
              <a:t> 2,750 </a:t>
            </a:r>
            <a:r>
              <a:rPr lang="it-IT" dirty="0" err="1"/>
              <a:t>photos</a:t>
            </a:r>
            <a:r>
              <a:rPr lang="it-IT" dirty="0"/>
              <a:t> of </a:t>
            </a:r>
            <a:r>
              <a:rPr lang="it-IT" dirty="0" err="1"/>
              <a:t>cheese</a:t>
            </a:r>
            <a:r>
              <a:rPr lang="it-IT" dirty="0"/>
              <a:t> </a:t>
            </a:r>
            <a:r>
              <a:rPr lang="it-IT" dirty="0" err="1"/>
              <a:t>sections</a:t>
            </a:r>
            <a:r>
              <a:rPr lang="it-IT" dirty="0"/>
              <a:t>, in </a:t>
            </a:r>
            <a:r>
              <a:rPr lang="it-IT" dirty="0" err="1"/>
              <a:t>two</a:t>
            </a:r>
            <a:r>
              <a:rPr lang="it-IT" dirty="0"/>
              <a:t> </a:t>
            </a:r>
            <a:r>
              <a:rPr lang="it-IT" dirty="0" err="1"/>
              <a:t>views</a:t>
            </a:r>
            <a:r>
              <a:rPr lang="it-IT" dirty="0"/>
              <a:t>: the full slice, and a close-up of the grain. </a:t>
            </a:r>
          </a:p>
          <a:p>
            <a:endParaRPr lang="it-IT" dirty="0"/>
          </a:p>
          <a:p>
            <a:r>
              <a:rPr lang="it-IT" dirty="0" err="1"/>
              <a:t>We</a:t>
            </a:r>
            <a:r>
              <a:rPr lang="it-IT" dirty="0"/>
              <a:t> </a:t>
            </a:r>
            <a:r>
              <a:rPr lang="it-IT" dirty="0" err="1"/>
              <a:t>had</a:t>
            </a:r>
            <a:r>
              <a:rPr lang="it-IT" dirty="0"/>
              <a:t> </a:t>
            </a:r>
            <a:r>
              <a:rPr lang="it-IT" dirty="0" err="1"/>
              <a:t>four</a:t>
            </a:r>
            <a:r>
              <a:rPr lang="it-IT" dirty="0"/>
              <a:t> Excel files, one per </a:t>
            </a:r>
            <a:r>
              <a:rPr lang="it-IT" dirty="0" err="1"/>
              <a:t>year</a:t>
            </a:r>
            <a:r>
              <a:rPr lang="it-IT" dirty="0"/>
              <a:t>, from 2018 to 2021. </a:t>
            </a:r>
          </a:p>
          <a:p>
            <a:endParaRPr lang="it-IT" dirty="0"/>
          </a:p>
          <a:p>
            <a:r>
              <a:rPr lang="it-IT" dirty="0"/>
              <a:t>And </a:t>
            </a:r>
            <a:r>
              <a:rPr lang="it-IT" dirty="0" err="1"/>
              <a:t>we</a:t>
            </a:r>
            <a:r>
              <a:rPr lang="it-IT" dirty="0"/>
              <a:t> </a:t>
            </a:r>
            <a:r>
              <a:rPr lang="it-IT" dirty="0" err="1"/>
              <a:t>had</a:t>
            </a:r>
            <a:r>
              <a:rPr lang="it-IT" dirty="0"/>
              <a:t> a </a:t>
            </a:r>
            <a:r>
              <a:rPr lang="it-IT" dirty="0" err="1"/>
              <a:t>codebook</a:t>
            </a:r>
            <a:r>
              <a:rPr lang="it-IT" dirty="0"/>
              <a:t> for the </a:t>
            </a:r>
            <a:r>
              <a:rPr lang="it-IT" dirty="0" err="1"/>
              <a:t>sixteen</a:t>
            </a:r>
            <a:r>
              <a:rPr lang="it-IT" dirty="0"/>
              <a:t> </a:t>
            </a:r>
            <a:r>
              <a:rPr lang="it-IT" dirty="0" err="1"/>
              <a:t>dairies</a:t>
            </a:r>
            <a:r>
              <a:rPr lang="it-IT" dirty="0"/>
              <a:t>.</a:t>
            </a:r>
          </a:p>
          <a:p>
            <a:endParaRPr lang="it-IT" dirty="0"/>
          </a:p>
          <a:p>
            <a:r>
              <a:rPr lang="it-IT" dirty="0"/>
              <a:t>So the </a:t>
            </a:r>
            <a:r>
              <a:rPr lang="it-IT" dirty="0" err="1"/>
              <a:t>problem</a:t>
            </a:r>
            <a:r>
              <a:rPr lang="it-IT" dirty="0"/>
              <a:t> </a:t>
            </a:r>
            <a:r>
              <a:rPr lang="it-IT" dirty="0" err="1"/>
              <a:t>was</a:t>
            </a:r>
            <a:r>
              <a:rPr lang="it-IT" dirty="0"/>
              <a:t> </a:t>
            </a:r>
            <a:r>
              <a:rPr lang="it-IT" dirty="0" err="1"/>
              <a:t>not</a:t>
            </a:r>
            <a:r>
              <a:rPr lang="it-IT" dirty="0"/>
              <a:t> </a:t>
            </a:r>
            <a:r>
              <a:rPr lang="it-IT" dirty="0" err="1"/>
              <a:t>how</a:t>
            </a:r>
            <a:r>
              <a:rPr lang="it-IT" dirty="0"/>
              <a:t> </a:t>
            </a:r>
            <a:r>
              <a:rPr lang="it-IT" dirty="0" err="1"/>
              <a:t>much</a:t>
            </a:r>
            <a:r>
              <a:rPr lang="it-IT" dirty="0"/>
              <a:t> data </a:t>
            </a:r>
            <a:r>
              <a:rPr lang="it-IT" dirty="0" err="1"/>
              <a:t>we</a:t>
            </a:r>
            <a:r>
              <a:rPr lang="it-IT" dirty="0"/>
              <a:t> </a:t>
            </a:r>
            <a:r>
              <a:rPr lang="it-IT" dirty="0" err="1"/>
              <a:t>had</a:t>
            </a:r>
            <a:r>
              <a:rPr lang="it-IT" dirty="0"/>
              <a:t>. The </a:t>
            </a:r>
            <a:r>
              <a:rPr lang="it-IT" dirty="0" err="1"/>
              <a:t>problem</a:t>
            </a:r>
            <a:r>
              <a:rPr lang="it-IT" dirty="0"/>
              <a:t> </a:t>
            </a:r>
            <a:r>
              <a:rPr lang="it-IT" dirty="0" err="1"/>
              <a:t>was</a:t>
            </a:r>
            <a:r>
              <a:rPr lang="it-IT" dirty="0"/>
              <a:t> </a:t>
            </a:r>
            <a:r>
              <a:rPr lang="it-IT" dirty="0" err="1"/>
              <a:t>alignment</a:t>
            </a:r>
            <a:r>
              <a:rPr lang="it-IT" dirty="0"/>
              <a:t>.</a:t>
            </a:r>
          </a:p>
          <a:p>
            <a:endParaRPr lang="it-IT" dirty="0"/>
          </a:p>
          <a:p>
            <a:r>
              <a:rPr lang="it-IT" dirty="0"/>
              <a:t>The images and the </a:t>
            </a:r>
            <a:r>
              <a:rPr lang="it-IT" dirty="0" err="1"/>
              <a:t>comments</a:t>
            </a:r>
            <a:r>
              <a:rPr lang="it-IT" dirty="0"/>
              <a:t> </a:t>
            </a:r>
            <a:r>
              <a:rPr lang="it-IT" dirty="0" err="1"/>
              <a:t>spoke</a:t>
            </a:r>
            <a:r>
              <a:rPr lang="it-IT" dirty="0"/>
              <a:t> </a:t>
            </a:r>
            <a:r>
              <a:rPr lang="it-IT" dirty="0" err="1"/>
              <a:t>different</a:t>
            </a:r>
            <a:r>
              <a:rPr lang="it-IT" dirty="0"/>
              <a:t> </a:t>
            </a:r>
            <a:r>
              <a:rPr lang="it-IT" dirty="0" err="1"/>
              <a:t>languages</a:t>
            </a:r>
            <a:r>
              <a:rPr lang="it-IT" dirty="0"/>
              <a:t>. The photo </a:t>
            </a:r>
            <a:r>
              <a:rPr lang="it-IT" dirty="0" err="1"/>
              <a:t>filename</a:t>
            </a:r>
            <a:r>
              <a:rPr lang="it-IT" dirty="0"/>
              <a:t> points to one single </a:t>
            </a:r>
            <a:r>
              <a:rPr lang="it-IT" dirty="0" err="1"/>
              <a:t>wheel</a:t>
            </a:r>
            <a:r>
              <a:rPr lang="it-IT" dirty="0"/>
              <a:t>. The </a:t>
            </a:r>
            <a:r>
              <a:rPr lang="it-IT" dirty="0" err="1"/>
              <a:t>taster's</a:t>
            </a:r>
            <a:r>
              <a:rPr lang="it-IT" dirty="0"/>
              <a:t> </a:t>
            </a:r>
            <a:r>
              <a:rPr lang="it-IT" dirty="0" err="1"/>
              <a:t>comment</a:t>
            </a:r>
            <a:r>
              <a:rPr lang="it-IT" dirty="0"/>
              <a:t> points </a:t>
            </a:r>
            <a:r>
              <a:rPr lang="it-IT" dirty="0" err="1"/>
              <a:t>only</a:t>
            </a:r>
            <a:r>
              <a:rPr lang="it-IT" dirty="0"/>
              <a:t> to the </a:t>
            </a:r>
            <a:r>
              <a:rPr lang="it-IT" dirty="0" err="1"/>
              <a:t>tray</a:t>
            </a:r>
            <a:r>
              <a:rPr lang="it-IT" dirty="0"/>
              <a:t>. So </a:t>
            </a:r>
            <a:r>
              <a:rPr lang="it-IT" dirty="0" err="1"/>
              <a:t>we</a:t>
            </a:r>
            <a:r>
              <a:rPr lang="it-IT" dirty="0"/>
              <a:t> </a:t>
            </a:r>
            <a:r>
              <a:rPr lang="it-IT" dirty="0" err="1"/>
              <a:t>could</a:t>
            </a:r>
            <a:r>
              <a:rPr lang="it-IT" dirty="0"/>
              <a:t> </a:t>
            </a:r>
            <a:r>
              <a:rPr lang="it-IT" dirty="0" err="1"/>
              <a:t>not</a:t>
            </a:r>
            <a:r>
              <a:rPr lang="it-IT" dirty="0"/>
              <a:t> match a photo to </a:t>
            </a:r>
            <a:r>
              <a:rPr lang="it-IT" dirty="0" err="1"/>
              <a:t>its</a:t>
            </a:r>
            <a:r>
              <a:rPr lang="it-IT" dirty="0"/>
              <a:t> </a:t>
            </a:r>
            <a:r>
              <a:rPr lang="it-IT" dirty="0" err="1"/>
              <a:t>comment</a:t>
            </a:r>
            <a:r>
              <a:rPr lang="it-IT" dirty="0"/>
              <a:t> </a:t>
            </a:r>
            <a:r>
              <a:rPr lang="it-IT" dirty="0" err="1"/>
              <a:t>row</a:t>
            </a:r>
            <a:r>
              <a:rPr lang="it-IT" dirty="0"/>
              <a:t> by </a:t>
            </a:r>
            <a:r>
              <a:rPr lang="it-IT" dirty="0" err="1"/>
              <a:t>row</a:t>
            </a:r>
            <a:r>
              <a:rPr lang="it-IT" dirty="0"/>
              <a:t>. </a:t>
            </a:r>
            <a:r>
              <a:rPr lang="it-IT" dirty="0" err="1"/>
              <a:t>We</a:t>
            </a:r>
            <a:r>
              <a:rPr lang="it-IT" dirty="0"/>
              <a:t> </a:t>
            </a:r>
            <a:r>
              <a:rPr lang="it-IT" dirty="0" err="1"/>
              <a:t>could</a:t>
            </a:r>
            <a:r>
              <a:rPr lang="it-IT" dirty="0"/>
              <a:t> </a:t>
            </a:r>
            <a:r>
              <a:rPr lang="it-IT" dirty="0" err="1"/>
              <a:t>only</a:t>
            </a:r>
            <a:r>
              <a:rPr lang="it-IT" dirty="0"/>
              <a:t> match </a:t>
            </a:r>
            <a:r>
              <a:rPr lang="it-IT" dirty="0" err="1"/>
              <a:t>them</a:t>
            </a:r>
            <a:r>
              <a:rPr lang="it-IT" dirty="0"/>
              <a:t> </a:t>
            </a:r>
            <a:r>
              <a:rPr lang="it-IT" dirty="0" err="1"/>
              <a:t>at</a:t>
            </a:r>
            <a:r>
              <a:rPr lang="it-IT" dirty="0"/>
              <a:t> the </a:t>
            </a:r>
            <a:r>
              <a:rPr lang="it-IT" dirty="0" err="1"/>
              <a:t>dairy</a:t>
            </a:r>
            <a:r>
              <a:rPr lang="it-IT" dirty="0"/>
              <a:t> </a:t>
            </a:r>
            <a:r>
              <a:rPr lang="it-IT" dirty="0" err="1"/>
              <a:t>level</a:t>
            </a:r>
            <a:r>
              <a:rPr lang="it-IT" dirty="0"/>
              <a:t>, </a:t>
            </a:r>
            <a:r>
              <a:rPr lang="it-IT" dirty="0" err="1"/>
              <a:t>through</a:t>
            </a:r>
            <a:r>
              <a:rPr lang="it-IT" dirty="0"/>
              <a:t> the </a:t>
            </a:r>
            <a:r>
              <a:rPr lang="it-IT" dirty="0" err="1"/>
              <a:t>codebook</a:t>
            </a:r>
            <a:r>
              <a:rPr lang="it-IT" dirty="0"/>
              <a:t>.</a:t>
            </a:r>
          </a:p>
          <a:p>
            <a:endParaRPr lang="it-IT" dirty="0"/>
          </a:p>
          <a:p>
            <a:r>
              <a:rPr lang="it-IT" dirty="0"/>
              <a:t>And on top of </a:t>
            </a:r>
            <a:r>
              <a:rPr lang="it-IT" dirty="0" err="1"/>
              <a:t>that</a:t>
            </a:r>
            <a:r>
              <a:rPr lang="it-IT" dirty="0"/>
              <a:t>, </a:t>
            </a:r>
            <a:r>
              <a:rPr lang="it-IT" dirty="0" err="1"/>
              <a:t>three</a:t>
            </a:r>
            <a:r>
              <a:rPr lang="it-IT" dirty="0"/>
              <a:t> small </a:t>
            </a:r>
            <a:r>
              <a:rPr lang="it-IT" dirty="0" err="1"/>
              <a:t>headaches</a:t>
            </a:r>
            <a:r>
              <a:rPr lang="it-IT" dirty="0"/>
              <a:t>. The </a:t>
            </a:r>
            <a:r>
              <a:rPr lang="it-IT" dirty="0" err="1"/>
              <a:t>same</a:t>
            </a:r>
            <a:r>
              <a:rPr lang="it-IT" dirty="0"/>
              <a:t> </a:t>
            </a:r>
            <a:r>
              <a:rPr lang="it-IT" dirty="0" err="1"/>
              <a:t>dairy</a:t>
            </a:r>
            <a:r>
              <a:rPr lang="it-IT" dirty="0"/>
              <a:t> </a:t>
            </a:r>
            <a:r>
              <a:rPr lang="it-IT" dirty="0" err="1"/>
              <a:t>is</a:t>
            </a:r>
            <a:r>
              <a:rPr lang="it-IT" dirty="0"/>
              <a:t> </a:t>
            </a:r>
            <a:r>
              <a:rPr lang="it-IT" dirty="0" err="1"/>
              <a:t>written</a:t>
            </a:r>
            <a:r>
              <a:rPr lang="it-IT" dirty="0"/>
              <a:t> </a:t>
            </a:r>
            <a:r>
              <a:rPr lang="it-IT" dirty="0" err="1"/>
              <a:t>three</a:t>
            </a:r>
            <a:r>
              <a:rPr lang="it-IT" dirty="0"/>
              <a:t> </a:t>
            </a:r>
            <a:r>
              <a:rPr lang="it-IT" dirty="0" err="1"/>
              <a:t>different</a:t>
            </a:r>
            <a:r>
              <a:rPr lang="it-IT" dirty="0"/>
              <a:t> ways. The Excel </a:t>
            </a:r>
            <a:r>
              <a:rPr lang="it-IT" dirty="0" err="1"/>
              <a:t>headers</a:t>
            </a:r>
            <a:r>
              <a:rPr lang="it-IT" dirty="0"/>
              <a:t> </a:t>
            </a:r>
            <a:r>
              <a:rPr lang="it-IT" dirty="0" err="1"/>
              <a:t>change</a:t>
            </a:r>
            <a:r>
              <a:rPr lang="it-IT" dirty="0"/>
              <a:t> </a:t>
            </a:r>
            <a:r>
              <a:rPr lang="it-IT" dirty="0" err="1"/>
              <a:t>every</a:t>
            </a:r>
            <a:r>
              <a:rPr lang="it-IT" dirty="0"/>
              <a:t> </a:t>
            </a:r>
            <a:r>
              <a:rPr lang="it-IT" dirty="0" err="1"/>
              <a:t>year</a:t>
            </a:r>
            <a:r>
              <a:rPr lang="it-IT" dirty="0"/>
              <a:t>. And the </a:t>
            </a:r>
            <a:r>
              <a:rPr lang="it-IT" dirty="0" err="1"/>
              <a:t>numbers</a:t>
            </a:r>
            <a:r>
              <a:rPr lang="it-IT" dirty="0"/>
              <a:t> use the </a:t>
            </a:r>
            <a:r>
              <a:rPr lang="it-IT" dirty="0" err="1"/>
              <a:t>Italian</a:t>
            </a:r>
            <a:r>
              <a:rPr lang="it-IT" dirty="0"/>
              <a:t> comma </a:t>
            </a:r>
            <a:r>
              <a:rPr lang="it-IT" dirty="0" err="1"/>
              <a:t>instead</a:t>
            </a:r>
            <a:r>
              <a:rPr lang="it-IT" dirty="0"/>
              <a:t> of the dot.</a:t>
            </a:r>
          </a:p>
          <a:p>
            <a:endParaRPr lang="it-IT" dirty="0"/>
          </a:p>
          <a:p>
            <a:r>
              <a:rPr lang="it-IT" dirty="0"/>
              <a:t>One good </a:t>
            </a:r>
            <a:r>
              <a:rPr lang="it-IT" dirty="0" err="1"/>
              <a:t>thing</a:t>
            </a:r>
            <a:r>
              <a:rPr lang="it-IT" dirty="0"/>
              <a:t>: </a:t>
            </a:r>
            <a:r>
              <a:rPr lang="it-IT" dirty="0" err="1"/>
              <a:t>we</a:t>
            </a:r>
            <a:r>
              <a:rPr lang="it-IT" dirty="0"/>
              <a:t> </a:t>
            </a:r>
            <a:r>
              <a:rPr lang="it-IT" dirty="0" err="1"/>
              <a:t>carry</a:t>
            </a:r>
            <a:r>
              <a:rPr lang="it-IT" dirty="0"/>
              <a:t> </a:t>
            </a:r>
            <a:r>
              <a:rPr lang="it-IT" dirty="0" err="1"/>
              <a:t>every</a:t>
            </a:r>
            <a:r>
              <a:rPr lang="it-IT" dirty="0"/>
              <a:t> </a:t>
            </a:r>
            <a:r>
              <a:rPr lang="it-IT" dirty="0" err="1"/>
              <a:t>detail</a:t>
            </a:r>
            <a:r>
              <a:rPr lang="it-IT" dirty="0"/>
              <a:t> </a:t>
            </a:r>
            <a:r>
              <a:rPr lang="it-IT" dirty="0" err="1"/>
              <a:t>about</a:t>
            </a:r>
            <a:r>
              <a:rPr lang="it-IT" dirty="0"/>
              <a:t> </a:t>
            </a:r>
            <a:r>
              <a:rPr lang="it-IT" dirty="0" err="1"/>
              <a:t>where</a:t>
            </a:r>
            <a:r>
              <a:rPr lang="it-IT" dirty="0"/>
              <a:t> </a:t>
            </a:r>
            <a:r>
              <a:rPr lang="it-IT" dirty="0" err="1"/>
              <a:t>each</a:t>
            </a:r>
            <a:r>
              <a:rPr lang="it-IT" dirty="0"/>
              <a:t> </a:t>
            </a:r>
            <a:r>
              <a:rPr lang="it-IT" dirty="0" err="1"/>
              <a:t>row</a:t>
            </a:r>
            <a:r>
              <a:rPr lang="it-IT" dirty="0"/>
              <a:t> </a:t>
            </a:r>
            <a:r>
              <a:rPr lang="it-IT" dirty="0" err="1"/>
              <a:t>comes</a:t>
            </a:r>
            <a:r>
              <a:rPr lang="it-IT" dirty="0"/>
              <a:t> from. So </a:t>
            </a:r>
            <a:r>
              <a:rPr lang="it-IT" dirty="0" err="1"/>
              <a:t>every</a:t>
            </a:r>
            <a:r>
              <a:rPr lang="it-IT" dirty="0"/>
              <a:t> </a:t>
            </a:r>
            <a:r>
              <a:rPr lang="it-IT" dirty="0" err="1"/>
              <a:t>final</a:t>
            </a:r>
            <a:r>
              <a:rPr lang="it-IT" dirty="0"/>
              <a:t> </a:t>
            </a:r>
            <a:r>
              <a:rPr lang="it-IT" dirty="0" err="1"/>
              <a:t>row</a:t>
            </a:r>
            <a:r>
              <a:rPr lang="it-IT" dirty="0"/>
              <a:t> can be </a:t>
            </a:r>
            <a:r>
              <a:rPr lang="it-IT" dirty="0" err="1"/>
              <a:t>traced</a:t>
            </a:r>
            <a:r>
              <a:rPr lang="it-IT" dirty="0"/>
              <a:t> back to the </a:t>
            </a:r>
            <a:r>
              <a:rPr lang="it-IT" dirty="0" err="1"/>
              <a:t>original</a:t>
            </a:r>
            <a:r>
              <a:rPr lang="it-IT" dirty="0"/>
              <a:t> </a:t>
            </a:r>
            <a:r>
              <a:rPr lang="it-IT" dirty="0" err="1"/>
              <a:t>comment</a:t>
            </a:r>
            <a:r>
              <a:rPr lang="it-IT" dirty="0"/>
              <a:t>.</a:t>
            </a:r>
          </a:p>
          <a:p>
            <a:pPr rtl="0"/>
            <a:endParaRPr lang="it-IT" b="0" dirty="0">
              <a:effectLst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it-IT" dirty="0"/>
              <a:t>So </a:t>
            </a:r>
            <a:r>
              <a:rPr lang="it-IT" dirty="0" err="1"/>
              <a:t>how</a:t>
            </a:r>
            <a:r>
              <a:rPr lang="it-IT" dirty="0"/>
              <a:t> do </a:t>
            </a:r>
            <a:r>
              <a:rPr lang="it-IT" dirty="0" err="1"/>
              <a:t>we</a:t>
            </a:r>
            <a:r>
              <a:rPr lang="it-IT" dirty="0"/>
              <a:t> fix the </a:t>
            </a:r>
            <a:r>
              <a:rPr lang="it-IT" dirty="0" err="1"/>
              <a:t>missing</a:t>
            </a:r>
            <a:r>
              <a:rPr lang="it-IT" dirty="0"/>
              <a:t> link </a:t>
            </a:r>
            <a:r>
              <a:rPr lang="it-IT" dirty="0" err="1"/>
              <a:t>between</a:t>
            </a:r>
            <a:r>
              <a:rPr lang="it-IT" dirty="0"/>
              <a:t> photo and </a:t>
            </a:r>
            <a:r>
              <a:rPr lang="it-IT" dirty="0" err="1"/>
              <a:t>comment</a:t>
            </a:r>
            <a:r>
              <a:rPr lang="it-IT" dirty="0"/>
              <a:t>?</a:t>
            </a:r>
          </a:p>
          <a:p>
            <a:endParaRPr lang="it-IT" dirty="0"/>
          </a:p>
          <a:p>
            <a:r>
              <a:rPr lang="it-IT" dirty="0" err="1"/>
              <a:t>We</a:t>
            </a:r>
            <a:r>
              <a:rPr lang="it-IT" dirty="0"/>
              <a:t> use </a:t>
            </a:r>
            <a:r>
              <a:rPr lang="it-IT" dirty="0" err="1"/>
              <a:t>something</a:t>
            </a:r>
            <a:r>
              <a:rPr lang="it-IT" dirty="0"/>
              <a:t> </a:t>
            </a:r>
            <a:r>
              <a:rPr lang="it-IT" dirty="0" err="1"/>
              <a:t>we</a:t>
            </a:r>
            <a:r>
              <a:rPr lang="it-IT" dirty="0"/>
              <a:t> call a </a:t>
            </a:r>
            <a:r>
              <a:rPr lang="it-IT" dirty="0" err="1"/>
              <a:t>dairy-level</a:t>
            </a:r>
            <a:r>
              <a:rPr lang="it-IT" dirty="0"/>
              <a:t> broadcast. The idea </a:t>
            </a:r>
            <a:r>
              <a:rPr lang="it-IT" dirty="0" err="1"/>
              <a:t>is</a:t>
            </a:r>
            <a:r>
              <a:rPr lang="it-IT" dirty="0"/>
              <a:t> </a:t>
            </a:r>
            <a:r>
              <a:rPr lang="it-IT" dirty="0" err="1"/>
              <a:t>simple</a:t>
            </a:r>
            <a:r>
              <a:rPr lang="it-IT" dirty="0"/>
              <a:t>. </a:t>
            </a:r>
            <a:r>
              <a:rPr lang="it-IT" dirty="0" err="1"/>
              <a:t>We</a:t>
            </a:r>
            <a:r>
              <a:rPr lang="it-IT" dirty="0"/>
              <a:t> take </a:t>
            </a:r>
            <a:r>
              <a:rPr lang="it-IT" dirty="0" err="1"/>
              <a:t>each</a:t>
            </a:r>
            <a:r>
              <a:rPr lang="it-IT" dirty="0"/>
              <a:t> </a:t>
            </a:r>
            <a:r>
              <a:rPr lang="it-IT" dirty="0" err="1"/>
              <a:t>taster's</a:t>
            </a:r>
            <a:r>
              <a:rPr lang="it-IT" dirty="0"/>
              <a:t> </a:t>
            </a:r>
            <a:r>
              <a:rPr lang="it-IT" dirty="0" err="1"/>
              <a:t>comment</a:t>
            </a:r>
            <a:r>
              <a:rPr lang="it-IT" dirty="0"/>
              <a:t>, and </a:t>
            </a:r>
            <a:r>
              <a:rPr lang="it-IT" dirty="0" err="1"/>
              <a:t>we</a:t>
            </a:r>
            <a:r>
              <a:rPr lang="it-IT" dirty="0"/>
              <a:t> copy </a:t>
            </a:r>
            <a:r>
              <a:rPr lang="it-IT" dirty="0" err="1"/>
              <a:t>it</a:t>
            </a:r>
            <a:r>
              <a:rPr lang="it-IT" dirty="0"/>
              <a:t> </a:t>
            </a:r>
            <a:r>
              <a:rPr lang="it-IT" dirty="0" err="1"/>
              <a:t>onto</a:t>
            </a:r>
            <a:r>
              <a:rPr lang="it-IT" dirty="0"/>
              <a:t> </a:t>
            </a:r>
            <a:r>
              <a:rPr lang="it-IT" dirty="0" err="1"/>
              <a:t>every</a:t>
            </a:r>
            <a:r>
              <a:rPr lang="it-IT" dirty="0"/>
              <a:t> matching image from </a:t>
            </a:r>
            <a:r>
              <a:rPr lang="it-IT" dirty="0" err="1"/>
              <a:t>that</a:t>
            </a:r>
            <a:r>
              <a:rPr lang="it-IT" dirty="0"/>
              <a:t> </a:t>
            </a:r>
            <a:r>
              <a:rPr lang="it-IT" dirty="0" err="1"/>
              <a:t>dairy</a:t>
            </a:r>
            <a:r>
              <a:rPr lang="it-IT" dirty="0"/>
              <a:t>, in </a:t>
            </a:r>
            <a:r>
              <a:rPr lang="it-IT" dirty="0" err="1"/>
              <a:t>that</a:t>
            </a:r>
            <a:r>
              <a:rPr lang="it-IT" dirty="0"/>
              <a:t> session.</a:t>
            </a:r>
          </a:p>
          <a:p>
            <a:endParaRPr lang="it-IT" dirty="0"/>
          </a:p>
          <a:p>
            <a:r>
              <a:rPr lang="it-IT" dirty="0"/>
              <a:t>Look </a:t>
            </a:r>
            <a:r>
              <a:rPr lang="it-IT" dirty="0" err="1"/>
              <a:t>at</a:t>
            </a:r>
            <a:r>
              <a:rPr lang="it-IT" dirty="0"/>
              <a:t> the </a:t>
            </a:r>
            <a:r>
              <a:rPr lang="it-IT" dirty="0" err="1"/>
              <a:t>example</a:t>
            </a:r>
            <a:r>
              <a:rPr lang="it-IT" dirty="0"/>
              <a:t>. One </a:t>
            </a:r>
            <a:r>
              <a:rPr lang="it-IT" dirty="0" err="1"/>
              <a:t>comment</a:t>
            </a:r>
            <a:r>
              <a:rPr lang="it-IT" dirty="0"/>
              <a:t> </a:t>
            </a:r>
            <a:r>
              <a:rPr lang="it-IT" dirty="0" err="1"/>
              <a:t>about</a:t>
            </a:r>
            <a:r>
              <a:rPr lang="it-IT" dirty="0"/>
              <a:t> </a:t>
            </a:r>
            <a:r>
              <a:rPr lang="it-IT" dirty="0" err="1"/>
              <a:t>smell</a:t>
            </a:r>
            <a:r>
              <a:rPr lang="it-IT" dirty="0"/>
              <a:t>, the word "</a:t>
            </a:r>
            <a:r>
              <a:rPr lang="it-IT" dirty="0" err="1"/>
              <a:t>Sauerkraut</a:t>
            </a:r>
            <a:r>
              <a:rPr lang="it-IT" dirty="0"/>
              <a:t>", for </a:t>
            </a:r>
            <a:r>
              <a:rPr lang="it-IT" dirty="0" err="1"/>
              <a:t>dairy</a:t>
            </a:r>
            <a:r>
              <a:rPr lang="it-IT" dirty="0"/>
              <a:t> TN_306. </a:t>
            </a:r>
            <a:r>
              <a:rPr lang="it-IT" dirty="0" err="1"/>
              <a:t>It</a:t>
            </a:r>
            <a:r>
              <a:rPr lang="it-IT" dirty="0"/>
              <a:t> </a:t>
            </a:r>
            <a:r>
              <a:rPr lang="it-IT" dirty="0" err="1"/>
              <a:t>becomes</a:t>
            </a:r>
            <a:r>
              <a:rPr lang="it-IT" dirty="0"/>
              <a:t> the </a:t>
            </a:r>
            <a:r>
              <a:rPr lang="it-IT" dirty="0" err="1"/>
              <a:t>caption</a:t>
            </a:r>
            <a:r>
              <a:rPr lang="it-IT" dirty="0"/>
              <a:t> for </a:t>
            </a:r>
            <a:r>
              <a:rPr lang="it-IT" dirty="0" err="1"/>
              <a:t>four</a:t>
            </a:r>
            <a:r>
              <a:rPr lang="it-IT" dirty="0"/>
              <a:t> </a:t>
            </a:r>
            <a:r>
              <a:rPr lang="it-IT" dirty="0" err="1"/>
              <a:t>different</a:t>
            </a:r>
            <a:r>
              <a:rPr lang="it-IT" dirty="0"/>
              <a:t> images: replica a and replica b, </a:t>
            </a:r>
            <a:r>
              <a:rPr lang="it-IT" dirty="0" err="1"/>
              <a:t>each</a:t>
            </a:r>
            <a:r>
              <a:rPr lang="it-IT" dirty="0"/>
              <a:t> in </a:t>
            </a:r>
            <a:r>
              <a:rPr lang="it-IT" dirty="0" err="1"/>
              <a:t>two</a:t>
            </a:r>
            <a:r>
              <a:rPr lang="it-IT" dirty="0"/>
              <a:t> </a:t>
            </a:r>
            <a:r>
              <a:rPr lang="it-IT" dirty="0" err="1"/>
              <a:t>views</a:t>
            </a:r>
            <a:r>
              <a:rPr lang="it-IT" dirty="0"/>
              <a:t>, slice and grain.</a:t>
            </a:r>
          </a:p>
          <a:p>
            <a:endParaRPr lang="it-IT" dirty="0"/>
          </a:p>
          <a:p>
            <a:r>
              <a:rPr lang="it-IT" dirty="0"/>
              <a:t>So one </a:t>
            </a:r>
            <a:r>
              <a:rPr lang="it-IT" dirty="0" err="1"/>
              <a:t>comment</a:t>
            </a:r>
            <a:r>
              <a:rPr lang="it-IT" dirty="0"/>
              <a:t> </a:t>
            </a:r>
            <a:r>
              <a:rPr lang="it-IT" dirty="0" err="1"/>
              <a:t>gives</a:t>
            </a:r>
            <a:r>
              <a:rPr lang="it-IT" dirty="0"/>
              <a:t> </a:t>
            </a:r>
            <a:r>
              <a:rPr lang="it-IT" dirty="0" err="1"/>
              <a:t>us</a:t>
            </a:r>
            <a:r>
              <a:rPr lang="it-IT" dirty="0"/>
              <a:t> up to </a:t>
            </a:r>
            <a:r>
              <a:rPr lang="it-IT" dirty="0" err="1"/>
              <a:t>four</a:t>
            </a:r>
            <a:r>
              <a:rPr lang="it-IT" dirty="0"/>
              <a:t> image-</a:t>
            </a:r>
            <a:r>
              <a:rPr lang="it-IT" dirty="0" err="1"/>
              <a:t>caption</a:t>
            </a:r>
            <a:r>
              <a:rPr lang="it-IT" dirty="0"/>
              <a:t> </a:t>
            </a:r>
            <a:r>
              <a:rPr lang="it-IT" dirty="0" err="1"/>
              <a:t>rows</a:t>
            </a:r>
            <a:r>
              <a:rPr lang="it-IT" dirty="0"/>
              <a:t>. </a:t>
            </a:r>
          </a:p>
          <a:p>
            <a:endParaRPr lang="it-IT" dirty="0"/>
          </a:p>
          <a:p>
            <a:r>
              <a:rPr lang="it-IT" dirty="0"/>
              <a:t>In </a:t>
            </a:r>
            <a:r>
              <a:rPr lang="it-IT" dirty="0" err="1"/>
              <a:t>total</a:t>
            </a:r>
            <a:r>
              <a:rPr lang="it-IT" dirty="0"/>
              <a:t> </a:t>
            </a:r>
            <a:r>
              <a:rPr lang="it-IT" dirty="0" err="1"/>
              <a:t>this</a:t>
            </a:r>
            <a:r>
              <a:rPr lang="it-IT" dirty="0"/>
              <a:t> </a:t>
            </a:r>
            <a:r>
              <a:rPr lang="it-IT" dirty="0" err="1"/>
              <a:t>gives</a:t>
            </a:r>
            <a:r>
              <a:rPr lang="it-IT" dirty="0"/>
              <a:t> </a:t>
            </a:r>
            <a:r>
              <a:rPr lang="it-IT" dirty="0" err="1"/>
              <a:t>almost</a:t>
            </a:r>
            <a:r>
              <a:rPr lang="it-IT" dirty="0"/>
              <a:t> 52 </a:t>
            </a:r>
            <a:r>
              <a:rPr lang="it-IT" dirty="0" err="1"/>
              <a:t>thousand</a:t>
            </a:r>
            <a:r>
              <a:rPr lang="it-IT" dirty="0"/>
              <a:t> </a:t>
            </a:r>
            <a:r>
              <a:rPr lang="it-IT" dirty="0" err="1"/>
              <a:t>rows</a:t>
            </a:r>
            <a:r>
              <a:rPr lang="it-IT" dirty="0"/>
              <a:t>. About 39 and a </a:t>
            </a:r>
            <a:r>
              <a:rPr lang="it-IT" dirty="0" err="1"/>
              <a:t>half</a:t>
            </a:r>
            <a:r>
              <a:rPr lang="it-IT" dirty="0"/>
              <a:t> </a:t>
            </a:r>
            <a:r>
              <a:rPr lang="it-IT" dirty="0" err="1"/>
              <a:t>thousand</a:t>
            </a:r>
            <a:r>
              <a:rPr lang="it-IT" dirty="0"/>
              <a:t> of </a:t>
            </a:r>
            <a:r>
              <a:rPr lang="it-IT" dirty="0" err="1"/>
              <a:t>them</a:t>
            </a:r>
            <a:r>
              <a:rPr lang="it-IT" dirty="0"/>
              <a:t> </a:t>
            </a:r>
            <a:r>
              <a:rPr lang="it-IT" dirty="0" err="1"/>
              <a:t>have</a:t>
            </a:r>
            <a:r>
              <a:rPr lang="it-IT" dirty="0"/>
              <a:t> a </a:t>
            </a:r>
            <a:r>
              <a:rPr lang="it-IT" dirty="0" err="1"/>
              <a:t>real</a:t>
            </a:r>
            <a:r>
              <a:rPr lang="it-IT" dirty="0"/>
              <a:t> </a:t>
            </a:r>
            <a:r>
              <a:rPr lang="it-IT" dirty="0" err="1"/>
              <a:t>comment</a:t>
            </a:r>
            <a:r>
              <a:rPr lang="it-IT" dirty="0"/>
              <a:t>. </a:t>
            </a:r>
            <a:r>
              <a:rPr lang="it-IT" dirty="0" err="1"/>
              <a:t>That's</a:t>
            </a:r>
            <a:r>
              <a:rPr lang="it-IT" dirty="0"/>
              <a:t> a </a:t>
            </a:r>
            <a:r>
              <a:rPr lang="it-IT" dirty="0" err="1"/>
              <a:t>pairing</a:t>
            </a:r>
            <a:r>
              <a:rPr lang="it-IT" dirty="0"/>
              <a:t> rate </a:t>
            </a:r>
            <a:r>
              <a:rPr lang="it-IT" dirty="0" err="1"/>
              <a:t>around</a:t>
            </a:r>
            <a:r>
              <a:rPr lang="it-IT" dirty="0"/>
              <a:t> 76 </a:t>
            </a:r>
            <a:r>
              <a:rPr lang="it-IT" dirty="0" err="1"/>
              <a:t>percent</a:t>
            </a:r>
            <a:r>
              <a:rPr lang="it-IT" dirty="0"/>
              <a:t>. </a:t>
            </a:r>
          </a:p>
          <a:p>
            <a:endParaRPr lang="it-IT" b="1" dirty="0"/>
          </a:p>
          <a:p>
            <a:r>
              <a:rPr lang="it-IT" b="1" dirty="0"/>
              <a:t>And from </a:t>
            </a:r>
            <a:r>
              <a:rPr lang="it-IT" b="1" dirty="0" err="1"/>
              <a:t>here</a:t>
            </a:r>
            <a:r>
              <a:rPr lang="it-IT" b="1" dirty="0"/>
              <a:t>, the pipeline </a:t>
            </a:r>
            <a:r>
              <a:rPr lang="it-IT" b="1" dirty="0" err="1"/>
              <a:t>begins</a:t>
            </a:r>
            <a:r>
              <a:rPr lang="it-IT" b="1" dirty="0"/>
              <a:t>.</a:t>
            </a:r>
            <a:endParaRPr lang="it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it-IT" dirty="0" err="1"/>
              <a:t>Here's</a:t>
            </a:r>
            <a:r>
              <a:rPr lang="it-IT" dirty="0"/>
              <a:t> the full pipeline. Eleven stages, </a:t>
            </a:r>
            <a:r>
              <a:rPr lang="it-IT" dirty="0" err="1"/>
              <a:t>numbered</a:t>
            </a:r>
            <a:r>
              <a:rPr lang="it-IT" dirty="0"/>
              <a:t> zero to ten.</a:t>
            </a:r>
          </a:p>
          <a:p>
            <a:endParaRPr lang="it-IT" dirty="0"/>
          </a:p>
          <a:p>
            <a:r>
              <a:rPr lang="it-IT" dirty="0" err="1"/>
              <a:t>There's</a:t>
            </a:r>
            <a:r>
              <a:rPr lang="it-IT" dirty="0"/>
              <a:t> one idea </a:t>
            </a:r>
            <a:r>
              <a:rPr lang="it-IT" dirty="0" err="1"/>
              <a:t>behind</a:t>
            </a:r>
            <a:r>
              <a:rPr lang="it-IT" dirty="0"/>
              <a:t> </a:t>
            </a:r>
            <a:r>
              <a:rPr lang="it-IT" dirty="0" err="1"/>
              <a:t>all</a:t>
            </a:r>
            <a:r>
              <a:rPr lang="it-IT" dirty="0"/>
              <a:t> of </a:t>
            </a:r>
            <a:r>
              <a:rPr lang="it-IT" dirty="0" err="1"/>
              <a:t>it</a:t>
            </a:r>
            <a:r>
              <a:rPr lang="it-IT" dirty="0"/>
              <a:t>, and </a:t>
            </a:r>
            <a:r>
              <a:rPr lang="it-IT" dirty="0" err="1"/>
              <a:t>it's</a:t>
            </a:r>
            <a:r>
              <a:rPr lang="it-IT" dirty="0"/>
              <a:t> the </a:t>
            </a:r>
            <a:r>
              <a:rPr lang="it-IT" dirty="0" err="1"/>
              <a:t>most</a:t>
            </a:r>
            <a:r>
              <a:rPr lang="it-IT" dirty="0"/>
              <a:t> </a:t>
            </a:r>
            <a:r>
              <a:rPr lang="it-IT" dirty="0" err="1"/>
              <a:t>important</a:t>
            </a:r>
            <a:r>
              <a:rPr lang="it-IT" dirty="0"/>
              <a:t> </a:t>
            </a:r>
            <a:r>
              <a:rPr lang="it-IT" dirty="0" err="1"/>
              <a:t>decision</a:t>
            </a:r>
            <a:r>
              <a:rPr lang="it-IT" dirty="0"/>
              <a:t> in Part One. </a:t>
            </a:r>
            <a:r>
              <a:rPr lang="it-IT" dirty="0" err="1"/>
              <a:t>We</a:t>
            </a:r>
            <a:r>
              <a:rPr lang="it-IT" dirty="0"/>
              <a:t> call </a:t>
            </a:r>
            <a:r>
              <a:rPr lang="it-IT" dirty="0" err="1"/>
              <a:t>it</a:t>
            </a:r>
            <a:r>
              <a:rPr lang="it-IT" dirty="0"/>
              <a:t> "</a:t>
            </a:r>
            <a:r>
              <a:rPr lang="it-IT" dirty="0" err="1"/>
              <a:t>deterministic</a:t>
            </a:r>
            <a:r>
              <a:rPr lang="it-IT" dirty="0"/>
              <a:t> </a:t>
            </a:r>
            <a:r>
              <a:rPr lang="it-IT" dirty="0" err="1"/>
              <a:t>before</a:t>
            </a:r>
            <a:r>
              <a:rPr lang="it-IT" dirty="0"/>
              <a:t> the LLM".</a:t>
            </a:r>
          </a:p>
          <a:p>
            <a:endParaRPr lang="it-IT" dirty="0"/>
          </a:p>
          <a:p>
            <a:r>
              <a:rPr lang="it-IT" dirty="0" err="1"/>
              <a:t>It</a:t>
            </a:r>
            <a:r>
              <a:rPr lang="it-IT" dirty="0"/>
              <a:t> </a:t>
            </a:r>
            <a:r>
              <a:rPr lang="it-IT" dirty="0" err="1"/>
              <a:t>means</a:t>
            </a:r>
            <a:r>
              <a:rPr lang="it-IT" dirty="0"/>
              <a:t> </a:t>
            </a:r>
            <a:r>
              <a:rPr lang="it-IT" dirty="0" err="1"/>
              <a:t>that</a:t>
            </a:r>
            <a:r>
              <a:rPr lang="it-IT" dirty="0"/>
              <a:t> </a:t>
            </a:r>
            <a:r>
              <a:rPr lang="it-IT" dirty="0" err="1"/>
              <a:t>anything</a:t>
            </a:r>
            <a:r>
              <a:rPr lang="it-IT" dirty="0"/>
              <a:t> </a:t>
            </a:r>
            <a:r>
              <a:rPr lang="it-IT" dirty="0" err="1"/>
              <a:t>we</a:t>
            </a:r>
            <a:r>
              <a:rPr lang="it-IT" dirty="0"/>
              <a:t> can do with </a:t>
            </a:r>
            <a:r>
              <a:rPr lang="it-IT" dirty="0" err="1"/>
              <a:t>plain</a:t>
            </a:r>
            <a:r>
              <a:rPr lang="it-IT" dirty="0"/>
              <a:t> code, free and </a:t>
            </a:r>
            <a:r>
              <a:rPr lang="it-IT" dirty="0" err="1"/>
              <a:t>repeatable</a:t>
            </a:r>
            <a:r>
              <a:rPr lang="it-IT" dirty="0"/>
              <a:t>, </a:t>
            </a:r>
            <a:r>
              <a:rPr lang="it-IT" dirty="0" err="1"/>
              <a:t>we</a:t>
            </a:r>
            <a:r>
              <a:rPr lang="it-IT" dirty="0"/>
              <a:t> do first. </a:t>
            </a:r>
            <a:r>
              <a:rPr lang="it-IT" dirty="0" err="1"/>
              <a:t>We</a:t>
            </a:r>
            <a:r>
              <a:rPr lang="it-IT" dirty="0"/>
              <a:t> </a:t>
            </a:r>
            <a:r>
              <a:rPr lang="it-IT" dirty="0" err="1"/>
              <a:t>only</a:t>
            </a:r>
            <a:r>
              <a:rPr lang="it-IT" dirty="0"/>
              <a:t> call the </a:t>
            </a:r>
            <a:r>
              <a:rPr lang="it-IT" dirty="0" err="1"/>
              <a:t>language</a:t>
            </a:r>
            <a:r>
              <a:rPr lang="it-IT" dirty="0"/>
              <a:t> model for the </a:t>
            </a:r>
            <a:r>
              <a:rPr lang="it-IT" dirty="0" err="1"/>
              <a:t>things</a:t>
            </a:r>
            <a:r>
              <a:rPr lang="it-IT" dirty="0"/>
              <a:t> </a:t>
            </a:r>
            <a:r>
              <a:rPr lang="it-IT" dirty="0" err="1"/>
              <a:t>that</a:t>
            </a:r>
            <a:r>
              <a:rPr lang="it-IT" dirty="0"/>
              <a:t> </a:t>
            </a:r>
            <a:r>
              <a:rPr lang="it-IT" dirty="0" err="1"/>
              <a:t>really</a:t>
            </a:r>
            <a:r>
              <a:rPr lang="it-IT" dirty="0"/>
              <a:t> </a:t>
            </a:r>
            <a:r>
              <a:rPr lang="it-IT" dirty="0" err="1"/>
              <a:t>need</a:t>
            </a:r>
            <a:r>
              <a:rPr lang="it-IT" dirty="0"/>
              <a:t> </a:t>
            </a:r>
            <a:r>
              <a:rPr lang="it-IT" dirty="0" err="1"/>
              <a:t>it</a:t>
            </a:r>
            <a:r>
              <a:rPr lang="it-IT" dirty="0"/>
              <a:t>.</a:t>
            </a:r>
          </a:p>
          <a:p>
            <a:endParaRPr lang="it-IT" dirty="0"/>
          </a:p>
          <a:p>
            <a:r>
              <a:rPr lang="it-IT" dirty="0"/>
              <a:t>In blue </a:t>
            </a:r>
            <a:r>
              <a:rPr lang="it-IT" dirty="0" err="1"/>
              <a:t>you</a:t>
            </a:r>
            <a:r>
              <a:rPr lang="it-IT" dirty="0"/>
              <a:t> </a:t>
            </a:r>
            <a:r>
              <a:rPr lang="it-IT" dirty="0" err="1"/>
              <a:t>see</a:t>
            </a:r>
            <a:r>
              <a:rPr lang="it-IT" dirty="0"/>
              <a:t> the code stages: </a:t>
            </a:r>
            <a:r>
              <a:rPr lang="it-IT" dirty="0" err="1"/>
              <a:t>preparing</a:t>
            </a:r>
            <a:r>
              <a:rPr lang="it-IT" dirty="0"/>
              <a:t> the text, building the </a:t>
            </a:r>
            <a:r>
              <a:rPr lang="it-IT" dirty="0" err="1"/>
              <a:t>vocabulary</a:t>
            </a:r>
            <a:r>
              <a:rPr lang="it-IT" dirty="0"/>
              <a:t>, </a:t>
            </a:r>
            <a:r>
              <a:rPr lang="it-IT" dirty="0" err="1"/>
              <a:t>cleaning</a:t>
            </a:r>
            <a:r>
              <a:rPr lang="it-IT" dirty="0"/>
              <a:t>, </a:t>
            </a:r>
            <a:r>
              <a:rPr lang="it-IT" dirty="0" err="1"/>
              <a:t>deduplicating</a:t>
            </a:r>
            <a:r>
              <a:rPr lang="it-IT" dirty="0"/>
              <a:t>. In </a:t>
            </a:r>
            <a:r>
              <a:rPr lang="it-IT" dirty="0" err="1"/>
              <a:t>gold</a:t>
            </a:r>
            <a:r>
              <a:rPr lang="it-IT" dirty="0"/>
              <a:t>, the stages </a:t>
            </a:r>
            <a:r>
              <a:rPr lang="it-IT" dirty="0" err="1"/>
              <a:t>that</a:t>
            </a:r>
            <a:r>
              <a:rPr lang="it-IT" dirty="0"/>
              <a:t> use the LLM: the prompt, the pilot, the full batch. In green, the </a:t>
            </a:r>
            <a:r>
              <a:rPr lang="it-IT" dirty="0" err="1"/>
              <a:t>final</a:t>
            </a:r>
            <a:r>
              <a:rPr lang="it-IT" dirty="0"/>
              <a:t> assembly.</a:t>
            </a:r>
          </a:p>
          <a:p>
            <a:endParaRPr lang="it-IT" b="1" dirty="0"/>
          </a:p>
          <a:p>
            <a:r>
              <a:rPr lang="it-IT" b="1" dirty="0"/>
              <a:t>Let me </a:t>
            </a:r>
            <a:r>
              <a:rPr lang="it-IT" b="1" dirty="0" err="1"/>
              <a:t>walk</a:t>
            </a:r>
            <a:r>
              <a:rPr lang="it-IT" b="1" dirty="0"/>
              <a:t> </a:t>
            </a:r>
            <a:r>
              <a:rPr lang="it-IT" b="1" dirty="0" err="1"/>
              <a:t>you</a:t>
            </a:r>
            <a:r>
              <a:rPr lang="it-IT" b="1" dirty="0"/>
              <a:t> </a:t>
            </a:r>
            <a:r>
              <a:rPr lang="it-IT" b="1" dirty="0" err="1"/>
              <a:t>through</a:t>
            </a:r>
            <a:r>
              <a:rPr lang="it-IT" b="1" dirty="0"/>
              <a:t> the key stages.</a:t>
            </a:r>
            <a:endParaRPr lang="it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it-IT" dirty="0" err="1"/>
              <a:t>This</a:t>
            </a:r>
            <a:r>
              <a:rPr lang="it-IT" dirty="0"/>
              <a:t> </a:t>
            </a:r>
            <a:r>
              <a:rPr lang="it-IT" dirty="0" err="1"/>
              <a:t>is</a:t>
            </a:r>
            <a:r>
              <a:rPr lang="it-IT" dirty="0"/>
              <a:t> the </a:t>
            </a:r>
            <a:r>
              <a:rPr lang="it-IT" dirty="0" err="1"/>
              <a:t>same</a:t>
            </a:r>
            <a:r>
              <a:rPr lang="it-IT" dirty="0"/>
              <a:t> story, </a:t>
            </a:r>
            <a:r>
              <a:rPr lang="it-IT" dirty="0" err="1"/>
              <a:t>seen</a:t>
            </a:r>
            <a:r>
              <a:rPr lang="it-IT" dirty="0"/>
              <a:t> </a:t>
            </a:r>
            <a:r>
              <a:rPr lang="it-IT" dirty="0" err="1"/>
              <a:t>as</a:t>
            </a:r>
            <a:r>
              <a:rPr lang="it-IT" dirty="0"/>
              <a:t> a </a:t>
            </a:r>
            <a:r>
              <a:rPr lang="it-IT" dirty="0" err="1"/>
              <a:t>funnel</a:t>
            </a:r>
            <a:r>
              <a:rPr lang="it-IT" dirty="0"/>
              <a:t>. The </a:t>
            </a:r>
            <a:r>
              <a:rPr lang="it-IT" dirty="0" err="1"/>
              <a:t>bars</a:t>
            </a:r>
            <a:r>
              <a:rPr lang="it-IT" dirty="0"/>
              <a:t> show </a:t>
            </a:r>
            <a:r>
              <a:rPr lang="it-IT" dirty="0" err="1"/>
              <a:t>how</a:t>
            </a:r>
            <a:r>
              <a:rPr lang="it-IT" dirty="0"/>
              <a:t> </a:t>
            </a:r>
            <a:r>
              <a:rPr lang="it-IT" dirty="0" err="1"/>
              <a:t>many</a:t>
            </a:r>
            <a:r>
              <a:rPr lang="it-IT" dirty="0"/>
              <a:t> </a:t>
            </a:r>
            <a:r>
              <a:rPr lang="it-IT" dirty="0" err="1"/>
              <a:t>rows</a:t>
            </a:r>
            <a:r>
              <a:rPr lang="it-IT" dirty="0"/>
              <a:t> </a:t>
            </a:r>
            <a:r>
              <a:rPr lang="it-IT" dirty="0" err="1"/>
              <a:t>we</a:t>
            </a:r>
            <a:r>
              <a:rPr lang="it-IT" dirty="0"/>
              <a:t> </a:t>
            </a:r>
            <a:r>
              <a:rPr lang="it-IT" dirty="0" err="1"/>
              <a:t>have</a:t>
            </a:r>
            <a:r>
              <a:rPr lang="it-IT" dirty="0"/>
              <a:t> </a:t>
            </a:r>
            <a:r>
              <a:rPr lang="it-IT" dirty="0" err="1"/>
              <a:t>as</a:t>
            </a:r>
            <a:r>
              <a:rPr lang="it-IT" dirty="0"/>
              <a:t> </a:t>
            </a:r>
            <a:r>
              <a:rPr lang="it-IT" dirty="0" err="1"/>
              <a:t>we</a:t>
            </a:r>
            <a:r>
              <a:rPr lang="it-IT" dirty="0"/>
              <a:t> </a:t>
            </a:r>
            <a:r>
              <a:rPr lang="it-IT" dirty="0" err="1"/>
              <a:t>move</a:t>
            </a:r>
            <a:r>
              <a:rPr lang="it-IT" dirty="0"/>
              <a:t> </a:t>
            </a:r>
            <a:r>
              <a:rPr lang="it-IT" dirty="0" err="1"/>
              <a:t>through</a:t>
            </a:r>
            <a:r>
              <a:rPr lang="it-IT" dirty="0"/>
              <a:t> the pipeline.</a:t>
            </a:r>
          </a:p>
          <a:p>
            <a:endParaRPr lang="it-IT" dirty="0"/>
          </a:p>
          <a:p>
            <a:r>
              <a:rPr lang="it-IT" dirty="0"/>
              <a:t>The </a:t>
            </a:r>
            <a:r>
              <a:rPr lang="it-IT" dirty="0" err="1"/>
              <a:t>biggest</a:t>
            </a:r>
            <a:r>
              <a:rPr lang="it-IT" dirty="0"/>
              <a:t> drop </a:t>
            </a:r>
            <a:r>
              <a:rPr lang="it-IT" dirty="0" err="1"/>
              <a:t>is</a:t>
            </a:r>
            <a:r>
              <a:rPr lang="it-IT" dirty="0"/>
              <a:t> </a:t>
            </a:r>
            <a:r>
              <a:rPr lang="it-IT" dirty="0" err="1"/>
              <a:t>at</a:t>
            </a:r>
            <a:r>
              <a:rPr lang="it-IT" dirty="0"/>
              <a:t> the start, in stage one. Over 12,600 </a:t>
            </a:r>
            <a:r>
              <a:rPr lang="it-IT" dirty="0" err="1"/>
              <a:t>rows</a:t>
            </a:r>
            <a:r>
              <a:rPr lang="it-IT" dirty="0"/>
              <a:t>.</a:t>
            </a:r>
          </a:p>
          <a:p>
            <a:endParaRPr lang="it-IT" dirty="0"/>
          </a:p>
          <a:p>
            <a:r>
              <a:rPr lang="it-IT" dirty="0"/>
              <a:t>But </a:t>
            </a:r>
            <a:r>
              <a:rPr lang="it-IT" dirty="0" err="1"/>
              <a:t>almost</a:t>
            </a:r>
            <a:r>
              <a:rPr lang="it-IT" dirty="0"/>
              <a:t> </a:t>
            </a:r>
            <a:r>
              <a:rPr lang="it-IT" dirty="0" err="1"/>
              <a:t>all</a:t>
            </a:r>
            <a:r>
              <a:rPr lang="it-IT" dirty="0"/>
              <a:t> of </a:t>
            </a:r>
            <a:r>
              <a:rPr lang="it-IT" dirty="0" err="1"/>
              <a:t>it</a:t>
            </a:r>
            <a:r>
              <a:rPr lang="it-IT" dirty="0"/>
              <a:t> </a:t>
            </a:r>
            <a:r>
              <a:rPr lang="it-IT" dirty="0" err="1"/>
              <a:t>is</a:t>
            </a:r>
            <a:r>
              <a:rPr lang="it-IT" dirty="0"/>
              <a:t> </a:t>
            </a:r>
            <a:r>
              <a:rPr lang="it-IT" dirty="0" err="1"/>
              <a:t>empty</a:t>
            </a:r>
            <a:r>
              <a:rPr lang="it-IT" dirty="0"/>
              <a:t> or </a:t>
            </a:r>
            <a:r>
              <a:rPr lang="it-IT" dirty="0" err="1"/>
              <a:t>null</a:t>
            </a:r>
            <a:r>
              <a:rPr lang="it-IT" dirty="0"/>
              <a:t>. </a:t>
            </a:r>
            <a:r>
              <a:rPr lang="it-IT" dirty="0" err="1"/>
              <a:t>Only</a:t>
            </a:r>
            <a:r>
              <a:rPr lang="it-IT" dirty="0"/>
              <a:t> 86 are meta-</a:t>
            </a:r>
            <a:r>
              <a:rPr lang="it-IT" dirty="0" err="1"/>
              <a:t>comments</a:t>
            </a:r>
            <a:r>
              <a:rPr lang="it-IT" dirty="0"/>
              <a:t>. </a:t>
            </a:r>
            <a:r>
              <a:rPr lang="it-IT" dirty="0" err="1"/>
              <a:t>Only</a:t>
            </a:r>
            <a:r>
              <a:rPr lang="it-IT" dirty="0"/>
              <a:t> 68 are </a:t>
            </a:r>
            <a:r>
              <a:rPr lang="it-IT" dirty="0" err="1"/>
              <a:t>tiny</a:t>
            </a:r>
            <a:r>
              <a:rPr lang="it-IT" dirty="0"/>
              <a:t> </a:t>
            </a:r>
            <a:r>
              <a:rPr lang="it-IT" dirty="0" err="1"/>
              <a:t>fragments</a:t>
            </a:r>
            <a:r>
              <a:rPr lang="it-IT" dirty="0"/>
              <a:t>.</a:t>
            </a:r>
          </a:p>
          <a:p>
            <a:endParaRPr lang="it-IT" dirty="0"/>
          </a:p>
          <a:p>
            <a:r>
              <a:rPr lang="it-IT" dirty="0"/>
              <a:t>So </a:t>
            </a:r>
            <a:r>
              <a:rPr lang="it-IT" dirty="0" err="1"/>
              <a:t>we</a:t>
            </a:r>
            <a:r>
              <a:rPr lang="it-IT" dirty="0"/>
              <a:t> are </a:t>
            </a:r>
            <a:r>
              <a:rPr lang="it-IT" dirty="0" err="1"/>
              <a:t>not</a:t>
            </a:r>
            <a:r>
              <a:rPr lang="it-IT" dirty="0"/>
              <a:t> </a:t>
            </a:r>
            <a:r>
              <a:rPr lang="it-IT" dirty="0" err="1"/>
              <a:t>throwing</a:t>
            </a:r>
            <a:r>
              <a:rPr lang="it-IT" dirty="0"/>
              <a:t> </a:t>
            </a:r>
            <a:r>
              <a:rPr lang="it-IT" dirty="0" err="1"/>
              <a:t>away</a:t>
            </a:r>
            <a:r>
              <a:rPr lang="it-IT" dirty="0"/>
              <a:t> </a:t>
            </a:r>
            <a:r>
              <a:rPr lang="it-IT" dirty="0" err="1"/>
              <a:t>sensory</a:t>
            </a:r>
            <a:r>
              <a:rPr lang="it-IT" dirty="0"/>
              <a:t> </a:t>
            </a:r>
            <a:r>
              <a:rPr lang="it-IT" dirty="0" err="1"/>
              <a:t>content</a:t>
            </a:r>
            <a:r>
              <a:rPr lang="it-IT" dirty="0"/>
              <a:t>. </a:t>
            </a:r>
            <a:r>
              <a:rPr lang="it-IT" dirty="0" err="1"/>
              <a:t>We</a:t>
            </a:r>
            <a:r>
              <a:rPr lang="it-IT" dirty="0"/>
              <a:t> are </a:t>
            </a:r>
            <a:r>
              <a:rPr lang="it-IT" dirty="0" err="1"/>
              <a:t>only</a:t>
            </a:r>
            <a:r>
              <a:rPr lang="it-IT" dirty="0"/>
              <a:t> </a:t>
            </a:r>
            <a:r>
              <a:rPr lang="it-IT" dirty="0" err="1"/>
              <a:t>removing</a:t>
            </a:r>
            <a:r>
              <a:rPr lang="it-IT" dirty="0"/>
              <a:t> </a:t>
            </a:r>
            <a:r>
              <a:rPr lang="it-IT" dirty="0" err="1"/>
              <a:t>certain</a:t>
            </a:r>
            <a:r>
              <a:rPr lang="it-IT" dirty="0"/>
              <a:t>, </a:t>
            </a:r>
            <a:r>
              <a:rPr lang="it-IT" dirty="0" err="1"/>
              <a:t>obvious</a:t>
            </a:r>
            <a:r>
              <a:rPr lang="it-IT" dirty="0"/>
              <a:t> </a:t>
            </a:r>
            <a:r>
              <a:rPr lang="it-IT" dirty="0" err="1"/>
              <a:t>noise</a:t>
            </a:r>
            <a:r>
              <a:rPr lang="it-IT" dirty="0"/>
              <a:t>.</a:t>
            </a:r>
          </a:p>
          <a:p>
            <a:endParaRPr lang="it-IT" b="1" dirty="0"/>
          </a:p>
          <a:p>
            <a:r>
              <a:rPr lang="it-IT" b="1" dirty="0"/>
              <a:t>But </a:t>
            </a:r>
            <a:r>
              <a:rPr lang="it-IT" b="1" dirty="0" err="1"/>
              <a:t>how</a:t>
            </a:r>
            <a:r>
              <a:rPr lang="it-IT" b="1" dirty="0"/>
              <a:t> do </a:t>
            </a:r>
            <a:r>
              <a:rPr lang="it-IT" b="1" dirty="0" err="1"/>
              <a:t>we</a:t>
            </a:r>
            <a:r>
              <a:rPr lang="it-IT" b="1" dirty="0"/>
              <a:t> know </a:t>
            </a:r>
            <a:r>
              <a:rPr lang="it-IT" b="1" dirty="0" err="1"/>
              <a:t>it's</a:t>
            </a:r>
            <a:r>
              <a:rPr lang="it-IT" b="1" dirty="0"/>
              <a:t> safe to drop? </a:t>
            </a:r>
            <a:r>
              <a:rPr lang="it-IT" b="1" dirty="0" err="1"/>
              <a:t>That's</a:t>
            </a:r>
            <a:r>
              <a:rPr lang="it-IT" b="1" dirty="0"/>
              <a:t> the rule of stage one.</a:t>
            </a:r>
            <a:endParaRPr lang="it-IT" dirty="0"/>
          </a:p>
          <a:p>
            <a:pPr rtl="0"/>
            <a:endParaRPr lang="it-IT" b="0" dirty="0">
              <a:effectLst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it-IT" dirty="0" err="1"/>
              <a:t>This</a:t>
            </a:r>
            <a:r>
              <a:rPr lang="it-IT" dirty="0"/>
              <a:t> </a:t>
            </a:r>
            <a:r>
              <a:rPr lang="it-IT" dirty="0" err="1"/>
              <a:t>is</a:t>
            </a:r>
            <a:r>
              <a:rPr lang="it-IT" dirty="0"/>
              <a:t> stage one: the </a:t>
            </a:r>
            <a:r>
              <a:rPr lang="it-IT" dirty="0" err="1"/>
              <a:t>deterministic</a:t>
            </a:r>
            <a:r>
              <a:rPr lang="it-IT" dirty="0"/>
              <a:t> </a:t>
            </a:r>
            <a:r>
              <a:rPr lang="it-IT" dirty="0" err="1"/>
              <a:t>prep</a:t>
            </a:r>
            <a:r>
              <a:rPr lang="it-IT" dirty="0"/>
              <a:t>.</a:t>
            </a:r>
          </a:p>
          <a:p>
            <a:endParaRPr lang="it-IT" dirty="0"/>
          </a:p>
          <a:p>
            <a:r>
              <a:rPr lang="it-IT" dirty="0"/>
              <a:t>The golden rule </a:t>
            </a:r>
            <a:r>
              <a:rPr lang="it-IT" dirty="0" err="1"/>
              <a:t>here</a:t>
            </a:r>
            <a:r>
              <a:rPr lang="it-IT" dirty="0"/>
              <a:t> </a:t>
            </a:r>
            <a:r>
              <a:rPr lang="it-IT" dirty="0" err="1"/>
              <a:t>is</a:t>
            </a:r>
            <a:r>
              <a:rPr lang="it-IT" dirty="0"/>
              <a:t>: </a:t>
            </a:r>
            <a:r>
              <a:rPr lang="it-IT" dirty="0" err="1"/>
              <a:t>clean</a:t>
            </a:r>
            <a:r>
              <a:rPr lang="it-IT" dirty="0"/>
              <a:t>, </a:t>
            </a:r>
            <a:r>
              <a:rPr lang="it-IT" dirty="0" err="1"/>
              <a:t>don't</a:t>
            </a:r>
            <a:r>
              <a:rPr lang="it-IT" dirty="0"/>
              <a:t> </a:t>
            </a:r>
            <a:r>
              <a:rPr lang="it-IT" dirty="0" err="1"/>
              <a:t>rewrite</a:t>
            </a:r>
            <a:r>
              <a:rPr lang="it-IT" dirty="0"/>
              <a:t>. </a:t>
            </a:r>
            <a:r>
              <a:rPr lang="it-IT" dirty="0" err="1"/>
              <a:t>We</a:t>
            </a:r>
            <a:r>
              <a:rPr lang="it-IT" dirty="0"/>
              <a:t> </a:t>
            </a:r>
            <a:r>
              <a:rPr lang="it-IT" dirty="0" err="1"/>
              <a:t>never</a:t>
            </a:r>
            <a:r>
              <a:rPr lang="it-IT" dirty="0"/>
              <a:t> </a:t>
            </a:r>
            <a:r>
              <a:rPr lang="it-IT" dirty="0" err="1"/>
              <a:t>change</a:t>
            </a:r>
            <a:r>
              <a:rPr lang="it-IT" dirty="0"/>
              <a:t> the </a:t>
            </a:r>
            <a:r>
              <a:rPr lang="it-IT" dirty="0" err="1"/>
              <a:t>taster's</a:t>
            </a:r>
            <a:r>
              <a:rPr lang="it-IT" dirty="0"/>
              <a:t> words. </a:t>
            </a:r>
            <a:r>
              <a:rPr lang="it-IT" dirty="0" err="1"/>
              <a:t>We</a:t>
            </a:r>
            <a:r>
              <a:rPr lang="it-IT" dirty="0"/>
              <a:t> </a:t>
            </a:r>
            <a:r>
              <a:rPr lang="it-IT" dirty="0" err="1"/>
              <a:t>only</a:t>
            </a:r>
            <a:r>
              <a:rPr lang="it-IT" dirty="0"/>
              <a:t> </a:t>
            </a:r>
            <a:r>
              <a:rPr lang="it-IT" dirty="0" err="1"/>
              <a:t>tidy</a:t>
            </a:r>
            <a:r>
              <a:rPr lang="it-IT" dirty="0"/>
              <a:t> </a:t>
            </a:r>
            <a:r>
              <a:rPr lang="it-IT" dirty="0" err="1"/>
              <a:t>them</a:t>
            </a:r>
            <a:r>
              <a:rPr lang="it-IT" dirty="0"/>
              <a:t> up.</a:t>
            </a:r>
          </a:p>
          <a:p>
            <a:endParaRPr lang="it-IT" dirty="0"/>
          </a:p>
          <a:p>
            <a:r>
              <a:rPr lang="it-IT" dirty="0" err="1"/>
              <a:t>Everything</a:t>
            </a:r>
            <a:r>
              <a:rPr lang="it-IT" dirty="0"/>
              <a:t> </a:t>
            </a:r>
            <a:r>
              <a:rPr lang="it-IT" dirty="0" err="1"/>
              <a:t>we</a:t>
            </a:r>
            <a:r>
              <a:rPr lang="it-IT" dirty="0"/>
              <a:t> do </a:t>
            </a:r>
            <a:r>
              <a:rPr lang="it-IT" dirty="0" err="1"/>
              <a:t>is</a:t>
            </a:r>
            <a:r>
              <a:rPr lang="it-IT" dirty="0"/>
              <a:t> </a:t>
            </a:r>
            <a:r>
              <a:rPr lang="it-IT" dirty="0" err="1"/>
              <a:t>mechanical</a:t>
            </a:r>
            <a:r>
              <a:rPr lang="it-IT" dirty="0"/>
              <a:t> and </a:t>
            </a:r>
            <a:r>
              <a:rPr lang="it-IT" dirty="0" err="1"/>
              <a:t>checkable</a:t>
            </a:r>
            <a:r>
              <a:rPr lang="it-IT" dirty="0"/>
              <a:t>. </a:t>
            </a:r>
            <a:r>
              <a:rPr lang="it-IT" dirty="0" err="1"/>
              <a:t>We</a:t>
            </a:r>
            <a:r>
              <a:rPr lang="it-IT" dirty="0"/>
              <a:t> </a:t>
            </a:r>
            <a:r>
              <a:rPr lang="it-IT" dirty="0" err="1"/>
              <a:t>remove</a:t>
            </a:r>
            <a:r>
              <a:rPr lang="it-IT" dirty="0"/>
              <a:t> </a:t>
            </a:r>
            <a:r>
              <a:rPr lang="it-IT" dirty="0" err="1"/>
              <a:t>empties</a:t>
            </a:r>
            <a:r>
              <a:rPr lang="it-IT" dirty="0"/>
              <a:t>. </a:t>
            </a:r>
            <a:r>
              <a:rPr lang="it-IT" dirty="0" err="1"/>
              <a:t>We</a:t>
            </a:r>
            <a:r>
              <a:rPr lang="it-IT" dirty="0"/>
              <a:t> fix the </a:t>
            </a:r>
            <a:r>
              <a:rPr lang="it-IT" dirty="0" err="1"/>
              <a:t>character</a:t>
            </a:r>
            <a:r>
              <a:rPr lang="it-IT" dirty="0"/>
              <a:t> </a:t>
            </a:r>
            <a:r>
              <a:rPr lang="it-IT" dirty="0" err="1"/>
              <a:t>encoding</a:t>
            </a:r>
            <a:r>
              <a:rPr lang="it-IT" dirty="0"/>
              <a:t>. </a:t>
            </a:r>
            <a:r>
              <a:rPr lang="it-IT" dirty="0" err="1"/>
              <a:t>We</a:t>
            </a:r>
            <a:r>
              <a:rPr lang="it-IT" dirty="0"/>
              <a:t> strip out </a:t>
            </a:r>
            <a:r>
              <a:rPr lang="it-IT" dirty="0" err="1"/>
              <a:t>hidden</a:t>
            </a:r>
            <a:r>
              <a:rPr lang="it-IT" dirty="0"/>
              <a:t>, </a:t>
            </a:r>
            <a:r>
              <a:rPr lang="it-IT" dirty="0" err="1"/>
              <a:t>broken</a:t>
            </a:r>
            <a:r>
              <a:rPr lang="it-IT" dirty="0"/>
              <a:t> </a:t>
            </a:r>
            <a:r>
              <a:rPr lang="it-IT" dirty="0" err="1"/>
              <a:t>characters</a:t>
            </a:r>
            <a:r>
              <a:rPr lang="it-IT" dirty="0"/>
              <a:t>. </a:t>
            </a:r>
            <a:r>
              <a:rPr lang="it-IT" dirty="0" err="1"/>
              <a:t>We</a:t>
            </a:r>
            <a:r>
              <a:rPr lang="it-IT" dirty="0"/>
              <a:t> drop meta-</a:t>
            </a:r>
            <a:r>
              <a:rPr lang="it-IT" dirty="0" err="1"/>
              <a:t>comments</a:t>
            </a:r>
            <a:r>
              <a:rPr lang="it-IT" dirty="0"/>
              <a:t>, </a:t>
            </a:r>
            <a:r>
              <a:rPr lang="it-IT" dirty="0" err="1"/>
              <a:t>using</a:t>
            </a:r>
            <a:r>
              <a:rPr lang="it-IT" dirty="0"/>
              <a:t> a </a:t>
            </a:r>
            <a:r>
              <a:rPr lang="it-IT" dirty="0" err="1"/>
              <a:t>very</a:t>
            </a:r>
            <a:r>
              <a:rPr lang="it-IT" dirty="0"/>
              <a:t> short </a:t>
            </a:r>
          </a:p>
          <a:p>
            <a:r>
              <a:rPr lang="it-IT" dirty="0" err="1"/>
              <a:t>blacklist</a:t>
            </a:r>
            <a:r>
              <a:rPr lang="it-IT" dirty="0"/>
              <a:t>. And </a:t>
            </a:r>
            <a:r>
              <a:rPr lang="it-IT" dirty="0" err="1"/>
              <a:t>we</a:t>
            </a:r>
            <a:r>
              <a:rPr lang="it-IT" dirty="0"/>
              <a:t> drop </a:t>
            </a:r>
            <a:r>
              <a:rPr lang="it-IT" dirty="0" err="1"/>
              <a:t>tiny</a:t>
            </a:r>
            <a:r>
              <a:rPr lang="it-IT" dirty="0"/>
              <a:t> </a:t>
            </a:r>
            <a:r>
              <a:rPr lang="it-IT" dirty="0" err="1"/>
              <a:t>fragments</a:t>
            </a:r>
            <a:r>
              <a:rPr lang="it-IT" dirty="0"/>
              <a:t>, the </a:t>
            </a:r>
            <a:r>
              <a:rPr lang="it-IT" dirty="0" err="1"/>
              <a:t>ones</a:t>
            </a:r>
            <a:r>
              <a:rPr lang="it-IT" dirty="0"/>
              <a:t> with </a:t>
            </a:r>
            <a:r>
              <a:rPr lang="it-IT" dirty="0" err="1"/>
              <a:t>almost</a:t>
            </a:r>
            <a:r>
              <a:rPr lang="it-IT" dirty="0"/>
              <a:t> no </a:t>
            </a:r>
            <a:r>
              <a:rPr lang="it-IT" dirty="0" err="1"/>
              <a:t>letters</a:t>
            </a:r>
            <a:r>
              <a:rPr lang="it-IT" dirty="0"/>
              <a:t> </a:t>
            </a:r>
            <a:r>
              <a:rPr lang="it-IT" dirty="0" err="1"/>
              <a:t>left</a:t>
            </a:r>
            <a:r>
              <a:rPr lang="it-IT" dirty="0"/>
              <a:t> after </a:t>
            </a:r>
            <a:r>
              <a:rPr lang="it-IT" dirty="0" err="1"/>
              <a:t>cleaning</a:t>
            </a:r>
            <a:r>
              <a:rPr lang="it-IT" dirty="0"/>
              <a:t>.</a:t>
            </a:r>
          </a:p>
          <a:p>
            <a:endParaRPr lang="it-IT" dirty="0"/>
          </a:p>
          <a:p>
            <a:r>
              <a:rPr lang="it-IT" dirty="0" err="1"/>
              <a:t>We</a:t>
            </a:r>
            <a:r>
              <a:rPr lang="it-IT" dirty="0"/>
              <a:t> </a:t>
            </a:r>
            <a:r>
              <a:rPr lang="it-IT" dirty="0" err="1"/>
              <a:t>always</a:t>
            </a:r>
            <a:r>
              <a:rPr lang="it-IT" dirty="0"/>
              <a:t> </a:t>
            </a:r>
            <a:r>
              <a:rPr lang="it-IT" dirty="0" err="1"/>
              <a:t>keep</a:t>
            </a:r>
            <a:r>
              <a:rPr lang="it-IT" dirty="0"/>
              <a:t> </a:t>
            </a:r>
            <a:r>
              <a:rPr lang="it-IT" dirty="0" err="1"/>
              <a:t>two</a:t>
            </a:r>
            <a:r>
              <a:rPr lang="it-IT" dirty="0"/>
              <a:t> </a:t>
            </a:r>
            <a:r>
              <a:rPr lang="it-IT" dirty="0" err="1"/>
              <a:t>columns</a:t>
            </a:r>
            <a:r>
              <a:rPr lang="it-IT" dirty="0"/>
              <a:t>: the </a:t>
            </a:r>
            <a:r>
              <a:rPr lang="it-IT" dirty="0" err="1"/>
              <a:t>raw</a:t>
            </a:r>
            <a:r>
              <a:rPr lang="it-IT" dirty="0"/>
              <a:t> text, and the </a:t>
            </a:r>
            <a:r>
              <a:rPr lang="it-IT" dirty="0" err="1"/>
              <a:t>cleaned</a:t>
            </a:r>
            <a:r>
              <a:rPr lang="it-IT" dirty="0"/>
              <a:t> text. So </a:t>
            </a:r>
            <a:r>
              <a:rPr lang="it-IT" dirty="0" err="1"/>
              <a:t>every</a:t>
            </a:r>
            <a:r>
              <a:rPr lang="it-IT" dirty="0"/>
              <a:t> </a:t>
            </a:r>
            <a:r>
              <a:rPr lang="it-IT" dirty="0" err="1"/>
              <a:t>change</a:t>
            </a:r>
            <a:r>
              <a:rPr lang="it-IT" dirty="0"/>
              <a:t> can be </a:t>
            </a:r>
            <a:r>
              <a:rPr lang="it-IT" dirty="0" err="1"/>
              <a:t>undone</a:t>
            </a:r>
            <a:r>
              <a:rPr lang="it-IT" dirty="0"/>
              <a:t> and </a:t>
            </a:r>
            <a:r>
              <a:rPr lang="it-IT" dirty="0" err="1"/>
              <a:t>checked</a:t>
            </a:r>
            <a:r>
              <a:rPr lang="it-IT" dirty="0"/>
              <a:t>.</a:t>
            </a:r>
          </a:p>
          <a:p>
            <a:endParaRPr lang="it-IT" dirty="0"/>
          </a:p>
          <a:p>
            <a:r>
              <a:rPr lang="it-IT" dirty="0"/>
              <a:t>The rule on the </a:t>
            </a:r>
            <a:r>
              <a:rPr lang="it-IT" dirty="0" err="1"/>
              <a:t>right</a:t>
            </a:r>
            <a:r>
              <a:rPr lang="it-IT" dirty="0"/>
              <a:t> </a:t>
            </a:r>
            <a:r>
              <a:rPr lang="it-IT" dirty="0" err="1"/>
              <a:t>is</a:t>
            </a:r>
            <a:r>
              <a:rPr lang="it-IT" dirty="0"/>
              <a:t> the </a:t>
            </a:r>
            <a:r>
              <a:rPr lang="it-IT" dirty="0" err="1"/>
              <a:t>heart</a:t>
            </a:r>
            <a:r>
              <a:rPr lang="it-IT" dirty="0"/>
              <a:t> of </a:t>
            </a:r>
            <a:r>
              <a:rPr lang="it-IT" dirty="0" err="1"/>
              <a:t>it</a:t>
            </a:r>
            <a:r>
              <a:rPr lang="it-IT" dirty="0"/>
              <a:t>: a drop </a:t>
            </a:r>
            <a:r>
              <a:rPr lang="it-IT" dirty="0" err="1"/>
              <a:t>has</a:t>
            </a:r>
            <a:r>
              <a:rPr lang="it-IT" dirty="0"/>
              <a:t> to be </a:t>
            </a:r>
            <a:r>
              <a:rPr lang="it-IT" dirty="0" err="1"/>
              <a:t>certain</a:t>
            </a:r>
            <a:r>
              <a:rPr lang="it-IT" dirty="0"/>
              <a:t>. </a:t>
            </a:r>
            <a:r>
              <a:rPr lang="it-IT" dirty="0" err="1"/>
              <a:t>If</a:t>
            </a:r>
            <a:r>
              <a:rPr lang="it-IT" dirty="0"/>
              <a:t> </a:t>
            </a:r>
            <a:r>
              <a:rPr lang="it-IT" dirty="0" err="1"/>
              <a:t>something</a:t>
            </a:r>
            <a:r>
              <a:rPr lang="it-IT" dirty="0"/>
              <a:t> </a:t>
            </a:r>
            <a:r>
              <a:rPr lang="it-IT" dirty="0" err="1"/>
              <a:t>is</a:t>
            </a:r>
            <a:r>
              <a:rPr lang="it-IT" dirty="0"/>
              <a:t> </a:t>
            </a:r>
            <a:r>
              <a:rPr lang="it-IT" dirty="0" err="1"/>
              <a:t>unclear</a:t>
            </a:r>
            <a:r>
              <a:rPr lang="it-IT" dirty="0"/>
              <a:t>, </a:t>
            </a:r>
            <a:r>
              <a:rPr lang="it-IT" dirty="0" err="1"/>
              <a:t>we</a:t>
            </a:r>
            <a:r>
              <a:rPr lang="it-IT" dirty="0"/>
              <a:t> </a:t>
            </a:r>
            <a:r>
              <a:rPr lang="it-IT" dirty="0" err="1"/>
              <a:t>keep</a:t>
            </a:r>
            <a:r>
              <a:rPr lang="it-IT" dirty="0"/>
              <a:t> </a:t>
            </a:r>
            <a:r>
              <a:rPr lang="it-IT" dirty="0" err="1"/>
              <a:t>it</a:t>
            </a:r>
            <a:r>
              <a:rPr lang="it-IT" dirty="0"/>
              <a:t>, </a:t>
            </a:r>
            <a:r>
              <a:rPr lang="it-IT" dirty="0" err="1"/>
              <a:t>because</a:t>
            </a:r>
            <a:r>
              <a:rPr lang="it-IT" dirty="0"/>
              <a:t> the LLM </a:t>
            </a:r>
            <a:r>
              <a:rPr lang="it-IT" dirty="0" err="1"/>
              <a:t>will</a:t>
            </a:r>
            <a:r>
              <a:rPr lang="it-IT" dirty="0"/>
              <a:t> handle </a:t>
            </a:r>
            <a:r>
              <a:rPr lang="it-IT" dirty="0" err="1"/>
              <a:t>it</a:t>
            </a:r>
            <a:r>
              <a:rPr lang="it-IT" dirty="0"/>
              <a:t> </a:t>
            </a:r>
            <a:r>
              <a:rPr lang="it-IT" dirty="0" err="1"/>
              <a:t>better</a:t>
            </a:r>
            <a:r>
              <a:rPr lang="it-IT" dirty="0"/>
              <a:t> </a:t>
            </a:r>
            <a:r>
              <a:rPr lang="it-IT" dirty="0" err="1"/>
              <a:t>than</a:t>
            </a:r>
            <a:r>
              <a:rPr lang="it-IT" dirty="0"/>
              <a:t> </a:t>
            </a:r>
            <a:r>
              <a:rPr lang="it-IT" dirty="0" err="1"/>
              <a:t>any</a:t>
            </a:r>
            <a:r>
              <a:rPr lang="it-IT" dirty="0"/>
              <a:t> </a:t>
            </a:r>
            <a:r>
              <a:rPr lang="it-IT" dirty="0" err="1"/>
              <a:t>fixed</a:t>
            </a:r>
            <a:r>
              <a:rPr lang="it-IT" dirty="0"/>
              <a:t> rule.</a:t>
            </a:r>
          </a:p>
          <a:p>
            <a:endParaRPr lang="it-IT" dirty="0"/>
          </a:p>
          <a:p>
            <a:r>
              <a:rPr lang="it-IT" dirty="0"/>
              <a:t>The </a:t>
            </a:r>
            <a:r>
              <a:rPr lang="it-IT" dirty="0" err="1"/>
              <a:t>result</a:t>
            </a:r>
            <a:r>
              <a:rPr lang="it-IT" dirty="0"/>
              <a:t> </a:t>
            </a:r>
            <a:r>
              <a:rPr lang="it-IT" dirty="0" err="1"/>
              <a:t>is</a:t>
            </a:r>
            <a:r>
              <a:rPr lang="it-IT" dirty="0"/>
              <a:t> </a:t>
            </a:r>
            <a:r>
              <a:rPr lang="it-IT" dirty="0" err="1"/>
              <a:t>about</a:t>
            </a:r>
            <a:r>
              <a:rPr lang="it-IT" dirty="0"/>
              <a:t> 39 </a:t>
            </a:r>
            <a:r>
              <a:rPr lang="it-IT" dirty="0" err="1"/>
              <a:t>thousand</a:t>
            </a:r>
            <a:r>
              <a:rPr lang="it-IT" dirty="0"/>
              <a:t> </a:t>
            </a:r>
            <a:r>
              <a:rPr lang="it-IT" dirty="0" err="1"/>
              <a:t>rows</a:t>
            </a:r>
            <a:r>
              <a:rPr lang="it-IT" dirty="0"/>
              <a:t>. And </a:t>
            </a:r>
            <a:r>
              <a:rPr lang="it-IT" dirty="0" err="1"/>
              <a:t>remember</a:t>
            </a:r>
            <a:r>
              <a:rPr lang="it-IT" dirty="0"/>
              <a:t>, 99 </a:t>
            </a:r>
            <a:r>
              <a:rPr lang="it-IT" dirty="0" err="1"/>
              <a:t>percent</a:t>
            </a:r>
            <a:r>
              <a:rPr lang="it-IT" dirty="0"/>
              <a:t> of </a:t>
            </a:r>
            <a:r>
              <a:rPr lang="it-IT" dirty="0" err="1"/>
              <a:t>what</a:t>
            </a:r>
            <a:r>
              <a:rPr lang="it-IT" dirty="0"/>
              <a:t> </a:t>
            </a:r>
            <a:r>
              <a:rPr lang="it-IT" dirty="0" err="1"/>
              <a:t>we</a:t>
            </a:r>
            <a:r>
              <a:rPr lang="it-IT" dirty="0"/>
              <a:t> </a:t>
            </a:r>
            <a:r>
              <a:rPr lang="it-IT" dirty="0" err="1"/>
              <a:t>dropped</a:t>
            </a:r>
            <a:r>
              <a:rPr lang="it-IT" dirty="0"/>
              <a:t> </a:t>
            </a:r>
            <a:r>
              <a:rPr lang="it-IT" dirty="0" err="1"/>
              <a:t>was</a:t>
            </a:r>
            <a:r>
              <a:rPr lang="it-IT" dirty="0"/>
              <a:t> </a:t>
            </a:r>
            <a:r>
              <a:rPr lang="it-IT" dirty="0" err="1"/>
              <a:t>simply</a:t>
            </a:r>
            <a:r>
              <a:rPr lang="it-IT" dirty="0"/>
              <a:t> </a:t>
            </a:r>
            <a:r>
              <a:rPr lang="it-IT" dirty="0" err="1"/>
              <a:t>empty</a:t>
            </a:r>
            <a:r>
              <a:rPr lang="it-IT" dirty="0"/>
              <a:t>.</a:t>
            </a:r>
          </a:p>
          <a:p>
            <a:pPr rtl="0"/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it-IT" dirty="0"/>
              <a:t>In stages </a:t>
            </a:r>
            <a:r>
              <a:rPr lang="it-IT" dirty="0" err="1"/>
              <a:t>two</a:t>
            </a:r>
            <a:r>
              <a:rPr lang="it-IT" dirty="0"/>
              <a:t> and </a:t>
            </a:r>
            <a:r>
              <a:rPr lang="it-IT" dirty="0" err="1"/>
              <a:t>three</a:t>
            </a:r>
            <a:r>
              <a:rPr lang="it-IT" dirty="0"/>
              <a:t> </a:t>
            </a:r>
            <a:r>
              <a:rPr lang="it-IT" dirty="0" err="1"/>
              <a:t>we</a:t>
            </a:r>
            <a:r>
              <a:rPr lang="it-IT" dirty="0"/>
              <a:t> build a </a:t>
            </a:r>
            <a:r>
              <a:rPr lang="it-IT" dirty="0" err="1"/>
              <a:t>controlled</a:t>
            </a:r>
            <a:r>
              <a:rPr lang="it-IT" dirty="0"/>
              <a:t> </a:t>
            </a:r>
            <a:r>
              <a:rPr lang="it-IT" dirty="0" err="1"/>
              <a:t>vocabulary</a:t>
            </a:r>
            <a:r>
              <a:rPr lang="it-IT" dirty="0"/>
              <a:t>, one for </a:t>
            </a:r>
            <a:r>
              <a:rPr lang="it-IT" dirty="0" err="1"/>
              <a:t>each</a:t>
            </a:r>
            <a:r>
              <a:rPr lang="it-IT" dirty="0"/>
              <a:t> of the </a:t>
            </a:r>
            <a:r>
              <a:rPr lang="it-IT" dirty="0" err="1"/>
              <a:t>seven</a:t>
            </a:r>
            <a:r>
              <a:rPr lang="it-IT" dirty="0"/>
              <a:t> </a:t>
            </a:r>
            <a:r>
              <a:rPr lang="it-IT" dirty="0" err="1"/>
              <a:t>attributes</a:t>
            </a:r>
            <a:r>
              <a:rPr lang="it-IT" dirty="0"/>
              <a:t>. The </a:t>
            </a:r>
            <a:r>
              <a:rPr lang="it-IT" dirty="0" err="1"/>
              <a:t>most</a:t>
            </a:r>
            <a:r>
              <a:rPr lang="it-IT" dirty="0"/>
              <a:t> common words, and the </a:t>
            </a:r>
            <a:r>
              <a:rPr lang="it-IT" dirty="0" err="1"/>
              <a:t>most</a:t>
            </a:r>
            <a:r>
              <a:rPr lang="it-IT" dirty="0"/>
              <a:t> common word </a:t>
            </a:r>
            <a:r>
              <a:rPr lang="it-IT" dirty="0" err="1"/>
              <a:t>pairs</a:t>
            </a:r>
            <a:r>
              <a:rPr lang="it-IT" dirty="0"/>
              <a:t>. And </a:t>
            </a:r>
            <a:r>
              <a:rPr lang="it-IT" dirty="0" err="1"/>
              <a:t>we</a:t>
            </a:r>
            <a:r>
              <a:rPr lang="it-IT" dirty="0"/>
              <a:t> do </a:t>
            </a:r>
            <a:r>
              <a:rPr lang="it-IT" dirty="0" err="1"/>
              <a:t>it</a:t>
            </a:r>
            <a:r>
              <a:rPr lang="it-IT" dirty="0"/>
              <a:t> with </a:t>
            </a:r>
            <a:r>
              <a:rPr lang="it-IT" dirty="0" err="1"/>
              <a:t>our</a:t>
            </a:r>
            <a:r>
              <a:rPr lang="it-IT" dirty="0"/>
              <a:t> </a:t>
            </a:r>
            <a:r>
              <a:rPr lang="it-IT" dirty="0" err="1"/>
              <a:t>own</a:t>
            </a:r>
            <a:r>
              <a:rPr lang="it-IT" dirty="0"/>
              <a:t> </a:t>
            </a:r>
            <a:r>
              <a:rPr lang="it-IT" dirty="0" err="1"/>
              <a:t>Italian</a:t>
            </a:r>
            <a:r>
              <a:rPr lang="it-IT" dirty="0"/>
              <a:t> </a:t>
            </a:r>
            <a:r>
              <a:rPr lang="it-IT" dirty="0" err="1"/>
              <a:t>lemmatiser</a:t>
            </a:r>
            <a:r>
              <a:rPr lang="it-IT" dirty="0"/>
              <a:t>.</a:t>
            </a:r>
          </a:p>
          <a:p>
            <a:endParaRPr lang="it-IT" dirty="0"/>
          </a:p>
          <a:p>
            <a:r>
              <a:rPr lang="it-IT" dirty="0"/>
              <a:t>Why </a:t>
            </a:r>
            <a:r>
              <a:rPr lang="it-IT" dirty="0" err="1"/>
              <a:t>not</a:t>
            </a:r>
            <a:r>
              <a:rPr lang="it-IT" dirty="0"/>
              <a:t> just use a standard NLP library? </a:t>
            </a:r>
            <a:r>
              <a:rPr lang="it-IT" dirty="0" err="1"/>
              <a:t>Because</a:t>
            </a:r>
            <a:r>
              <a:rPr lang="it-IT" dirty="0"/>
              <a:t> on </a:t>
            </a:r>
            <a:r>
              <a:rPr lang="it-IT" dirty="0" err="1"/>
              <a:t>this</a:t>
            </a:r>
            <a:r>
              <a:rPr lang="it-IT" dirty="0"/>
              <a:t> </a:t>
            </a:r>
            <a:r>
              <a:rPr lang="it-IT" dirty="0" err="1"/>
              <a:t>kind</a:t>
            </a:r>
            <a:r>
              <a:rPr lang="it-IT" dirty="0"/>
              <a:t> of </a:t>
            </a:r>
            <a:r>
              <a:rPr lang="it-IT" dirty="0" err="1"/>
              <a:t>vocabulary</a:t>
            </a:r>
            <a:r>
              <a:rPr lang="it-IT" dirty="0"/>
              <a:t>, </a:t>
            </a:r>
            <a:r>
              <a:rPr lang="it-IT" dirty="0" err="1"/>
              <a:t>they</a:t>
            </a:r>
            <a:r>
              <a:rPr lang="it-IT" dirty="0"/>
              <a:t> </a:t>
            </a:r>
            <a:r>
              <a:rPr lang="it-IT" dirty="0" err="1"/>
              <a:t>get</a:t>
            </a:r>
            <a:r>
              <a:rPr lang="it-IT" dirty="0"/>
              <a:t> </a:t>
            </a:r>
            <a:r>
              <a:rPr lang="it-IT" dirty="0" err="1"/>
              <a:t>it</a:t>
            </a:r>
            <a:r>
              <a:rPr lang="it-IT" dirty="0"/>
              <a:t> </a:t>
            </a:r>
            <a:r>
              <a:rPr lang="it-IT" dirty="0" err="1"/>
              <a:t>wrong</a:t>
            </a:r>
            <a:r>
              <a:rPr lang="it-IT" dirty="0"/>
              <a:t>. "Panna", </a:t>
            </a:r>
            <a:r>
              <a:rPr lang="it-IT" dirty="0" err="1"/>
              <a:t>cream</a:t>
            </a:r>
            <a:r>
              <a:rPr lang="it-IT" dirty="0"/>
              <a:t>, </a:t>
            </a:r>
            <a:r>
              <a:rPr lang="it-IT" dirty="0" err="1"/>
              <a:t>becomes</a:t>
            </a:r>
            <a:r>
              <a:rPr lang="it-IT" dirty="0"/>
              <a:t> "panno", </a:t>
            </a:r>
            <a:r>
              <a:rPr lang="it-IT" dirty="0" err="1"/>
              <a:t>cloth</a:t>
            </a:r>
            <a:r>
              <a:rPr lang="it-IT" dirty="0"/>
              <a:t>. "Latte", </a:t>
            </a:r>
            <a:r>
              <a:rPr lang="it-IT" dirty="0" err="1"/>
              <a:t>milk</a:t>
            </a:r>
            <a:r>
              <a:rPr lang="it-IT" dirty="0"/>
              <a:t>, </a:t>
            </a:r>
            <a:r>
              <a:rPr lang="it-IT" dirty="0" err="1"/>
              <a:t>becomes</a:t>
            </a:r>
            <a:r>
              <a:rPr lang="it-IT" dirty="0"/>
              <a:t> "latto", </a:t>
            </a:r>
            <a:r>
              <a:rPr lang="it-IT" dirty="0" err="1"/>
              <a:t>which</a:t>
            </a:r>
            <a:r>
              <a:rPr lang="it-IT" dirty="0"/>
              <a:t> </a:t>
            </a:r>
            <a:r>
              <a:rPr lang="it-IT" dirty="0" err="1"/>
              <a:t>isn't</a:t>
            </a:r>
            <a:r>
              <a:rPr lang="it-IT" dirty="0"/>
              <a:t> </a:t>
            </a:r>
            <a:r>
              <a:rPr lang="it-IT" dirty="0" err="1"/>
              <a:t>even</a:t>
            </a:r>
            <a:r>
              <a:rPr lang="it-IT" dirty="0"/>
              <a:t> a word. </a:t>
            </a:r>
          </a:p>
          <a:p>
            <a:endParaRPr lang="it-IT" dirty="0"/>
          </a:p>
          <a:p>
            <a:r>
              <a:rPr lang="it-IT" dirty="0"/>
              <a:t>And </a:t>
            </a:r>
            <a:r>
              <a:rPr lang="it-IT" dirty="0" err="1"/>
              <a:t>worse</a:t>
            </a:r>
            <a:r>
              <a:rPr lang="it-IT" dirty="0"/>
              <a:t>, </a:t>
            </a:r>
            <a:r>
              <a:rPr lang="it-IT" dirty="0" err="1"/>
              <a:t>they</a:t>
            </a:r>
            <a:r>
              <a:rPr lang="it-IT" dirty="0"/>
              <a:t> </a:t>
            </a:r>
            <a:r>
              <a:rPr lang="it-IT" dirty="0" err="1"/>
              <a:t>throw</a:t>
            </a:r>
            <a:r>
              <a:rPr lang="it-IT" dirty="0"/>
              <a:t> </a:t>
            </a:r>
            <a:r>
              <a:rPr lang="it-IT" dirty="0" err="1"/>
              <a:t>away</a:t>
            </a:r>
            <a:r>
              <a:rPr lang="it-IT" dirty="0"/>
              <a:t> the </a:t>
            </a:r>
            <a:r>
              <a:rPr lang="it-IT" dirty="0" err="1"/>
              <a:t>little</a:t>
            </a:r>
            <a:r>
              <a:rPr lang="it-IT" dirty="0"/>
              <a:t> </a:t>
            </a:r>
            <a:r>
              <a:rPr lang="it-IT" dirty="0" err="1"/>
              <a:t>intensifier</a:t>
            </a:r>
            <a:r>
              <a:rPr lang="it-IT" dirty="0"/>
              <a:t> words, like "</a:t>
            </a:r>
            <a:r>
              <a:rPr lang="it-IT" dirty="0" err="1"/>
              <a:t>very</a:t>
            </a:r>
            <a:r>
              <a:rPr lang="it-IT" dirty="0"/>
              <a:t>" or "</a:t>
            </a:r>
            <a:r>
              <a:rPr lang="it-IT" dirty="0" err="1"/>
              <a:t>slightly</a:t>
            </a:r>
            <a:r>
              <a:rPr lang="it-IT" dirty="0"/>
              <a:t>", </a:t>
            </a:r>
            <a:r>
              <a:rPr lang="it-IT" dirty="0" err="1"/>
              <a:t>that</a:t>
            </a:r>
            <a:r>
              <a:rPr lang="it-IT" dirty="0"/>
              <a:t> </a:t>
            </a:r>
            <a:r>
              <a:rPr lang="it-IT" dirty="0" err="1"/>
              <a:t>actually</a:t>
            </a:r>
            <a:r>
              <a:rPr lang="it-IT" dirty="0"/>
              <a:t> </a:t>
            </a:r>
            <a:r>
              <a:rPr lang="it-IT" dirty="0" err="1"/>
              <a:t>carry</a:t>
            </a:r>
            <a:r>
              <a:rPr lang="it-IT" dirty="0"/>
              <a:t> the </a:t>
            </a:r>
            <a:r>
              <a:rPr lang="it-IT" dirty="0" err="1"/>
              <a:t>meaning</a:t>
            </a:r>
            <a:r>
              <a:rPr lang="it-IT" dirty="0"/>
              <a:t> </a:t>
            </a:r>
            <a:r>
              <a:rPr lang="it-IT" dirty="0" err="1"/>
              <a:t>here</a:t>
            </a:r>
            <a:r>
              <a:rPr lang="it-IT" dirty="0"/>
              <a:t>.</a:t>
            </a:r>
          </a:p>
          <a:p>
            <a:endParaRPr lang="it-IT" dirty="0"/>
          </a:p>
          <a:p>
            <a:r>
              <a:rPr lang="it-IT" dirty="0"/>
              <a:t>So </a:t>
            </a:r>
            <a:r>
              <a:rPr lang="it-IT" dirty="0" err="1"/>
              <a:t>we</a:t>
            </a:r>
            <a:r>
              <a:rPr lang="it-IT" dirty="0"/>
              <a:t> </a:t>
            </a:r>
            <a:r>
              <a:rPr lang="it-IT" dirty="0" err="1"/>
              <a:t>built</a:t>
            </a:r>
            <a:r>
              <a:rPr lang="it-IT" dirty="0"/>
              <a:t> </a:t>
            </a:r>
            <a:r>
              <a:rPr lang="it-IT" dirty="0" err="1"/>
              <a:t>our</a:t>
            </a:r>
            <a:r>
              <a:rPr lang="it-IT" dirty="0"/>
              <a:t> </a:t>
            </a:r>
            <a:r>
              <a:rPr lang="it-IT" dirty="0" err="1"/>
              <a:t>own</a:t>
            </a:r>
            <a:r>
              <a:rPr lang="it-IT" dirty="0"/>
              <a:t>, </a:t>
            </a:r>
            <a:r>
              <a:rPr lang="it-IT" dirty="0" err="1"/>
              <a:t>fully</a:t>
            </a:r>
            <a:r>
              <a:rPr lang="it-IT" dirty="0"/>
              <a:t> </a:t>
            </a:r>
            <a:r>
              <a:rPr lang="it-IT" dirty="0" err="1"/>
              <a:t>deterministic</a:t>
            </a:r>
            <a:r>
              <a:rPr lang="it-IT" dirty="0"/>
              <a:t>. </a:t>
            </a:r>
            <a:r>
              <a:rPr lang="it-IT" dirty="0" err="1"/>
              <a:t>It</a:t>
            </a:r>
            <a:r>
              <a:rPr lang="it-IT" dirty="0"/>
              <a:t> </a:t>
            </a:r>
            <a:r>
              <a:rPr lang="it-IT" dirty="0" err="1"/>
              <a:t>expands</a:t>
            </a:r>
            <a:r>
              <a:rPr lang="it-IT" dirty="0"/>
              <a:t> </a:t>
            </a:r>
            <a:r>
              <a:rPr lang="it-IT" dirty="0" err="1"/>
              <a:t>abbreviations</a:t>
            </a:r>
            <a:r>
              <a:rPr lang="it-IT" dirty="0"/>
              <a:t>, </a:t>
            </a:r>
            <a:r>
              <a:rPr lang="it-IT" dirty="0" err="1"/>
              <a:t>fixes</a:t>
            </a:r>
            <a:r>
              <a:rPr lang="it-IT" dirty="0"/>
              <a:t> the </a:t>
            </a:r>
            <a:r>
              <a:rPr lang="it-IT" dirty="0" err="1"/>
              <a:t>typos</a:t>
            </a:r>
            <a:r>
              <a:rPr lang="it-IT" dirty="0"/>
              <a:t> </a:t>
            </a:r>
            <a:r>
              <a:rPr lang="it-IT" dirty="0" err="1"/>
              <a:t>we</a:t>
            </a:r>
            <a:r>
              <a:rPr lang="it-IT" dirty="0"/>
              <a:t> </a:t>
            </a:r>
            <a:r>
              <a:rPr lang="it-IT" dirty="0" err="1"/>
              <a:t>found</a:t>
            </a:r>
            <a:r>
              <a:rPr lang="it-IT" dirty="0"/>
              <a:t> in the audit, and </a:t>
            </a:r>
            <a:r>
              <a:rPr lang="it-IT" dirty="0" err="1"/>
              <a:t>restores</a:t>
            </a:r>
            <a:r>
              <a:rPr lang="it-IT" dirty="0"/>
              <a:t> </a:t>
            </a:r>
            <a:r>
              <a:rPr lang="it-IT" dirty="0" err="1"/>
              <a:t>accents</a:t>
            </a:r>
            <a:r>
              <a:rPr lang="it-IT" dirty="0"/>
              <a:t> </a:t>
            </a:r>
            <a:r>
              <a:rPr lang="it-IT" dirty="0" err="1"/>
              <a:t>only</a:t>
            </a:r>
            <a:r>
              <a:rPr lang="it-IT" dirty="0"/>
              <a:t> </a:t>
            </a:r>
            <a:r>
              <a:rPr lang="it-IT" dirty="0" err="1"/>
              <a:t>when</a:t>
            </a:r>
            <a:r>
              <a:rPr lang="it-IT" dirty="0"/>
              <a:t> the </a:t>
            </a:r>
            <a:r>
              <a:rPr lang="it-IT" dirty="0" err="1"/>
              <a:t>accented</a:t>
            </a:r>
            <a:r>
              <a:rPr lang="it-IT" dirty="0"/>
              <a:t> word </a:t>
            </a:r>
            <a:r>
              <a:rPr lang="it-IT" dirty="0" err="1"/>
              <a:t>already</a:t>
            </a:r>
            <a:r>
              <a:rPr lang="it-IT" dirty="0"/>
              <a:t> </a:t>
            </a:r>
            <a:r>
              <a:rPr lang="it-IT" dirty="0" err="1"/>
              <a:t>exists</a:t>
            </a:r>
            <a:r>
              <a:rPr lang="it-IT" dirty="0"/>
              <a:t> in the data.</a:t>
            </a:r>
          </a:p>
          <a:p>
            <a:endParaRPr lang="it-IT" dirty="0"/>
          </a:p>
          <a:p>
            <a:r>
              <a:rPr lang="it-IT" dirty="0" err="1"/>
              <a:t>We</a:t>
            </a:r>
            <a:r>
              <a:rPr lang="it-IT" dirty="0"/>
              <a:t> </a:t>
            </a:r>
            <a:r>
              <a:rPr lang="it-IT" dirty="0" err="1"/>
              <a:t>also</a:t>
            </a:r>
            <a:r>
              <a:rPr lang="it-IT" dirty="0"/>
              <a:t> </a:t>
            </a:r>
            <a:r>
              <a:rPr lang="it-IT" dirty="0" err="1"/>
              <a:t>avoid</a:t>
            </a:r>
            <a:r>
              <a:rPr lang="it-IT" dirty="0"/>
              <a:t> blind </a:t>
            </a:r>
            <a:r>
              <a:rPr lang="it-IT" dirty="0" err="1"/>
              <a:t>suffix</a:t>
            </a:r>
            <a:r>
              <a:rPr lang="it-IT" dirty="0"/>
              <a:t>-cutting. A small </a:t>
            </a:r>
            <a:r>
              <a:rPr lang="it-IT" dirty="0" err="1"/>
              <a:t>handcrafted</a:t>
            </a:r>
            <a:r>
              <a:rPr lang="it-IT" dirty="0"/>
              <a:t> </a:t>
            </a:r>
            <a:r>
              <a:rPr lang="it-IT" dirty="0" err="1"/>
              <a:t>dictionary</a:t>
            </a:r>
            <a:r>
              <a:rPr lang="it-IT" dirty="0"/>
              <a:t> deals with the </a:t>
            </a:r>
            <a:r>
              <a:rPr lang="it-IT" dirty="0" err="1"/>
              <a:t>tricky</a:t>
            </a:r>
            <a:r>
              <a:rPr lang="it-IT" dirty="0"/>
              <a:t> </a:t>
            </a:r>
            <a:r>
              <a:rPr lang="it-IT" dirty="0" err="1"/>
              <a:t>cases</a:t>
            </a:r>
            <a:r>
              <a:rPr lang="it-IT" dirty="0"/>
              <a:t>. And </a:t>
            </a:r>
            <a:r>
              <a:rPr lang="it-IT" dirty="0" err="1"/>
              <a:t>we</a:t>
            </a:r>
            <a:r>
              <a:rPr lang="it-IT" dirty="0"/>
              <a:t> merge </a:t>
            </a:r>
            <a:r>
              <a:rPr lang="it-IT" dirty="0" err="1"/>
              <a:t>singular</a:t>
            </a:r>
            <a:r>
              <a:rPr lang="it-IT" dirty="0"/>
              <a:t> and </a:t>
            </a:r>
            <a:r>
              <a:rPr lang="it-IT" dirty="0" err="1"/>
              <a:t>plural</a:t>
            </a:r>
            <a:r>
              <a:rPr lang="it-IT" dirty="0"/>
              <a:t> </a:t>
            </a:r>
            <a:r>
              <a:rPr lang="it-IT" dirty="0" err="1"/>
              <a:t>only</a:t>
            </a:r>
            <a:r>
              <a:rPr lang="it-IT" dirty="0"/>
              <a:t> </a:t>
            </a:r>
            <a:r>
              <a:rPr lang="it-IT" dirty="0" err="1"/>
              <a:t>when</a:t>
            </a:r>
            <a:r>
              <a:rPr lang="it-IT" dirty="0"/>
              <a:t> </a:t>
            </a:r>
            <a:r>
              <a:rPr lang="it-IT" dirty="0" err="1"/>
              <a:t>both</a:t>
            </a:r>
            <a:r>
              <a:rPr lang="it-IT" dirty="0"/>
              <a:t> </a:t>
            </a:r>
            <a:r>
              <a:rPr lang="it-IT" dirty="0" err="1"/>
              <a:t>forms</a:t>
            </a:r>
            <a:r>
              <a:rPr lang="it-IT" dirty="0"/>
              <a:t> </a:t>
            </a:r>
            <a:r>
              <a:rPr lang="it-IT" dirty="0" err="1"/>
              <a:t>really</a:t>
            </a:r>
            <a:r>
              <a:rPr lang="it-IT" dirty="0"/>
              <a:t> </a:t>
            </a:r>
            <a:r>
              <a:rPr lang="it-IT" dirty="0" err="1"/>
              <a:t>appear</a:t>
            </a:r>
            <a:r>
              <a:rPr lang="it-IT" dirty="0"/>
              <a:t>, keeping the more common one.</a:t>
            </a:r>
          </a:p>
          <a:p>
            <a:endParaRPr lang="it-IT" dirty="0"/>
          </a:p>
          <a:p>
            <a:r>
              <a:rPr lang="it-IT" dirty="0"/>
              <a:t>The chart shows </a:t>
            </a:r>
            <a:r>
              <a:rPr lang="it-IT" dirty="0" err="1"/>
              <a:t>how</a:t>
            </a:r>
            <a:r>
              <a:rPr lang="it-IT" dirty="0"/>
              <a:t> </a:t>
            </a:r>
            <a:r>
              <a:rPr lang="it-IT" dirty="0" err="1"/>
              <a:t>rich</a:t>
            </a:r>
            <a:r>
              <a:rPr lang="it-IT" dirty="0"/>
              <a:t> </a:t>
            </a:r>
            <a:r>
              <a:rPr lang="it-IT" dirty="0" err="1"/>
              <a:t>each</a:t>
            </a:r>
            <a:r>
              <a:rPr lang="it-IT" dirty="0"/>
              <a:t> </a:t>
            </a:r>
            <a:r>
              <a:rPr lang="it-IT" dirty="0" err="1"/>
              <a:t>vocabulary</a:t>
            </a:r>
            <a:r>
              <a:rPr lang="it-IT" dirty="0"/>
              <a:t> </a:t>
            </a:r>
            <a:r>
              <a:rPr lang="it-IT" dirty="0" err="1"/>
              <a:t>is</a:t>
            </a:r>
            <a:r>
              <a:rPr lang="it-IT" dirty="0"/>
              <a:t>. Paste </a:t>
            </a:r>
            <a:r>
              <a:rPr lang="it-IT" dirty="0" err="1"/>
              <a:t>structure</a:t>
            </a:r>
            <a:r>
              <a:rPr lang="it-IT" dirty="0"/>
              <a:t> </a:t>
            </a:r>
            <a:r>
              <a:rPr lang="it-IT" dirty="0" err="1"/>
              <a:t>is</a:t>
            </a:r>
            <a:r>
              <a:rPr lang="it-IT" dirty="0"/>
              <a:t> the </a:t>
            </a:r>
            <a:r>
              <a:rPr lang="it-IT" dirty="0" err="1"/>
              <a:t>richest</a:t>
            </a:r>
            <a:r>
              <a:rPr lang="it-IT" dirty="0"/>
              <a:t>, </a:t>
            </a:r>
            <a:r>
              <a:rPr lang="it-IT" dirty="0" err="1"/>
              <a:t>around</a:t>
            </a:r>
            <a:r>
              <a:rPr lang="it-IT" dirty="0"/>
              <a:t> 780 words. Rind </a:t>
            </a:r>
            <a:r>
              <a:rPr lang="it-IT" dirty="0" err="1"/>
              <a:t>thickness</a:t>
            </a:r>
            <a:r>
              <a:rPr lang="it-IT" dirty="0"/>
              <a:t> </a:t>
            </a:r>
            <a:r>
              <a:rPr lang="it-IT" dirty="0" err="1"/>
              <a:t>is</a:t>
            </a:r>
            <a:r>
              <a:rPr lang="it-IT" dirty="0"/>
              <a:t> the </a:t>
            </a:r>
            <a:r>
              <a:rPr lang="it-IT" dirty="0" err="1"/>
              <a:t>smallest</a:t>
            </a:r>
            <a:r>
              <a:rPr lang="it-IT" dirty="0"/>
              <a:t>, </a:t>
            </a:r>
            <a:r>
              <a:rPr lang="it-IT" dirty="0" err="1"/>
              <a:t>around</a:t>
            </a:r>
            <a:r>
              <a:rPr lang="it-IT" dirty="0"/>
              <a:t> 250. </a:t>
            </a:r>
            <a:r>
              <a:rPr lang="it-IT" dirty="0" err="1"/>
              <a:t>That</a:t>
            </a:r>
            <a:r>
              <a:rPr lang="it-IT" dirty="0"/>
              <a:t> makes </a:t>
            </a:r>
            <a:r>
              <a:rPr lang="it-IT" dirty="0" err="1"/>
              <a:t>sense</a:t>
            </a:r>
            <a:r>
              <a:rPr lang="it-IT" dirty="0"/>
              <a:t>: </a:t>
            </a:r>
            <a:r>
              <a:rPr lang="it-IT" dirty="0" err="1"/>
              <a:t>there's</a:t>
            </a:r>
            <a:r>
              <a:rPr lang="it-IT" dirty="0"/>
              <a:t> just </a:t>
            </a:r>
            <a:r>
              <a:rPr lang="it-IT" dirty="0" err="1"/>
              <a:t>less</a:t>
            </a:r>
            <a:r>
              <a:rPr lang="it-IT" dirty="0"/>
              <a:t> to </a:t>
            </a:r>
            <a:r>
              <a:rPr lang="it-IT" dirty="0" err="1"/>
              <a:t>say</a:t>
            </a:r>
            <a:r>
              <a:rPr lang="it-IT" dirty="0"/>
              <a:t> </a:t>
            </a:r>
            <a:r>
              <a:rPr lang="it-IT" dirty="0" err="1"/>
              <a:t>about</a:t>
            </a:r>
            <a:r>
              <a:rPr lang="it-IT" dirty="0"/>
              <a:t> </a:t>
            </a:r>
            <a:r>
              <a:rPr lang="it-IT" dirty="0" err="1"/>
              <a:t>rind</a:t>
            </a:r>
            <a:r>
              <a:rPr lang="it-IT" dirty="0"/>
              <a:t> </a:t>
            </a:r>
            <a:r>
              <a:rPr lang="it-IT" dirty="0" err="1"/>
              <a:t>thickness</a:t>
            </a:r>
            <a:r>
              <a:rPr lang="it-IT" dirty="0"/>
              <a:t>.</a:t>
            </a:r>
          </a:p>
          <a:p>
            <a:endParaRPr lang="it-IT" dirty="0"/>
          </a:p>
          <a:p>
            <a:r>
              <a:rPr lang="it-IT" dirty="0" err="1"/>
              <a:t>We</a:t>
            </a:r>
            <a:r>
              <a:rPr lang="it-IT" dirty="0"/>
              <a:t> </a:t>
            </a:r>
            <a:r>
              <a:rPr lang="it-IT" dirty="0" err="1"/>
              <a:t>keep</a:t>
            </a:r>
            <a:r>
              <a:rPr lang="it-IT" dirty="0"/>
              <a:t> the top words and word </a:t>
            </a:r>
            <a:r>
              <a:rPr lang="it-IT" dirty="0" err="1"/>
              <a:t>pairs</a:t>
            </a:r>
            <a:r>
              <a:rPr lang="it-IT" dirty="0"/>
              <a:t>. </a:t>
            </a:r>
            <a:r>
              <a:rPr lang="it-IT" dirty="0" err="1"/>
              <a:t>They</a:t>
            </a:r>
            <a:r>
              <a:rPr lang="it-IT" dirty="0"/>
              <a:t> do </a:t>
            </a:r>
            <a:r>
              <a:rPr lang="it-IT" dirty="0" err="1"/>
              <a:t>two</a:t>
            </a:r>
            <a:r>
              <a:rPr lang="it-IT" dirty="0"/>
              <a:t> jobs: </a:t>
            </a:r>
            <a:r>
              <a:rPr lang="it-IT" dirty="0" err="1"/>
              <a:t>they're</a:t>
            </a:r>
            <a:r>
              <a:rPr lang="it-IT" dirty="0"/>
              <a:t> the </a:t>
            </a:r>
            <a:r>
              <a:rPr lang="it-IT" dirty="0" err="1"/>
              <a:t>basis</a:t>
            </a:r>
            <a:r>
              <a:rPr lang="it-IT" dirty="0"/>
              <a:t> for </a:t>
            </a:r>
            <a:r>
              <a:rPr lang="it-IT" dirty="0" err="1"/>
              <a:t>our</a:t>
            </a:r>
            <a:r>
              <a:rPr lang="it-IT" dirty="0"/>
              <a:t> audit, and </a:t>
            </a:r>
            <a:r>
              <a:rPr lang="it-IT" dirty="0" err="1"/>
              <a:t>later</a:t>
            </a:r>
            <a:r>
              <a:rPr lang="it-IT" dirty="0"/>
              <a:t> </a:t>
            </a:r>
            <a:r>
              <a:rPr lang="it-IT" dirty="0" err="1"/>
              <a:t>they</a:t>
            </a:r>
            <a:r>
              <a:rPr lang="it-IT" dirty="0"/>
              <a:t> guide the </a:t>
            </a:r>
            <a:r>
              <a:rPr lang="it-IT" dirty="0" err="1"/>
              <a:t>LLM's</a:t>
            </a:r>
            <a:r>
              <a:rPr lang="it-IT" dirty="0"/>
              <a:t> style, </a:t>
            </a:r>
            <a:r>
              <a:rPr lang="it-IT" dirty="0" err="1"/>
              <a:t>without</a:t>
            </a:r>
            <a:r>
              <a:rPr lang="it-IT" dirty="0"/>
              <a:t> </a:t>
            </a:r>
            <a:r>
              <a:rPr lang="it-IT" dirty="0" err="1"/>
              <a:t>ever</a:t>
            </a:r>
            <a:r>
              <a:rPr lang="it-IT" dirty="0"/>
              <a:t> </a:t>
            </a:r>
            <a:r>
              <a:rPr lang="it-IT" dirty="0" err="1"/>
              <a:t>being</a:t>
            </a:r>
            <a:r>
              <a:rPr lang="it-IT" dirty="0"/>
              <a:t> a </a:t>
            </a:r>
            <a:r>
              <a:rPr lang="it-IT" dirty="0" err="1"/>
              <a:t>closed</a:t>
            </a:r>
            <a:r>
              <a:rPr lang="it-IT" dirty="0"/>
              <a:t> list. The model </a:t>
            </a:r>
            <a:r>
              <a:rPr lang="it-IT" dirty="0" err="1"/>
              <a:t>already</a:t>
            </a:r>
            <a:r>
              <a:rPr lang="it-IT" dirty="0"/>
              <a:t> </a:t>
            </a:r>
            <a:r>
              <a:rPr lang="it-IT" dirty="0" err="1"/>
              <a:t>speaks</a:t>
            </a:r>
            <a:r>
              <a:rPr lang="it-IT" dirty="0"/>
              <a:t> </a:t>
            </a:r>
            <a:r>
              <a:rPr lang="it-IT" dirty="0" err="1"/>
              <a:t>Italian</a:t>
            </a:r>
            <a:r>
              <a:rPr lang="it-IT" dirty="0"/>
              <a:t>. </a:t>
            </a:r>
          </a:p>
          <a:p>
            <a:endParaRPr lang="it-IT" dirty="0"/>
          </a:p>
          <a:p>
            <a:r>
              <a:rPr lang="it-IT" dirty="0" err="1"/>
              <a:t>We</a:t>
            </a:r>
            <a:r>
              <a:rPr lang="it-IT" dirty="0"/>
              <a:t> just </a:t>
            </a:r>
            <a:r>
              <a:rPr lang="it-IT" dirty="0" err="1"/>
              <a:t>remind</a:t>
            </a:r>
            <a:r>
              <a:rPr lang="it-IT" dirty="0"/>
              <a:t> </a:t>
            </a:r>
            <a:r>
              <a:rPr lang="it-IT" dirty="0" err="1"/>
              <a:t>it</a:t>
            </a:r>
            <a:r>
              <a:rPr lang="it-IT" dirty="0"/>
              <a:t> </a:t>
            </a:r>
            <a:r>
              <a:rPr lang="it-IT" dirty="0" err="1"/>
              <a:t>how</a:t>
            </a:r>
            <a:r>
              <a:rPr lang="it-IT" dirty="0"/>
              <a:t> the panel talks.</a:t>
            </a: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it-IT" dirty="0"/>
              <a:t>Stage </a:t>
            </a:r>
            <a:r>
              <a:rPr lang="it-IT" dirty="0" err="1"/>
              <a:t>four</a:t>
            </a:r>
            <a:r>
              <a:rPr lang="it-IT" dirty="0"/>
              <a:t> deals with </a:t>
            </a:r>
            <a:r>
              <a:rPr lang="it-IT" dirty="0" err="1"/>
              <a:t>something</a:t>
            </a:r>
            <a:r>
              <a:rPr lang="it-IT" dirty="0"/>
              <a:t> the brief </a:t>
            </a:r>
            <a:r>
              <a:rPr lang="it-IT" dirty="0" err="1"/>
              <a:t>asked</a:t>
            </a:r>
            <a:r>
              <a:rPr lang="it-IT" dirty="0"/>
              <a:t> for </a:t>
            </a:r>
            <a:r>
              <a:rPr lang="it-IT" dirty="0" err="1"/>
              <a:t>directly</a:t>
            </a:r>
            <a:r>
              <a:rPr lang="it-IT" dirty="0"/>
              <a:t>: </a:t>
            </a:r>
            <a:r>
              <a:rPr lang="it-IT" dirty="0" err="1"/>
              <a:t>turning</a:t>
            </a:r>
            <a:r>
              <a:rPr lang="it-IT" dirty="0"/>
              <a:t> </a:t>
            </a:r>
            <a:r>
              <a:rPr lang="it-IT" dirty="0" err="1"/>
              <a:t>numbers</a:t>
            </a:r>
            <a:r>
              <a:rPr lang="it-IT" dirty="0"/>
              <a:t> </a:t>
            </a:r>
            <a:r>
              <a:rPr lang="it-IT" dirty="0" err="1"/>
              <a:t>into</a:t>
            </a:r>
            <a:r>
              <a:rPr lang="it-IT" dirty="0"/>
              <a:t> words.</a:t>
            </a:r>
          </a:p>
          <a:p>
            <a:endParaRPr lang="it-IT" dirty="0"/>
          </a:p>
          <a:p>
            <a:r>
              <a:rPr lang="it-IT" dirty="0"/>
              <a:t>The </a:t>
            </a:r>
            <a:r>
              <a:rPr lang="it-IT" dirty="0" err="1"/>
              <a:t>clearest</a:t>
            </a:r>
            <a:r>
              <a:rPr lang="it-IT" dirty="0"/>
              <a:t> case </a:t>
            </a:r>
            <a:r>
              <a:rPr lang="it-IT" dirty="0" err="1"/>
              <a:t>is</a:t>
            </a:r>
            <a:r>
              <a:rPr lang="it-IT" dirty="0"/>
              <a:t> </a:t>
            </a:r>
            <a:r>
              <a:rPr lang="it-IT" dirty="0" err="1"/>
              <a:t>rind</a:t>
            </a:r>
            <a:r>
              <a:rPr lang="it-IT" dirty="0"/>
              <a:t> </a:t>
            </a:r>
            <a:r>
              <a:rPr lang="it-IT" dirty="0" err="1"/>
              <a:t>thickness</a:t>
            </a:r>
            <a:r>
              <a:rPr lang="it-IT" dirty="0"/>
              <a:t>. </a:t>
            </a:r>
            <a:r>
              <a:rPr lang="it-IT" dirty="0" err="1"/>
              <a:t>Hundreds</a:t>
            </a:r>
            <a:r>
              <a:rPr lang="it-IT" dirty="0"/>
              <a:t> of </a:t>
            </a:r>
            <a:r>
              <a:rPr lang="it-IT" dirty="0" err="1"/>
              <a:t>captions</a:t>
            </a:r>
            <a:r>
              <a:rPr lang="it-IT" dirty="0"/>
              <a:t> </a:t>
            </a:r>
            <a:r>
              <a:rPr lang="it-IT" dirty="0" err="1"/>
              <a:t>were</a:t>
            </a:r>
            <a:r>
              <a:rPr lang="it-IT" dirty="0"/>
              <a:t> just </a:t>
            </a:r>
            <a:r>
              <a:rPr lang="it-IT" dirty="0" err="1"/>
              <a:t>numbers</a:t>
            </a:r>
            <a:r>
              <a:rPr lang="it-IT" dirty="0"/>
              <a:t>. "10". "1 cm". "</a:t>
            </a:r>
            <a:r>
              <a:rPr lang="it-IT" dirty="0" err="1"/>
              <a:t>around</a:t>
            </a:r>
            <a:r>
              <a:rPr lang="it-IT" dirty="0"/>
              <a:t> 9 mm". "8 to 10 mm".</a:t>
            </a:r>
          </a:p>
          <a:p>
            <a:endParaRPr lang="it-IT" dirty="0"/>
          </a:p>
          <a:p>
            <a:r>
              <a:rPr lang="it-IT" dirty="0"/>
              <a:t>So </a:t>
            </a:r>
            <a:r>
              <a:rPr lang="it-IT" dirty="0" err="1"/>
              <a:t>we</a:t>
            </a:r>
            <a:r>
              <a:rPr lang="it-IT" dirty="0"/>
              <a:t> </a:t>
            </a:r>
            <a:r>
              <a:rPr lang="it-IT" dirty="0" err="1"/>
              <a:t>wrote</a:t>
            </a:r>
            <a:r>
              <a:rPr lang="it-IT" dirty="0"/>
              <a:t> a </a:t>
            </a:r>
            <a:r>
              <a:rPr lang="it-IT" dirty="0" err="1"/>
              <a:t>function</a:t>
            </a:r>
            <a:r>
              <a:rPr lang="it-IT" dirty="0"/>
              <a:t> </a:t>
            </a:r>
            <a:r>
              <a:rPr lang="it-IT" dirty="0" err="1"/>
              <a:t>that</a:t>
            </a:r>
            <a:r>
              <a:rPr lang="it-IT" dirty="0"/>
              <a:t> spots </a:t>
            </a:r>
            <a:r>
              <a:rPr lang="it-IT" dirty="0" err="1"/>
              <a:t>these</a:t>
            </a:r>
            <a:r>
              <a:rPr lang="it-IT" dirty="0"/>
              <a:t> pure </a:t>
            </a:r>
            <a:r>
              <a:rPr lang="it-IT" dirty="0" err="1"/>
              <a:t>numbers</a:t>
            </a:r>
            <a:r>
              <a:rPr lang="it-IT" dirty="0"/>
              <a:t>, </a:t>
            </a:r>
            <a:r>
              <a:rPr lang="it-IT" dirty="0" err="1"/>
              <a:t>converts</a:t>
            </a:r>
            <a:r>
              <a:rPr lang="it-IT" dirty="0"/>
              <a:t> </a:t>
            </a:r>
            <a:r>
              <a:rPr lang="it-IT" dirty="0" err="1"/>
              <a:t>everything</a:t>
            </a:r>
            <a:r>
              <a:rPr lang="it-IT" dirty="0"/>
              <a:t> to </a:t>
            </a:r>
            <a:r>
              <a:rPr lang="it-IT" dirty="0" err="1"/>
              <a:t>millimetres</a:t>
            </a:r>
            <a:r>
              <a:rPr lang="it-IT" dirty="0"/>
              <a:t>, and sorts </a:t>
            </a:r>
            <a:r>
              <a:rPr lang="it-IT" dirty="0" err="1"/>
              <a:t>them</a:t>
            </a:r>
            <a:r>
              <a:rPr lang="it-IT" dirty="0"/>
              <a:t> </a:t>
            </a:r>
            <a:r>
              <a:rPr lang="it-IT" dirty="0" err="1"/>
              <a:t>into</a:t>
            </a:r>
            <a:r>
              <a:rPr lang="it-IT" dirty="0"/>
              <a:t> </a:t>
            </a:r>
            <a:r>
              <a:rPr lang="it-IT" dirty="0" err="1"/>
              <a:t>named</a:t>
            </a:r>
            <a:r>
              <a:rPr lang="it-IT" dirty="0"/>
              <a:t> buckets. Below 8, </a:t>
            </a:r>
            <a:r>
              <a:rPr lang="it-IT" dirty="0" err="1"/>
              <a:t>very</a:t>
            </a:r>
            <a:r>
              <a:rPr lang="it-IT" dirty="0"/>
              <a:t> </a:t>
            </a:r>
            <a:r>
              <a:rPr lang="it-IT" dirty="0" err="1"/>
              <a:t>thin</a:t>
            </a:r>
            <a:r>
              <a:rPr lang="it-IT" dirty="0"/>
              <a:t>. Up to 10, </a:t>
            </a:r>
            <a:r>
              <a:rPr lang="it-IT" dirty="0" err="1"/>
              <a:t>thin</a:t>
            </a:r>
            <a:r>
              <a:rPr lang="it-IT" dirty="0"/>
              <a:t>. And so on, up to </a:t>
            </a:r>
            <a:r>
              <a:rPr lang="it-IT" dirty="0" err="1"/>
              <a:t>very</a:t>
            </a:r>
            <a:r>
              <a:rPr lang="it-IT" dirty="0"/>
              <a:t> </a:t>
            </a:r>
            <a:r>
              <a:rPr lang="it-IT" dirty="0" err="1"/>
              <a:t>thick</a:t>
            </a:r>
            <a:r>
              <a:rPr lang="it-IT" dirty="0"/>
              <a:t> </a:t>
            </a:r>
            <a:r>
              <a:rPr lang="it-IT" dirty="0" err="1"/>
              <a:t>above</a:t>
            </a:r>
            <a:r>
              <a:rPr lang="it-IT" dirty="0"/>
              <a:t> 18.</a:t>
            </a:r>
          </a:p>
          <a:p>
            <a:endParaRPr lang="it-IT" dirty="0"/>
          </a:p>
          <a:p>
            <a:r>
              <a:rPr lang="it-IT" dirty="0"/>
              <a:t>Why do </a:t>
            </a:r>
            <a:r>
              <a:rPr lang="it-IT" dirty="0" err="1"/>
              <a:t>this</a:t>
            </a:r>
            <a:r>
              <a:rPr lang="it-IT" dirty="0"/>
              <a:t> with code, and </a:t>
            </a:r>
            <a:r>
              <a:rPr lang="it-IT" dirty="0" err="1"/>
              <a:t>not</a:t>
            </a:r>
            <a:r>
              <a:rPr lang="it-IT" dirty="0"/>
              <a:t> the LLM? </a:t>
            </a:r>
            <a:r>
              <a:rPr lang="it-IT" dirty="0" err="1"/>
              <a:t>Because</a:t>
            </a:r>
            <a:r>
              <a:rPr lang="it-IT" dirty="0"/>
              <a:t> </a:t>
            </a:r>
            <a:r>
              <a:rPr lang="it-IT" dirty="0" err="1"/>
              <a:t>it</a:t>
            </a:r>
            <a:r>
              <a:rPr lang="it-IT" dirty="0"/>
              <a:t> </a:t>
            </a:r>
            <a:r>
              <a:rPr lang="it-IT" dirty="0" err="1"/>
              <a:t>kills</a:t>
            </a:r>
            <a:r>
              <a:rPr lang="it-IT" dirty="0"/>
              <a:t> the </a:t>
            </a:r>
            <a:r>
              <a:rPr lang="it-IT" dirty="0" err="1"/>
              <a:t>model's</a:t>
            </a:r>
            <a:r>
              <a:rPr lang="it-IT" dirty="0"/>
              <a:t> </a:t>
            </a:r>
            <a:r>
              <a:rPr lang="it-IT" dirty="0" err="1"/>
              <a:t>biggest</a:t>
            </a:r>
            <a:r>
              <a:rPr lang="it-IT" dirty="0"/>
              <a:t> source of </a:t>
            </a:r>
            <a:r>
              <a:rPr lang="it-IT" dirty="0" err="1"/>
              <a:t>confusion</a:t>
            </a:r>
            <a:r>
              <a:rPr lang="it-IT" dirty="0"/>
              <a:t>. The LLM </a:t>
            </a:r>
            <a:r>
              <a:rPr lang="it-IT" dirty="0" err="1"/>
              <a:t>would</a:t>
            </a:r>
            <a:r>
              <a:rPr lang="it-IT" dirty="0"/>
              <a:t> </a:t>
            </a:r>
            <a:r>
              <a:rPr lang="it-IT" dirty="0" err="1"/>
              <a:t>read</a:t>
            </a:r>
            <a:r>
              <a:rPr lang="it-IT" dirty="0"/>
              <a:t> "1 cm" and "10 mm" </a:t>
            </a:r>
            <a:r>
              <a:rPr lang="it-IT" dirty="0" err="1"/>
              <a:t>as</a:t>
            </a:r>
            <a:r>
              <a:rPr lang="it-IT" dirty="0"/>
              <a:t> </a:t>
            </a:r>
            <a:r>
              <a:rPr lang="it-IT" dirty="0" err="1"/>
              <a:t>different</a:t>
            </a:r>
            <a:r>
              <a:rPr lang="it-IT" dirty="0"/>
              <a:t> </a:t>
            </a:r>
            <a:r>
              <a:rPr lang="it-IT" dirty="0" err="1"/>
              <a:t>things</a:t>
            </a:r>
            <a:r>
              <a:rPr lang="it-IT" dirty="0"/>
              <a:t>, </a:t>
            </a:r>
            <a:r>
              <a:rPr lang="it-IT" dirty="0" err="1"/>
              <a:t>even</a:t>
            </a:r>
            <a:r>
              <a:rPr lang="it-IT" dirty="0"/>
              <a:t> </a:t>
            </a:r>
            <a:r>
              <a:rPr lang="it-IT" dirty="0" err="1"/>
              <a:t>though</a:t>
            </a:r>
            <a:r>
              <a:rPr lang="it-IT" dirty="0"/>
              <a:t> </a:t>
            </a:r>
            <a:r>
              <a:rPr lang="it-IT" dirty="0" err="1"/>
              <a:t>they're</a:t>
            </a:r>
            <a:r>
              <a:rPr lang="it-IT" dirty="0"/>
              <a:t> the </a:t>
            </a:r>
            <a:r>
              <a:rPr lang="it-IT" dirty="0" err="1"/>
              <a:t>exact</a:t>
            </a:r>
            <a:r>
              <a:rPr lang="it-IT" dirty="0"/>
              <a:t> </a:t>
            </a:r>
            <a:r>
              <a:rPr lang="it-IT" dirty="0" err="1"/>
              <a:t>same</a:t>
            </a:r>
            <a:r>
              <a:rPr lang="it-IT" dirty="0"/>
              <a:t> size.</a:t>
            </a:r>
          </a:p>
          <a:p>
            <a:endParaRPr lang="it-IT" dirty="0"/>
          </a:p>
          <a:p>
            <a:r>
              <a:rPr lang="it-IT" dirty="0"/>
              <a:t>On the </a:t>
            </a:r>
            <a:r>
              <a:rPr lang="it-IT" dirty="0" err="1"/>
              <a:t>right</a:t>
            </a:r>
            <a:r>
              <a:rPr lang="it-IT" dirty="0"/>
              <a:t> </a:t>
            </a:r>
            <a:r>
              <a:rPr lang="it-IT" dirty="0" err="1"/>
              <a:t>you</a:t>
            </a:r>
            <a:r>
              <a:rPr lang="it-IT" dirty="0"/>
              <a:t> </a:t>
            </a:r>
            <a:r>
              <a:rPr lang="it-IT" dirty="0" err="1"/>
              <a:t>see</a:t>
            </a:r>
            <a:r>
              <a:rPr lang="it-IT" dirty="0"/>
              <a:t> the </a:t>
            </a:r>
            <a:r>
              <a:rPr lang="it-IT" dirty="0" err="1"/>
              <a:t>result</a:t>
            </a:r>
            <a:r>
              <a:rPr lang="it-IT" dirty="0"/>
              <a:t>: 424 </a:t>
            </a:r>
            <a:r>
              <a:rPr lang="it-IT" dirty="0" err="1"/>
              <a:t>numeric</a:t>
            </a:r>
            <a:r>
              <a:rPr lang="it-IT" dirty="0"/>
              <a:t> </a:t>
            </a:r>
            <a:r>
              <a:rPr lang="it-IT" dirty="0" err="1"/>
              <a:t>rows</a:t>
            </a:r>
            <a:r>
              <a:rPr lang="it-IT" dirty="0"/>
              <a:t>, </a:t>
            </a:r>
            <a:r>
              <a:rPr lang="it-IT" dirty="0" err="1"/>
              <a:t>sorted</a:t>
            </a:r>
            <a:r>
              <a:rPr lang="it-IT" dirty="0"/>
              <a:t> </a:t>
            </a:r>
            <a:r>
              <a:rPr lang="it-IT" dirty="0" err="1"/>
              <a:t>cleanly</a:t>
            </a:r>
            <a:r>
              <a:rPr lang="it-IT" dirty="0"/>
              <a:t> </a:t>
            </a:r>
            <a:r>
              <a:rPr lang="it-IT" dirty="0" err="1"/>
              <a:t>into</a:t>
            </a:r>
            <a:r>
              <a:rPr lang="it-IT" dirty="0"/>
              <a:t> </a:t>
            </a:r>
            <a:r>
              <a:rPr lang="it-IT" dirty="0" err="1"/>
              <a:t>five</a:t>
            </a:r>
            <a:r>
              <a:rPr lang="it-IT" dirty="0"/>
              <a:t> buckets.</a:t>
            </a:r>
          </a:p>
          <a:p>
            <a:endParaRPr lang="it-IT" dirty="0"/>
          </a:p>
          <a:p>
            <a:r>
              <a:rPr lang="it-IT" dirty="0"/>
              <a:t>The mixed </a:t>
            </a:r>
            <a:r>
              <a:rPr lang="it-IT" dirty="0" err="1"/>
              <a:t>captions</a:t>
            </a:r>
            <a:r>
              <a:rPr lang="it-IT" dirty="0"/>
              <a:t>, the </a:t>
            </a:r>
            <a:r>
              <a:rPr lang="it-IT" dirty="0" err="1"/>
              <a:t>ones</a:t>
            </a:r>
            <a:r>
              <a:rPr lang="it-IT" dirty="0"/>
              <a:t> with </a:t>
            </a:r>
            <a:r>
              <a:rPr lang="it-IT" dirty="0" err="1"/>
              <a:t>both</a:t>
            </a:r>
            <a:r>
              <a:rPr lang="it-IT" dirty="0"/>
              <a:t> a </a:t>
            </a:r>
            <a:r>
              <a:rPr lang="it-IT" dirty="0" err="1"/>
              <a:t>number</a:t>
            </a:r>
            <a:r>
              <a:rPr lang="it-IT" dirty="0"/>
              <a:t> and a </a:t>
            </a:r>
            <a:r>
              <a:rPr lang="it-IT" dirty="0" err="1"/>
              <a:t>description</a:t>
            </a:r>
            <a:r>
              <a:rPr lang="it-IT" dirty="0"/>
              <a:t>, </a:t>
            </a:r>
            <a:r>
              <a:rPr lang="it-IT" dirty="0" err="1"/>
              <a:t>we</a:t>
            </a:r>
            <a:r>
              <a:rPr lang="it-IT" dirty="0"/>
              <a:t> </a:t>
            </a:r>
            <a:r>
              <a:rPr lang="it-IT" dirty="0" err="1"/>
              <a:t>leave</a:t>
            </a:r>
            <a:r>
              <a:rPr lang="it-IT" dirty="0"/>
              <a:t> to the LLM, </a:t>
            </a:r>
            <a:r>
              <a:rPr lang="it-IT" dirty="0" err="1"/>
              <a:t>because</a:t>
            </a:r>
            <a:r>
              <a:rPr lang="it-IT" dirty="0"/>
              <a:t> </a:t>
            </a:r>
            <a:r>
              <a:rPr lang="it-IT" dirty="0" err="1"/>
              <a:t>those</a:t>
            </a:r>
            <a:r>
              <a:rPr lang="it-IT" dirty="0"/>
              <a:t> </a:t>
            </a:r>
            <a:r>
              <a:rPr lang="it-IT" dirty="0" err="1"/>
              <a:t>need</a:t>
            </a:r>
            <a:r>
              <a:rPr lang="it-IT" dirty="0"/>
              <a:t> </a:t>
            </a:r>
            <a:r>
              <a:rPr lang="it-IT" dirty="0" err="1"/>
              <a:t>real</a:t>
            </a:r>
            <a:r>
              <a:rPr lang="it-IT" dirty="0"/>
              <a:t> </a:t>
            </a:r>
            <a:r>
              <a:rPr lang="it-IT" dirty="0" err="1"/>
              <a:t>judgement</a:t>
            </a:r>
            <a:r>
              <a:rPr lang="it-IT" dirty="0"/>
              <a:t>.</a:t>
            </a:r>
          </a:p>
          <a:p>
            <a:pPr rtl="0"/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it-IT" dirty="0" err="1"/>
              <a:t>This</a:t>
            </a:r>
            <a:r>
              <a:rPr lang="it-IT" dirty="0"/>
              <a:t> </a:t>
            </a:r>
            <a:r>
              <a:rPr lang="it-IT" dirty="0" err="1"/>
              <a:t>is</a:t>
            </a:r>
            <a:r>
              <a:rPr lang="it-IT" dirty="0"/>
              <a:t> the single </a:t>
            </a:r>
            <a:r>
              <a:rPr lang="it-IT" dirty="0" err="1"/>
              <a:t>trick</a:t>
            </a:r>
            <a:r>
              <a:rPr lang="it-IT" dirty="0"/>
              <a:t> </a:t>
            </a:r>
            <a:r>
              <a:rPr lang="it-IT" dirty="0" err="1"/>
              <a:t>that</a:t>
            </a:r>
            <a:r>
              <a:rPr lang="it-IT" dirty="0"/>
              <a:t> made the project cheap: </a:t>
            </a:r>
            <a:r>
              <a:rPr lang="it-IT" dirty="0" err="1"/>
              <a:t>deduplication</a:t>
            </a:r>
            <a:r>
              <a:rPr lang="it-IT" dirty="0"/>
              <a:t>.</a:t>
            </a:r>
          </a:p>
          <a:p>
            <a:endParaRPr lang="it-IT" dirty="0"/>
          </a:p>
          <a:p>
            <a:r>
              <a:rPr lang="it-IT" dirty="0"/>
              <a:t>Remember the broadcast? </a:t>
            </a:r>
            <a:r>
              <a:rPr lang="it-IT" dirty="0" err="1"/>
              <a:t>We</a:t>
            </a:r>
            <a:r>
              <a:rPr lang="it-IT" dirty="0"/>
              <a:t> </a:t>
            </a:r>
            <a:r>
              <a:rPr lang="it-IT" dirty="0" err="1"/>
              <a:t>copied</a:t>
            </a:r>
            <a:r>
              <a:rPr lang="it-IT" dirty="0"/>
              <a:t> </a:t>
            </a:r>
            <a:r>
              <a:rPr lang="it-IT" dirty="0" err="1"/>
              <a:t>each</a:t>
            </a:r>
            <a:r>
              <a:rPr lang="it-IT" dirty="0"/>
              <a:t> </a:t>
            </a:r>
            <a:r>
              <a:rPr lang="it-IT" dirty="0" err="1"/>
              <a:t>comment</a:t>
            </a:r>
            <a:r>
              <a:rPr lang="it-IT" dirty="0"/>
              <a:t> </a:t>
            </a:r>
            <a:r>
              <a:rPr lang="it-IT" dirty="0" err="1"/>
              <a:t>across</a:t>
            </a:r>
            <a:r>
              <a:rPr lang="it-IT" dirty="0"/>
              <a:t> </a:t>
            </a:r>
            <a:r>
              <a:rPr lang="it-IT" dirty="0" err="1"/>
              <a:t>four</a:t>
            </a:r>
            <a:r>
              <a:rPr lang="it-IT" dirty="0"/>
              <a:t> images. </a:t>
            </a:r>
            <a:r>
              <a:rPr lang="it-IT" dirty="0" err="1"/>
              <a:t>That</a:t>
            </a:r>
            <a:r>
              <a:rPr lang="it-IT" dirty="0"/>
              <a:t> </a:t>
            </a:r>
            <a:r>
              <a:rPr lang="it-IT" dirty="0" err="1"/>
              <a:t>means</a:t>
            </a:r>
            <a:r>
              <a:rPr lang="it-IT" dirty="0"/>
              <a:t> the </a:t>
            </a:r>
            <a:r>
              <a:rPr lang="it-IT" dirty="0" err="1"/>
              <a:t>exact</a:t>
            </a:r>
            <a:r>
              <a:rPr lang="it-IT" dirty="0"/>
              <a:t> </a:t>
            </a:r>
            <a:r>
              <a:rPr lang="it-IT" dirty="0" err="1"/>
              <a:t>same</a:t>
            </a:r>
            <a:r>
              <a:rPr lang="it-IT" dirty="0"/>
              <a:t> text </a:t>
            </a:r>
            <a:r>
              <a:rPr lang="it-IT" dirty="0" err="1"/>
              <a:t>would</a:t>
            </a:r>
            <a:r>
              <a:rPr lang="it-IT" dirty="0"/>
              <a:t> be </a:t>
            </a:r>
            <a:r>
              <a:rPr lang="it-IT" dirty="0" err="1"/>
              <a:t>sent</a:t>
            </a:r>
            <a:r>
              <a:rPr lang="it-IT" dirty="0"/>
              <a:t> to the LLM over and over, and </a:t>
            </a:r>
            <a:r>
              <a:rPr lang="it-IT" dirty="0" err="1"/>
              <a:t>we'd</a:t>
            </a:r>
            <a:r>
              <a:rPr lang="it-IT" dirty="0"/>
              <a:t> </a:t>
            </a:r>
            <a:r>
              <a:rPr lang="it-IT" dirty="0" err="1"/>
              <a:t>pay</a:t>
            </a:r>
            <a:r>
              <a:rPr lang="it-IT" dirty="0"/>
              <a:t> </a:t>
            </a:r>
            <a:r>
              <a:rPr lang="it-IT" dirty="0" err="1"/>
              <a:t>every</a:t>
            </a:r>
            <a:r>
              <a:rPr lang="it-IT" dirty="0"/>
              <a:t> time. </a:t>
            </a:r>
            <a:r>
              <a:rPr lang="it-IT" dirty="0" err="1"/>
              <a:t>That</a:t>
            </a:r>
            <a:r>
              <a:rPr lang="it-IT" dirty="0"/>
              <a:t> makes no </a:t>
            </a:r>
            <a:r>
              <a:rPr lang="it-IT" dirty="0" err="1"/>
              <a:t>sense</a:t>
            </a:r>
            <a:r>
              <a:rPr lang="it-IT" dirty="0"/>
              <a:t>.</a:t>
            </a:r>
          </a:p>
          <a:p>
            <a:endParaRPr lang="it-IT" dirty="0"/>
          </a:p>
          <a:p>
            <a:r>
              <a:rPr lang="it-IT" dirty="0"/>
              <a:t>So </a:t>
            </a:r>
            <a:r>
              <a:rPr lang="it-IT" dirty="0" err="1"/>
              <a:t>before</a:t>
            </a:r>
            <a:r>
              <a:rPr lang="it-IT" dirty="0"/>
              <a:t> </a:t>
            </a:r>
            <a:r>
              <a:rPr lang="it-IT" dirty="0" err="1"/>
              <a:t>we</a:t>
            </a:r>
            <a:r>
              <a:rPr lang="it-IT" dirty="0"/>
              <a:t> call the model, </a:t>
            </a:r>
            <a:r>
              <a:rPr lang="it-IT" dirty="0" err="1"/>
              <a:t>we</a:t>
            </a:r>
            <a:r>
              <a:rPr lang="it-IT" dirty="0"/>
              <a:t> </a:t>
            </a:r>
            <a:r>
              <a:rPr lang="it-IT" dirty="0" err="1"/>
              <a:t>remove</a:t>
            </a:r>
            <a:r>
              <a:rPr lang="it-IT" dirty="0"/>
              <a:t> the </a:t>
            </a:r>
            <a:r>
              <a:rPr lang="it-IT" dirty="0" err="1"/>
              <a:t>duplicates</a:t>
            </a:r>
            <a:r>
              <a:rPr lang="it-IT" dirty="0"/>
              <a:t>. </a:t>
            </a:r>
            <a:r>
              <a:rPr lang="it-IT" dirty="0" err="1"/>
              <a:t>We</a:t>
            </a:r>
            <a:r>
              <a:rPr lang="it-IT" dirty="0"/>
              <a:t> group by </a:t>
            </a:r>
            <a:r>
              <a:rPr lang="it-IT" dirty="0" err="1"/>
              <a:t>caption</a:t>
            </a:r>
            <a:r>
              <a:rPr lang="it-IT" dirty="0"/>
              <a:t> and </a:t>
            </a:r>
            <a:r>
              <a:rPr lang="it-IT" dirty="0" err="1"/>
              <a:t>attribute</a:t>
            </a:r>
            <a:r>
              <a:rPr lang="it-IT" dirty="0"/>
              <a:t>.</a:t>
            </a:r>
          </a:p>
          <a:p>
            <a:endParaRPr lang="it-IT" dirty="0"/>
          </a:p>
          <a:p>
            <a:r>
              <a:rPr lang="it-IT" dirty="0"/>
              <a:t>The </a:t>
            </a:r>
            <a:r>
              <a:rPr lang="it-IT" dirty="0" err="1"/>
              <a:t>result</a:t>
            </a:r>
            <a:r>
              <a:rPr lang="it-IT" dirty="0"/>
              <a:t> </a:t>
            </a:r>
            <a:r>
              <a:rPr lang="it-IT" dirty="0" err="1"/>
              <a:t>is</a:t>
            </a:r>
            <a:r>
              <a:rPr lang="it-IT" dirty="0"/>
              <a:t> </a:t>
            </a:r>
            <a:r>
              <a:rPr lang="it-IT" dirty="0" err="1"/>
              <a:t>sharp</a:t>
            </a:r>
            <a:r>
              <a:rPr lang="it-IT" dirty="0"/>
              <a:t>. Over 39 </a:t>
            </a:r>
            <a:r>
              <a:rPr lang="it-IT" dirty="0" err="1"/>
              <a:t>thousand</a:t>
            </a:r>
            <a:r>
              <a:rPr lang="it-IT" dirty="0"/>
              <a:t> </a:t>
            </a:r>
            <a:r>
              <a:rPr lang="it-IT" dirty="0" err="1"/>
              <a:t>rows</a:t>
            </a:r>
            <a:r>
              <a:rPr lang="it-IT" dirty="0"/>
              <a:t> </a:t>
            </a:r>
            <a:r>
              <a:rPr lang="it-IT" dirty="0" err="1"/>
              <a:t>shrink</a:t>
            </a:r>
            <a:r>
              <a:rPr lang="it-IT" dirty="0"/>
              <a:t> to </a:t>
            </a:r>
            <a:r>
              <a:rPr lang="it-IT" dirty="0" err="1"/>
              <a:t>about</a:t>
            </a:r>
            <a:r>
              <a:rPr lang="it-IT" dirty="0"/>
              <a:t> 7,700 </a:t>
            </a:r>
            <a:r>
              <a:rPr lang="it-IT" dirty="0" err="1"/>
              <a:t>unique</a:t>
            </a:r>
            <a:r>
              <a:rPr lang="it-IT" dirty="0"/>
              <a:t> </a:t>
            </a:r>
            <a:r>
              <a:rPr lang="it-IT" dirty="0" err="1"/>
              <a:t>captions</a:t>
            </a:r>
            <a:r>
              <a:rPr lang="it-IT" dirty="0"/>
              <a:t>. </a:t>
            </a:r>
            <a:r>
              <a:rPr lang="it-IT" dirty="0" err="1"/>
              <a:t>That's</a:t>
            </a:r>
            <a:r>
              <a:rPr lang="it-IT" dirty="0"/>
              <a:t> a 5-fold </a:t>
            </a:r>
            <a:r>
              <a:rPr lang="it-IT" dirty="0" err="1"/>
              <a:t>cut</a:t>
            </a:r>
            <a:r>
              <a:rPr lang="it-IT" dirty="0"/>
              <a:t>. The chart shows </a:t>
            </a:r>
            <a:r>
              <a:rPr lang="it-IT" dirty="0" err="1"/>
              <a:t>it</a:t>
            </a:r>
            <a:r>
              <a:rPr lang="it-IT" dirty="0"/>
              <a:t> per </a:t>
            </a:r>
            <a:r>
              <a:rPr lang="it-IT" dirty="0" err="1"/>
              <a:t>attribute</a:t>
            </a:r>
            <a:r>
              <a:rPr lang="it-IT" dirty="0"/>
              <a:t>: </a:t>
            </a:r>
            <a:r>
              <a:rPr lang="it-IT" dirty="0" err="1"/>
              <a:t>prepared</a:t>
            </a:r>
            <a:r>
              <a:rPr lang="it-IT" dirty="0"/>
              <a:t> </a:t>
            </a:r>
            <a:r>
              <a:rPr lang="it-IT" dirty="0" err="1"/>
              <a:t>rows</a:t>
            </a:r>
            <a:r>
              <a:rPr lang="it-IT" dirty="0"/>
              <a:t> on one side, </a:t>
            </a:r>
            <a:r>
              <a:rPr lang="it-IT" dirty="0" err="1"/>
              <a:t>unique</a:t>
            </a:r>
            <a:r>
              <a:rPr lang="it-IT" dirty="0"/>
              <a:t> </a:t>
            </a:r>
            <a:r>
              <a:rPr lang="it-IT" dirty="0" err="1"/>
              <a:t>captions</a:t>
            </a:r>
            <a:r>
              <a:rPr lang="it-IT" dirty="0"/>
              <a:t> on the </a:t>
            </a:r>
            <a:r>
              <a:rPr lang="it-IT" dirty="0" err="1"/>
              <a:t>other</a:t>
            </a:r>
            <a:r>
              <a:rPr lang="it-IT" dirty="0"/>
              <a:t>.</a:t>
            </a:r>
          </a:p>
          <a:p>
            <a:endParaRPr lang="it-IT" dirty="0"/>
          </a:p>
          <a:p>
            <a:r>
              <a:rPr lang="it-IT" dirty="0"/>
              <a:t>And </a:t>
            </a:r>
            <a:r>
              <a:rPr lang="it-IT" dirty="0" err="1"/>
              <a:t>you</a:t>
            </a:r>
            <a:r>
              <a:rPr lang="it-IT" dirty="0"/>
              <a:t> can </a:t>
            </a:r>
            <a:r>
              <a:rPr lang="it-IT" dirty="0" err="1"/>
              <a:t>see</a:t>
            </a:r>
            <a:r>
              <a:rPr lang="it-IT" dirty="0"/>
              <a:t> the </a:t>
            </a:r>
            <a:r>
              <a:rPr lang="it-IT" dirty="0" err="1"/>
              <a:t>broadcast's</a:t>
            </a:r>
            <a:r>
              <a:rPr lang="it-IT" dirty="0"/>
              <a:t> </a:t>
            </a:r>
            <a:r>
              <a:rPr lang="it-IT" dirty="0" err="1"/>
              <a:t>fingerprint</a:t>
            </a:r>
            <a:r>
              <a:rPr lang="it-IT" dirty="0"/>
              <a:t>: </a:t>
            </a:r>
            <a:r>
              <a:rPr lang="it-IT" dirty="0" err="1"/>
              <a:t>almost</a:t>
            </a:r>
            <a:r>
              <a:rPr lang="it-IT" dirty="0"/>
              <a:t> 6,600 </a:t>
            </a:r>
            <a:r>
              <a:rPr lang="it-IT" dirty="0" err="1"/>
              <a:t>captions</a:t>
            </a:r>
            <a:r>
              <a:rPr lang="it-IT" dirty="0"/>
              <a:t> </a:t>
            </a:r>
            <a:r>
              <a:rPr lang="it-IT" dirty="0" err="1"/>
              <a:t>appear</a:t>
            </a:r>
            <a:r>
              <a:rPr lang="it-IT" dirty="0"/>
              <a:t> </a:t>
            </a:r>
            <a:r>
              <a:rPr lang="it-IT" dirty="0" err="1"/>
              <a:t>exactly</a:t>
            </a:r>
            <a:r>
              <a:rPr lang="it-IT" dirty="0"/>
              <a:t> </a:t>
            </a:r>
            <a:r>
              <a:rPr lang="it-IT" dirty="0" err="1"/>
              <a:t>four</a:t>
            </a:r>
            <a:r>
              <a:rPr lang="it-IT" dirty="0"/>
              <a:t> times.</a:t>
            </a:r>
          </a:p>
          <a:p>
            <a:endParaRPr lang="it-IT" dirty="0"/>
          </a:p>
          <a:p>
            <a:r>
              <a:rPr lang="it-IT" dirty="0"/>
              <a:t>So </a:t>
            </a:r>
            <a:r>
              <a:rPr lang="it-IT" dirty="0" err="1"/>
              <a:t>we</a:t>
            </a:r>
            <a:r>
              <a:rPr lang="it-IT" dirty="0"/>
              <a:t> </a:t>
            </a:r>
            <a:r>
              <a:rPr lang="it-IT" dirty="0" err="1"/>
              <a:t>only</a:t>
            </a:r>
            <a:r>
              <a:rPr lang="it-IT" dirty="0"/>
              <a:t> </a:t>
            </a:r>
            <a:r>
              <a:rPr lang="it-IT" dirty="0" err="1"/>
              <a:t>send</a:t>
            </a:r>
            <a:r>
              <a:rPr lang="it-IT" dirty="0"/>
              <a:t> the LLM the </a:t>
            </a:r>
            <a:r>
              <a:rPr lang="it-IT" dirty="0" err="1"/>
              <a:t>unique</a:t>
            </a:r>
            <a:r>
              <a:rPr lang="it-IT" dirty="0"/>
              <a:t> </a:t>
            </a:r>
            <a:r>
              <a:rPr lang="it-IT" dirty="0" err="1"/>
              <a:t>captions</a:t>
            </a:r>
            <a:r>
              <a:rPr lang="it-IT" dirty="0"/>
              <a:t>. </a:t>
            </a:r>
            <a:r>
              <a:rPr lang="it-IT" dirty="0" err="1"/>
              <a:t>That</a:t>
            </a:r>
            <a:r>
              <a:rPr lang="it-IT" dirty="0"/>
              <a:t> </a:t>
            </a:r>
            <a:r>
              <a:rPr lang="it-IT" dirty="0" err="1"/>
              <a:t>cuts</a:t>
            </a:r>
            <a:r>
              <a:rPr lang="it-IT" dirty="0"/>
              <a:t> the cost by </a:t>
            </a:r>
            <a:r>
              <a:rPr lang="it-IT" dirty="0" err="1"/>
              <a:t>about</a:t>
            </a:r>
            <a:r>
              <a:rPr lang="it-IT" dirty="0"/>
              <a:t> </a:t>
            </a:r>
            <a:r>
              <a:rPr lang="it-IT" dirty="0" err="1"/>
              <a:t>five</a:t>
            </a:r>
            <a:r>
              <a:rPr lang="it-IT" dirty="0"/>
              <a:t> times.</a:t>
            </a:r>
          </a:p>
          <a:p>
            <a:endParaRPr lang="it-IT" dirty="0"/>
          </a:p>
          <a:p>
            <a:r>
              <a:rPr lang="it-IT" dirty="0" err="1"/>
              <a:t>It's</a:t>
            </a:r>
            <a:r>
              <a:rPr lang="it-IT" dirty="0"/>
              <a:t> the </a:t>
            </a:r>
            <a:r>
              <a:rPr lang="it-IT" dirty="0" err="1"/>
              <a:t>perfect</a:t>
            </a:r>
            <a:r>
              <a:rPr lang="it-IT" dirty="0"/>
              <a:t> </a:t>
            </a:r>
            <a:r>
              <a:rPr lang="it-IT" dirty="0" err="1"/>
              <a:t>example</a:t>
            </a:r>
            <a:r>
              <a:rPr lang="it-IT" dirty="0"/>
              <a:t> of "</a:t>
            </a:r>
            <a:r>
              <a:rPr lang="it-IT" dirty="0" err="1"/>
              <a:t>deterministic</a:t>
            </a:r>
            <a:r>
              <a:rPr lang="it-IT" dirty="0"/>
              <a:t> </a:t>
            </a:r>
            <a:r>
              <a:rPr lang="it-IT" dirty="0" err="1"/>
              <a:t>before</a:t>
            </a:r>
            <a:r>
              <a:rPr lang="it-IT" dirty="0"/>
              <a:t> the LLM". One free, </a:t>
            </a:r>
            <a:r>
              <a:rPr lang="it-IT" dirty="0" err="1"/>
              <a:t>simple</a:t>
            </a:r>
            <a:r>
              <a:rPr lang="it-IT" dirty="0"/>
              <a:t> step. Five times </a:t>
            </a:r>
            <a:r>
              <a:rPr lang="it-IT" dirty="0" err="1"/>
              <a:t>less</a:t>
            </a:r>
            <a:r>
              <a:rPr lang="it-IT" dirty="0"/>
              <a:t> to </a:t>
            </a:r>
            <a:r>
              <a:rPr lang="it-IT" dirty="0" err="1"/>
              <a:t>pay</a:t>
            </a:r>
            <a:r>
              <a:rPr lang="it-IT" dirty="0"/>
              <a:t>.</a:t>
            </a:r>
          </a:p>
          <a:p>
            <a:pPr rtl="0"/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it-IT" dirty="0" err="1"/>
              <a:t>Now</a:t>
            </a:r>
            <a:r>
              <a:rPr lang="it-IT" dirty="0"/>
              <a:t> </a:t>
            </a:r>
            <a:r>
              <a:rPr lang="it-IT" dirty="0" err="1"/>
              <a:t>we</a:t>
            </a:r>
            <a:r>
              <a:rPr lang="it-IT" dirty="0"/>
              <a:t> </a:t>
            </a:r>
            <a:r>
              <a:rPr lang="it-IT" dirty="0" err="1"/>
              <a:t>reach</a:t>
            </a:r>
            <a:r>
              <a:rPr lang="it-IT" dirty="0"/>
              <a:t> the smart part: the LLM </a:t>
            </a:r>
            <a:r>
              <a:rPr lang="it-IT" dirty="0" err="1"/>
              <a:t>rewriting</a:t>
            </a:r>
            <a:r>
              <a:rPr lang="it-IT" dirty="0"/>
              <a:t>. Stages </a:t>
            </a:r>
            <a:r>
              <a:rPr lang="it-IT" dirty="0" err="1"/>
              <a:t>six</a:t>
            </a:r>
            <a:r>
              <a:rPr lang="it-IT" dirty="0"/>
              <a:t>, </a:t>
            </a:r>
            <a:r>
              <a:rPr lang="it-IT" dirty="0" err="1"/>
              <a:t>seven</a:t>
            </a:r>
            <a:r>
              <a:rPr lang="it-IT" dirty="0"/>
              <a:t> and </a:t>
            </a:r>
            <a:r>
              <a:rPr lang="it-IT" dirty="0" err="1"/>
              <a:t>eight</a:t>
            </a:r>
            <a:r>
              <a:rPr lang="it-IT" dirty="0"/>
              <a:t>.</a:t>
            </a:r>
          </a:p>
          <a:p>
            <a:endParaRPr lang="it-IT" dirty="0"/>
          </a:p>
          <a:p>
            <a:r>
              <a:rPr lang="it-IT" dirty="0"/>
              <a:t>Here the model </a:t>
            </a:r>
            <a:r>
              <a:rPr lang="it-IT" dirty="0" err="1"/>
              <a:t>does</a:t>
            </a:r>
            <a:r>
              <a:rPr lang="it-IT" dirty="0"/>
              <a:t> the work no </a:t>
            </a:r>
            <a:r>
              <a:rPr lang="it-IT" dirty="0" err="1"/>
              <a:t>fixed</a:t>
            </a:r>
            <a:r>
              <a:rPr lang="it-IT" dirty="0"/>
              <a:t> rule </a:t>
            </a:r>
            <a:r>
              <a:rPr lang="it-IT" dirty="0" err="1"/>
              <a:t>could</a:t>
            </a:r>
            <a:r>
              <a:rPr lang="it-IT" dirty="0"/>
              <a:t> do </a:t>
            </a:r>
            <a:r>
              <a:rPr lang="it-IT" dirty="0" err="1"/>
              <a:t>well</a:t>
            </a:r>
            <a:r>
              <a:rPr lang="it-IT" dirty="0"/>
              <a:t>. </a:t>
            </a:r>
            <a:r>
              <a:rPr lang="it-IT" dirty="0" err="1"/>
              <a:t>It</a:t>
            </a:r>
            <a:r>
              <a:rPr lang="it-IT" dirty="0"/>
              <a:t> turns "</a:t>
            </a:r>
            <a:r>
              <a:rPr lang="it-IT" dirty="0" err="1"/>
              <a:t>Sauerkraut</a:t>
            </a:r>
            <a:r>
              <a:rPr lang="it-IT" dirty="0"/>
              <a:t>" </a:t>
            </a:r>
            <a:r>
              <a:rPr lang="it-IT" dirty="0" err="1"/>
              <a:t>into</a:t>
            </a:r>
            <a:r>
              <a:rPr lang="it-IT" dirty="0"/>
              <a:t> "Smell of </a:t>
            </a:r>
            <a:r>
              <a:rPr lang="it-IT" dirty="0" err="1"/>
              <a:t>sauerkraut</a:t>
            </a:r>
            <a:r>
              <a:rPr lang="it-IT" dirty="0"/>
              <a:t>". </a:t>
            </a:r>
            <a:r>
              <a:rPr lang="it-IT" dirty="0" err="1"/>
              <a:t>It</a:t>
            </a:r>
            <a:r>
              <a:rPr lang="it-IT" dirty="0"/>
              <a:t> </a:t>
            </a:r>
            <a:r>
              <a:rPr lang="it-IT" dirty="0" err="1"/>
              <a:t>cleans</a:t>
            </a:r>
            <a:r>
              <a:rPr lang="it-IT" dirty="0"/>
              <a:t> up </a:t>
            </a:r>
            <a:r>
              <a:rPr lang="it-IT" dirty="0" err="1"/>
              <a:t>dialect</a:t>
            </a:r>
            <a:r>
              <a:rPr lang="it-IT" dirty="0"/>
              <a:t>. </a:t>
            </a:r>
            <a:r>
              <a:rPr lang="it-IT" dirty="0" err="1"/>
              <a:t>It</a:t>
            </a:r>
            <a:r>
              <a:rPr lang="it-IT" dirty="0"/>
              <a:t> </a:t>
            </a:r>
            <a:r>
              <a:rPr lang="it-IT" dirty="0" err="1"/>
              <a:t>removes</a:t>
            </a:r>
            <a:r>
              <a:rPr lang="it-IT" dirty="0"/>
              <a:t> the meta-</a:t>
            </a:r>
            <a:r>
              <a:rPr lang="it-IT" dirty="0" err="1"/>
              <a:t>comments</a:t>
            </a:r>
            <a:r>
              <a:rPr lang="it-IT" dirty="0"/>
              <a:t> </a:t>
            </a:r>
            <a:r>
              <a:rPr lang="it-IT" dirty="0" err="1"/>
              <a:t>but</a:t>
            </a:r>
            <a:r>
              <a:rPr lang="it-IT" dirty="0"/>
              <a:t> </a:t>
            </a:r>
            <a:r>
              <a:rPr lang="it-IT" dirty="0" err="1"/>
              <a:t>keeps</a:t>
            </a:r>
            <a:r>
              <a:rPr lang="it-IT" dirty="0"/>
              <a:t> the </a:t>
            </a:r>
            <a:r>
              <a:rPr lang="it-IT" dirty="0" err="1"/>
              <a:t>real</a:t>
            </a:r>
            <a:r>
              <a:rPr lang="it-IT" dirty="0"/>
              <a:t> </a:t>
            </a:r>
            <a:r>
              <a:rPr lang="it-IT" dirty="0" err="1"/>
              <a:t>description</a:t>
            </a:r>
            <a:r>
              <a:rPr lang="it-IT" dirty="0"/>
              <a:t>. </a:t>
            </a:r>
            <a:r>
              <a:rPr lang="it-IT" dirty="0" err="1"/>
              <a:t>It</a:t>
            </a:r>
            <a:r>
              <a:rPr lang="it-IT" dirty="0"/>
              <a:t> turns </a:t>
            </a:r>
            <a:r>
              <a:rPr lang="it-IT" dirty="0" err="1"/>
              <a:t>questions</a:t>
            </a:r>
            <a:r>
              <a:rPr lang="it-IT" dirty="0"/>
              <a:t> </a:t>
            </a:r>
            <a:r>
              <a:rPr lang="it-IT" dirty="0" err="1"/>
              <a:t>into</a:t>
            </a:r>
            <a:r>
              <a:rPr lang="it-IT" dirty="0"/>
              <a:t> </a:t>
            </a:r>
            <a:r>
              <a:rPr lang="it-IT" dirty="0" err="1"/>
              <a:t>statements</a:t>
            </a:r>
            <a:r>
              <a:rPr lang="it-IT" dirty="0"/>
              <a:t>.</a:t>
            </a:r>
          </a:p>
          <a:p>
            <a:endParaRPr lang="it-IT" dirty="0"/>
          </a:p>
          <a:p>
            <a:r>
              <a:rPr lang="it-IT" dirty="0"/>
              <a:t>Stage </a:t>
            </a:r>
            <a:r>
              <a:rPr lang="it-IT" dirty="0" err="1"/>
              <a:t>six</a:t>
            </a:r>
            <a:r>
              <a:rPr lang="it-IT" dirty="0"/>
              <a:t> </a:t>
            </a:r>
            <a:r>
              <a:rPr lang="it-IT" dirty="0" err="1"/>
              <a:t>is</a:t>
            </a:r>
            <a:r>
              <a:rPr lang="it-IT" dirty="0"/>
              <a:t> the prompt. One prompt per </a:t>
            </a:r>
            <a:r>
              <a:rPr lang="it-IT" dirty="0" err="1"/>
              <a:t>attribute</a:t>
            </a:r>
            <a:r>
              <a:rPr lang="it-IT" dirty="0"/>
              <a:t>, with </a:t>
            </a:r>
            <a:r>
              <a:rPr lang="it-IT" dirty="0" err="1"/>
              <a:t>eleven</a:t>
            </a:r>
            <a:r>
              <a:rPr lang="it-IT" dirty="0"/>
              <a:t> rules. One of </a:t>
            </a:r>
            <a:r>
              <a:rPr lang="it-IT" dirty="0" err="1"/>
              <a:t>them</a:t>
            </a:r>
            <a:r>
              <a:rPr lang="it-IT" dirty="0"/>
              <a:t> </a:t>
            </a:r>
            <a:r>
              <a:rPr lang="it-IT" dirty="0" err="1"/>
              <a:t>is</a:t>
            </a:r>
            <a:r>
              <a:rPr lang="it-IT" dirty="0"/>
              <a:t> "</a:t>
            </a:r>
            <a:r>
              <a:rPr lang="it-IT" dirty="0" err="1"/>
              <a:t>invent</a:t>
            </a:r>
            <a:r>
              <a:rPr lang="it-IT" dirty="0"/>
              <a:t> </a:t>
            </a:r>
            <a:r>
              <a:rPr lang="it-IT" dirty="0" err="1"/>
              <a:t>nothing</a:t>
            </a:r>
            <a:r>
              <a:rPr lang="it-IT" dirty="0"/>
              <a:t>". </a:t>
            </a:r>
            <a:r>
              <a:rPr lang="it-IT" dirty="0" err="1"/>
              <a:t>Another</a:t>
            </a:r>
            <a:r>
              <a:rPr lang="it-IT" dirty="0"/>
              <a:t> </a:t>
            </a:r>
            <a:r>
              <a:rPr lang="it-IT" dirty="0" err="1"/>
              <a:t>is</a:t>
            </a:r>
            <a:r>
              <a:rPr lang="it-IT" dirty="0"/>
              <a:t> an </a:t>
            </a:r>
            <a:r>
              <a:rPr lang="it-IT" dirty="0" err="1"/>
              <a:t>escape</a:t>
            </a:r>
            <a:r>
              <a:rPr lang="it-IT" dirty="0"/>
              <a:t> word, NON_DESCRITTO, for inputs with no </a:t>
            </a:r>
            <a:r>
              <a:rPr lang="it-IT" dirty="0" err="1"/>
              <a:t>real</a:t>
            </a:r>
            <a:r>
              <a:rPr lang="it-IT" dirty="0"/>
              <a:t> </a:t>
            </a:r>
            <a:r>
              <a:rPr lang="it-IT" dirty="0" err="1"/>
              <a:t>content</a:t>
            </a:r>
            <a:r>
              <a:rPr lang="it-IT" dirty="0"/>
              <a:t>. </a:t>
            </a:r>
            <a:r>
              <a:rPr lang="it-IT" dirty="0" err="1"/>
              <a:t>We</a:t>
            </a:r>
            <a:r>
              <a:rPr lang="it-IT" dirty="0"/>
              <a:t> </a:t>
            </a:r>
            <a:r>
              <a:rPr lang="it-IT" dirty="0" err="1"/>
              <a:t>also</a:t>
            </a:r>
            <a:r>
              <a:rPr lang="it-IT" dirty="0"/>
              <a:t> </a:t>
            </a:r>
            <a:r>
              <a:rPr lang="it-IT" dirty="0" err="1"/>
              <a:t>give</a:t>
            </a:r>
            <a:r>
              <a:rPr lang="it-IT" dirty="0"/>
              <a:t> </a:t>
            </a:r>
          </a:p>
          <a:p>
            <a:r>
              <a:rPr lang="it-IT" dirty="0" err="1"/>
              <a:t>it</a:t>
            </a:r>
            <a:r>
              <a:rPr lang="it-IT" dirty="0"/>
              <a:t> the </a:t>
            </a:r>
            <a:r>
              <a:rPr lang="it-IT" dirty="0" err="1"/>
              <a:t>sixty</a:t>
            </a:r>
            <a:r>
              <a:rPr lang="it-IT" dirty="0"/>
              <a:t> </a:t>
            </a:r>
            <a:r>
              <a:rPr lang="it-IT" dirty="0" err="1"/>
              <a:t>most</a:t>
            </a:r>
            <a:r>
              <a:rPr lang="it-IT" dirty="0"/>
              <a:t> common words </a:t>
            </a:r>
            <a:r>
              <a:rPr lang="it-IT" dirty="0" err="1"/>
              <a:t>as</a:t>
            </a:r>
            <a:r>
              <a:rPr lang="it-IT" dirty="0"/>
              <a:t> a style guide, and </a:t>
            </a:r>
            <a:r>
              <a:rPr lang="it-IT" dirty="0" err="1"/>
              <a:t>six</a:t>
            </a:r>
            <a:r>
              <a:rPr lang="it-IT" dirty="0"/>
              <a:t> </a:t>
            </a:r>
            <a:r>
              <a:rPr lang="it-IT" dirty="0" err="1"/>
              <a:t>real</a:t>
            </a:r>
            <a:r>
              <a:rPr lang="it-IT" dirty="0"/>
              <a:t> </a:t>
            </a:r>
            <a:r>
              <a:rPr lang="it-IT" dirty="0" err="1"/>
              <a:t>examples</a:t>
            </a:r>
            <a:r>
              <a:rPr lang="it-IT" dirty="0"/>
              <a:t>.</a:t>
            </a:r>
          </a:p>
          <a:p>
            <a:endParaRPr lang="it-IT" dirty="0"/>
          </a:p>
          <a:p>
            <a:r>
              <a:rPr lang="it-IT" dirty="0"/>
              <a:t>Stage </a:t>
            </a:r>
            <a:r>
              <a:rPr lang="it-IT" dirty="0" err="1"/>
              <a:t>seven</a:t>
            </a:r>
            <a:r>
              <a:rPr lang="it-IT" dirty="0"/>
              <a:t> </a:t>
            </a:r>
            <a:r>
              <a:rPr lang="it-IT" dirty="0" err="1"/>
              <a:t>is</a:t>
            </a:r>
            <a:r>
              <a:rPr lang="it-IT" dirty="0"/>
              <a:t> the pilot, on 105 </a:t>
            </a:r>
            <a:r>
              <a:rPr lang="it-IT" dirty="0" err="1"/>
              <a:t>captions</a:t>
            </a:r>
            <a:r>
              <a:rPr lang="it-IT" dirty="0"/>
              <a:t>. </a:t>
            </a:r>
            <a:r>
              <a:rPr lang="it-IT" dirty="0" err="1"/>
              <a:t>This</a:t>
            </a:r>
            <a:r>
              <a:rPr lang="it-IT" dirty="0"/>
              <a:t> </a:t>
            </a:r>
            <a:r>
              <a:rPr lang="it-IT" dirty="0" err="1"/>
              <a:t>is</a:t>
            </a:r>
            <a:r>
              <a:rPr lang="it-IT" dirty="0"/>
              <a:t> </a:t>
            </a:r>
            <a:r>
              <a:rPr lang="it-IT" dirty="0" err="1"/>
              <a:t>where</a:t>
            </a:r>
            <a:r>
              <a:rPr lang="it-IT" dirty="0"/>
              <a:t> </a:t>
            </a:r>
            <a:r>
              <a:rPr lang="it-IT" dirty="0" err="1"/>
              <a:t>we</a:t>
            </a:r>
            <a:r>
              <a:rPr lang="it-IT" dirty="0"/>
              <a:t> </a:t>
            </a:r>
            <a:r>
              <a:rPr lang="it-IT" dirty="0" err="1"/>
              <a:t>caught</a:t>
            </a:r>
            <a:r>
              <a:rPr lang="it-IT" dirty="0"/>
              <a:t> </a:t>
            </a:r>
            <a:r>
              <a:rPr lang="it-IT" dirty="0" err="1"/>
              <a:t>two</a:t>
            </a:r>
            <a:r>
              <a:rPr lang="it-IT" dirty="0"/>
              <a:t> </a:t>
            </a:r>
            <a:r>
              <a:rPr lang="it-IT" dirty="0" err="1"/>
              <a:t>problems</a:t>
            </a:r>
            <a:r>
              <a:rPr lang="it-IT" dirty="0"/>
              <a:t> </a:t>
            </a:r>
            <a:r>
              <a:rPr lang="it-IT" dirty="0" err="1"/>
              <a:t>before</a:t>
            </a:r>
            <a:r>
              <a:rPr lang="it-IT" dirty="0"/>
              <a:t> spending money: the </a:t>
            </a:r>
            <a:r>
              <a:rPr lang="it-IT" dirty="0" err="1"/>
              <a:t>centimetre-millimetre</a:t>
            </a:r>
            <a:r>
              <a:rPr lang="it-IT" dirty="0"/>
              <a:t> mix-up, and some </a:t>
            </a:r>
            <a:r>
              <a:rPr lang="it-IT" dirty="0" err="1"/>
              <a:t>formatting</a:t>
            </a:r>
            <a:r>
              <a:rPr lang="it-IT" dirty="0"/>
              <a:t> </a:t>
            </a:r>
            <a:r>
              <a:rPr lang="it-IT" dirty="0" err="1"/>
              <a:t>errors</a:t>
            </a:r>
            <a:r>
              <a:rPr lang="it-IT" dirty="0"/>
              <a:t>. </a:t>
            </a:r>
            <a:r>
              <a:rPr lang="it-IT" dirty="0" err="1"/>
              <a:t>We</a:t>
            </a:r>
            <a:r>
              <a:rPr lang="it-IT" dirty="0"/>
              <a:t> </a:t>
            </a:r>
            <a:r>
              <a:rPr lang="it-IT" dirty="0" err="1"/>
              <a:t>fixed</a:t>
            </a:r>
            <a:r>
              <a:rPr lang="it-IT" dirty="0"/>
              <a:t> </a:t>
            </a:r>
            <a:r>
              <a:rPr lang="it-IT" dirty="0" err="1"/>
              <a:t>both</a:t>
            </a:r>
            <a:r>
              <a:rPr lang="it-IT" dirty="0"/>
              <a:t> in the prompt. One </a:t>
            </a:r>
            <a:r>
              <a:rPr lang="it-IT" dirty="0" err="1"/>
              <a:t>practical</a:t>
            </a:r>
            <a:r>
              <a:rPr lang="it-IT" dirty="0"/>
              <a:t> </a:t>
            </a:r>
            <a:r>
              <a:rPr lang="it-IT" dirty="0" err="1"/>
              <a:t>lesson</a:t>
            </a:r>
            <a:r>
              <a:rPr lang="it-IT" dirty="0"/>
              <a:t>: </a:t>
            </a:r>
            <a:r>
              <a:rPr lang="it-IT" dirty="0" err="1"/>
              <a:t>three</a:t>
            </a:r>
            <a:r>
              <a:rPr lang="it-IT" dirty="0"/>
              <a:t> workers </a:t>
            </a:r>
            <a:r>
              <a:rPr lang="it-IT" dirty="0" err="1"/>
              <a:t>at</a:t>
            </a:r>
            <a:r>
              <a:rPr lang="it-IT" dirty="0"/>
              <a:t> a time </a:t>
            </a:r>
            <a:r>
              <a:rPr lang="it-IT" dirty="0" err="1"/>
              <a:t>was</a:t>
            </a:r>
            <a:r>
              <a:rPr lang="it-IT" dirty="0"/>
              <a:t> the </a:t>
            </a:r>
            <a:r>
              <a:rPr lang="it-IT" dirty="0" err="1"/>
              <a:t>sweet</a:t>
            </a:r>
            <a:r>
              <a:rPr lang="it-IT" dirty="0"/>
              <a:t> spot. </a:t>
            </a:r>
            <a:r>
              <a:rPr lang="it-IT" dirty="0" err="1"/>
              <a:t>Eight</a:t>
            </a:r>
            <a:r>
              <a:rPr lang="it-IT" dirty="0"/>
              <a:t> workers, and </a:t>
            </a:r>
            <a:r>
              <a:rPr lang="it-IT" dirty="0" err="1"/>
              <a:t>we</a:t>
            </a:r>
            <a:r>
              <a:rPr lang="it-IT" dirty="0"/>
              <a:t> hit rate-</a:t>
            </a:r>
            <a:r>
              <a:rPr lang="it-IT" dirty="0" err="1"/>
              <a:t>limit</a:t>
            </a:r>
            <a:r>
              <a:rPr lang="it-IT" dirty="0"/>
              <a:t> </a:t>
            </a:r>
            <a:r>
              <a:rPr lang="it-IT" dirty="0" err="1"/>
              <a:t>storms</a:t>
            </a:r>
            <a:r>
              <a:rPr lang="it-IT" dirty="0"/>
              <a:t>.</a:t>
            </a:r>
          </a:p>
          <a:p>
            <a:endParaRPr lang="it-IT" dirty="0"/>
          </a:p>
          <a:p>
            <a:r>
              <a:rPr lang="it-IT" dirty="0"/>
              <a:t>Stage </a:t>
            </a:r>
            <a:r>
              <a:rPr lang="it-IT" dirty="0" err="1"/>
              <a:t>eight</a:t>
            </a:r>
            <a:r>
              <a:rPr lang="it-IT" dirty="0"/>
              <a:t> </a:t>
            </a:r>
            <a:r>
              <a:rPr lang="it-IT" dirty="0" err="1"/>
              <a:t>is</a:t>
            </a:r>
            <a:r>
              <a:rPr lang="it-IT" dirty="0"/>
              <a:t> the full batch. All 7,689 </a:t>
            </a:r>
            <a:r>
              <a:rPr lang="it-IT" dirty="0" err="1"/>
              <a:t>captions</a:t>
            </a:r>
            <a:r>
              <a:rPr lang="it-IT" dirty="0"/>
              <a:t>, in one job. The </a:t>
            </a:r>
            <a:r>
              <a:rPr lang="it-IT" dirty="0" err="1"/>
              <a:t>result</a:t>
            </a:r>
            <a:r>
              <a:rPr lang="it-IT" dirty="0"/>
              <a:t>: </a:t>
            </a:r>
            <a:r>
              <a:rPr lang="it-IT" dirty="0" err="1"/>
              <a:t>all</a:t>
            </a:r>
            <a:r>
              <a:rPr lang="it-IT" dirty="0"/>
              <a:t> of </a:t>
            </a:r>
            <a:r>
              <a:rPr lang="it-IT" dirty="0" err="1"/>
              <a:t>them</a:t>
            </a:r>
            <a:r>
              <a:rPr lang="it-IT" dirty="0"/>
              <a:t> </a:t>
            </a:r>
            <a:r>
              <a:rPr lang="it-IT" dirty="0" err="1"/>
              <a:t>done</a:t>
            </a:r>
            <a:r>
              <a:rPr lang="it-IT" dirty="0"/>
              <a:t>, zero </a:t>
            </a:r>
            <a:r>
              <a:rPr lang="it-IT" dirty="0" err="1"/>
              <a:t>errors</a:t>
            </a:r>
            <a:r>
              <a:rPr lang="it-IT" dirty="0"/>
              <a:t>, in </a:t>
            </a:r>
            <a:r>
              <a:rPr lang="it-IT" dirty="0" err="1"/>
              <a:t>about</a:t>
            </a:r>
            <a:r>
              <a:rPr lang="it-IT" dirty="0"/>
              <a:t> </a:t>
            </a:r>
            <a:r>
              <a:rPr lang="it-IT" dirty="0" err="1"/>
              <a:t>half</a:t>
            </a:r>
            <a:r>
              <a:rPr lang="it-IT" dirty="0"/>
              <a:t> an hour, for </a:t>
            </a:r>
            <a:r>
              <a:rPr lang="it-IT" dirty="0" err="1"/>
              <a:t>around</a:t>
            </a:r>
            <a:r>
              <a:rPr lang="it-IT" dirty="0"/>
              <a:t> </a:t>
            </a:r>
            <a:r>
              <a:rPr lang="it-IT" dirty="0" err="1"/>
              <a:t>four</a:t>
            </a:r>
            <a:r>
              <a:rPr lang="it-IT" dirty="0"/>
              <a:t> and a </a:t>
            </a:r>
            <a:r>
              <a:rPr lang="it-IT" dirty="0" err="1"/>
              <a:t>half</a:t>
            </a:r>
            <a:r>
              <a:rPr lang="it-IT" dirty="0"/>
              <a:t> </a:t>
            </a:r>
            <a:r>
              <a:rPr lang="it-IT" dirty="0" err="1"/>
              <a:t>dollars</a:t>
            </a:r>
            <a:r>
              <a:rPr lang="it-IT" dirty="0"/>
              <a:t>.</a:t>
            </a:r>
          </a:p>
          <a:p>
            <a:endParaRPr lang="it-IT" b="1" dirty="0"/>
          </a:p>
          <a:p>
            <a:r>
              <a:rPr lang="it-IT" b="1" dirty="0" err="1"/>
              <a:t>Which</a:t>
            </a:r>
            <a:r>
              <a:rPr lang="it-IT" b="1" dirty="0"/>
              <a:t> </a:t>
            </a:r>
            <a:r>
              <a:rPr lang="it-IT" b="1" dirty="0" err="1"/>
              <a:t>brings</a:t>
            </a:r>
            <a:r>
              <a:rPr lang="it-IT" b="1" dirty="0"/>
              <a:t> </a:t>
            </a:r>
            <a:r>
              <a:rPr lang="it-IT" b="1" dirty="0" err="1"/>
              <a:t>us</a:t>
            </a:r>
            <a:r>
              <a:rPr lang="it-IT" b="1" dirty="0"/>
              <a:t> to one </a:t>
            </a:r>
            <a:r>
              <a:rPr lang="it-IT" b="1" dirty="0" err="1"/>
              <a:t>question</a:t>
            </a:r>
            <a:r>
              <a:rPr lang="it-IT" b="1" dirty="0"/>
              <a:t>: </a:t>
            </a:r>
            <a:r>
              <a:rPr lang="it-IT" b="1" dirty="0" err="1"/>
              <a:t>why</a:t>
            </a:r>
            <a:r>
              <a:rPr lang="it-IT" b="1" dirty="0"/>
              <a:t> Haiku?</a:t>
            </a:r>
            <a:endParaRPr lang="it-IT" dirty="0"/>
          </a:p>
          <a:p>
            <a:pPr rtl="0"/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it-IT" dirty="0"/>
              <a:t>So </a:t>
            </a:r>
            <a:r>
              <a:rPr lang="it-IT" dirty="0" err="1"/>
              <a:t>how</a:t>
            </a:r>
            <a:r>
              <a:rPr lang="it-IT" dirty="0"/>
              <a:t> do </a:t>
            </a:r>
            <a:r>
              <a:rPr lang="it-IT" dirty="0" err="1"/>
              <a:t>we</a:t>
            </a:r>
            <a:r>
              <a:rPr lang="it-IT" dirty="0"/>
              <a:t> </a:t>
            </a:r>
            <a:r>
              <a:rPr lang="it-IT" dirty="0" err="1"/>
              <a:t>actually</a:t>
            </a:r>
            <a:r>
              <a:rPr lang="it-IT" dirty="0"/>
              <a:t> know Step One </a:t>
            </a:r>
            <a:r>
              <a:rPr lang="it-IT" dirty="0" err="1"/>
              <a:t>is</a:t>
            </a:r>
            <a:r>
              <a:rPr lang="it-IT" dirty="0"/>
              <a:t> </a:t>
            </a:r>
            <a:r>
              <a:rPr lang="it-IT" dirty="0" err="1"/>
              <a:t>done</a:t>
            </a:r>
            <a:r>
              <a:rPr lang="it-IT" dirty="0"/>
              <a:t>? Not by feeling. By checking, </a:t>
            </a:r>
            <a:r>
              <a:rPr lang="it-IT" dirty="0" err="1"/>
              <a:t>automatically</a:t>
            </a:r>
            <a:r>
              <a:rPr lang="it-IT" dirty="0"/>
              <a:t>, </a:t>
            </a:r>
            <a:r>
              <a:rPr lang="it-IT" dirty="0" err="1"/>
              <a:t>all</a:t>
            </a:r>
            <a:r>
              <a:rPr lang="it-IT" dirty="0"/>
              <a:t> 7,689 outputs.</a:t>
            </a:r>
          </a:p>
          <a:p>
            <a:endParaRPr lang="it-IT" dirty="0"/>
          </a:p>
          <a:p>
            <a:r>
              <a:rPr lang="it-IT" dirty="0"/>
              <a:t>The </a:t>
            </a:r>
            <a:r>
              <a:rPr lang="it-IT" dirty="0" err="1"/>
              <a:t>table</a:t>
            </a:r>
            <a:r>
              <a:rPr lang="it-IT" dirty="0"/>
              <a:t> shows the checks. Every output starts with the </a:t>
            </a:r>
            <a:r>
              <a:rPr lang="it-IT" dirty="0" err="1"/>
              <a:t>right</a:t>
            </a:r>
            <a:r>
              <a:rPr lang="it-IT" dirty="0"/>
              <a:t> </a:t>
            </a:r>
            <a:r>
              <a:rPr lang="it-IT" dirty="0" err="1"/>
              <a:t>prefix</a:t>
            </a:r>
            <a:r>
              <a:rPr lang="it-IT" dirty="0"/>
              <a:t>, with one "</a:t>
            </a:r>
            <a:r>
              <a:rPr lang="it-IT" dirty="0" err="1"/>
              <a:t>violation</a:t>
            </a:r>
            <a:r>
              <a:rPr lang="it-IT" dirty="0"/>
              <a:t>" </a:t>
            </a:r>
            <a:r>
              <a:rPr lang="it-IT" dirty="0" err="1"/>
              <a:t>that's</a:t>
            </a:r>
            <a:r>
              <a:rPr lang="it-IT" dirty="0"/>
              <a:t> </a:t>
            </a:r>
            <a:r>
              <a:rPr lang="it-IT" dirty="0" err="1"/>
              <a:t>really</a:t>
            </a:r>
            <a:r>
              <a:rPr lang="it-IT" dirty="0"/>
              <a:t> just a </a:t>
            </a:r>
            <a:r>
              <a:rPr lang="it-IT" dirty="0" err="1"/>
              <a:t>valid</a:t>
            </a:r>
            <a:r>
              <a:rPr lang="it-IT" dirty="0"/>
              <a:t> alternative.</a:t>
            </a:r>
          </a:p>
          <a:p>
            <a:endParaRPr lang="it-IT" dirty="0"/>
          </a:p>
          <a:p>
            <a:r>
              <a:rPr lang="it-IT" dirty="0"/>
              <a:t>But look </a:t>
            </a:r>
            <a:r>
              <a:rPr lang="it-IT" dirty="0" err="1"/>
              <a:t>at</a:t>
            </a:r>
            <a:r>
              <a:rPr lang="it-IT" dirty="0"/>
              <a:t> the </a:t>
            </a:r>
            <a:r>
              <a:rPr lang="it-IT" dirty="0" err="1"/>
              <a:t>numbers</a:t>
            </a:r>
            <a:r>
              <a:rPr lang="it-IT" dirty="0"/>
              <a:t> </a:t>
            </a:r>
            <a:r>
              <a:rPr lang="it-IT" dirty="0" err="1"/>
              <a:t>that</a:t>
            </a:r>
            <a:r>
              <a:rPr lang="it-IT" dirty="0"/>
              <a:t> </a:t>
            </a:r>
            <a:r>
              <a:rPr lang="it-IT" dirty="0" err="1"/>
              <a:t>matter</a:t>
            </a:r>
            <a:r>
              <a:rPr lang="it-IT" dirty="0"/>
              <a:t>. Zero outputs with </a:t>
            </a:r>
            <a:r>
              <a:rPr lang="it-IT" dirty="0" err="1"/>
              <a:t>digits</a:t>
            </a:r>
            <a:r>
              <a:rPr lang="it-IT" dirty="0"/>
              <a:t>. Zero with </a:t>
            </a:r>
            <a:r>
              <a:rPr lang="it-IT" dirty="0" err="1"/>
              <a:t>units</a:t>
            </a:r>
            <a:r>
              <a:rPr lang="it-IT" dirty="0"/>
              <a:t> like </a:t>
            </a:r>
            <a:r>
              <a:rPr lang="it-IT" dirty="0" err="1"/>
              <a:t>millimetres</a:t>
            </a:r>
            <a:r>
              <a:rPr lang="it-IT" dirty="0"/>
              <a:t>. Zero </a:t>
            </a:r>
            <a:r>
              <a:rPr lang="it-IT" dirty="0" err="1"/>
              <a:t>too</a:t>
            </a:r>
            <a:r>
              <a:rPr lang="it-IT" dirty="0"/>
              <a:t> long. Zero </a:t>
            </a:r>
            <a:r>
              <a:rPr lang="it-IT" dirty="0" err="1"/>
              <a:t>empty</a:t>
            </a:r>
            <a:r>
              <a:rPr lang="it-IT" dirty="0"/>
              <a:t>. Zero with markup. All </a:t>
            </a:r>
            <a:r>
              <a:rPr lang="it-IT" dirty="0" err="1"/>
              <a:t>zeros</a:t>
            </a:r>
            <a:r>
              <a:rPr lang="it-IT" dirty="0"/>
              <a:t>.</a:t>
            </a:r>
          </a:p>
          <a:p>
            <a:endParaRPr lang="it-IT" dirty="0"/>
          </a:p>
          <a:p>
            <a:r>
              <a:rPr lang="it-IT" dirty="0"/>
              <a:t>So the job the brief </a:t>
            </a:r>
            <a:r>
              <a:rPr lang="it-IT" dirty="0" err="1"/>
              <a:t>asked</a:t>
            </a:r>
            <a:r>
              <a:rPr lang="it-IT" dirty="0"/>
              <a:t> for, </a:t>
            </a:r>
            <a:r>
              <a:rPr lang="it-IT" dirty="0" err="1"/>
              <a:t>turning</a:t>
            </a:r>
            <a:r>
              <a:rPr lang="it-IT" dirty="0"/>
              <a:t> </a:t>
            </a:r>
            <a:r>
              <a:rPr lang="it-IT" dirty="0" err="1"/>
              <a:t>numbers</a:t>
            </a:r>
            <a:r>
              <a:rPr lang="it-IT" dirty="0"/>
              <a:t> </a:t>
            </a:r>
            <a:r>
              <a:rPr lang="it-IT" dirty="0" err="1"/>
              <a:t>into</a:t>
            </a:r>
            <a:r>
              <a:rPr lang="it-IT" dirty="0"/>
              <a:t> words, </a:t>
            </a:r>
            <a:r>
              <a:rPr lang="it-IT" dirty="0" err="1"/>
              <a:t>is</a:t>
            </a:r>
            <a:r>
              <a:rPr lang="it-IT" dirty="0"/>
              <a:t> </a:t>
            </a:r>
            <a:r>
              <a:rPr lang="it-IT" dirty="0" err="1"/>
              <a:t>done</a:t>
            </a:r>
            <a:r>
              <a:rPr lang="it-IT" dirty="0"/>
              <a:t> one </a:t>
            </a:r>
            <a:r>
              <a:rPr lang="it-IT" dirty="0" err="1"/>
              <a:t>hundred</a:t>
            </a:r>
            <a:r>
              <a:rPr lang="it-IT" dirty="0"/>
              <a:t> </a:t>
            </a:r>
            <a:r>
              <a:rPr lang="it-IT" dirty="0" err="1"/>
              <a:t>percent</a:t>
            </a:r>
            <a:r>
              <a:rPr lang="it-IT" dirty="0"/>
              <a:t>. No </a:t>
            </a:r>
            <a:r>
              <a:rPr lang="it-IT" dirty="0" err="1"/>
              <a:t>numbers</a:t>
            </a:r>
            <a:r>
              <a:rPr lang="it-IT" dirty="0"/>
              <a:t> </a:t>
            </a:r>
            <a:r>
              <a:rPr lang="it-IT" dirty="0" err="1"/>
              <a:t>left</a:t>
            </a:r>
            <a:r>
              <a:rPr lang="it-IT" dirty="0"/>
              <a:t>, no </a:t>
            </a:r>
            <a:r>
              <a:rPr lang="it-IT" dirty="0" err="1"/>
              <a:t>units</a:t>
            </a:r>
            <a:r>
              <a:rPr lang="it-IT" dirty="0"/>
              <a:t> </a:t>
            </a:r>
            <a:r>
              <a:rPr lang="it-IT" dirty="0" err="1"/>
              <a:t>left</a:t>
            </a:r>
            <a:r>
              <a:rPr lang="it-IT" dirty="0"/>
              <a:t>, in the </a:t>
            </a:r>
            <a:r>
              <a:rPr lang="it-IT" dirty="0" err="1"/>
              <a:t>final</a:t>
            </a:r>
            <a:r>
              <a:rPr lang="it-IT" dirty="0"/>
              <a:t> </a:t>
            </a:r>
            <a:r>
              <a:rPr lang="it-IT" dirty="0" err="1"/>
              <a:t>captions</a:t>
            </a:r>
            <a:r>
              <a:rPr lang="it-IT" dirty="0"/>
              <a:t>.</a:t>
            </a:r>
          </a:p>
          <a:p>
            <a:endParaRPr lang="it-IT" dirty="0"/>
          </a:p>
          <a:p>
            <a:r>
              <a:rPr lang="it-IT" dirty="0"/>
              <a:t>And </a:t>
            </a:r>
            <a:r>
              <a:rPr lang="it-IT" dirty="0" err="1"/>
              <a:t>when</a:t>
            </a:r>
            <a:r>
              <a:rPr lang="it-IT" dirty="0"/>
              <a:t> a </a:t>
            </a:r>
            <a:r>
              <a:rPr lang="it-IT" dirty="0" err="1"/>
              <a:t>reviewer</a:t>
            </a:r>
            <a:r>
              <a:rPr lang="it-IT" dirty="0"/>
              <a:t> </a:t>
            </a:r>
            <a:r>
              <a:rPr lang="it-IT" dirty="0" err="1"/>
              <a:t>asks</a:t>
            </a:r>
            <a:r>
              <a:rPr lang="it-IT" dirty="0"/>
              <a:t> "are </a:t>
            </a:r>
            <a:r>
              <a:rPr lang="it-IT" dirty="0" err="1"/>
              <a:t>you</a:t>
            </a:r>
            <a:r>
              <a:rPr lang="it-IT" dirty="0"/>
              <a:t> sure </a:t>
            </a:r>
            <a:r>
              <a:rPr lang="it-IT" dirty="0" err="1"/>
              <a:t>you</a:t>
            </a:r>
            <a:r>
              <a:rPr lang="it-IT" dirty="0"/>
              <a:t> </a:t>
            </a:r>
            <a:r>
              <a:rPr lang="it-IT" dirty="0" err="1"/>
              <a:t>removed</a:t>
            </a:r>
            <a:r>
              <a:rPr lang="it-IT" dirty="0"/>
              <a:t> </a:t>
            </a:r>
            <a:r>
              <a:rPr lang="it-IT" dirty="0" err="1"/>
              <a:t>all</a:t>
            </a:r>
            <a:r>
              <a:rPr lang="it-IT" dirty="0"/>
              <a:t> the </a:t>
            </a:r>
            <a:r>
              <a:rPr lang="it-IT" dirty="0" err="1"/>
              <a:t>measures</a:t>
            </a:r>
            <a:r>
              <a:rPr lang="it-IT" dirty="0"/>
              <a:t>?", the </a:t>
            </a:r>
            <a:r>
              <a:rPr lang="it-IT" dirty="0" err="1"/>
              <a:t>answer</a:t>
            </a:r>
            <a:r>
              <a:rPr lang="it-IT" dirty="0"/>
              <a:t> </a:t>
            </a:r>
            <a:r>
              <a:rPr lang="it-IT" dirty="0" err="1"/>
              <a:t>is</a:t>
            </a:r>
            <a:r>
              <a:rPr lang="it-IT" dirty="0"/>
              <a:t> a </a:t>
            </a:r>
            <a:r>
              <a:rPr lang="it-IT" dirty="0" err="1"/>
              <a:t>table</a:t>
            </a:r>
            <a:r>
              <a:rPr lang="it-IT" dirty="0"/>
              <a:t>, </a:t>
            </a:r>
            <a:r>
              <a:rPr lang="it-IT" dirty="0" err="1"/>
              <a:t>not</a:t>
            </a:r>
            <a:r>
              <a:rPr lang="it-IT" dirty="0"/>
              <a:t> an opinion.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it-IT" dirty="0"/>
              <a:t>Stage </a:t>
            </a:r>
            <a:r>
              <a:rPr lang="it-IT" dirty="0" err="1"/>
              <a:t>nine</a:t>
            </a:r>
            <a:r>
              <a:rPr lang="it-IT" dirty="0"/>
              <a:t> </a:t>
            </a:r>
            <a:r>
              <a:rPr lang="it-IT" dirty="0" err="1"/>
              <a:t>is</a:t>
            </a:r>
            <a:r>
              <a:rPr lang="it-IT" dirty="0"/>
              <a:t> one of </a:t>
            </a:r>
            <a:r>
              <a:rPr lang="it-IT" dirty="0" err="1"/>
              <a:t>those</a:t>
            </a:r>
            <a:r>
              <a:rPr lang="it-IT" dirty="0"/>
              <a:t> steps </a:t>
            </a:r>
            <a:r>
              <a:rPr lang="it-IT" dirty="0" err="1"/>
              <a:t>that</a:t>
            </a:r>
            <a:r>
              <a:rPr lang="it-IT" dirty="0"/>
              <a:t> separate a </a:t>
            </a:r>
            <a:r>
              <a:rPr lang="it-IT" dirty="0" err="1"/>
              <a:t>truly</a:t>
            </a:r>
            <a:r>
              <a:rPr lang="it-IT" dirty="0"/>
              <a:t> </a:t>
            </a:r>
            <a:r>
              <a:rPr lang="it-IT" dirty="0" err="1"/>
              <a:t>curated</a:t>
            </a:r>
            <a:r>
              <a:rPr lang="it-IT" dirty="0"/>
              <a:t> dataset from one </a:t>
            </a:r>
            <a:r>
              <a:rPr lang="it-IT" dirty="0" err="1"/>
              <a:t>that's</a:t>
            </a:r>
            <a:r>
              <a:rPr lang="it-IT" dirty="0"/>
              <a:t> just "</a:t>
            </a:r>
            <a:r>
              <a:rPr lang="it-IT" dirty="0" err="1"/>
              <a:t>cleaned</a:t>
            </a:r>
            <a:r>
              <a:rPr lang="it-IT" dirty="0"/>
              <a:t>".</a:t>
            </a:r>
          </a:p>
          <a:p>
            <a:endParaRPr lang="it-IT" dirty="0"/>
          </a:p>
          <a:p>
            <a:r>
              <a:rPr lang="it-IT" dirty="0"/>
              <a:t>After the batch, </a:t>
            </a:r>
            <a:r>
              <a:rPr lang="it-IT" dirty="0" err="1"/>
              <a:t>we</a:t>
            </a:r>
            <a:r>
              <a:rPr lang="it-IT" dirty="0"/>
              <a:t> </a:t>
            </a:r>
            <a:r>
              <a:rPr lang="it-IT" dirty="0" err="1"/>
              <a:t>found</a:t>
            </a:r>
            <a:r>
              <a:rPr lang="it-IT" dirty="0"/>
              <a:t> </a:t>
            </a:r>
            <a:r>
              <a:rPr lang="it-IT" dirty="0" err="1"/>
              <a:t>something</a:t>
            </a:r>
            <a:r>
              <a:rPr lang="it-IT" dirty="0"/>
              <a:t> </a:t>
            </a:r>
            <a:r>
              <a:rPr lang="it-IT" dirty="0" err="1"/>
              <a:t>interesting</a:t>
            </a:r>
            <a:r>
              <a:rPr lang="it-IT" dirty="0"/>
              <a:t>. Of the 362 </a:t>
            </a:r>
            <a:r>
              <a:rPr lang="it-IT" dirty="0" err="1"/>
              <a:t>captions</a:t>
            </a:r>
            <a:r>
              <a:rPr lang="it-IT" dirty="0"/>
              <a:t> the model </a:t>
            </a:r>
            <a:r>
              <a:rPr lang="it-IT" dirty="0" err="1"/>
              <a:t>marked</a:t>
            </a:r>
            <a:r>
              <a:rPr lang="it-IT" dirty="0"/>
              <a:t> </a:t>
            </a:r>
            <a:r>
              <a:rPr lang="it-IT" dirty="0" err="1"/>
              <a:t>as</a:t>
            </a:r>
            <a:r>
              <a:rPr lang="it-IT" dirty="0"/>
              <a:t> "no </a:t>
            </a:r>
            <a:r>
              <a:rPr lang="it-IT" dirty="0" err="1"/>
              <a:t>description</a:t>
            </a:r>
            <a:r>
              <a:rPr lang="it-IT" dirty="0"/>
              <a:t> </a:t>
            </a:r>
            <a:r>
              <a:rPr lang="it-IT" dirty="0" err="1"/>
              <a:t>here</a:t>
            </a:r>
            <a:r>
              <a:rPr lang="it-IT" dirty="0"/>
              <a:t>", 291 </a:t>
            </a:r>
            <a:r>
              <a:rPr lang="it-IT" dirty="0" err="1"/>
              <a:t>actually</a:t>
            </a:r>
            <a:r>
              <a:rPr lang="it-IT" dirty="0"/>
              <a:t> </a:t>
            </a:r>
            <a:r>
              <a:rPr lang="it-IT" dirty="0" err="1"/>
              <a:t>had</a:t>
            </a:r>
            <a:r>
              <a:rPr lang="it-IT" dirty="0"/>
              <a:t> a </a:t>
            </a:r>
            <a:r>
              <a:rPr lang="it-IT" dirty="0" err="1"/>
              <a:t>real</a:t>
            </a:r>
            <a:r>
              <a:rPr lang="it-IT" dirty="0"/>
              <a:t> </a:t>
            </a:r>
            <a:r>
              <a:rPr lang="it-IT" dirty="0" err="1"/>
              <a:t>vocabulary</a:t>
            </a:r>
            <a:r>
              <a:rPr lang="it-IT" dirty="0"/>
              <a:t> word in </a:t>
            </a:r>
            <a:r>
              <a:rPr lang="it-IT" dirty="0" err="1"/>
              <a:t>them</a:t>
            </a:r>
            <a:r>
              <a:rPr lang="it-IT" dirty="0"/>
              <a:t>. The model </a:t>
            </a:r>
            <a:r>
              <a:rPr lang="it-IT" dirty="0" err="1"/>
              <a:t>had</a:t>
            </a:r>
            <a:r>
              <a:rPr lang="it-IT" dirty="0"/>
              <a:t> just </a:t>
            </a:r>
            <a:r>
              <a:rPr lang="it-IT" dirty="0" err="1"/>
              <a:t>been</a:t>
            </a:r>
            <a:r>
              <a:rPr lang="it-IT" dirty="0"/>
              <a:t> </a:t>
            </a:r>
            <a:r>
              <a:rPr lang="it-IT" dirty="0" err="1"/>
              <a:t>too</a:t>
            </a:r>
            <a:r>
              <a:rPr lang="it-IT" dirty="0"/>
              <a:t> </a:t>
            </a:r>
            <a:r>
              <a:rPr lang="it-IT" dirty="0" err="1"/>
              <a:t>cautious</a:t>
            </a:r>
            <a:r>
              <a:rPr lang="it-IT" dirty="0"/>
              <a:t> on the borderline </a:t>
            </a:r>
            <a:r>
              <a:rPr lang="it-IT" dirty="0" err="1"/>
              <a:t>cases</a:t>
            </a:r>
            <a:r>
              <a:rPr lang="it-IT" dirty="0"/>
              <a:t>, the </a:t>
            </a:r>
            <a:r>
              <a:rPr lang="it-IT" dirty="0" err="1"/>
              <a:t>ones</a:t>
            </a:r>
            <a:r>
              <a:rPr lang="it-IT" dirty="0"/>
              <a:t> mixing a </a:t>
            </a:r>
            <a:r>
              <a:rPr lang="it-IT" dirty="0" err="1"/>
              <a:t>judgement</a:t>
            </a:r>
            <a:r>
              <a:rPr lang="it-IT" dirty="0"/>
              <a:t> with a </a:t>
            </a:r>
            <a:r>
              <a:rPr lang="it-IT" dirty="0" err="1"/>
              <a:t>description</a:t>
            </a:r>
            <a:r>
              <a:rPr lang="it-IT" dirty="0"/>
              <a:t>.</a:t>
            </a:r>
          </a:p>
          <a:p>
            <a:endParaRPr lang="it-IT" dirty="0"/>
          </a:p>
          <a:p>
            <a:r>
              <a:rPr lang="it-IT" dirty="0"/>
              <a:t>So </a:t>
            </a:r>
            <a:r>
              <a:rPr lang="it-IT" dirty="0" err="1"/>
              <a:t>we</a:t>
            </a:r>
            <a:r>
              <a:rPr lang="it-IT" dirty="0"/>
              <a:t> </a:t>
            </a:r>
            <a:r>
              <a:rPr lang="it-IT" dirty="0" err="1"/>
              <a:t>went</a:t>
            </a:r>
            <a:r>
              <a:rPr lang="it-IT" dirty="0"/>
              <a:t> in by hand and </a:t>
            </a:r>
            <a:r>
              <a:rPr lang="it-IT" dirty="0" err="1"/>
              <a:t>rescued</a:t>
            </a:r>
            <a:r>
              <a:rPr lang="it-IT" dirty="0"/>
              <a:t> 178 of </a:t>
            </a:r>
            <a:r>
              <a:rPr lang="it-IT" dirty="0" err="1"/>
              <a:t>them</a:t>
            </a:r>
            <a:r>
              <a:rPr lang="it-IT" dirty="0"/>
              <a:t>, </a:t>
            </a:r>
            <a:r>
              <a:rPr lang="it-IT" dirty="0" err="1"/>
              <a:t>where</a:t>
            </a:r>
            <a:r>
              <a:rPr lang="it-IT" dirty="0"/>
              <a:t> the </a:t>
            </a:r>
            <a:r>
              <a:rPr lang="it-IT" dirty="0" err="1"/>
              <a:t>description</a:t>
            </a:r>
            <a:r>
              <a:rPr lang="it-IT" dirty="0"/>
              <a:t> </a:t>
            </a:r>
            <a:r>
              <a:rPr lang="it-IT" dirty="0" err="1"/>
              <a:t>was</a:t>
            </a:r>
            <a:r>
              <a:rPr lang="it-IT" dirty="0"/>
              <a:t> </a:t>
            </a:r>
            <a:r>
              <a:rPr lang="it-IT" dirty="0" err="1"/>
              <a:t>real</a:t>
            </a:r>
            <a:r>
              <a:rPr lang="it-IT" dirty="0"/>
              <a:t>.</a:t>
            </a:r>
          </a:p>
          <a:p>
            <a:endParaRPr lang="it-IT" dirty="0"/>
          </a:p>
          <a:p>
            <a:r>
              <a:rPr lang="it-IT" dirty="0"/>
              <a:t>A </a:t>
            </a:r>
            <a:r>
              <a:rPr lang="it-IT" dirty="0" err="1"/>
              <a:t>couple</a:t>
            </a:r>
            <a:r>
              <a:rPr lang="it-IT" dirty="0"/>
              <a:t> of </a:t>
            </a:r>
            <a:r>
              <a:rPr lang="it-IT" dirty="0" err="1"/>
              <a:t>examples</a:t>
            </a:r>
            <a:r>
              <a:rPr lang="it-IT" dirty="0"/>
              <a:t>. "marcio, putrido" </a:t>
            </a:r>
            <a:r>
              <a:rPr lang="it-IT" dirty="0" err="1"/>
              <a:t>becomes</a:t>
            </a:r>
            <a:r>
              <a:rPr lang="it-IT" dirty="0"/>
              <a:t> "Smell of rot and </a:t>
            </a:r>
            <a:r>
              <a:rPr lang="it-IT" dirty="0" err="1"/>
              <a:t>putridity</a:t>
            </a:r>
            <a:r>
              <a:rPr lang="it-IT" dirty="0"/>
              <a:t>". "Sangue" </a:t>
            </a:r>
            <a:r>
              <a:rPr lang="it-IT" dirty="0" err="1"/>
              <a:t>becomes</a:t>
            </a:r>
            <a:r>
              <a:rPr lang="it-IT" dirty="0"/>
              <a:t> "Aroma of </a:t>
            </a:r>
            <a:r>
              <a:rPr lang="it-IT" dirty="0" err="1"/>
              <a:t>blood</a:t>
            </a:r>
            <a:r>
              <a:rPr lang="it-IT" dirty="0"/>
              <a:t>".</a:t>
            </a:r>
          </a:p>
          <a:p>
            <a:endParaRPr lang="it-IT" dirty="0"/>
          </a:p>
          <a:p>
            <a:r>
              <a:rPr lang="it-IT" dirty="0"/>
              <a:t>The </a:t>
            </a:r>
            <a:r>
              <a:rPr lang="it-IT" dirty="0" err="1"/>
              <a:t>result</a:t>
            </a:r>
            <a:r>
              <a:rPr lang="it-IT" dirty="0"/>
              <a:t>, in the chart: the </a:t>
            </a:r>
            <a:r>
              <a:rPr lang="it-IT" dirty="0" err="1"/>
              <a:t>unmarked</a:t>
            </a:r>
            <a:r>
              <a:rPr lang="it-IT" dirty="0"/>
              <a:t> </a:t>
            </a:r>
            <a:r>
              <a:rPr lang="it-IT" dirty="0" err="1"/>
              <a:t>ones</a:t>
            </a:r>
            <a:r>
              <a:rPr lang="it-IT" dirty="0"/>
              <a:t> drop from 362 to 184. And </a:t>
            </a:r>
            <a:r>
              <a:rPr lang="it-IT" dirty="0" err="1"/>
              <a:t>that</a:t>
            </a:r>
            <a:r>
              <a:rPr lang="it-IT" dirty="0"/>
              <a:t> </a:t>
            </a:r>
            <a:r>
              <a:rPr lang="it-IT" dirty="0" err="1"/>
              <a:t>brings</a:t>
            </a:r>
            <a:r>
              <a:rPr lang="it-IT" dirty="0"/>
              <a:t> back 916 training </a:t>
            </a:r>
            <a:r>
              <a:rPr lang="it-IT" dirty="0" err="1"/>
              <a:t>rows</a:t>
            </a:r>
            <a:r>
              <a:rPr lang="it-IT" dirty="0"/>
              <a:t> </a:t>
            </a:r>
            <a:r>
              <a:rPr lang="it-IT" dirty="0" err="1"/>
              <a:t>we</a:t>
            </a:r>
            <a:r>
              <a:rPr lang="it-IT" dirty="0"/>
              <a:t> </a:t>
            </a:r>
            <a:r>
              <a:rPr lang="it-IT" dirty="0" err="1"/>
              <a:t>would</a:t>
            </a:r>
            <a:r>
              <a:rPr lang="it-IT" dirty="0"/>
              <a:t> </a:t>
            </a:r>
            <a:r>
              <a:rPr lang="it-IT" dirty="0" err="1"/>
              <a:t>have</a:t>
            </a:r>
            <a:r>
              <a:rPr lang="it-IT" dirty="0"/>
              <a:t> </a:t>
            </a:r>
            <a:r>
              <a:rPr lang="it-IT" dirty="0" err="1"/>
              <a:t>lost</a:t>
            </a:r>
            <a:r>
              <a:rPr lang="it-IT" dirty="0"/>
              <a:t>.</a:t>
            </a:r>
          </a:p>
          <a:p>
            <a:endParaRPr lang="it-IT" dirty="0"/>
          </a:p>
          <a:p>
            <a:r>
              <a:rPr lang="it-IT" dirty="0"/>
              <a:t>The </a:t>
            </a:r>
            <a:r>
              <a:rPr lang="it-IT" dirty="0" err="1"/>
              <a:t>message</a:t>
            </a:r>
            <a:r>
              <a:rPr lang="it-IT" dirty="0"/>
              <a:t> </a:t>
            </a:r>
            <a:r>
              <a:rPr lang="it-IT" dirty="0" err="1"/>
              <a:t>is</a:t>
            </a:r>
            <a:r>
              <a:rPr lang="it-IT" dirty="0"/>
              <a:t> </a:t>
            </a:r>
            <a:r>
              <a:rPr lang="it-IT" dirty="0" err="1"/>
              <a:t>simple</a:t>
            </a:r>
            <a:r>
              <a:rPr lang="it-IT" dirty="0"/>
              <a:t>. </a:t>
            </a:r>
            <a:r>
              <a:rPr lang="it-IT" dirty="0" err="1"/>
              <a:t>Cleaning</a:t>
            </a:r>
            <a:r>
              <a:rPr lang="it-IT" dirty="0"/>
              <a:t> data </a:t>
            </a:r>
            <a:r>
              <a:rPr lang="it-IT" dirty="0" err="1"/>
              <a:t>is</a:t>
            </a:r>
            <a:r>
              <a:rPr lang="it-IT" dirty="0"/>
              <a:t> </a:t>
            </a:r>
            <a:r>
              <a:rPr lang="it-IT" dirty="0" err="1"/>
              <a:t>not</a:t>
            </a:r>
            <a:r>
              <a:rPr lang="it-IT" dirty="0"/>
              <a:t> the </a:t>
            </a:r>
            <a:r>
              <a:rPr lang="it-IT" dirty="0" err="1"/>
              <a:t>same</a:t>
            </a:r>
            <a:r>
              <a:rPr lang="it-IT" dirty="0"/>
              <a:t> </a:t>
            </a:r>
            <a:r>
              <a:rPr lang="it-IT" dirty="0" err="1"/>
              <a:t>as</a:t>
            </a:r>
            <a:r>
              <a:rPr lang="it-IT" dirty="0"/>
              <a:t> </a:t>
            </a:r>
            <a:r>
              <a:rPr lang="it-IT" dirty="0" err="1"/>
              <a:t>throwing</a:t>
            </a:r>
            <a:r>
              <a:rPr lang="it-IT" dirty="0"/>
              <a:t> </a:t>
            </a:r>
            <a:r>
              <a:rPr lang="it-IT" dirty="0" err="1"/>
              <a:t>it</a:t>
            </a:r>
            <a:r>
              <a:rPr lang="it-IT" dirty="0"/>
              <a:t> </a:t>
            </a:r>
            <a:r>
              <a:rPr lang="it-IT" dirty="0" err="1"/>
              <a:t>away</a:t>
            </a:r>
            <a:r>
              <a:rPr lang="it-IT" dirty="0"/>
              <a:t>. A bit of </a:t>
            </a:r>
            <a:r>
              <a:rPr lang="it-IT" dirty="0" err="1"/>
              <a:t>careful</a:t>
            </a:r>
            <a:r>
              <a:rPr lang="it-IT" dirty="0"/>
              <a:t> work by hand, on a small set, cost </a:t>
            </a:r>
            <a:r>
              <a:rPr lang="it-IT" dirty="0" err="1"/>
              <a:t>less</a:t>
            </a:r>
            <a:r>
              <a:rPr lang="it-IT" dirty="0"/>
              <a:t> </a:t>
            </a:r>
            <a:r>
              <a:rPr lang="it-IT" dirty="0" err="1"/>
              <a:t>than</a:t>
            </a:r>
            <a:r>
              <a:rPr lang="it-IT" dirty="0"/>
              <a:t> </a:t>
            </a:r>
            <a:r>
              <a:rPr lang="it-IT" dirty="0" err="1"/>
              <a:t>another</a:t>
            </a:r>
            <a:r>
              <a:rPr lang="it-IT" dirty="0"/>
              <a:t> LLM </a:t>
            </a:r>
            <a:r>
              <a:rPr lang="it-IT" dirty="0" err="1"/>
              <a:t>run</a:t>
            </a:r>
            <a:r>
              <a:rPr lang="it-IT" dirty="0"/>
              <a:t>, and </a:t>
            </a:r>
            <a:r>
              <a:rPr lang="it-IT" dirty="0" err="1"/>
              <a:t>gave</a:t>
            </a:r>
            <a:r>
              <a:rPr lang="it-IT" dirty="0"/>
              <a:t> </a:t>
            </a:r>
            <a:r>
              <a:rPr lang="it-IT" dirty="0" err="1"/>
              <a:t>us</a:t>
            </a:r>
            <a:r>
              <a:rPr lang="it-IT" dirty="0"/>
              <a:t> back </a:t>
            </a:r>
            <a:r>
              <a:rPr lang="it-IT" dirty="0" err="1"/>
              <a:t>almost</a:t>
            </a:r>
            <a:r>
              <a:rPr lang="it-IT" dirty="0"/>
              <a:t> a </a:t>
            </a:r>
            <a:r>
              <a:rPr lang="it-IT" dirty="0" err="1"/>
              <a:t>thousand</a:t>
            </a:r>
            <a:r>
              <a:rPr lang="it-IT" dirty="0"/>
              <a:t> good </a:t>
            </a:r>
            <a:r>
              <a:rPr lang="it-IT" dirty="0" err="1"/>
              <a:t>examples</a:t>
            </a:r>
            <a:r>
              <a:rPr lang="it-IT" dirty="0"/>
              <a:t>.</a:t>
            </a:r>
          </a:p>
          <a:p>
            <a:pPr rtl="0"/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it-IT" dirty="0"/>
              <a:t>And </a:t>
            </a:r>
            <a:r>
              <a:rPr lang="it-IT" dirty="0" err="1"/>
              <a:t>here's</a:t>
            </a:r>
            <a:r>
              <a:rPr lang="it-IT" dirty="0"/>
              <a:t> the deliverable for Part One. Stage </a:t>
            </a:r>
            <a:r>
              <a:rPr lang="it-IT" dirty="0" err="1"/>
              <a:t>ten</a:t>
            </a:r>
            <a:r>
              <a:rPr lang="it-IT" dirty="0"/>
              <a:t> joins the </a:t>
            </a:r>
            <a:r>
              <a:rPr lang="it-IT" dirty="0" err="1"/>
              <a:t>clean</a:t>
            </a:r>
            <a:r>
              <a:rPr lang="it-IT" dirty="0"/>
              <a:t> </a:t>
            </a:r>
            <a:r>
              <a:rPr lang="it-IT" dirty="0" err="1"/>
              <a:t>captions</a:t>
            </a:r>
            <a:r>
              <a:rPr lang="it-IT" dirty="0"/>
              <a:t> back to the broadcast </a:t>
            </a:r>
            <a:r>
              <a:rPr lang="it-IT" dirty="0" err="1"/>
              <a:t>table</a:t>
            </a:r>
            <a:r>
              <a:rPr lang="it-IT" dirty="0"/>
              <a:t>, and </a:t>
            </a:r>
            <a:r>
              <a:rPr lang="it-IT" dirty="0" err="1"/>
              <a:t>gives</a:t>
            </a:r>
            <a:r>
              <a:rPr lang="it-IT" dirty="0"/>
              <a:t> </a:t>
            </a:r>
            <a:r>
              <a:rPr lang="it-IT" dirty="0" err="1"/>
              <a:t>us</a:t>
            </a:r>
            <a:r>
              <a:rPr lang="it-IT" dirty="0"/>
              <a:t> the </a:t>
            </a:r>
            <a:r>
              <a:rPr lang="it-IT" dirty="0" err="1"/>
              <a:t>final</a:t>
            </a:r>
            <a:r>
              <a:rPr lang="it-IT" dirty="0"/>
              <a:t> dataset: 38,437 </a:t>
            </a:r>
            <a:r>
              <a:rPr lang="it-IT" dirty="0" err="1"/>
              <a:t>rows</a:t>
            </a:r>
            <a:r>
              <a:rPr lang="it-IT" dirty="0"/>
              <a:t>, over 1,497 </a:t>
            </a:r>
            <a:r>
              <a:rPr lang="it-IT" dirty="0" err="1"/>
              <a:t>unique</a:t>
            </a:r>
            <a:r>
              <a:rPr lang="it-IT" dirty="0"/>
              <a:t> images.</a:t>
            </a:r>
          </a:p>
          <a:p>
            <a:endParaRPr lang="it-IT" dirty="0"/>
          </a:p>
          <a:p>
            <a:r>
              <a:rPr lang="it-IT" dirty="0"/>
              <a:t>The chart shows the </a:t>
            </a:r>
            <a:r>
              <a:rPr lang="it-IT" dirty="0" err="1"/>
              <a:t>rows</a:t>
            </a:r>
            <a:r>
              <a:rPr lang="it-IT" dirty="0"/>
              <a:t> per </a:t>
            </a:r>
            <a:r>
              <a:rPr lang="it-IT" dirty="0" err="1"/>
              <a:t>attribute</a:t>
            </a:r>
            <a:r>
              <a:rPr lang="it-IT" dirty="0"/>
              <a:t>, and </a:t>
            </a:r>
            <a:r>
              <a:rPr lang="it-IT" dirty="0" err="1"/>
              <a:t>notice</a:t>
            </a:r>
            <a:r>
              <a:rPr lang="it-IT" dirty="0"/>
              <a:t> </a:t>
            </a:r>
            <a:r>
              <a:rPr lang="it-IT" dirty="0" err="1"/>
              <a:t>there's</a:t>
            </a:r>
            <a:r>
              <a:rPr lang="it-IT" dirty="0"/>
              <a:t> a </a:t>
            </a:r>
            <a:r>
              <a:rPr lang="it-IT" dirty="0" err="1"/>
              <a:t>real</a:t>
            </a:r>
            <a:r>
              <a:rPr lang="it-IT" dirty="0"/>
              <a:t> </a:t>
            </a:r>
            <a:r>
              <a:rPr lang="it-IT" dirty="0" err="1"/>
              <a:t>imbalance</a:t>
            </a:r>
            <a:r>
              <a:rPr lang="it-IT" dirty="0"/>
              <a:t>. Paste </a:t>
            </a:r>
            <a:r>
              <a:rPr lang="it-IT" dirty="0" err="1"/>
              <a:t>structure</a:t>
            </a:r>
            <a:r>
              <a:rPr lang="it-IT" dirty="0"/>
              <a:t> </a:t>
            </a:r>
            <a:r>
              <a:rPr lang="it-IT" dirty="0" err="1"/>
              <a:t>has</a:t>
            </a:r>
            <a:r>
              <a:rPr lang="it-IT" dirty="0"/>
              <a:t> </a:t>
            </a:r>
            <a:r>
              <a:rPr lang="it-IT" dirty="0" err="1"/>
              <a:t>almost</a:t>
            </a:r>
            <a:r>
              <a:rPr lang="it-IT" dirty="0"/>
              <a:t> double the </a:t>
            </a:r>
            <a:r>
              <a:rPr lang="it-IT" dirty="0" err="1"/>
              <a:t>rows</a:t>
            </a:r>
            <a:r>
              <a:rPr lang="it-IT" dirty="0"/>
              <a:t> of </a:t>
            </a:r>
            <a:r>
              <a:rPr lang="it-IT" dirty="0" err="1"/>
              <a:t>rind</a:t>
            </a:r>
            <a:r>
              <a:rPr lang="it-IT" dirty="0"/>
              <a:t> </a:t>
            </a:r>
            <a:r>
              <a:rPr lang="it-IT" dirty="0" err="1"/>
              <a:t>thickness</a:t>
            </a:r>
            <a:r>
              <a:rPr lang="it-IT" dirty="0"/>
              <a:t>. </a:t>
            </a:r>
            <a:r>
              <a:rPr lang="it-IT" dirty="0" err="1"/>
              <a:t>That</a:t>
            </a:r>
            <a:r>
              <a:rPr lang="it-IT" dirty="0"/>
              <a:t> gap </a:t>
            </a:r>
            <a:r>
              <a:rPr lang="it-IT" dirty="0" err="1"/>
              <a:t>will</a:t>
            </a:r>
            <a:r>
              <a:rPr lang="it-IT" dirty="0"/>
              <a:t> </a:t>
            </a:r>
            <a:r>
              <a:rPr lang="it-IT" dirty="0" err="1"/>
              <a:t>matter</a:t>
            </a:r>
            <a:r>
              <a:rPr lang="it-IT" dirty="0"/>
              <a:t> </a:t>
            </a:r>
            <a:r>
              <a:rPr lang="it-IT" dirty="0" err="1"/>
              <a:t>later</a:t>
            </a:r>
            <a:r>
              <a:rPr lang="it-IT" dirty="0"/>
              <a:t>, in Part Two.</a:t>
            </a:r>
          </a:p>
          <a:p>
            <a:endParaRPr lang="it-IT" dirty="0"/>
          </a:p>
          <a:p>
            <a:r>
              <a:rPr lang="it-IT" dirty="0"/>
              <a:t>On the format side, </a:t>
            </a:r>
            <a:r>
              <a:rPr lang="it-IT" dirty="0" err="1"/>
              <a:t>we</a:t>
            </a:r>
            <a:r>
              <a:rPr lang="it-IT" dirty="0"/>
              <a:t> made a </a:t>
            </a:r>
            <a:r>
              <a:rPr lang="it-IT" dirty="0" err="1"/>
              <a:t>flexible</a:t>
            </a:r>
            <a:r>
              <a:rPr lang="it-IT" dirty="0"/>
              <a:t> </a:t>
            </a:r>
            <a:r>
              <a:rPr lang="it-IT" dirty="0" err="1"/>
              <a:t>choice</a:t>
            </a:r>
            <a:r>
              <a:rPr lang="it-IT" dirty="0"/>
              <a:t>. Every </a:t>
            </a:r>
            <a:r>
              <a:rPr lang="it-IT" dirty="0" err="1"/>
              <a:t>row</a:t>
            </a:r>
            <a:r>
              <a:rPr lang="it-IT" dirty="0"/>
              <a:t> </a:t>
            </a:r>
            <a:r>
              <a:rPr lang="it-IT" dirty="0" err="1"/>
              <a:t>carries</a:t>
            </a:r>
            <a:r>
              <a:rPr lang="it-IT" dirty="0"/>
              <a:t> </a:t>
            </a:r>
            <a:r>
              <a:rPr lang="it-IT" dirty="0" err="1"/>
              <a:t>two</a:t>
            </a:r>
            <a:r>
              <a:rPr lang="it-IT" dirty="0"/>
              <a:t> </a:t>
            </a:r>
            <a:r>
              <a:rPr lang="it-IT" dirty="0" err="1"/>
              <a:t>versions</a:t>
            </a:r>
            <a:r>
              <a:rPr lang="it-IT" dirty="0"/>
              <a:t> of the </a:t>
            </a:r>
            <a:r>
              <a:rPr lang="it-IT" dirty="0" err="1"/>
              <a:t>caption</a:t>
            </a:r>
            <a:r>
              <a:rPr lang="it-IT" dirty="0"/>
              <a:t>. A short one, </a:t>
            </a:r>
            <a:r>
              <a:rPr lang="it-IT" dirty="0" err="1"/>
              <a:t>four</a:t>
            </a:r>
            <a:r>
              <a:rPr lang="it-IT" dirty="0"/>
              <a:t> to </a:t>
            </a:r>
            <a:r>
              <a:rPr lang="it-IT" dirty="0" err="1"/>
              <a:t>eight</a:t>
            </a:r>
            <a:r>
              <a:rPr lang="it-IT" dirty="0"/>
              <a:t> words, like "Smell of </a:t>
            </a:r>
            <a:r>
              <a:rPr lang="it-IT" dirty="0" err="1"/>
              <a:t>cream</a:t>
            </a:r>
            <a:r>
              <a:rPr lang="it-IT" dirty="0"/>
              <a:t>". And a full </a:t>
            </a:r>
            <a:r>
              <a:rPr lang="it-IT" dirty="0" err="1"/>
              <a:t>Italian</a:t>
            </a:r>
            <a:r>
              <a:rPr lang="it-IT" dirty="0"/>
              <a:t> </a:t>
            </a:r>
            <a:r>
              <a:rPr lang="it-IT" dirty="0" err="1"/>
              <a:t>sentence</a:t>
            </a:r>
            <a:r>
              <a:rPr lang="it-IT" dirty="0"/>
              <a:t>, "The </a:t>
            </a:r>
            <a:r>
              <a:rPr lang="it-IT" dirty="0" err="1"/>
              <a:t>cheese</a:t>
            </a:r>
            <a:r>
              <a:rPr lang="it-IT" dirty="0"/>
              <a:t> </a:t>
            </a:r>
            <a:r>
              <a:rPr lang="it-IT" dirty="0" err="1"/>
              <a:t>has</a:t>
            </a:r>
            <a:r>
              <a:rPr lang="it-IT" dirty="0"/>
              <a:t> a </a:t>
            </a:r>
          </a:p>
          <a:p>
            <a:r>
              <a:rPr lang="it-IT" dirty="0" err="1"/>
              <a:t>smell</a:t>
            </a:r>
            <a:r>
              <a:rPr lang="it-IT" dirty="0"/>
              <a:t> of </a:t>
            </a:r>
            <a:r>
              <a:rPr lang="it-IT" dirty="0" err="1"/>
              <a:t>cream</a:t>
            </a:r>
            <a:r>
              <a:rPr lang="it-IT" dirty="0"/>
              <a:t>", </a:t>
            </a:r>
            <a:r>
              <a:rPr lang="it-IT" dirty="0" err="1"/>
              <a:t>which</a:t>
            </a:r>
            <a:r>
              <a:rPr lang="it-IT" dirty="0"/>
              <a:t> works </a:t>
            </a:r>
            <a:r>
              <a:rPr lang="it-IT" dirty="0" err="1"/>
              <a:t>better</a:t>
            </a:r>
            <a:r>
              <a:rPr lang="it-IT" dirty="0"/>
              <a:t> for the models and the </a:t>
            </a:r>
            <a:r>
              <a:rPr lang="it-IT" dirty="0" err="1"/>
              <a:t>metrics</a:t>
            </a:r>
            <a:r>
              <a:rPr lang="it-IT" dirty="0"/>
              <a:t>. And </a:t>
            </a:r>
            <a:r>
              <a:rPr lang="it-IT" dirty="0" err="1"/>
              <a:t>that</a:t>
            </a:r>
            <a:r>
              <a:rPr lang="it-IT" dirty="0"/>
              <a:t> </a:t>
            </a:r>
            <a:r>
              <a:rPr lang="it-IT" dirty="0" err="1"/>
              <a:t>sentence</a:t>
            </a:r>
            <a:r>
              <a:rPr lang="it-IT" dirty="0"/>
              <a:t> step </a:t>
            </a:r>
            <a:r>
              <a:rPr lang="it-IT" dirty="0" err="1"/>
              <a:t>is</a:t>
            </a:r>
            <a:r>
              <a:rPr lang="it-IT" dirty="0"/>
              <a:t> </a:t>
            </a:r>
            <a:r>
              <a:rPr lang="it-IT" dirty="0" err="1"/>
              <a:t>fully</a:t>
            </a:r>
            <a:r>
              <a:rPr lang="it-IT" dirty="0"/>
              <a:t> </a:t>
            </a:r>
            <a:r>
              <a:rPr lang="it-IT" dirty="0" err="1"/>
              <a:t>deterministic</a:t>
            </a:r>
            <a:r>
              <a:rPr lang="it-IT" dirty="0"/>
              <a:t>, no extra LLM call.</a:t>
            </a:r>
          </a:p>
          <a:p>
            <a:endParaRPr lang="it-IT" dirty="0"/>
          </a:p>
          <a:p>
            <a:r>
              <a:rPr lang="it-IT" dirty="0" err="1"/>
              <a:t>We</a:t>
            </a:r>
            <a:r>
              <a:rPr lang="it-IT" dirty="0"/>
              <a:t> </a:t>
            </a:r>
            <a:r>
              <a:rPr lang="it-IT" dirty="0" err="1"/>
              <a:t>deliver</a:t>
            </a:r>
            <a:r>
              <a:rPr lang="it-IT" dirty="0"/>
              <a:t> the dataset in a </a:t>
            </a:r>
            <a:r>
              <a:rPr lang="it-IT" dirty="0" err="1"/>
              <a:t>few</a:t>
            </a:r>
            <a:r>
              <a:rPr lang="it-IT" dirty="0"/>
              <a:t> </a:t>
            </a:r>
            <a:r>
              <a:rPr lang="it-IT" dirty="0" err="1"/>
              <a:t>shapes</a:t>
            </a:r>
            <a:r>
              <a:rPr lang="it-IT" dirty="0"/>
              <a:t>: the full </a:t>
            </a:r>
            <a:r>
              <a:rPr lang="it-IT" dirty="0" err="1"/>
              <a:t>table</a:t>
            </a:r>
            <a:r>
              <a:rPr lang="it-IT" dirty="0"/>
              <a:t> with </a:t>
            </a:r>
            <a:r>
              <a:rPr lang="it-IT" dirty="0" err="1"/>
              <a:t>all</a:t>
            </a:r>
            <a:r>
              <a:rPr lang="it-IT" dirty="0"/>
              <a:t> the </a:t>
            </a:r>
            <a:r>
              <a:rPr lang="it-IT" dirty="0" err="1"/>
              <a:t>provenance</a:t>
            </a:r>
            <a:r>
              <a:rPr lang="it-IT" dirty="0"/>
              <a:t>, a </a:t>
            </a:r>
            <a:r>
              <a:rPr lang="it-IT" dirty="0" err="1"/>
              <a:t>simple</a:t>
            </a:r>
            <a:r>
              <a:rPr lang="it-IT" dirty="0"/>
              <a:t> </a:t>
            </a:r>
            <a:r>
              <a:rPr lang="it-IT" dirty="0" err="1"/>
              <a:t>four-column</a:t>
            </a:r>
            <a:r>
              <a:rPr lang="it-IT" dirty="0"/>
              <a:t> </a:t>
            </a:r>
            <a:r>
              <a:rPr lang="it-IT" dirty="0" err="1"/>
              <a:t>view</a:t>
            </a:r>
            <a:r>
              <a:rPr lang="it-IT" dirty="0"/>
              <a:t>, and </a:t>
            </a:r>
            <a:r>
              <a:rPr lang="it-IT" dirty="0" err="1"/>
              <a:t>seven</a:t>
            </a:r>
            <a:r>
              <a:rPr lang="it-IT" dirty="0"/>
              <a:t> </a:t>
            </a:r>
            <a:r>
              <a:rPr lang="it-IT" dirty="0" err="1"/>
              <a:t>splits</a:t>
            </a:r>
            <a:r>
              <a:rPr lang="it-IT" dirty="0"/>
              <a:t>, one per </a:t>
            </a:r>
            <a:r>
              <a:rPr lang="it-IT" dirty="0" err="1"/>
              <a:t>attribute</a:t>
            </a:r>
            <a:r>
              <a:rPr lang="it-IT" dirty="0"/>
              <a:t>, so </a:t>
            </a:r>
            <a:r>
              <a:rPr lang="it-IT" dirty="0" err="1"/>
              <a:t>any</a:t>
            </a:r>
            <a:r>
              <a:rPr lang="it-IT" dirty="0"/>
              <a:t> model can use </a:t>
            </a:r>
            <a:r>
              <a:rPr lang="it-IT" dirty="0" err="1"/>
              <a:t>it</a:t>
            </a:r>
            <a:r>
              <a:rPr lang="it-IT" dirty="0"/>
              <a:t>.</a:t>
            </a:r>
          </a:p>
          <a:p>
            <a:endParaRPr lang="it-IT" b="1" dirty="0"/>
          </a:p>
          <a:p>
            <a:r>
              <a:rPr lang="it-IT" b="1" dirty="0"/>
              <a:t>And with </a:t>
            </a:r>
            <a:r>
              <a:rPr lang="it-IT" b="1" dirty="0" err="1"/>
              <a:t>that</a:t>
            </a:r>
            <a:r>
              <a:rPr lang="it-IT" b="1" dirty="0"/>
              <a:t>, </a:t>
            </a:r>
            <a:r>
              <a:rPr lang="it-IT" b="1" dirty="0" err="1"/>
              <a:t>we</a:t>
            </a:r>
            <a:r>
              <a:rPr lang="it-IT" b="1" dirty="0"/>
              <a:t> close the data part, and </a:t>
            </a:r>
            <a:r>
              <a:rPr lang="it-IT" b="1" dirty="0" err="1"/>
              <a:t>move</a:t>
            </a:r>
            <a:r>
              <a:rPr lang="it-IT" b="1" dirty="0"/>
              <a:t> on to the models.</a:t>
            </a:r>
            <a:endParaRPr lang="it-IT" dirty="0"/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Second part: the models.</a:t>
            </a:r>
          </a:p>
          <a:p>
            <a:r>
              <a:rPr dirty="0"/>
              <a:t>Here the brief's goal is the comparison of methods, and let me give you the conclusion upfront, so</a:t>
            </a:r>
          </a:p>
          <a:p>
            <a:r>
              <a:rPr dirty="0"/>
              <a:t>you can follow the data with the right key. Among everything we could change — the decoder, the</a:t>
            </a:r>
          </a:p>
          <a:p>
            <a:r>
              <a:rPr dirty="0"/>
              <a:t>amount of data, the hyperparameters — the single factor that decides whether the model truly uses</a:t>
            </a:r>
          </a:p>
          <a:p>
            <a:r>
              <a:rPr dirty="0"/>
              <a:t>the image is one: the visual encoder.</a:t>
            </a:r>
          </a:p>
          <a:p>
            <a:r>
              <a:rPr dirty="0"/>
              <a:t>We'll build this conclusion step by step, and verify it with two independent tools: the shuffle test</a:t>
            </a:r>
          </a:p>
          <a:p>
            <a:r>
              <a:rPr dirty="0"/>
              <a:t>and the </a:t>
            </a:r>
            <a:r>
              <a:rPr dirty="0" err="1"/>
              <a:t>CLIPScore</a:t>
            </a:r>
            <a:r>
              <a:rPr dirty="0"/>
              <a:t>. Let's start with the three architectures.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The brief asks for three methods "as conceptually different as possible". We chose them to isolate</a:t>
            </a:r>
          </a:p>
          <a:p>
            <a:r>
              <a:rPr dirty="0"/>
              <a:t>the three main axes of variation in captioning.</a:t>
            </a:r>
          </a:p>
          <a:p>
            <a:r>
              <a:rPr dirty="0"/>
              <a:t>m1 is the classic: a convolutional encoder, ResNet-50, with an LSTM decoder trained from scratch.</a:t>
            </a:r>
          </a:p>
          <a:p>
            <a:r>
              <a:rPr dirty="0"/>
              <a:t>m3 changes the encoder: a Vision Transformer, </a:t>
            </a:r>
            <a:r>
              <a:rPr dirty="0" err="1"/>
              <a:t>ViT</a:t>
            </a:r>
            <a:r>
              <a:rPr dirty="0"/>
              <a:t>-B/16, with a Transformer decoder, still from</a:t>
            </a:r>
          </a:p>
          <a:p>
            <a:r>
              <a:rPr dirty="0"/>
              <a:t>scratch. m6 changes the decoder: the same </a:t>
            </a:r>
            <a:r>
              <a:rPr dirty="0" err="1"/>
              <a:t>ViT</a:t>
            </a:r>
            <a:r>
              <a:rPr dirty="0"/>
              <a:t>, but the decoder is </a:t>
            </a:r>
            <a:r>
              <a:rPr dirty="0" err="1"/>
              <a:t>GePpeTto</a:t>
            </a:r>
            <a:r>
              <a:rPr dirty="0"/>
              <a:t>, an already-pretrained</a:t>
            </a:r>
          </a:p>
          <a:p>
            <a:r>
              <a:rPr dirty="0"/>
              <a:t>Italian GPT-2.</a:t>
            </a:r>
          </a:p>
          <a:p>
            <a:r>
              <a:rPr dirty="0"/>
              <a:t>The beauty of this design is in the axes, at the bottom. Comparing m1 with m3 isolates the encoder's</a:t>
            </a:r>
          </a:p>
          <a:p>
            <a:r>
              <a:rPr dirty="0"/>
              <a:t>effect, because the decoder stays the same "from scratch" type. Comparing m3 with m6 isolates the</a:t>
            </a:r>
          </a:p>
          <a:p>
            <a:r>
              <a:rPr dirty="0"/>
              <a:t>decoder's effect, because the encoder is identical. It's a small controlled experiment.</a:t>
            </a:r>
          </a:p>
          <a:p>
            <a:r>
              <a:rPr dirty="0"/>
              <a:t>A crucial choice for fairness: all encoders are frozen. We train only the decoder and the</a:t>
            </a:r>
          </a:p>
          <a:p>
            <a:r>
              <a:rPr dirty="0"/>
              <a:t>cross-attention projection. So each decoder receives exactly the same visual features, and the</a:t>
            </a:r>
          </a:p>
          <a:p>
            <a:r>
              <a:rPr dirty="0"/>
              <a:t>differences we observe are attributable to architecture, not to a lucky encoder. This, we'll see,</a:t>
            </a:r>
          </a:p>
          <a:p>
            <a:r>
              <a:rPr dirty="0"/>
              <a:t>is also the main limitation, and the main pointer to future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The experimental setup, briefly. All training ran on Kaggle's free GPU tier, with T4 or P100. The</a:t>
            </a:r>
          </a:p>
          <a:p>
            <a:r>
              <a:rPr dirty="0"/>
              <a:t>hyperparameters in the table are reasonable defaults for each architecture, not the fruit of an</a:t>
            </a:r>
          </a:p>
          <a:p>
            <a:r>
              <a:rPr dirty="0"/>
              <a:t>exhaustive search: m1 more epochs and a higher learning rate, m6 few epochs and a small learning</a:t>
            </a:r>
          </a:p>
          <a:p>
            <a:r>
              <a:rPr dirty="0"/>
              <a:t>rate, as is natural for a pretrained model that only needs fine-tuning.</a:t>
            </a:r>
          </a:p>
          <a:p>
            <a:r>
              <a:rPr dirty="0"/>
              <a:t>Two choices ensure a fair comparison. First, the split is sample-disjoint: the same cheese never</a:t>
            </a:r>
          </a:p>
          <a:p>
            <a:r>
              <a:rPr dirty="0"/>
              <a:t>appears both in training and in test, so we avoid leakage. Second, at inference we use nucleus</a:t>
            </a:r>
          </a:p>
          <a:p>
            <a:r>
              <a:rPr dirty="0"/>
              <a:t>sampling instead of beam search, because on small datasets beam collapses to the most frequent</a:t>
            </a:r>
          </a:p>
          <a:p>
            <a:r>
              <a:rPr dirty="0"/>
              <a:t>caption, artificially inflating BLEU but reducing diversity.</a:t>
            </a:r>
          </a:p>
          <a:p>
            <a:r>
              <a:rPr dirty="0"/>
              <a:t>The training curves are healthy across all three models, no overfitting, no </a:t>
            </a:r>
            <a:r>
              <a:rPr dirty="0" err="1"/>
              <a:t>NaN</a:t>
            </a:r>
            <a:r>
              <a:rPr dirty="0"/>
              <a:t>, no collapse, so</a:t>
            </a:r>
          </a:p>
          <a:p>
            <a:r>
              <a:rPr dirty="0"/>
              <a:t>the differences in results are not due to training pathologies.</a:t>
            </a:r>
          </a:p>
          <a:p>
            <a:r>
              <a:rPr dirty="0"/>
              <a:t>On the right, a Kaggle lesson learned the hard way, for anyone wanting to reproduce: the </a:t>
            </a:r>
            <a:r>
              <a:rPr dirty="0" err="1"/>
              <a:t>enable_gpu</a:t>
            </a:r>
            <a:endParaRPr dirty="0"/>
          </a:p>
          <a:p>
            <a:r>
              <a:rPr dirty="0"/>
              <a:t>flag in the metadata is not enough, and the preinstalled </a:t>
            </a:r>
            <a:r>
              <a:rPr dirty="0" err="1"/>
              <a:t>PyTorch</a:t>
            </a:r>
            <a:r>
              <a:rPr dirty="0"/>
              <a:t> on P100s must be reinstalled.</a:t>
            </a:r>
          </a:p>
          <a:p>
            <a:r>
              <a:rPr dirty="0"/>
              <a:t>Details, but the kind that cost you an afternoon.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Let's see the first results, in the per-attribute regime: seven separate models, one per sensory</a:t>
            </a:r>
          </a:p>
          <a:p>
            <a:r>
              <a:rPr dirty="0"/>
              <a:t>dimension. The chart shows BLEU-4 per attribute, compared with the </a:t>
            </a:r>
            <a:r>
              <a:rPr dirty="0" err="1"/>
              <a:t>most_frequent</a:t>
            </a:r>
            <a:r>
              <a:rPr dirty="0"/>
              <a:t> baseline, the one</a:t>
            </a:r>
          </a:p>
          <a:p>
            <a:r>
              <a:rPr dirty="0"/>
              <a:t>that always emits the most frequent caption.</a:t>
            </a:r>
          </a:p>
          <a:p>
            <a:r>
              <a:rPr dirty="0"/>
              <a:t>The picture is sharp and two-sided. The trained models clearly beat the constant baseline on four</a:t>
            </a:r>
          </a:p>
          <a:p>
            <a:r>
              <a:rPr dirty="0"/>
              <a:t>attributes: paste structure, with a notable margin of over 0.12 points, then smell, texture and</a:t>
            </a:r>
          </a:p>
          <a:p>
            <a:r>
              <a:rPr dirty="0" err="1"/>
              <a:t>colour</a:t>
            </a:r>
            <a:r>
              <a:rPr dirty="0"/>
              <a:t>. On the other three, aroma, taste and rind thickness, they tie or lose.</a:t>
            </a:r>
          </a:p>
          <a:p>
            <a:r>
              <a:rPr dirty="0"/>
              <a:t>Be careful not to misread this "lose". It does not mean the models are poor on those attributes. It</a:t>
            </a:r>
          </a:p>
          <a:p>
            <a:r>
              <a:rPr dirty="0"/>
              <a:t>means that there the reference captions are not very diverse, very template-heavy, and under those</a:t>
            </a:r>
          </a:p>
          <a:p>
            <a:r>
              <a:rPr dirty="0"/>
              <a:t>conditions BLEU rewards whoever always predicts the majority. It's a flaw of the metric, not of the</a:t>
            </a:r>
          </a:p>
          <a:p>
            <a:r>
              <a:rPr dirty="0"/>
              <a:t>model, and we'll prove it shortly with the shuffle test, which on thickness confirms m3 and m6 do</a:t>
            </a:r>
          </a:p>
          <a:p>
            <a:r>
              <a:rPr dirty="0"/>
              <a:t>use the image.</a:t>
            </a:r>
          </a:p>
          <a:p>
            <a:r>
              <a:rPr dirty="0"/>
              <a:t>In short: 4 of 7 attributes beat the baseline, and the 3 "lost" ones are a BLEU artifact.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Let's move to the global regime: a single model trained across all attributes together. It's an</a:t>
            </a:r>
          </a:p>
          <a:p>
            <a:r>
              <a:rPr dirty="0"/>
              <a:t>intrinsically harder task, because the model must also choose which sensory dimension to describe,</a:t>
            </a:r>
          </a:p>
          <a:p>
            <a:r>
              <a:rPr dirty="0"/>
              <a:t>and it works with a much larger vocabulary.</a:t>
            </a:r>
          </a:p>
          <a:p>
            <a:r>
              <a:rPr dirty="0"/>
              <a:t>The chart compares the three models on five metrics. Two observations. First, m6, the </a:t>
            </a:r>
            <a:r>
              <a:rPr dirty="0" err="1"/>
              <a:t>ViT</a:t>
            </a:r>
            <a:r>
              <a:rPr dirty="0"/>
              <a:t> with</a:t>
            </a:r>
          </a:p>
          <a:p>
            <a:r>
              <a:rPr dirty="0" err="1"/>
              <a:t>GePpeTto</a:t>
            </a:r>
            <a:r>
              <a:rPr dirty="0"/>
              <a:t>, wins narrowly almost everywhere: it's first on BLEU-1, BLEU-4 and ROUGE-L, and</a:t>
            </a:r>
          </a:p>
          <a:p>
            <a:r>
              <a:rPr dirty="0"/>
              <a:t>essentially tied on METEOR; m3 only beats it on </a:t>
            </a:r>
            <a:r>
              <a:rPr dirty="0" err="1"/>
              <a:t>CIDEr</a:t>
            </a:r>
            <a:r>
              <a:rPr dirty="0"/>
              <a:t>. Second, and equally important, the three</a:t>
            </a:r>
          </a:p>
          <a:p>
            <a:r>
              <a:rPr dirty="0"/>
              <a:t>models are in a very tight cluster: the BLEU-4 spread is just seven thousandths. They are very close.</a:t>
            </a:r>
          </a:p>
          <a:p>
            <a:r>
              <a:rPr dirty="0"/>
              <a:t>A note on the baseline, which I left out of the chart for readability but is crucial: </a:t>
            </a:r>
            <a:r>
              <a:rPr dirty="0" err="1"/>
              <a:t>most_frequent</a:t>
            </a:r>
            <a:r>
              <a:rPr dirty="0"/>
              <a:t>,</a:t>
            </a:r>
          </a:p>
          <a:p>
            <a:r>
              <a:rPr dirty="0"/>
              <a:t>the constant sentence, would have the highest BLEU-1 of all but the worst BLEU-4. It's the</a:t>
            </a:r>
          </a:p>
          <a:p>
            <a:r>
              <a:rPr dirty="0"/>
              <a:t>degenerate </a:t>
            </a:r>
            <a:r>
              <a:rPr dirty="0" err="1"/>
              <a:t>behaviour</a:t>
            </a:r>
            <a:r>
              <a:rPr dirty="0"/>
              <a:t> of "always predict the majority": you guess many single words, but you never</a:t>
            </a:r>
          </a:p>
          <a:p>
            <a:r>
              <a:rPr dirty="0"/>
              <a:t>compose a correct four-word sequence different from the template. Keep this anomaly in mind: it's</a:t>
            </a:r>
          </a:p>
          <a:p>
            <a:r>
              <a:rPr dirty="0"/>
              <a:t>the first clue that BLEU, on its own, is misleading 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A slide of methodological caution, because it's easy to draw the wrong conclusion.</a:t>
            </a:r>
          </a:p>
          <a:p>
            <a:r>
              <a:rPr dirty="0"/>
              <a:t>You'll have noticed that the per-attribute numbers, BLEU-4 from 0.33 to 0.47, are much higher than</a:t>
            </a:r>
          </a:p>
          <a:p>
            <a:r>
              <a:rPr dirty="0"/>
              <a:t>the global BLEU-4, around 0.13. A three- or four-fold jump. The temptation is to say: "so the</a:t>
            </a:r>
          </a:p>
          <a:p>
            <a:r>
              <a:rPr dirty="0"/>
              <a:t>per-attribute models are much better". Wrong.</a:t>
            </a:r>
          </a:p>
          <a:p>
            <a:r>
              <a:rPr dirty="0"/>
              <a:t>That jump doesn't reflect better learning, but the fact that per-attribute evaluation runs on a much</a:t>
            </a:r>
          </a:p>
          <a:p>
            <a:r>
              <a:rPr dirty="0"/>
              <a:t>narrower distribution. When you focus on a single attribute, the vocabulary collapses from over 600</a:t>
            </a:r>
          </a:p>
          <a:p>
            <a:r>
              <a:rPr dirty="0"/>
              <a:t>words to about 80-140, and the shared scaffolding — "the cheese has a such-and-such attribute of..."</a:t>
            </a:r>
          </a:p>
          <a:p>
            <a:r>
              <a:rPr dirty="0"/>
              <a:t>— alone contributes five words of constant 4-gram that send BLEU soaring.</a:t>
            </a:r>
          </a:p>
          <a:p>
            <a:r>
              <a:rPr dirty="0"/>
              <a:t>They are two different rulers measuring performance on different distributions. The global model is</a:t>
            </a:r>
          </a:p>
          <a:p>
            <a:r>
              <a:rPr dirty="0"/>
              <a:t>intrinsically harder because it must also choose which dimension to describe. Comparing the two</a:t>
            </a:r>
          </a:p>
          <a:p>
            <a:r>
              <a:rPr dirty="0"/>
              <a:t>numbers as if on the same scale would be a mistake, and it's the kind of subtlety that separates an</a:t>
            </a:r>
          </a:p>
          <a:p>
            <a:r>
              <a:rPr dirty="0"/>
              <a:t>honest analysis from one that fools itself.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We're at the most important result of the whole project. The question is as simple as it is</a:t>
            </a:r>
          </a:p>
          <a:p>
            <a:r>
              <a:rPr dirty="0"/>
              <a:t>fundamental: is the model actually using the image, or just mimicking the caption distribution?</a:t>
            </a:r>
          </a:p>
          <a:p>
            <a:r>
              <a:rPr dirty="0"/>
              <a:t>The tool is the shuffle test. The idea: if a model is truly conditioned on the image, its prediction</a:t>
            </a:r>
          </a:p>
          <a:p>
            <a:r>
              <a:rPr dirty="0"/>
              <a:t>for image </a:t>
            </a:r>
            <a:r>
              <a:rPr dirty="0" err="1"/>
              <a:t>i</a:t>
            </a:r>
            <a:r>
              <a:rPr dirty="0"/>
              <a:t> must match the reference of </a:t>
            </a:r>
            <a:r>
              <a:rPr dirty="0" err="1"/>
              <a:t>i</a:t>
            </a:r>
            <a:r>
              <a:rPr dirty="0"/>
              <a:t> better than a randomly picked prediction. So we shuffle the</a:t>
            </a:r>
          </a:p>
          <a:p>
            <a:r>
              <a:rPr dirty="0"/>
              <a:t>predictions across test rows, breaking the alignment, recompute the overlap a hundred times to get a</a:t>
            </a:r>
          </a:p>
          <a:p>
            <a:r>
              <a:rPr dirty="0"/>
              <a:t>null distribution, and measure the z-score. A z above 3 corresponds to p below 0.001: strong</a:t>
            </a:r>
          </a:p>
          <a:p>
            <a:r>
              <a:rPr dirty="0"/>
              <a:t>evidence.</a:t>
            </a:r>
          </a:p>
          <a:p>
            <a:r>
              <a:rPr dirty="0"/>
              <a:t>The verdict, in the chart, is crystal clear. m1, the </a:t>
            </a:r>
            <a:r>
              <a:rPr dirty="0" err="1"/>
              <a:t>ResNet</a:t>
            </a:r>
            <a:r>
              <a:rPr dirty="0"/>
              <a:t> model, has z near zero everywhere: it</a:t>
            </a:r>
          </a:p>
          <a:p>
            <a:r>
              <a:rPr dirty="0"/>
              <a:t>never uses the image, it's effectively a pure language model guessing from the distribution. m3 and</a:t>
            </a:r>
          </a:p>
          <a:p>
            <a:r>
              <a:rPr dirty="0"/>
              <a:t>m6, the </a:t>
            </a:r>
            <a:r>
              <a:rPr dirty="0" err="1"/>
              <a:t>ViT</a:t>
            </a:r>
            <a:r>
              <a:rPr dirty="0"/>
              <a:t> models, clearly use the image on four attributes out of seven: smell, thickness, </a:t>
            </a:r>
            <a:r>
              <a:rPr dirty="0" err="1"/>
              <a:t>colour</a:t>
            </a:r>
            <a:endParaRPr dirty="0"/>
          </a:p>
          <a:p>
            <a:r>
              <a:rPr dirty="0"/>
              <a:t>and structure. The only one where no model uses the image is aroma.</a:t>
            </a:r>
          </a:p>
          <a:p>
            <a:r>
              <a:rPr dirty="0"/>
              <a:t>Keep this chart in mind: the next slide draws the architectural conclusion.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Let's start with </a:t>
            </a:r>
            <a:r>
              <a:rPr dirty="0" err="1"/>
              <a:t>CIDEr</a:t>
            </a:r>
            <a:r>
              <a:rPr dirty="0"/>
              <a:t>, the metric designed specifically for captioning. Unlike BLEU, which</a:t>
            </a:r>
          </a:p>
          <a:p>
            <a:r>
              <a:rPr dirty="0"/>
              <a:t>flattened the models onto close values, </a:t>
            </a:r>
            <a:r>
              <a:rPr dirty="0" err="1"/>
              <a:t>CIDEr</a:t>
            </a:r>
            <a:r>
              <a:rPr dirty="0"/>
              <a:t> weights rare terms with TF-IDF and so separates them.</a:t>
            </a:r>
          </a:p>
          <a:p>
            <a:r>
              <a:rPr dirty="0"/>
              <a:t>Look at the ordering in the chart, on the seven-attribute means: random 0.23, then </a:t>
            </a:r>
            <a:r>
              <a:rPr dirty="0" err="1"/>
              <a:t>freq_weighted</a:t>
            </a:r>
            <a:endParaRPr dirty="0"/>
          </a:p>
          <a:p>
            <a:r>
              <a:rPr dirty="0"/>
              <a:t>0.37, then the trained models rising clearly: m1 at 0.59, m3 at 0.65, m6 at 0.70. </a:t>
            </a:r>
            <a:r>
              <a:rPr dirty="0" err="1"/>
              <a:t>CIDEr</a:t>
            </a:r>
            <a:r>
              <a:rPr dirty="0"/>
              <a:t> orders the</a:t>
            </a:r>
          </a:p>
          <a:p>
            <a:r>
              <a:rPr dirty="0"/>
              <a:t>models correctly, and confirms m6 is the best. It's exactly the information BLEU couldn't give us: a</a:t>
            </a:r>
          </a:p>
          <a:p>
            <a:r>
              <a:rPr dirty="0"/>
              <a:t>clean ranking.</a:t>
            </a:r>
          </a:p>
          <a:p>
            <a:r>
              <a:rPr dirty="0"/>
              <a:t>There's one column taller than all, in gold: </a:t>
            </a:r>
            <a:r>
              <a:rPr dirty="0" err="1"/>
              <a:t>most_frequent</a:t>
            </a:r>
            <a:r>
              <a:rPr dirty="0"/>
              <a:t>, at 0.79. Don't be fooled: the constant</a:t>
            </a:r>
          </a:p>
          <a:p>
            <a:r>
              <a:rPr dirty="0"/>
              <a:t>baseline leads only because, on this dataset, the panel reference is often the frequent sentence</a:t>
            </a:r>
          </a:p>
          <a:p>
            <a:r>
              <a:rPr dirty="0"/>
              <a:t>itself. It's an artifact of the single reference, not real quality. On an extreme case like rind</a:t>
            </a:r>
          </a:p>
          <a:p>
            <a:r>
              <a:rPr dirty="0"/>
              <a:t>thickness, where BLEU gave 0.39 for everyone, </a:t>
            </a:r>
            <a:r>
              <a:rPr dirty="0" err="1"/>
              <a:t>CIDEr</a:t>
            </a:r>
            <a:r>
              <a:rPr dirty="0"/>
              <a:t> ranges from 1.04 to 2.29: a rich ordering BLEU</a:t>
            </a:r>
          </a:p>
          <a:p>
            <a:r>
              <a:rPr dirty="0"/>
              <a:t>simply did not see.</a:t>
            </a:r>
          </a:p>
          <a:p>
            <a:r>
              <a:rPr dirty="0"/>
              <a:t>Conclusion: </a:t>
            </a:r>
            <a:r>
              <a:rPr dirty="0" err="1"/>
              <a:t>CIDEr</a:t>
            </a:r>
            <a:r>
              <a:rPr dirty="0"/>
              <a:t> adds real information and separates the trained models from the noise.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Now </a:t>
            </a:r>
            <a:r>
              <a:rPr dirty="0" err="1"/>
              <a:t>CLIPScore</a:t>
            </a:r>
            <a:r>
              <a:rPr dirty="0"/>
              <a:t>, the only metric that looks at the image, and the independent confirmation of the</a:t>
            </a:r>
          </a:p>
          <a:p>
            <a:r>
              <a:rPr dirty="0"/>
              <a:t>shuffle test. Two charts, two messages.</a:t>
            </a:r>
          </a:p>
          <a:p>
            <a:r>
              <a:rPr dirty="0"/>
              <a:t>On the left, mean </a:t>
            </a:r>
            <a:r>
              <a:rPr dirty="0" err="1"/>
              <a:t>CLIPScore</a:t>
            </a:r>
            <a:r>
              <a:rPr dirty="0"/>
              <a:t> by model. Note the axis: I deliberately zoomed in, and despite the zoom</a:t>
            </a:r>
          </a:p>
          <a:p>
            <a:r>
              <a:rPr dirty="0"/>
              <a:t>the bars are practically identical. The trained models m1, m3, m6 do not beat the constant baseline</a:t>
            </a:r>
          </a:p>
          <a:p>
            <a:r>
              <a:rPr dirty="0" err="1"/>
              <a:t>most_frequent</a:t>
            </a:r>
            <a:r>
              <a:rPr dirty="0"/>
              <a:t>, the one that always fires the same sentence ignoring the image. The gap is below</a:t>
            </a:r>
          </a:p>
          <a:p>
            <a:r>
              <a:rPr dirty="0"/>
              <a:t>0.004, within the noise. It's the quantitative, independent confirmation of what the shuffle test</a:t>
            </a:r>
          </a:p>
          <a:p>
            <a:r>
              <a:rPr dirty="0"/>
              <a:t>already told us: with a frozen encoder, the models don't anchor the caption to the visual content,</a:t>
            </a:r>
          </a:p>
          <a:p>
            <a:r>
              <a:rPr dirty="0"/>
              <a:t>they do language modeling on the caption distribution.</a:t>
            </a:r>
          </a:p>
          <a:p>
            <a:r>
              <a:rPr dirty="0"/>
              <a:t>On the right, the real variation: it's per attribute, not per model. CLIP "sees" that texture,</a:t>
            </a:r>
          </a:p>
          <a:p>
            <a:r>
              <a:rPr dirty="0" err="1"/>
              <a:t>colour</a:t>
            </a:r>
            <a:r>
              <a:rPr dirty="0"/>
              <a:t> and structure, the visual attributes, get higher scores, while aroma, taste and smell stay</a:t>
            </a:r>
          </a:p>
          <a:p>
            <a:r>
              <a:rPr dirty="0"/>
              <a:t>low for everyone, because no image can reveal a taste. It's a sanity check that validates the metric.</a:t>
            </a:r>
          </a:p>
          <a:p>
            <a:r>
              <a:rPr dirty="0"/>
              <a:t>And remember the exception: rind thickness is visible but low, because the rind is a small portion</a:t>
            </a:r>
          </a:p>
          <a:p>
            <a:r>
              <a:rPr dirty="0"/>
              <a:t>of the slice and CLIP weights it little. Everything fits.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The numbers tell half the story; the generated captions tell the other half. Here you see real</a:t>
            </a:r>
          </a:p>
          <a:p>
            <a:r>
              <a:rPr dirty="0"/>
              <a:t>predictions from m6 alongside the panel reference, on test-set samples.</a:t>
            </a:r>
          </a:p>
          <a:p>
            <a:r>
              <a:rPr dirty="0"/>
              <a:t>Sometimes it's an exact match: on the aroma of cream, prediction and reference coincide word for</a:t>
            </a:r>
          </a:p>
          <a:p>
            <a:r>
              <a:rPr dirty="0"/>
              <a:t>word. On thickness, "the rind is medium-thick", again perfect. But look at the other cases: on taste</a:t>
            </a:r>
          </a:p>
          <a:p>
            <a:r>
              <a:rPr dirty="0"/>
              <a:t>the model says "slightly salty and spicy" where the panel said just "salty"; on structure it</a:t>
            </a:r>
          </a:p>
          <a:p>
            <a:r>
              <a:rPr dirty="0"/>
              <a:t>proposes "irregular fracture and fine grain" while the reference talks about stretched paste.</a:t>
            </a:r>
          </a:p>
          <a:p>
            <a:r>
              <a:rPr dirty="0"/>
              <a:t>From these examples four patterns emerge, </a:t>
            </a:r>
            <a:r>
              <a:rPr dirty="0" err="1"/>
              <a:t>summarised</a:t>
            </a:r>
            <a:r>
              <a:rPr dirty="0"/>
              <a:t> at the bottom. First: the scaffolding, "the</a:t>
            </a:r>
          </a:p>
          <a:p>
            <a:r>
              <a:rPr dirty="0"/>
              <a:t>cheese has a...", is always correct and alone worth about half the BLEU-4, which is why the numbers</a:t>
            </a:r>
          </a:p>
          <a:p>
            <a:r>
              <a:rPr dirty="0"/>
              <a:t>aren't tiny. Second: the language is fluent and grammatical, thanks to the pretrained model. Third,</a:t>
            </a:r>
          </a:p>
          <a:p>
            <a:r>
              <a:rPr dirty="0"/>
              <a:t>and most telling: the descriptor is often plausible but refers to another cheese, exactly what we</a:t>
            </a:r>
          </a:p>
          <a:p>
            <a:r>
              <a:rPr dirty="0"/>
              <a:t>expect from a model only partially conditioned on the image. Fourth: the variability across tasters</a:t>
            </a:r>
          </a:p>
          <a:p>
            <a:r>
              <a:rPr dirty="0"/>
              <a:t>is enormous and puts a ceiling on what any model can achieve with a single-reference BLEU.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Let's wrap up. The project delivers two results and one promise for the future.</a:t>
            </a:r>
          </a:p>
          <a:p>
            <a:r>
              <a:rPr dirty="0"/>
              <a:t>The scientific result is the most solid: on this dataset, the determinant of image use is the visual</a:t>
            </a:r>
          </a:p>
          <a:p>
            <a:r>
              <a:rPr dirty="0"/>
              <a:t>encoder. </a:t>
            </a:r>
            <a:r>
              <a:rPr dirty="0" err="1"/>
              <a:t>ResNet</a:t>
            </a:r>
            <a:r>
              <a:rPr dirty="0"/>
              <a:t> ignores the image on all seven attributes, </a:t>
            </a:r>
            <a:r>
              <a:rPr dirty="0" err="1"/>
              <a:t>ViT</a:t>
            </a:r>
            <a:r>
              <a:rPr dirty="0"/>
              <a:t> uses it on four out of seven,</a:t>
            </a:r>
          </a:p>
          <a:p>
            <a:r>
              <a:rPr dirty="0"/>
              <a:t>independent of the decoder, the data scale and the hyperparameters. And it's not an isolated claim:</a:t>
            </a:r>
          </a:p>
          <a:p>
            <a:r>
              <a:rPr dirty="0"/>
              <a:t>two independent tools, the shuffle test and </a:t>
            </a:r>
            <a:r>
              <a:rPr dirty="0" err="1"/>
              <a:t>CLIPScore</a:t>
            </a:r>
            <a:r>
              <a:rPr dirty="0"/>
              <a:t>, converge on the same conclusion.</a:t>
            </a:r>
          </a:p>
          <a:p>
            <a:r>
              <a:rPr dirty="0"/>
              <a:t>The practical result: the trained models beat the constant baseline on four attributes out of seven,</a:t>
            </a:r>
          </a:p>
          <a:p>
            <a:r>
              <a:rPr dirty="0"/>
              <a:t>with the maximum on structure. m6, the </a:t>
            </a:r>
            <a:r>
              <a:rPr dirty="0" err="1"/>
              <a:t>ViT</a:t>
            </a:r>
            <a:r>
              <a:rPr dirty="0"/>
              <a:t> with </a:t>
            </a:r>
            <a:r>
              <a:rPr dirty="0" err="1"/>
              <a:t>GePpeTto</a:t>
            </a:r>
            <a:r>
              <a:rPr dirty="0"/>
              <a:t>, wins narrowly almost everywhere. And all</a:t>
            </a:r>
          </a:p>
          <a:p>
            <a:r>
              <a:rPr dirty="0"/>
              <a:t>this rests on a 38-thousand-pair dataset built with just 5 dollars and 60 cents of LLM cost.</a:t>
            </a:r>
          </a:p>
          <a:p>
            <a:r>
              <a:rPr dirty="0"/>
              <a:t>Future work follows directly from the diagnosis: since the bottleneck is the frozen encoder, the</a:t>
            </a:r>
          </a:p>
          <a:p>
            <a:r>
              <a:rPr dirty="0"/>
              <a:t>natural next experiment is fine-tuning the encoder and re-measuring </a:t>
            </a:r>
            <a:r>
              <a:rPr dirty="0" err="1"/>
              <a:t>CLIPScore</a:t>
            </a:r>
            <a:r>
              <a:rPr dirty="0"/>
              <a:t>. If the models start</a:t>
            </a:r>
          </a:p>
          <a:p>
            <a:r>
              <a:rPr dirty="0"/>
              <a:t>pulling away from the constant baseline, we'll have direct proof that the image is finally being</a:t>
            </a:r>
          </a:p>
          <a:p>
            <a:r>
              <a:rPr dirty="0"/>
              <a:t>exploited.</a:t>
            </a:r>
          </a:p>
          <a:p>
            <a:r>
              <a:rPr dirty="0"/>
              <a:t>I'll close with an honest framing: none of these models would replace a taster today. They learned</a:t>
            </a:r>
          </a:p>
          <a:p>
            <a:r>
              <a:rPr dirty="0"/>
              <a:t>the sensory vocabulary and a partial map from image to descriptor, a result consistent with the</a:t>
            </a:r>
          </a:p>
          <a:p>
            <a:r>
              <a:rPr dirty="0"/>
              <a:t>data scale and the intrinsic noise of multi-taster annotation. But the path is mapped, and we know</a:t>
            </a:r>
          </a:p>
          <a:p>
            <a:r>
              <a:rPr dirty="0"/>
              <a:t>exactly where to act.</a:t>
            </a:r>
          </a:p>
          <a:p>
            <a:r>
              <a:rPr dirty="0"/>
              <a:t>Thank you for your attention. I'm happy to take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We've seen that BLEU, on its own, misleads: it rewards template repetition and never looks at the</a:t>
            </a:r>
          </a:p>
          <a:p>
            <a:r>
              <a:rPr dirty="0"/>
              <a:t>image. To read the models more honestly, we paired BLEU with six complementary metrics, groupable</a:t>
            </a:r>
          </a:p>
          <a:p>
            <a:r>
              <a:rPr dirty="0"/>
              <a:t>into three families.</a:t>
            </a:r>
          </a:p>
          <a:p>
            <a:r>
              <a:rPr dirty="0"/>
              <a:t>The text metrics compare the prediction with the textual reference: besides BLEU, METEOR, which is</a:t>
            </a:r>
          </a:p>
          <a:p>
            <a:r>
              <a:rPr dirty="0"/>
              <a:t>more lenient because it aligns with stemming and synonyms, ROUGE-L, which rewards word order, and</a:t>
            </a:r>
          </a:p>
          <a:p>
            <a:r>
              <a:rPr dirty="0" err="1"/>
              <a:t>CIDEr</a:t>
            </a:r>
            <a:r>
              <a:rPr dirty="0"/>
              <a:t>, designed specifically for captioning, which weights n-grams with TF-IDF and so rewards rare,</a:t>
            </a:r>
          </a:p>
          <a:p>
            <a:r>
              <a:rPr dirty="0"/>
              <a:t>informative sensory terms like "eyes" (</a:t>
            </a:r>
            <a:r>
              <a:rPr dirty="0" err="1"/>
              <a:t>occhiatura</a:t>
            </a:r>
            <a:r>
              <a:rPr dirty="0"/>
              <a:t>) over common words.</a:t>
            </a:r>
          </a:p>
          <a:p>
            <a:r>
              <a:rPr dirty="0"/>
              <a:t>Then a semantic metric, </a:t>
            </a:r>
            <a:r>
              <a:rPr dirty="0" err="1"/>
              <a:t>BERTScore</a:t>
            </a:r>
            <a:r>
              <a:rPr dirty="0"/>
              <a:t>, measuring meaning similarity via embeddings. A domain metric,</a:t>
            </a:r>
          </a:p>
          <a:p>
            <a:r>
              <a:rPr dirty="0"/>
              <a:t>vocabulary conformity, which asks: does the model "speak cheese" in the certified register?</a:t>
            </a:r>
          </a:p>
          <a:p>
            <a:r>
              <a:rPr dirty="0"/>
              <a:t>And finally, highlighted at the bottom, the most important for captioning: </a:t>
            </a:r>
            <a:r>
              <a:rPr dirty="0" err="1"/>
              <a:t>CLIPScore</a:t>
            </a:r>
            <a:r>
              <a:rPr dirty="0"/>
              <a:t>, the only one</a:t>
            </a:r>
          </a:p>
          <a:p>
            <a:r>
              <a:rPr dirty="0"/>
              <a:t>that truly looks at the image. It compares the caption with the slice in CLIP space, ignoring the</a:t>
            </a:r>
          </a:p>
          <a:p>
            <a:r>
              <a:rPr dirty="0"/>
              <a:t>panel reference. The next two slides show what </a:t>
            </a:r>
            <a:r>
              <a:rPr dirty="0" err="1"/>
              <a:t>CIDEr</a:t>
            </a:r>
            <a:r>
              <a:rPr dirty="0"/>
              <a:t> and </a:t>
            </a:r>
            <a:r>
              <a:rPr dirty="0" err="1"/>
              <a:t>CLIPScore</a:t>
            </a:r>
            <a:r>
              <a:rPr dirty="0"/>
              <a:t> add.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Put the shuffle test together with the two-axis design from the architectures slide, and the</a:t>
            </a:r>
          </a:p>
          <a:p>
            <a:r>
              <a:rPr dirty="0"/>
              <a:t>conclusion writes itself.</a:t>
            </a:r>
          </a:p>
          <a:p>
            <a:r>
              <a:rPr dirty="0"/>
              <a:t>Comparing m1 with m3, which isolates the encoder: m1 with </a:t>
            </a:r>
            <a:r>
              <a:rPr dirty="0" err="1"/>
              <a:t>ResNet</a:t>
            </a:r>
            <a:r>
              <a:rPr dirty="0"/>
              <a:t> never conditions on the image, m3</a:t>
            </a:r>
          </a:p>
          <a:p>
            <a:r>
              <a:rPr dirty="0"/>
              <a:t>with </a:t>
            </a:r>
            <a:r>
              <a:rPr dirty="0" err="1"/>
              <a:t>ViT</a:t>
            </a:r>
            <a:r>
              <a:rPr dirty="0"/>
              <a:t> does on most attributes. By changing only the encoder, image use switches on. The reading</a:t>
            </a:r>
          </a:p>
          <a:p>
            <a:r>
              <a:rPr dirty="0"/>
              <a:t>is that a frozen ResNet-50's features aren't informative enough at this data scale, while a frozen</a:t>
            </a:r>
          </a:p>
          <a:p>
            <a:r>
              <a:rPr dirty="0" err="1"/>
              <a:t>ViT</a:t>
            </a:r>
            <a:r>
              <a:rPr dirty="0"/>
              <a:t>-B/16's are.</a:t>
            </a:r>
          </a:p>
          <a:p>
            <a:r>
              <a:rPr dirty="0"/>
              <a:t>Comparing m3 with m6, which isolates the decoder: they produce different outputs, they never give</a:t>
            </a:r>
          </a:p>
          <a:p>
            <a:r>
              <a:rPr dirty="0"/>
              <a:t>the same caption for the same image, yet they have exactly the same image-conditioning profile. The</a:t>
            </a:r>
          </a:p>
          <a:p>
            <a:r>
              <a:rPr dirty="0"/>
              <a:t>same attributes succeed, the same fail. Changing the decoder changes the sentence's style, not</a:t>
            </a:r>
          </a:p>
          <a:p>
            <a:r>
              <a:rPr dirty="0"/>
              <a:t>whether the image is used.</a:t>
            </a:r>
          </a:p>
          <a:p>
            <a:r>
              <a:rPr dirty="0"/>
              <a:t>The synthesis is at the bottom: the binary gate of image-conditioning, on this dataset, is the</a:t>
            </a:r>
          </a:p>
          <a:p>
            <a:r>
              <a:rPr dirty="0"/>
              <a:t>visual encoder. Not the decoder, not the amount of data, not the hyperparameters. It's a clean</a:t>
            </a:r>
          </a:p>
          <a:p>
            <a:r>
              <a:rPr dirty="0"/>
              <a:t>result, and it also tells us where to act in future: on the encoder. Now let's reinforce this</a:t>
            </a:r>
          </a:p>
          <a:p>
            <a:r>
              <a:rPr dirty="0"/>
              <a:t>conclusion with the complementary metrics.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This slide is the methodological moral of the whole evaluation, condensed into one image.</a:t>
            </a:r>
          </a:p>
          <a:p>
            <a:r>
              <a:rPr dirty="0"/>
              <a:t>Look at the same pair of models, the constant baseline </a:t>
            </a:r>
            <a:r>
              <a:rPr dirty="0" err="1"/>
              <a:t>most_frequent</a:t>
            </a:r>
            <a:r>
              <a:rPr dirty="0"/>
              <a:t> against m6, seen by two</a:t>
            </a:r>
          </a:p>
          <a:p>
            <a:r>
              <a:rPr dirty="0"/>
              <a:t>different metrics. On the left, with BLEU-1, the constant caption wins: it always emits the same</a:t>
            </a:r>
          </a:p>
          <a:p>
            <a:r>
              <a:rPr dirty="0"/>
              <a:t>sentence and matches on the prefix. On the right, with </a:t>
            </a:r>
            <a:r>
              <a:rPr dirty="0" err="1"/>
              <a:t>CLIPScore</a:t>
            </a:r>
            <a:r>
              <a:rPr dirty="0"/>
              <a:t>, the two are practically</a:t>
            </a:r>
          </a:p>
          <a:p>
            <a:r>
              <a:rPr dirty="0"/>
              <a:t>indistinguishable.</a:t>
            </a:r>
          </a:p>
          <a:p>
            <a:r>
              <a:rPr dirty="0"/>
              <a:t>The exact same comparison, two opposite verdicts. This vividly demonstrates that a single metric, on</a:t>
            </a:r>
          </a:p>
          <a:p>
            <a:r>
              <a:rPr dirty="0"/>
              <a:t>its own, can lie. Had we looked only at BLEU-1, we'd have concluded that a constant sentence beats a</a:t>
            </a:r>
          </a:p>
          <a:p>
            <a:r>
              <a:rPr dirty="0"/>
              <a:t>trained model: an absurd conclusion. This is exactly why we built a battery of metrics and read</a:t>
            </a:r>
          </a:p>
          <a:p>
            <a:r>
              <a:rPr dirty="0"/>
              <a:t>them together: BLEU for phrasing, </a:t>
            </a:r>
            <a:r>
              <a:rPr dirty="0" err="1"/>
              <a:t>CIDEr</a:t>
            </a:r>
            <a:r>
              <a:rPr dirty="0"/>
              <a:t> for salient terms, </a:t>
            </a:r>
            <a:r>
              <a:rPr dirty="0" err="1"/>
              <a:t>BERTScore</a:t>
            </a:r>
            <a:r>
              <a:rPr dirty="0"/>
              <a:t> for meaning, and </a:t>
            </a:r>
            <a:r>
              <a:rPr dirty="0" err="1"/>
              <a:t>CLIPScore</a:t>
            </a:r>
            <a:r>
              <a:rPr dirty="0"/>
              <a:t> for</a:t>
            </a:r>
          </a:p>
          <a:p>
            <a:r>
              <a:rPr dirty="0"/>
              <a:t>image grounding.</a:t>
            </a:r>
          </a:p>
          <a:p>
            <a:r>
              <a:rPr dirty="0" err="1"/>
              <a:t>BERTScore</a:t>
            </a:r>
            <a:r>
              <a:rPr dirty="0"/>
              <a:t>, for completeness, is poorly discriminating here: all values fall between 0.83 and 0.92,</a:t>
            </a:r>
          </a:p>
          <a:p>
            <a:r>
              <a:rPr dirty="0"/>
              <a:t>because all sentences talk about cheese with the same structure. It's useful as a sanity check, not</a:t>
            </a:r>
          </a:p>
          <a:p>
            <a:r>
              <a:rPr dirty="0"/>
              <a:t>for ranking. The lesson stands: never trust a single metric.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6/25/26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6/25/26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Relationship Id="rId4" Type="http://schemas.openxmlformats.org/officeDocument/2006/relationships/chart" Target="../charts/chart5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33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cheese_fetta_1_sq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0" y="1175004"/>
            <a:ext cx="4507992" cy="4507992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7432929" y="0"/>
            <a:ext cx="1373884" cy="6858000"/>
          </a:xfrm>
          <a:prstGeom prst="rect">
            <a:avLst/>
          </a:prstGeom>
          <a:solidFill>
            <a:srgbClr val="1B334A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777240" y="685800"/>
            <a:ext cx="457200" cy="457200"/>
          </a:xfrm>
          <a:prstGeom prst="ellipse">
            <a:avLst/>
          </a:prstGeom>
          <a:solidFill>
            <a:srgbClr val="E0A458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538478" y="1154430"/>
            <a:ext cx="251460" cy="251460"/>
          </a:xfrm>
          <a:prstGeom prst="ellipse">
            <a:avLst/>
          </a:prstGeom>
          <a:solidFill>
            <a:srgbClr val="E0A458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390907" y="1323593"/>
            <a:ext cx="205740" cy="205740"/>
          </a:xfrm>
          <a:prstGeom prst="ellipse">
            <a:avLst/>
          </a:prstGeom>
          <a:solidFill>
            <a:srgbClr val="E0A458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257300" y="214884"/>
            <a:ext cx="228600" cy="228600"/>
          </a:xfrm>
          <a:prstGeom prst="ellipse">
            <a:avLst/>
          </a:prstGeom>
          <a:solidFill>
            <a:srgbClr val="E0A458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256032" y="530352"/>
            <a:ext cx="182880" cy="182880"/>
          </a:xfrm>
          <a:prstGeom prst="ellipse">
            <a:avLst/>
          </a:prstGeom>
          <a:solidFill>
            <a:srgbClr val="E0A458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7240" y="1554480"/>
            <a:ext cx="6766560" cy="4572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400" b="1" i="0" spc="300">
                <a:solidFill>
                  <a:srgbClr val="E0A458"/>
                </a:solidFill>
                <a:latin typeface="Calibri"/>
              </a:rPr>
              <a:t>AI4FQC · PROJECT 07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057400"/>
            <a:ext cx="6949440" cy="23774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4400" b="1" i="0">
                <a:solidFill>
                  <a:srgbClr val="F7F1E3"/>
                </a:solidFill>
                <a:latin typeface="Georgia"/>
              </a:rPr>
              <a:t>Sensory captioning</a:t>
            </a:r>
          </a:p>
          <a:p>
            <a:r>
              <a:rPr sz="4400" b="1" i="0">
                <a:solidFill>
                  <a:srgbClr val="E0A458"/>
                </a:solidFill>
                <a:latin typeface="Georgia"/>
              </a:rPr>
              <a:t>of Trentingrana cheese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297680"/>
            <a:ext cx="6400800" cy="9144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700" b="0" i="1" dirty="0">
                <a:solidFill>
                  <a:srgbClr val="D9D2C2"/>
                </a:solidFill>
                <a:latin typeface="Calibri"/>
              </a:rPr>
              <a:t>From dataset construction to comparing three encoder–decoder methods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4672" y="5074920"/>
            <a:ext cx="18288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7240" y="5303520"/>
            <a:ext cx="6400800" cy="7315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300" b="0" i="0">
                <a:solidFill>
                  <a:srgbClr val="C9C2B2"/>
                </a:solidFill>
                <a:latin typeface="Calibri"/>
              </a:rPr>
              <a:t>Technical report  ·  </a:t>
            </a:r>
            <a:r>
              <a:rPr sz="1300" b="1" i="0">
                <a:solidFill>
                  <a:srgbClr val="F7F1E3"/>
                </a:solidFill>
                <a:latin typeface="Calibri"/>
              </a:rPr>
              <a:t>38,437 image–caption pairs  ·  3 models  ·  7 attributes</a:t>
            </a:r>
          </a:p>
        </p:txBody>
      </p:sp>
    </p:spTree>
    <p:extLst>
      <p:ext uri="{BB962C8B-B14F-4D97-AF65-F5344CB8AC3E}">
        <p14:creationId xmlns:p14="http://schemas.microsoft.com/office/powerpoint/2010/main" val="34404013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THE CONTEXT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600" b="1" i="0" dirty="0">
                <a:solidFill>
                  <a:srgbClr val="1B334A"/>
                </a:solidFill>
                <a:latin typeface="Georgia"/>
              </a:rPr>
              <a:t>Why an AI that describes cheese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40080" y="1920240"/>
            <a:ext cx="5943600" cy="155448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40080" y="1920240"/>
            <a:ext cx="82296" cy="1554480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96112" y="2066544"/>
            <a:ext cx="5522976" cy="113364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1B334A"/>
                </a:solidFill>
                <a:latin typeface="Georgia"/>
              </a:rPr>
              <a:t>Sensory quality control</a:t>
            </a:r>
          </a:p>
          <a:p>
            <a:r>
              <a:rPr sz="1600" b="0" i="0" dirty="0">
                <a:solidFill>
                  <a:srgbClr val="2B2A26"/>
                </a:solidFill>
                <a:latin typeface="Calibri"/>
              </a:rPr>
              <a:t>Every wheel of grana is assessed by a panel of expert tasters. It is precious work, but it is slow, subjective and hard to scale across thousands of wheels.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611880"/>
            <a:ext cx="5943600" cy="178308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40080" y="3611880"/>
            <a:ext cx="82296" cy="178308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96112" y="3758184"/>
            <a:ext cx="5522976" cy="128753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1B334A"/>
                </a:solidFill>
                <a:latin typeface="Georgia"/>
              </a:rPr>
              <a:t>The idea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Input: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IRIS images of cross-sections (controlled lighting)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Output: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a sensory description in Italian, per attribute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Value: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objective, reproducible support to the human panel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12280" y="1874520"/>
            <a:ext cx="4846320" cy="35661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cheese_grana_1_sq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0" y="1993392"/>
            <a:ext cx="3108960" cy="31089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903720" y="5120640"/>
            <a:ext cx="4663440" cy="21031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1200" b="0" i="1" dirty="0">
                <a:solidFill>
                  <a:srgbClr val="8A8A84"/>
                </a:solidFill>
                <a:latin typeface="Calibri"/>
              </a:rPr>
              <a:t>Close-up of the grain </a:t>
            </a:r>
            <a:r>
              <a:rPr lang="it-IT" sz="1200" b="0" i="1" dirty="0">
                <a:solidFill>
                  <a:srgbClr val="8A8A84"/>
                </a:solidFill>
                <a:latin typeface="Calibri"/>
              </a:rPr>
              <a:t>-</a:t>
            </a:r>
            <a:r>
              <a:rPr sz="1200" b="0" i="1" dirty="0">
                <a:solidFill>
                  <a:srgbClr val="8A8A84"/>
                </a:solidFill>
                <a:latin typeface="Calibri"/>
              </a:rPr>
              <a:t> IRIS electronic visual analyzer</a:t>
            </a:r>
          </a:p>
        </p:txBody>
      </p:sp>
    </p:spTree>
    <p:extLst>
      <p:ext uri="{BB962C8B-B14F-4D97-AF65-F5344CB8AC3E}">
        <p14:creationId xmlns:p14="http://schemas.microsoft.com/office/powerpoint/2010/main" val="28255815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2343295" cy="17184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389888" cy="2180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THE SUBJECT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600" b="1" i="0" dirty="0">
                <a:solidFill>
                  <a:srgbClr val="1B334A"/>
                </a:solidFill>
                <a:latin typeface="Georgia"/>
              </a:rPr>
              <a:t>Seven sensory attributes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1874520"/>
            <a:ext cx="10881360" cy="641201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000" b="0" i="0" dirty="0">
                <a:solidFill>
                  <a:srgbClr val="2B2A26"/>
                </a:solidFill>
                <a:latin typeface="Calibri"/>
              </a:rPr>
              <a:t>For each wheel the panel describes seven dimensions. Three are visible in the image, four are not</a:t>
            </a:r>
            <a:r>
              <a:rPr lang="it-IT" sz="2000" b="0" i="0" dirty="0">
                <a:solidFill>
                  <a:srgbClr val="2B2A26"/>
                </a:solidFill>
                <a:latin typeface="Calibri"/>
              </a:rPr>
              <a:t>,</a:t>
            </a:r>
            <a:r>
              <a:rPr sz="2000" b="0" i="0" dirty="0">
                <a:solidFill>
                  <a:srgbClr val="2B2A26"/>
                </a:solidFill>
                <a:latin typeface="Calibri"/>
              </a:rPr>
              <a:t> a distinction that returns in the results.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606040"/>
            <a:ext cx="2670048" cy="141732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0" name="Rectangle 9"/>
          <p:cNvSpPr/>
          <p:nvPr/>
        </p:nvSpPr>
        <p:spPr>
          <a:xfrm>
            <a:off x="640080" y="2606040"/>
            <a:ext cx="2670048" cy="109728"/>
          </a:xfrm>
          <a:prstGeom prst="rect">
            <a:avLst/>
          </a:prstGeom>
          <a:solidFill>
            <a:srgbClr val="5B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1" name="Oval 10"/>
          <p:cNvSpPr/>
          <p:nvPr/>
        </p:nvSpPr>
        <p:spPr>
          <a:xfrm>
            <a:off x="2852928" y="2898648"/>
            <a:ext cx="256032" cy="256032"/>
          </a:xfrm>
          <a:prstGeom prst="ellipse">
            <a:avLst/>
          </a:prstGeom>
          <a:solidFill>
            <a:srgbClr val="5B8C5A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2" name="TextBox 11"/>
          <p:cNvSpPr txBox="1"/>
          <p:nvPr/>
        </p:nvSpPr>
        <p:spPr>
          <a:xfrm>
            <a:off x="841248" y="2862072"/>
            <a:ext cx="2304288" cy="938719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lang="it-IT" sz="2000" b="1" dirty="0">
                <a:solidFill>
                  <a:srgbClr val="1B334A"/>
                </a:solidFill>
                <a:latin typeface="Georgia"/>
              </a:rPr>
              <a:t>Colore della pasta</a:t>
            </a:r>
            <a:endParaRPr sz="2000" b="1" i="0" dirty="0">
              <a:solidFill>
                <a:srgbClr val="1B334A"/>
              </a:solidFill>
              <a:latin typeface="Georgia"/>
            </a:endParaRPr>
          </a:p>
          <a:p>
            <a:pPr>
              <a:spcBef>
                <a:spcPts val="400"/>
              </a:spcBef>
            </a:pPr>
            <a:r>
              <a:rPr sz="1600" b="1" i="0" spc="150" dirty="0">
                <a:solidFill>
                  <a:srgbClr val="5B8C5A"/>
                </a:solidFill>
                <a:latin typeface="Calibri"/>
              </a:rPr>
              <a:t>VIS</a:t>
            </a:r>
            <a:r>
              <a:rPr lang="it-IT" sz="1600" b="1" spc="150" dirty="0">
                <a:solidFill>
                  <a:srgbClr val="5B8C5A"/>
                </a:solidFill>
                <a:latin typeface="Calibri"/>
              </a:rPr>
              <a:t>UAL</a:t>
            </a:r>
            <a:endParaRPr sz="1600" b="1" i="0" spc="150" dirty="0">
              <a:solidFill>
                <a:srgbClr val="5B8C5A"/>
              </a:solidFill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3474720" y="2606040"/>
            <a:ext cx="2670048" cy="141732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4" name="Rectangle 13"/>
          <p:cNvSpPr/>
          <p:nvPr/>
        </p:nvSpPr>
        <p:spPr>
          <a:xfrm>
            <a:off x="3474720" y="2606040"/>
            <a:ext cx="2670048" cy="109728"/>
          </a:xfrm>
          <a:prstGeom prst="rect">
            <a:avLst/>
          </a:prstGeom>
          <a:solidFill>
            <a:srgbClr val="5B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5" name="Oval 14"/>
          <p:cNvSpPr/>
          <p:nvPr/>
        </p:nvSpPr>
        <p:spPr>
          <a:xfrm>
            <a:off x="5687568" y="2898648"/>
            <a:ext cx="256032" cy="256032"/>
          </a:xfrm>
          <a:prstGeom prst="ellipse">
            <a:avLst/>
          </a:prstGeom>
          <a:solidFill>
            <a:srgbClr val="5B8C5A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6" name="TextBox 15"/>
          <p:cNvSpPr txBox="1"/>
          <p:nvPr/>
        </p:nvSpPr>
        <p:spPr>
          <a:xfrm>
            <a:off x="3675888" y="2862072"/>
            <a:ext cx="2304288" cy="63094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000" b="1" i="0" dirty="0">
                <a:solidFill>
                  <a:srgbClr val="1B334A"/>
                </a:solidFill>
                <a:latin typeface="Georgia"/>
              </a:rPr>
              <a:t>Texture</a:t>
            </a:r>
          </a:p>
          <a:p>
            <a:pPr>
              <a:spcBef>
                <a:spcPts val="400"/>
              </a:spcBef>
            </a:pPr>
            <a:r>
              <a:rPr lang="it-IT" sz="1600" b="1" spc="150" dirty="0">
                <a:solidFill>
                  <a:srgbClr val="5B8C5A"/>
                </a:solidFill>
              </a:rPr>
              <a:t>VISUAL</a:t>
            </a:r>
            <a:endParaRPr sz="1600" b="1" i="0" spc="150" dirty="0">
              <a:solidFill>
                <a:srgbClr val="5B8C5A"/>
              </a:solidFill>
              <a:latin typeface="Calibri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6309360" y="2606040"/>
            <a:ext cx="2670048" cy="141732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8" name="Rectangle 17"/>
          <p:cNvSpPr/>
          <p:nvPr/>
        </p:nvSpPr>
        <p:spPr>
          <a:xfrm>
            <a:off x="6309360" y="2606040"/>
            <a:ext cx="2670048" cy="109728"/>
          </a:xfrm>
          <a:prstGeom prst="rect">
            <a:avLst/>
          </a:prstGeom>
          <a:solidFill>
            <a:srgbClr val="5B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9" name="Oval 18"/>
          <p:cNvSpPr/>
          <p:nvPr/>
        </p:nvSpPr>
        <p:spPr>
          <a:xfrm>
            <a:off x="8522208" y="2898648"/>
            <a:ext cx="256032" cy="256032"/>
          </a:xfrm>
          <a:prstGeom prst="ellipse">
            <a:avLst/>
          </a:prstGeom>
          <a:solidFill>
            <a:srgbClr val="5B8C5A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0" name="TextBox 19"/>
          <p:cNvSpPr txBox="1"/>
          <p:nvPr/>
        </p:nvSpPr>
        <p:spPr>
          <a:xfrm>
            <a:off x="6510528" y="2862072"/>
            <a:ext cx="2011680" cy="938719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lang="it-IT" sz="2000" b="1" i="0" dirty="0">
                <a:solidFill>
                  <a:srgbClr val="1B334A"/>
                </a:solidFill>
                <a:latin typeface="Georgia"/>
              </a:rPr>
              <a:t>Struttura della pasta</a:t>
            </a:r>
          </a:p>
          <a:p>
            <a:pPr>
              <a:spcBef>
                <a:spcPts val="400"/>
              </a:spcBef>
            </a:pPr>
            <a:r>
              <a:rPr lang="it-IT" sz="1600" b="1" spc="150" dirty="0">
                <a:solidFill>
                  <a:srgbClr val="5B8C5A"/>
                </a:solidFill>
              </a:rPr>
              <a:t>VISUAL</a:t>
            </a:r>
            <a:endParaRPr sz="1600" b="1" i="0" spc="150" dirty="0">
              <a:solidFill>
                <a:srgbClr val="5B8C5A"/>
              </a:solidFill>
              <a:latin typeface="Calibri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9144000" y="2606040"/>
            <a:ext cx="2670048" cy="141732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2" name="Rectangle 21"/>
          <p:cNvSpPr/>
          <p:nvPr/>
        </p:nvSpPr>
        <p:spPr>
          <a:xfrm>
            <a:off x="9144000" y="2606040"/>
            <a:ext cx="2670048" cy="109728"/>
          </a:xfrm>
          <a:prstGeom prst="rect">
            <a:avLst/>
          </a:prstGeom>
          <a:solidFill>
            <a:srgbClr val="C88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3" name="Oval 22"/>
          <p:cNvSpPr/>
          <p:nvPr/>
        </p:nvSpPr>
        <p:spPr>
          <a:xfrm>
            <a:off x="11356848" y="2898648"/>
            <a:ext cx="256032" cy="256032"/>
          </a:xfrm>
          <a:prstGeom prst="ellipse">
            <a:avLst/>
          </a:prstGeom>
          <a:solidFill>
            <a:srgbClr val="C88836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4" name="TextBox 23"/>
          <p:cNvSpPr txBox="1"/>
          <p:nvPr/>
        </p:nvSpPr>
        <p:spPr>
          <a:xfrm>
            <a:off x="9345168" y="2862072"/>
            <a:ext cx="2011680" cy="938719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000" b="1" i="0" dirty="0">
                <a:solidFill>
                  <a:srgbClr val="1B334A"/>
                </a:solidFill>
                <a:latin typeface="Georgia"/>
              </a:rPr>
              <a:t>Spessore della crosta</a:t>
            </a:r>
          </a:p>
          <a:p>
            <a:pPr>
              <a:spcBef>
                <a:spcPts val="400"/>
              </a:spcBef>
            </a:pPr>
            <a:r>
              <a:rPr lang="it-IT" sz="1600" b="1" i="0" spc="150" dirty="0">
                <a:solidFill>
                  <a:srgbClr val="C88836"/>
                </a:solidFill>
                <a:latin typeface="Calibri"/>
              </a:rPr>
              <a:t>VISUAL</a:t>
            </a:r>
            <a:r>
              <a:rPr sz="1600" b="1" i="0" spc="150" dirty="0">
                <a:solidFill>
                  <a:srgbClr val="C88836"/>
                </a:solidFill>
                <a:latin typeface="Calibri"/>
              </a:rPr>
              <a:t>*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4251960"/>
            <a:ext cx="2670048" cy="141732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6" name="Rectangle 25"/>
          <p:cNvSpPr/>
          <p:nvPr/>
        </p:nvSpPr>
        <p:spPr>
          <a:xfrm>
            <a:off x="640080" y="4251960"/>
            <a:ext cx="2670048" cy="109728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7" name="Oval 26"/>
          <p:cNvSpPr/>
          <p:nvPr/>
        </p:nvSpPr>
        <p:spPr>
          <a:xfrm>
            <a:off x="2852928" y="4544568"/>
            <a:ext cx="256032" cy="256032"/>
          </a:xfrm>
          <a:prstGeom prst="ellipse">
            <a:avLst/>
          </a:prstGeom>
          <a:solidFill>
            <a:srgbClr val="2C5F8A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8" name="TextBox 27"/>
          <p:cNvSpPr txBox="1"/>
          <p:nvPr/>
        </p:nvSpPr>
        <p:spPr>
          <a:xfrm>
            <a:off x="841248" y="4507992"/>
            <a:ext cx="2304288" cy="63094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000" b="1" i="0" dirty="0">
                <a:solidFill>
                  <a:srgbClr val="1B334A"/>
                </a:solidFill>
                <a:latin typeface="Georgia"/>
              </a:rPr>
              <a:t>Odore</a:t>
            </a:r>
          </a:p>
          <a:p>
            <a:pPr>
              <a:spcBef>
                <a:spcPts val="400"/>
              </a:spcBef>
            </a:pPr>
            <a:r>
              <a:rPr sz="1600" b="1" i="0" spc="150" dirty="0">
                <a:solidFill>
                  <a:srgbClr val="2C5F8A"/>
                </a:solidFill>
                <a:latin typeface="Calibri"/>
              </a:rPr>
              <a:t>OLFA</a:t>
            </a:r>
            <a:r>
              <a:rPr lang="it-IT" sz="1600" b="1" i="0" spc="150" dirty="0">
                <a:solidFill>
                  <a:srgbClr val="2C5F8A"/>
                </a:solidFill>
                <a:latin typeface="Calibri"/>
              </a:rPr>
              <a:t>CTORY</a:t>
            </a:r>
            <a:endParaRPr sz="1600" b="1" i="0" spc="150" dirty="0">
              <a:solidFill>
                <a:srgbClr val="2C5F8A"/>
              </a:solidFill>
              <a:latin typeface="Calibri"/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3474720" y="4251960"/>
            <a:ext cx="2670048" cy="141732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0" name="Rectangle 29"/>
          <p:cNvSpPr/>
          <p:nvPr/>
        </p:nvSpPr>
        <p:spPr>
          <a:xfrm>
            <a:off x="3474720" y="4251960"/>
            <a:ext cx="2670048" cy="109728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1" name="Oval 30"/>
          <p:cNvSpPr/>
          <p:nvPr/>
        </p:nvSpPr>
        <p:spPr>
          <a:xfrm>
            <a:off x="5687568" y="4544568"/>
            <a:ext cx="256032" cy="256032"/>
          </a:xfrm>
          <a:prstGeom prst="ellipse">
            <a:avLst/>
          </a:prstGeom>
          <a:solidFill>
            <a:srgbClr val="2C5F8A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2" name="TextBox 31"/>
          <p:cNvSpPr txBox="1"/>
          <p:nvPr/>
        </p:nvSpPr>
        <p:spPr>
          <a:xfrm>
            <a:off x="3675888" y="4507992"/>
            <a:ext cx="2304288" cy="63094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000" b="1" i="0" dirty="0">
                <a:solidFill>
                  <a:srgbClr val="1B334A"/>
                </a:solidFill>
                <a:latin typeface="Georgia"/>
              </a:rPr>
              <a:t>Aroma</a:t>
            </a:r>
          </a:p>
          <a:p>
            <a:pPr>
              <a:spcBef>
                <a:spcPts val="400"/>
              </a:spcBef>
            </a:pPr>
            <a:r>
              <a:rPr lang="it-IT" sz="1600" b="1" spc="150" dirty="0">
                <a:solidFill>
                  <a:srgbClr val="2C5F8A"/>
                </a:solidFill>
              </a:rPr>
              <a:t>OLFACTORY</a:t>
            </a:r>
            <a:endParaRPr sz="1600" b="1" i="0" spc="150" dirty="0">
              <a:solidFill>
                <a:srgbClr val="2C5F8A"/>
              </a:solidFill>
              <a:latin typeface="Calibri"/>
            </a:endParaRPr>
          </a:p>
        </p:txBody>
      </p:sp>
      <p:sp>
        <p:nvSpPr>
          <p:cNvPr id="33" name="Rounded Rectangle 32"/>
          <p:cNvSpPr/>
          <p:nvPr/>
        </p:nvSpPr>
        <p:spPr>
          <a:xfrm>
            <a:off x="6309360" y="4251960"/>
            <a:ext cx="2670048" cy="141732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4" name="Rectangle 33"/>
          <p:cNvSpPr/>
          <p:nvPr/>
        </p:nvSpPr>
        <p:spPr>
          <a:xfrm>
            <a:off x="6309360" y="4251960"/>
            <a:ext cx="2670048" cy="109728"/>
          </a:xfrm>
          <a:prstGeom prst="rect">
            <a:avLst/>
          </a:prstGeom>
          <a:solidFill>
            <a:srgbClr val="C14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5" name="Oval 34"/>
          <p:cNvSpPr/>
          <p:nvPr/>
        </p:nvSpPr>
        <p:spPr>
          <a:xfrm>
            <a:off x="8522208" y="4544568"/>
            <a:ext cx="256032" cy="256032"/>
          </a:xfrm>
          <a:prstGeom prst="ellipse">
            <a:avLst/>
          </a:prstGeom>
          <a:solidFill>
            <a:srgbClr val="C1492E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6" name="TextBox 35"/>
          <p:cNvSpPr txBox="1"/>
          <p:nvPr/>
        </p:nvSpPr>
        <p:spPr>
          <a:xfrm>
            <a:off x="6510528" y="4507992"/>
            <a:ext cx="2304288" cy="63094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000" b="1" i="0" dirty="0" err="1">
                <a:solidFill>
                  <a:srgbClr val="1B334A"/>
                </a:solidFill>
                <a:latin typeface="Georgia"/>
              </a:rPr>
              <a:t>Sapore</a:t>
            </a:r>
            <a:endParaRPr sz="2000" b="1" i="0" dirty="0">
              <a:solidFill>
                <a:srgbClr val="1B334A"/>
              </a:solidFill>
              <a:latin typeface="Georgia"/>
            </a:endParaRPr>
          </a:p>
          <a:p>
            <a:pPr>
              <a:spcBef>
                <a:spcPts val="400"/>
              </a:spcBef>
            </a:pPr>
            <a:r>
              <a:rPr sz="1600" b="1" i="0" spc="150" dirty="0">
                <a:solidFill>
                  <a:srgbClr val="C1492E"/>
                </a:solidFill>
                <a:latin typeface="Calibri"/>
              </a:rPr>
              <a:t>GUSTATI</a:t>
            </a:r>
            <a:r>
              <a:rPr lang="it-IT" sz="1600" b="1" spc="150" dirty="0">
                <a:solidFill>
                  <a:srgbClr val="C1492E"/>
                </a:solidFill>
                <a:latin typeface="Calibri"/>
              </a:rPr>
              <a:t>VE</a:t>
            </a:r>
            <a:endParaRPr sz="1600" b="1" i="0" spc="150" dirty="0">
              <a:solidFill>
                <a:srgbClr val="C1492E"/>
              </a:solidFill>
              <a:latin typeface="Calibri"/>
            </a:endParaRPr>
          </a:p>
        </p:txBody>
      </p:sp>
      <p:sp>
        <p:nvSpPr>
          <p:cNvPr id="37" name="Rounded Rectangle 36"/>
          <p:cNvSpPr/>
          <p:nvPr/>
        </p:nvSpPr>
        <p:spPr>
          <a:xfrm>
            <a:off x="9144000" y="4251960"/>
            <a:ext cx="2670048" cy="1417320"/>
          </a:xfrm>
          <a:prstGeom prst="roundRect">
            <a:avLst/>
          </a:prstGeom>
          <a:solidFill>
            <a:srgbClr val="1B3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8" name="TextBox 37"/>
          <p:cNvSpPr txBox="1"/>
          <p:nvPr/>
        </p:nvSpPr>
        <p:spPr>
          <a:xfrm>
            <a:off x="9345168" y="4434840"/>
            <a:ext cx="2304288" cy="83356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b="1" i="0">
                <a:solidFill>
                  <a:srgbClr val="E0A458"/>
                </a:solidFill>
                <a:latin typeface="Calibri"/>
              </a:rPr>
              <a:t>* visible but small</a:t>
            </a:r>
          </a:p>
          <a:p>
            <a:pPr>
              <a:spcBef>
                <a:spcPts val="300"/>
              </a:spcBef>
            </a:pPr>
            <a:r>
              <a:rPr sz="1600" b="0" i="0">
                <a:solidFill>
                  <a:srgbClr val="F7F1E3"/>
                </a:solidFill>
                <a:latin typeface="Calibri"/>
              </a:rPr>
              <a:t>The rind is a small area: CLIP weights it little.</a:t>
            </a:r>
          </a:p>
        </p:txBody>
      </p:sp>
    </p:spTree>
    <p:extLst>
      <p:ext uri="{BB962C8B-B14F-4D97-AF65-F5344CB8AC3E}">
        <p14:creationId xmlns:p14="http://schemas.microsoft.com/office/powerpoint/2010/main" val="41852216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2505340" cy="17184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125059" cy="2180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THE BRIEF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600" b="1" i="0" dirty="0">
                <a:solidFill>
                  <a:srgbClr val="1B334A"/>
                </a:solidFill>
                <a:latin typeface="Georgia"/>
              </a:rPr>
              <a:t>Two steps, one comparison goal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40080" y="2011680"/>
            <a:ext cx="5394960" cy="338328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40080" y="2011680"/>
            <a:ext cx="82296" cy="3383280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96112" y="2157984"/>
            <a:ext cx="4974336" cy="244682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1B334A"/>
                </a:solidFill>
                <a:latin typeface="Georgia"/>
              </a:rPr>
              <a:t>Step 1 · Text pre-processing</a:t>
            </a:r>
            <a:endParaRPr lang="it-IT" sz="2400" b="1" i="0" dirty="0">
              <a:solidFill>
                <a:srgbClr val="1B334A"/>
              </a:solidFill>
              <a:latin typeface="Georgia"/>
            </a:endParaRPr>
          </a:p>
          <a:p>
            <a:endParaRPr sz="2400" b="1" i="0" dirty="0">
              <a:solidFill>
                <a:srgbClr val="1B334A"/>
              </a:solidFill>
              <a:latin typeface="Georgia"/>
            </a:endParaRP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2C5F8A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Clean and normalize telegraphic, dialectal, inconsistent descriptions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2C5F8A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Replace quantitative measures (mm/cm) with qualitative descriptions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2C5F8A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Produce captions as complete Italian sentences</a:t>
            </a:r>
            <a:endParaRPr lang="it-IT" sz="1600" b="0" i="0" dirty="0">
              <a:solidFill>
                <a:srgbClr val="2B2A26"/>
              </a:solidFill>
              <a:latin typeface="Calibri"/>
            </a:endParaRPr>
          </a:p>
          <a:p>
            <a:pPr>
              <a:spcBef>
                <a:spcPts val="400"/>
              </a:spcBef>
            </a:pPr>
            <a:r>
              <a:rPr lang="en-US" sz="1600" b="1" i="0" dirty="0">
                <a:solidFill>
                  <a:srgbClr val="2C5F8A"/>
                </a:solidFill>
                <a:latin typeface="Calibri"/>
              </a:rPr>
              <a:t>● </a:t>
            </a:r>
            <a:r>
              <a:rPr lang="en-US" sz="1600" b="1" i="0" dirty="0">
                <a:solidFill>
                  <a:srgbClr val="2B2A26"/>
                </a:solidFill>
                <a:latin typeface="Calibri"/>
              </a:rPr>
              <a:t>≈ 70%</a:t>
            </a:r>
            <a:r>
              <a:rPr lang="en-US" sz="1600" b="0" i="0" dirty="0">
                <a:solidFill>
                  <a:srgbClr val="2B2A26"/>
                </a:solidFill>
                <a:latin typeface="Calibri"/>
              </a:rPr>
              <a:t> of the project's overall effort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2011680"/>
            <a:ext cx="5394960" cy="338328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172200" y="2011680"/>
            <a:ext cx="82296" cy="338328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28232" y="2157984"/>
            <a:ext cx="4974336" cy="244682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1B334A"/>
                </a:solidFill>
                <a:latin typeface="Georgia"/>
              </a:rPr>
              <a:t>Step 2 · Three captioning methods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Apply three «as conceptually different as possible» </a:t>
            </a:r>
            <a:r>
              <a:rPr lang="it-IT" sz="1600" b="0" i="0" dirty="0">
                <a:solidFill>
                  <a:srgbClr val="2B2A26"/>
                </a:solidFill>
                <a:latin typeface="Calibri"/>
              </a:rPr>
              <a:t>  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encoder–decoders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Focus on comparing methods, not on the single «best» model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Multi-metric evaluation beyond BLEU alone</a:t>
            </a:r>
            <a:endParaRPr lang="it-IT" sz="1600" b="0" i="0" dirty="0">
              <a:solidFill>
                <a:srgbClr val="2B2A26"/>
              </a:solidFill>
              <a:latin typeface="Calibri"/>
            </a:endParaRPr>
          </a:p>
          <a:p>
            <a:pPr>
              <a:spcBef>
                <a:spcPts val="400"/>
              </a:spcBef>
            </a:pPr>
            <a:r>
              <a:rPr lang="en-US" sz="16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lang="en-US" sz="1600" b="1" i="0" dirty="0">
                <a:solidFill>
                  <a:srgbClr val="2B2A26"/>
                </a:solidFill>
                <a:latin typeface="Calibri"/>
              </a:rPr>
              <a:t>≈ 30%</a:t>
            </a:r>
            <a:r>
              <a:rPr lang="en-US" sz="1600" b="0" i="0" dirty="0">
                <a:solidFill>
                  <a:srgbClr val="2B2A26"/>
                </a:solidFill>
                <a:latin typeface="Calibri"/>
              </a:rPr>
              <a:t> of the project's overall effort</a:t>
            </a:r>
          </a:p>
        </p:txBody>
      </p:sp>
    </p:spTree>
    <p:extLst>
      <p:ext uri="{BB962C8B-B14F-4D97-AF65-F5344CB8AC3E}">
        <p14:creationId xmlns:p14="http://schemas.microsoft.com/office/powerpoint/2010/main" val="20489479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33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9921240" y="960120"/>
            <a:ext cx="640080" cy="640080"/>
          </a:xfrm>
          <a:prstGeom prst="ellipse">
            <a:avLst/>
          </a:prstGeom>
          <a:solidFill>
            <a:srgbClr val="E0A458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0723626" y="1469898"/>
            <a:ext cx="352044" cy="352044"/>
          </a:xfrm>
          <a:prstGeom prst="ellipse">
            <a:avLst/>
          </a:prstGeom>
          <a:solidFill>
            <a:srgbClr val="E0A458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9585199" y="1648205"/>
            <a:ext cx="288036" cy="288036"/>
          </a:xfrm>
          <a:prstGeom prst="ellipse">
            <a:avLst/>
          </a:prstGeom>
          <a:solidFill>
            <a:srgbClr val="E0A458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0447020" y="534924"/>
            <a:ext cx="320040" cy="320040"/>
          </a:xfrm>
          <a:prstGeom prst="ellipse">
            <a:avLst/>
          </a:prstGeom>
          <a:solidFill>
            <a:srgbClr val="E0A458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9454896" y="859536"/>
            <a:ext cx="256031" cy="256031"/>
          </a:xfrm>
          <a:prstGeom prst="ellipse">
            <a:avLst/>
          </a:prstGeom>
          <a:solidFill>
            <a:srgbClr val="E0A458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600200" y="5440680"/>
            <a:ext cx="457200" cy="457200"/>
          </a:xfrm>
          <a:prstGeom prst="ellipse">
            <a:avLst/>
          </a:prstGeom>
          <a:solidFill>
            <a:srgbClr val="E0A458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2361438" y="5909310"/>
            <a:ext cx="251460" cy="251460"/>
          </a:xfrm>
          <a:prstGeom prst="ellipse">
            <a:avLst/>
          </a:prstGeom>
          <a:solidFill>
            <a:srgbClr val="E0A458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1213867" y="6078473"/>
            <a:ext cx="205740" cy="205740"/>
          </a:xfrm>
          <a:prstGeom prst="ellipse">
            <a:avLst/>
          </a:prstGeom>
          <a:solidFill>
            <a:srgbClr val="E0A458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2080260" y="4969764"/>
            <a:ext cx="228600" cy="228600"/>
          </a:xfrm>
          <a:prstGeom prst="ellipse">
            <a:avLst/>
          </a:prstGeom>
          <a:solidFill>
            <a:srgbClr val="E0A458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1078992" y="5285232"/>
            <a:ext cx="182880" cy="182880"/>
          </a:xfrm>
          <a:prstGeom prst="ellipse">
            <a:avLst/>
          </a:prstGeom>
          <a:solidFill>
            <a:srgbClr val="E0A458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14400" y="2331720"/>
            <a:ext cx="10058400" cy="9144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000" b="1" i="0" spc="400">
                <a:solidFill>
                  <a:srgbClr val="E0A458"/>
                </a:solidFill>
                <a:latin typeface="Calibri"/>
              </a:rPr>
              <a:t>PART 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880360"/>
            <a:ext cx="10424160" cy="1463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4600" b="1" i="0" dirty="0">
                <a:solidFill>
                  <a:srgbClr val="F7F1E3"/>
                </a:solidFill>
                <a:latin typeface="Georgia"/>
              </a:rPr>
              <a:t>Building the dataset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4160520"/>
            <a:ext cx="2194560" cy="508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14400" y="4434840"/>
            <a:ext cx="9601200" cy="302647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b="0" i="1" dirty="0">
                <a:solidFill>
                  <a:srgbClr val="D9D2C2"/>
                </a:solidFill>
                <a:latin typeface="Calibri"/>
              </a:rPr>
              <a:t>From 51,988 raw, dialectal rows to 38,437 clean image–caption pairs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THE STARTING POINT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600" b="1" i="0" dirty="0">
                <a:solidFill>
                  <a:srgbClr val="1B334A"/>
                </a:solidFill>
                <a:latin typeface="Georgia"/>
              </a:rPr>
              <a:t>Rich data, but misaligned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40080" y="1920240"/>
            <a:ext cx="3520440" cy="324612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40080" y="1920240"/>
            <a:ext cx="82296" cy="3246120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96112" y="2066544"/>
            <a:ext cx="2992982" cy="202619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1B334A"/>
                </a:solidFill>
                <a:latin typeface="Georgia"/>
              </a:rPr>
              <a:t>What we had</a:t>
            </a:r>
          </a:p>
          <a:p>
            <a:pPr marL="285750" indent="-285750">
              <a:spcBef>
                <a:spcPts val="400"/>
              </a:spcBef>
              <a:buClr>
                <a:schemeClr val="tx2"/>
              </a:buClr>
              <a:buFont typeface="Arial" panose="020B0604020202020204" pitchFamily="34" charset="0"/>
              <a:buChar char="•"/>
            </a:pPr>
            <a:r>
              <a:rPr sz="1600" b="1" i="0" dirty="0">
                <a:solidFill>
                  <a:srgbClr val="2B2A26"/>
                </a:solidFill>
                <a:latin typeface="Calibri"/>
              </a:rPr>
              <a:t>2,745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BMP photos of sections (Slice / Grain)</a:t>
            </a:r>
          </a:p>
          <a:p>
            <a:pPr marL="285750" indent="-285750">
              <a:spcBef>
                <a:spcPts val="400"/>
              </a:spcBef>
              <a:buClr>
                <a:schemeClr val="tx2"/>
              </a:buClr>
              <a:buFont typeface="Arial" panose="020B0604020202020204" pitchFamily="34" charset="0"/>
              <a:buChar char="•"/>
            </a:pPr>
            <a:r>
              <a:rPr sz="1600" b="1" i="0" dirty="0">
                <a:solidFill>
                  <a:srgbClr val="2B2A26"/>
                </a:solidFill>
                <a:latin typeface="Calibri"/>
              </a:rPr>
              <a:t>4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Excel workbooks (201</a:t>
            </a:r>
            <a:r>
              <a:rPr lang="it-IT" sz="1600" dirty="0">
                <a:solidFill>
                  <a:srgbClr val="2B2A26"/>
                </a:solidFill>
                <a:latin typeface="Calibri"/>
              </a:rPr>
              <a:t>8-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2021), one sheet per attribute</a:t>
            </a:r>
          </a:p>
          <a:p>
            <a:pPr marL="285750" indent="-285750">
              <a:spcBef>
                <a:spcPts val="400"/>
              </a:spcBef>
              <a:buClr>
                <a:schemeClr val="tx2"/>
              </a:buClr>
              <a:buFont typeface="Arial" panose="020B0604020202020204" pitchFamily="34" charset="0"/>
              <a:buChar char="•"/>
            </a:pPr>
            <a:r>
              <a:rPr sz="1600" b="1" i="0" dirty="0">
                <a:solidFill>
                  <a:srgbClr val="2B2A26"/>
                </a:solidFill>
                <a:latin typeface="Calibri"/>
              </a:rPr>
              <a:t>1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codebook: dairy ↔ product ↔ letter (16 dairies)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1920240"/>
            <a:ext cx="3520440" cy="324612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297680" y="1920240"/>
            <a:ext cx="82296" cy="3246120"/>
          </a:xfrm>
          <a:prstGeom prst="rect">
            <a:avLst/>
          </a:prstGeom>
          <a:solidFill>
            <a:srgbClr val="C14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53712" y="2066544"/>
            <a:ext cx="3099816" cy="214930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1B334A"/>
                </a:solidFill>
                <a:latin typeface="Georgia"/>
              </a:rPr>
              <a:t>The join problem</a:t>
            </a:r>
            <a:endParaRPr lang="it-IT" sz="2400" b="1" i="0" dirty="0">
              <a:solidFill>
                <a:srgbClr val="1B334A"/>
              </a:solidFill>
              <a:latin typeface="Georgia"/>
            </a:endParaRPr>
          </a:p>
          <a:p>
            <a:endParaRPr b="1" i="0" dirty="0">
              <a:solidFill>
                <a:srgbClr val="1B334A"/>
              </a:solidFill>
              <a:latin typeface="Georgia"/>
            </a:endParaRPr>
          </a:p>
          <a:p>
            <a:r>
              <a:rPr sz="1600" b="0" i="0" dirty="0">
                <a:solidFill>
                  <a:srgbClr val="2B2A26"/>
                </a:solidFill>
                <a:latin typeface="Calibri"/>
              </a:rPr>
              <a:t>Images and comments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«spoke different languages»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. The filename identifies the single wheel; the comment only the taster's tray. No row-level join</a:t>
            </a:r>
            <a:r>
              <a:rPr lang="it-IT" sz="1600" b="0" i="0" dirty="0">
                <a:solidFill>
                  <a:srgbClr val="2B2A26"/>
                </a:solidFill>
                <a:latin typeface="Calibri"/>
              </a:rPr>
              <a:t>,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only a dairy-level join, via the codebook.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55279" y="1920240"/>
            <a:ext cx="3611880" cy="324612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955279" y="1920240"/>
            <a:ext cx="82296" cy="324612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11311" y="2066544"/>
            <a:ext cx="3191256" cy="207749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1B334A"/>
                </a:solidFill>
                <a:latin typeface="Georgia"/>
              </a:rPr>
              <a:t>Invisible obstacles</a:t>
            </a:r>
          </a:p>
          <a:p>
            <a:pPr marL="171450" indent="-171450">
              <a:spcBef>
                <a:spcPts val="400"/>
              </a:spcBef>
              <a:buClr>
                <a:schemeClr val="accent6"/>
              </a:buClr>
              <a:buFont typeface="Arial" panose="020B0604020202020204" pitchFamily="34" charset="0"/>
              <a:buChar char="•"/>
            </a:pPr>
            <a:r>
              <a:rPr sz="1600" b="0" i="0" dirty="0">
                <a:solidFill>
                  <a:srgbClr val="2B2A26"/>
                </a:solidFill>
                <a:latin typeface="Calibri"/>
              </a:rPr>
              <a:t>Triple dairy indexing: TN_306 / TN306 / 306</a:t>
            </a:r>
          </a:p>
          <a:p>
            <a:pPr marL="171450" indent="-171450">
              <a:spcBef>
                <a:spcPts val="400"/>
              </a:spcBef>
              <a:buClr>
                <a:schemeClr val="accent6"/>
              </a:buClr>
              <a:buFont typeface="Arial" panose="020B0604020202020204" pitchFamily="34" charset="0"/>
              <a:buChar char="•"/>
            </a:pPr>
            <a:r>
              <a:rPr sz="1600" b="0" i="0" dirty="0">
                <a:solidFill>
                  <a:srgbClr val="2B2A26"/>
                </a:solidFill>
                <a:latin typeface="Calibri"/>
              </a:rPr>
              <a:t>Inconsistent headers across years</a:t>
            </a:r>
          </a:p>
          <a:p>
            <a:pPr marL="171450" indent="-171450">
              <a:spcBef>
                <a:spcPts val="400"/>
              </a:spcBef>
              <a:buClr>
                <a:schemeClr val="accent6"/>
              </a:buClr>
              <a:buFont typeface="Arial" panose="020B0604020202020204" pitchFamily="34" charset="0"/>
              <a:buChar char="•"/>
            </a:pPr>
            <a:r>
              <a:rPr sz="1600" b="0" i="0" dirty="0">
                <a:solidFill>
                  <a:srgbClr val="2B2A26"/>
                </a:solidFill>
                <a:latin typeface="Calibri"/>
              </a:rPr>
              <a:t>Italian decimal comma ('7,48')</a:t>
            </a:r>
          </a:p>
          <a:p>
            <a:pPr marL="171450" indent="-171450">
              <a:spcBef>
                <a:spcPts val="400"/>
              </a:spcBef>
              <a:buClr>
                <a:schemeClr val="accent6"/>
              </a:buClr>
              <a:buFont typeface="Arial" panose="020B0604020202020204" pitchFamily="34" charset="0"/>
              <a:buChar char="•"/>
            </a:pPr>
            <a:r>
              <a:rPr sz="1600" b="0" i="0" dirty="0">
                <a:solidFill>
                  <a:srgbClr val="2B2A26"/>
                </a:solidFill>
                <a:latin typeface="Calibri"/>
              </a:rPr>
              <a:t>Provenance propagated downstream → traceability</a:t>
            </a:r>
          </a:p>
        </p:txBody>
      </p:sp>
    </p:spTree>
    <p:extLst>
      <p:ext uri="{BB962C8B-B14F-4D97-AF65-F5344CB8AC3E}">
        <p14:creationId xmlns:p14="http://schemas.microsoft.com/office/powerpoint/2010/main" val="16034318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THE JOIN 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600" b="1" i="0" dirty="0">
                <a:solidFill>
                  <a:srgbClr val="1B334A"/>
                </a:solidFill>
                <a:latin typeface="Georgia"/>
              </a:rPr>
              <a:t>Dairy-level</a:t>
            </a:r>
            <a:r>
              <a:rPr sz="3100" b="1" i="0" dirty="0">
                <a:solidFill>
                  <a:srgbClr val="1B334A"/>
                </a:solidFill>
                <a:latin typeface="Georgia"/>
              </a:rPr>
              <a:t> broadcast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1874520"/>
            <a:ext cx="1088136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b="0" i="0" dirty="0">
                <a:solidFill>
                  <a:srgbClr val="2B2A26"/>
                </a:solidFill>
                <a:latin typeface="Calibri"/>
              </a:rPr>
              <a:t>Each comment is propagated to all coherent images of that dairy in that session: up to 4 rows from a single comment.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383280"/>
            <a:ext cx="2468880" cy="1188720"/>
          </a:xfrm>
          <a:prstGeom prst="roundRect">
            <a:avLst/>
          </a:prstGeom>
          <a:solidFill>
            <a:srgbClr val="F6E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0" name="Rectangle 9"/>
          <p:cNvSpPr/>
          <p:nvPr/>
        </p:nvSpPr>
        <p:spPr>
          <a:xfrm>
            <a:off x="731520" y="3383280"/>
            <a:ext cx="82296" cy="1188720"/>
          </a:xfrm>
          <a:prstGeom prst="rect">
            <a:avLst/>
          </a:prstGeom>
          <a:solidFill>
            <a:srgbClr val="C14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1" name="TextBox 10"/>
          <p:cNvSpPr txBox="1"/>
          <p:nvPr/>
        </p:nvSpPr>
        <p:spPr>
          <a:xfrm>
            <a:off x="914400" y="3610874"/>
            <a:ext cx="2194560" cy="733534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r>
              <a:rPr sz="1600" b="1" i="0" dirty="0">
                <a:solidFill>
                  <a:srgbClr val="1B334A"/>
                </a:solidFill>
                <a:latin typeface="Calibri"/>
              </a:rPr>
              <a:t>Panel comment</a:t>
            </a:r>
          </a:p>
          <a:p>
            <a:r>
              <a:rPr b="1" i="1" dirty="0">
                <a:solidFill>
                  <a:srgbClr val="C1492E"/>
                </a:solidFill>
                <a:latin typeface="Georgia"/>
              </a:rPr>
              <a:t>«Sauerkraut»</a:t>
            </a:r>
          </a:p>
          <a:p>
            <a:r>
              <a:rPr sz="1200" b="0" i="0" dirty="0">
                <a:solidFill>
                  <a:srgbClr val="8A8A84"/>
                </a:solidFill>
                <a:latin typeface="Calibri"/>
              </a:rPr>
              <a:t>(Smell · TN_306)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0" y="2560320"/>
            <a:ext cx="2468880" cy="566928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3" name="Rectangle 12"/>
          <p:cNvSpPr/>
          <p:nvPr/>
        </p:nvSpPr>
        <p:spPr>
          <a:xfrm>
            <a:off x="4572000" y="2560320"/>
            <a:ext cx="73152" cy="566928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4" name="TextBox 13"/>
          <p:cNvSpPr txBox="1"/>
          <p:nvPr/>
        </p:nvSpPr>
        <p:spPr>
          <a:xfrm>
            <a:off x="4754880" y="2707850"/>
            <a:ext cx="2286000" cy="271869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r>
              <a:rPr sz="1600" b="1" i="0" dirty="0">
                <a:solidFill>
                  <a:srgbClr val="2B2A26"/>
                </a:solidFill>
                <a:latin typeface="Calibri"/>
              </a:rPr>
              <a:t>P3a </a:t>
            </a:r>
            <a:r>
              <a:rPr lang="it-IT" sz="1600" b="1" i="0" dirty="0">
                <a:solidFill>
                  <a:srgbClr val="2B2A26"/>
                </a:solidFill>
                <a:latin typeface="Calibri"/>
              </a:rPr>
              <a:t>-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 Slice</a:t>
            </a:r>
          </a:p>
        </p:txBody>
      </p:sp>
      <p:cxnSp>
        <p:nvCxnSpPr>
          <p:cNvPr id="15" name="Connector 14"/>
          <p:cNvCxnSpPr/>
          <p:nvPr/>
        </p:nvCxnSpPr>
        <p:spPr>
          <a:xfrm flipV="1">
            <a:off x="3246120" y="2843784"/>
            <a:ext cx="1280160" cy="1133856"/>
          </a:xfrm>
          <a:prstGeom prst="bentConnector3">
            <a:avLst/>
          </a:prstGeom>
          <a:ln w="19050">
            <a:solidFill>
              <a:srgbClr val="8A8A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4572000" y="3273552"/>
            <a:ext cx="2468880" cy="566928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7" name="Rectangle 16"/>
          <p:cNvSpPr/>
          <p:nvPr/>
        </p:nvSpPr>
        <p:spPr>
          <a:xfrm>
            <a:off x="4572000" y="3273552"/>
            <a:ext cx="73152" cy="566928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8" name="TextBox 17"/>
          <p:cNvSpPr txBox="1"/>
          <p:nvPr/>
        </p:nvSpPr>
        <p:spPr>
          <a:xfrm>
            <a:off x="4754880" y="3421082"/>
            <a:ext cx="2286000" cy="271869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r>
              <a:rPr sz="1600" b="1" i="0" dirty="0">
                <a:solidFill>
                  <a:srgbClr val="2B2A26"/>
                </a:solidFill>
                <a:latin typeface="Calibri"/>
              </a:rPr>
              <a:t>P3a </a:t>
            </a:r>
            <a:r>
              <a:rPr lang="it-IT" sz="1600" b="1" i="0" dirty="0">
                <a:solidFill>
                  <a:srgbClr val="2B2A26"/>
                </a:solidFill>
                <a:latin typeface="Calibri"/>
              </a:rPr>
              <a:t>-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 Grain</a:t>
            </a:r>
          </a:p>
        </p:txBody>
      </p:sp>
      <p:cxnSp>
        <p:nvCxnSpPr>
          <p:cNvPr id="19" name="Connector 18"/>
          <p:cNvCxnSpPr/>
          <p:nvPr/>
        </p:nvCxnSpPr>
        <p:spPr>
          <a:xfrm flipV="1">
            <a:off x="3246120" y="3557016"/>
            <a:ext cx="1280160" cy="420624"/>
          </a:xfrm>
          <a:prstGeom prst="bentConnector3">
            <a:avLst/>
          </a:prstGeom>
          <a:ln w="19050">
            <a:solidFill>
              <a:srgbClr val="8A8A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572000" y="3986784"/>
            <a:ext cx="2468880" cy="566928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1" name="Rectangle 20"/>
          <p:cNvSpPr/>
          <p:nvPr/>
        </p:nvSpPr>
        <p:spPr>
          <a:xfrm>
            <a:off x="4572000" y="3986784"/>
            <a:ext cx="73152" cy="566928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2" name="TextBox 21"/>
          <p:cNvSpPr txBox="1"/>
          <p:nvPr/>
        </p:nvSpPr>
        <p:spPr>
          <a:xfrm>
            <a:off x="4754880" y="4134314"/>
            <a:ext cx="2286000" cy="271869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r>
              <a:rPr sz="1600" b="1" i="0" dirty="0">
                <a:solidFill>
                  <a:srgbClr val="2B2A26"/>
                </a:solidFill>
                <a:latin typeface="Calibri"/>
              </a:rPr>
              <a:t>P3b </a:t>
            </a:r>
            <a:r>
              <a:rPr lang="it-IT" sz="1600" b="1" i="0" dirty="0">
                <a:solidFill>
                  <a:srgbClr val="2B2A26"/>
                </a:solidFill>
                <a:latin typeface="Calibri"/>
              </a:rPr>
              <a:t>-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 Slice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246120" y="3977640"/>
            <a:ext cx="1280160" cy="292608"/>
          </a:xfrm>
          <a:prstGeom prst="bentConnector3">
            <a:avLst/>
          </a:prstGeom>
          <a:ln w="19050">
            <a:solidFill>
              <a:srgbClr val="8A8A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4572000" y="4700016"/>
            <a:ext cx="2468880" cy="566928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5" name="Rectangle 24"/>
          <p:cNvSpPr/>
          <p:nvPr/>
        </p:nvSpPr>
        <p:spPr>
          <a:xfrm>
            <a:off x="4572000" y="4700016"/>
            <a:ext cx="73152" cy="566928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6" name="TextBox 25"/>
          <p:cNvSpPr txBox="1"/>
          <p:nvPr/>
        </p:nvSpPr>
        <p:spPr>
          <a:xfrm>
            <a:off x="4754880" y="4847546"/>
            <a:ext cx="2286000" cy="271869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r>
              <a:rPr sz="1600" b="1" i="0" dirty="0">
                <a:solidFill>
                  <a:srgbClr val="2B2A26"/>
                </a:solidFill>
                <a:latin typeface="Calibri"/>
              </a:rPr>
              <a:t>P3b </a:t>
            </a:r>
            <a:r>
              <a:rPr lang="it-IT" sz="1600" b="1" i="0" dirty="0">
                <a:solidFill>
                  <a:srgbClr val="2B2A26"/>
                </a:solidFill>
                <a:latin typeface="Calibri"/>
              </a:rPr>
              <a:t>-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 Grain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3246120" y="3977640"/>
            <a:ext cx="1280160" cy="1005840"/>
          </a:xfrm>
          <a:prstGeom prst="bentConnector3">
            <a:avLst/>
          </a:prstGeom>
          <a:ln w="19050">
            <a:solidFill>
              <a:srgbClr val="8A8A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8412480" y="3383280"/>
            <a:ext cx="3017520" cy="1188720"/>
          </a:xfrm>
          <a:prstGeom prst="roundRect">
            <a:avLst/>
          </a:prstGeom>
          <a:solidFill>
            <a:srgbClr val="E3EE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9" name="Rectangle 28"/>
          <p:cNvSpPr/>
          <p:nvPr/>
        </p:nvSpPr>
        <p:spPr>
          <a:xfrm>
            <a:off x="8412480" y="3383280"/>
            <a:ext cx="82296" cy="1188720"/>
          </a:xfrm>
          <a:prstGeom prst="rect">
            <a:avLst/>
          </a:prstGeom>
          <a:solidFill>
            <a:srgbClr val="5B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30" name="TextBox 29"/>
          <p:cNvSpPr txBox="1"/>
          <p:nvPr/>
        </p:nvSpPr>
        <p:spPr>
          <a:xfrm>
            <a:off x="8595360" y="3733984"/>
            <a:ext cx="2743200" cy="487313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r>
              <a:rPr sz="1600" b="1" i="0" dirty="0">
                <a:solidFill>
                  <a:srgbClr val="1B334A"/>
                </a:solidFill>
                <a:latin typeface="Calibri"/>
              </a:rPr>
              <a:t>4 image</a:t>
            </a:r>
            <a:r>
              <a:rPr lang="it-IT" sz="1600" b="1" i="0" dirty="0">
                <a:solidFill>
                  <a:srgbClr val="1B334A"/>
                </a:solidFill>
                <a:latin typeface="Calibri"/>
              </a:rPr>
              <a:t>-</a:t>
            </a:r>
            <a:r>
              <a:rPr sz="1600" b="1" i="0" dirty="0">
                <a:solidFill>
                  <a:srgbClr val="1B334A"/>
                </a:solidFill>
                <a:latin typeface="Calibri"/>
              </a:rPr>
              <a:t>caption rows</a:t>
            </a:r>
          </a:p>
          <a:p>
            <a:r>
              <a:rPr sz="1400" b="0" i="0" dirty="0">
                <a:solidFill>
                  <a:srgbClr val="5B8C5A"/>
                </a:solidFill>
                <a:latin typeface="Calibri"/>
              </a:rPr>
              <a:t>(same caption)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086600" y="2843784"/>
            <a:ext cx="1280160" cy="1133856"/>
          </a:xfrm>
          <a:prstGeom prst="bentConnector3">
            <a:avLst/>
          </a:prstGeom>
          <a:ln w="19050">
            <a:solidFill>
              <a:srgbClr val="8A8A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7086600" y="3557016"/>
            <a:ext cx="1280160" cy="420624"/>
          </a:xfrm>
          <a:prstGeom prst="bentConnector3">
            <a:avLst/>
          </a:prstGeom>
          <a:ln w="19050">
            <a:solidFill>
              <a:srgbClr val="8A8A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7086600" y="3977640"/>
            <a:ext cx="1280160" cy="292608"/>
          </a:xfrm>
          <a:prstGeom prst="bentConnector3">
            <a:avLst/>
          </a:prstGeom>
          <a:ln w="19050">
            <a:solidFill>
              <a:srgbClr val="8A8A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7086600" y="3977640"/>
            <a:ext cx="1280160" cy="1005840"/>
          </a:xfrm>
          <a:prstGeom prst="bentConnector3">
            <a:avLst/>
          </a:prstGeom>
          <a:ln w="19050">
            <a:solidFill>
              <a:srgbClr val="8A8A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7" name="Gruppo 36">
            <a:extLst>
              <a:ext uri="{FF2B5EF4-FFF2-40B4-BE49-F238E27FC236}">
                <a16:creationId xmlns:a16="http://schemas.microsoft.com/office/drawing/2014/main" id="{417E1E9B-2FE2-82B9-DCD6-8C068B39B11A}"/>
              </a:ext>
            </a:extLst>
          </p:cNvPr>
          <p:cNvGrpSpPr/>
          <p:nvPr/>
        </p:nvGrpSpPr>
        <p:grpSpPr>
          <a:xfrm>
            <a:off x="723418" y="5413248"/>
            <a:ext cx="10698480" cy="640080"/>
            <a:chOff x="731520" y="4892040"/>
            <a:chExt cx="10698480" cy="640080"/>
          </a:xfrm>
        </p:grpSpPr>
        <p:sp>
          <p:nvSpPr>
            <p:cNvPr id="35" name="Rounded Rectangle 34"/>
            <p:cNvSpPr/>
            <p:nvPr/>
          </p:nvSpPr>
          <p:spPr>
            <a:xfrm>
              <a:off x="731520" y="4892040"/>
              <a:ext cx="10698480" cy="640080"/>
            </a:xfrm>
            <a:prstGeom prst="roundRect">
              <a:avLst/>
            </a:prstGeom>
            <a:solidFill>
              <a:srgbClr val="1B334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000"/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929640" y="4993850"/>
              <a:ext cx="10332720" cy="271869"/>
            </a:xfrm>
            <a:prstGeom prst="rect">
              <a:avLst/>
            </a:prstGeom>
            <a:noFill/>
          </p:spPr>
          <p:txBody>
            <a:bodyPr wrap="square" lIns="25400" tIns="12700" rIns="25400" bIns="12700" anchor="ctr">
              <a:spAutoFit/>
            </a:bodyPr>
            <a:lstStyle/>
            <a:p>
              <a:r>
                <a:rPr sz="1600" b="1" i="0" dirty="0">
                  <a:solidFill>
                    <a:srgbClr val="E0A458"/>
                  </a:solidFill>
                  <a:latin typeface="Calibri"/>
                </a:rPr>
                <a:t>Net effect:  </a:t>
              </a:r>
              <a:r>
                <a:rPr sz="1600" b="0" i="0" dirty="0">
                  <a:solidFill>
                    <a:srgbClr val="F7F1E3"/>
                  </a:solidFill>
                  <a:latin typeface="Calibri"/>
                </a:rPr>
                <a:t>51,988 rows (image × panelist × attribute) · 39,510 with a comment · pairing rate ≈ 76%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317561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THE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600" b="1" i="0" dirty="0">
                <a:solidFill>
                  <a:srgbClr val="1B334A"/>
                </a:solidFill>
                <a:latin typeface="Georgia"/>
              </a:rPr>
              <a:t>An eleven-stage pipeline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1874520"/>
            <a:ext cx="1088136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b="1" i="0" dirty="0">
                <a:solidFill>
                  <a:srgbClr val="2B2A26"/>
                </a:solidFill>
                <a:latin typeface="Calibri"/>
              </a:rPr>
              <a:t>Guiding principle: </a:t>
            </a:r>
            <a:r>
              <a:rPr b="0" i="0" dirty="0">
                <a:solidFill>
                  <a:srgbClr val="2B2A26"/>
                </a:solidFill>
                <a:latin typeface="Calibri"/>
              </a:rPr>
              <a:t>deterministic-before-the-LLM</a:t>
            </a:r>
            <a:r>
              <a:rPr lang="it-IT" b="0" i="0" dirty="0">
                <a:solidFill>
                  <a:srgbClr val="2B2A26"/>
                </a:solidFill>
                <a:latin typeface="Calibri"/>
              </a:rPr>
              <a:t>,</a:t>
            </a:r>
            <a:r>
              <a:rPr b="0" i="0" dirty="0">
                <a:solidFill>
                  <a:srgbClr val="2B2A26"/>
                </a:solidFill>
                <a:latin typeface="Calibri"/>
              </a:rPr>
              <a:t> everything that can be done with reproducible, free code is done before calling the model.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514600"/>
            <a:ext cx="3566160" cy="1078992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0" name="Oval 9"/>
          <p:cNvSpPr/>
          <p:nvPr/>
        </p:nvSpPr>
        <p:spPr>
          <a:xfrm>
            <a:off x="850392" y="2788920"/>
            <a:ext cx="530352" cy="530352"/>
          </a:xfrm>
          <a:prstGeom prst="ellipse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1" name="TextBox 10"/>
          <p:cNvSpPr txBox="1"/>
          <p:nvPr/>
        </p:nvSpPr>
        <p:spPr>
          <a:xfrm>
            <a:off x="850392" y="2902773"/>
            <a:ext cx="530352" cy="302647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b="1" i="0">
                <a:solidFill>
                  <a:srgbClr val="FFFFFF"/>
                </a:solidFill>
                <a:latin typeface="Calibri"/>
              </a:rPr>
              <a:t>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2773418"/>
            <a:ext cx="2606040" cy="57964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r>
              <a:rPr b="1" i="0">
                <a:solidFill>
                  <a:srgbClr val="1B334A"/>
                </a:solidFill>
                <a:latin typeface="Georgia"/>
              </a:rPr>
              <a:t>Unified table</a:t>
            </a:r>
          </a:p>
          <a:p>
            <a:r>
              <a:rPr b="1" i="0">
                <a:solidFill>
                  <a:srgbClr val="2C5F8A"/>
                </a:solidFill>
                <a:latin typeface="Calibri"/>
              </a:rPr>
              <a:t>51,988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9120" y="2514600"/>
            <a:ext cx="3566160" cy="1078992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4" name="Oval 13"/>
          <p:cNvSpPr/>
          <p:nvPr/>
        </p:nvSpPr>
        <p:spPr>
          <a:xfrm>
            <a:off x="4553712" y="2788920"/>
            <a:ext cx="530352" cy="530352"/>
          </a:xfrm>
          <a:prstGeom prst="ellipse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5" name="TextBox 14"/>
          <p:cNvSpPr txBox="1"/>
          <p:nvPr/>
        </p:nvSpPr>
        <p:spPr>
          <a:xfrm>
            <a:off x="4553712" y="2902773"/>
            <a:ext cx="530352" cy="302647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30368" y="2773418"/>
            <a:ext cx="2606040" cy="57964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r>
              <a:rPr b="1" i="0">
                <a:solidFill>
                  <a:srgbClr val="1B334A"/>
                </a:solidFill>
                <a:latin typeface="Georgia"/>
              </a:rPr>
              <a:t>Deterministic prep</a:t>
            </a:r>
          </a:p>
          <a:p>
            <a:r>
              <a:rPr b="1" i="0">
                <a:solidFill>
                  <a:srgbClr val="2C5F8A"/>
                </a:solidFill>
                <a:latin typeface="Calibri"/>
              </a:rPr>
              <a:t>39,356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2514600"/>
            <a:ext cx="3566160" cy="1078992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8" name="Oval 17"/>
          <p:cNvSpPr/>
          <p:nvPr/>
        </p:nvSpPr>
        <p:spPr>
          <a:xfrm>
            <a:off x="8257032" y="2788920"/>
            <a:ext cx="530352" cy="530352"/>
          </a:xfrm>
          <a:prstGeom prst="ellipse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9" name="TextBox 18"/>
          <p:cNvSpPr txBox="1"/>
          <p:nvPr/>
        </p:nvSpPr>
        <p:spPr>
          <a:xfrm>
            <a:off x="8257032" y="2902773"/>
            <a:ext cx="530352" cy="302647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b="1" i="0">
                <a:solidFill>
                  <a:srgbClr val="FFFFFF"/>
                </a:solidFill>
                <a:latin typeface="Calibri"/>
              </a:rPr>
              <a:t>2–3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33688" y="2773418"/>
            <a:ext cx="2606040" cy="57964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r>
              <a:rPr b="1" i="0">
                <a:solidFill>
                  <a:srgbClr val="1B334A"/>
                </a:solidFill>
                <a:latin typeface="Georgia"/>
              </a:rPr>
              <a:t>Vocabulary + audit</a:t>
            </a:r>
          </a:p>
          <a:p>
            <a:r>
              <a:rPr b="1" i="0">
                <a:solidFill>
                  <a:srgbClr val="2C5F8A"/>
                </a:solidFill>
                <a:latin typeface="Calibri"/>
              </a:rPr>
              <a:t>7 attr.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3758184"/>
            <a:ext cx="3566160" cy="1078992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2" name="Oval 21"/>
          <p:cNvSpPr/>
          <p:nvPr/>
        </p:nvSpPr>
        <p:spPr>
          <a:xfrm>
            <a:off x="850392" y="4032504"/>
            <a:ext cx="530352" cy="530352"/>
          </a:xfrm>
          <a:prstGeom prst="ellipse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3" name="TextBox 22"/>
          <p:cNvSpPr txBox="1"/>
          <p:nvPr/>
        </p:nvSpPr>
        <p:spPr>
          <a:xfrm>
            <a:off x="850392" y="4146357"/>
            <a:ext cx="530352" cy="302647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7048" y="4017002"/>
            <a:ext cx="2606040" cy="57964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r>
              <a:rPr b="1" i="0">
                <a:solidFill>
                  <a:srgbClr val="1B334A"/>
                </a:solidFill>
                <a:latin typeface="Georgia"/>
              </a:rPr>
              <a:t>Cleanup + qualitative</a:t>
            </a:r>
          </a:p>
          <a:p>
            <a:r>
              <a:rPr b="1" i="0">
                <a:solidFill>
                  <a:srgbClr val="2C5F8A"/>
                </a:solidFill>
                <a:latin typeface="Calibri"/>
              </a:rPr>
              <a:t>7,705 unique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89120" y="3758184"/>
            <a:ext cx="3566160" cy="1078992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6" name="Oval 25"/>
          <p:cNvSpPr/>
          <p:nvPr/>
        </p:nvSpPr>
        <p:spPr>
          <a:xfrm>
            <a:off x="4553712" y="4032504"/>
            <a:ext cx="530352" cy="530352"/>
          </a:xfrm>
          <a:prstGeom prst="ellipse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7" name="TextBox 26"/>
          <p:cNvSpPr txBox="1"/>
          <p:nvPr/>
        </p:nvSpPr>
        <p:spPr>
          <a:xfrm>
            <a:off x="4553712" y="4146357"/>
            <a:ext cx="530352" cy="302647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30368" y="4017002"/>
            <a:ext cx="2606040" cy="57964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r>
              <a:rPr b="1" i="0">
                <a:solidFill>
                  <a:srgbClr val="1B334A"/>
                </a:solidFill>
                <a:latin typeface="Georgia"/>
              </a:rPr>
              <a:t>Noise drop</a:t>
            </a:r>
          </a:p>
          <a:p>
            <a:r>
              <a:rPr b="1" i="0">
                <a:solidFill>
                  <a:srgbClr val="2C5F8A"/>
                </a:solidFill>
                <a:latin typeface="Calibri"/>
              </a:rPr>
              <a:t>7,689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92440" y="3758184"/>
            <a:ext cx="3566160" cy="1078992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0" name="Oval 29"/>
          <p:cNvSpPr/>
          <p:nvPr/>
        </p:nvSpPr>
        <p:spPr>
          <a:xfrm>
            <a:off x="8257032" y="4032504"/>
            <a:ext cx="530352" cy="530352"/>
          </a:xfrm>
          <a:prstGeom prst="ellipse">
            <a:avLst/>
          </a:prstGeom>
          <a:solidFill>
            <a:srgbClr val="C88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1" name="TextBox 30"/>
          <p:cNvSpPr txBox="1"/>
          <p:nvPr/>
        </p:nvSpPr>
        <p:spPr>
          <a:xfrm>
            <a:off x="8257032" y="4146357"/>
            <a:ext cx="530352" cy="302647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b="1" i="0">
                <a:solidFill>
                  <a:srgbClr val="FFFFFF"/>
                </a:solidFill>
                <a:latin typeface="Calibri"/>
              </a:rPr>
              <a:t>6–7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33688" y="4017002"/>
            <a:ext cx="2606040" cy="57964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r>
              <a:rPr b="1" i="0">
                <a:solidFill>
                  <a:srgbClr val="1B334A"/>
                </a:solidFill>
                <a:latin typeface="Georgia"/>
              </a:rPr>
              <a:t>Prompt + pilot</a:t>
            </a:r>
          </a:p>
          <a:p>
            <a:r>
              <a:rPr b="1" i="0">
                <a:solidFill>
                  <a:srgbClr val="C88836"/>
                </a:solidFill>
                <a:latin typeface="Calibri"/>
              </a:rPr>
              <a:t>105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85800" y="5001768"/>
            <a:ext cx="3566160" cy="1078992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4" name="Oval 33"/>
          <p:cNvSpPr/>
          <p:nvPr/>
        </p:nvSpPr>
        <p:spPr>
          <a:xfrm>
            <a:off x="850392" y="5276088"/>
            <a:ext cx="530352" cy="530352"/>
          </a:xfrm>
          <a:prstGeom prst="ellipse">
            <a:avLst/>
          </a:prstGeom>
          <a:solidFill>
            <a:srgbClr val="C88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5" name="TextBox 34"/>
          <p:cNvSpPr txBox="1"/>
          <p:nvPr/>
        </p:nvSpPr>
        <p:spPr>
          <a:xfrm>
            <a:off x="850392" y="5389941"/>
            <a:ext cx="530352" cy="302647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27048" y="5260586"/>
            <a:ext cx="2606040" cy="57964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r>
              <a:rPr b="1" i="0">
                <a:solidFill>
                  <a:srgbClr val="1B334A"/>
                </a:solidFill>
                <a:latin typeface="Georgia"/>
              </a:rPr>
              <a:t>LLM batch</a:t>
            </a:r>
          </a:p>
          <a:p>
            <a:r>
              <a:rPr b="1" i="0">
                <a:solidFill>
                  <a:srgbClr val="C88836"/>
                </a:solidFill>
                <a:latin typeface="Calibri"/>
              </a:rPr>
              <a:t>7,689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389120" y="5001768"/>
            <a:ext cx="3566160" cy="1078992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8" name="Oval 37"/>
          <p:cNvSpPr/>
          <p:nvPr/>
        </p:nvSpPr>
        <p:spPr>
          <a:xfrm>
            <a:off x="4553712" y="5276088"/>
            <a:ext cx="530352" cy="530352"/>
          </a:xfrm>
          <a:prstGeom prst="ellipse">
            <a:avLst/>
          </a:prstGeom>
          <a:solidFill>
            <a:srgbClr val="5B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9" name="TextBox 38"/>
          <p:cNvSpPr txBox="1"/>
          <p:nvPr/>
        </p:nvSpPr>
        <p:spPr>
          <a:xfrm>
            <a:off x="4553712" y="5389941"/>
            <a:ext cx="530352" cy="302647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230368" y="5260586"/>
            <a:ext cx="2606040" cy="57964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r>
              <a:rPr b="1" i="0">
                <a:solidFill>
                  <a:srgbClr val="1B334A"/>
                </a:solidFill>
                <a:latin typeface="Georgia"/>
              </a:rPr>
              <a:t>Manual salvage</a:t>
            </a:r>
          </a:p>
          <a:p>
            <a:r>
              <a:rPr b="1" i="0">
                <a:solidFill>
                  <a:srgbClr val="5B8C5A"/>
                </a:solidFill>
                <a:latin typeface="Calibri"/>
              </a:rPr>
              <a:t>+916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092440" y="5001768"/>
            <a:ext cx="3566160" cy="1078992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42" name="Oval 41"/>
          <p:cNvSpPr/>
          <p:nvPr/>
        </p:nvSpPr>
        <p:spPr>
          <a:xfrm>
            <a:off x="8257032" y="5276088"/>
            <a:ext cx="530352" cy="530352"/>
          </a:xfrm>
          <a:prstGeom prst="ellipse">
            <a:avLst/>
          </a:prstGeom>
          <a:solidFill>
            <a:srgbClr val="5B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43" name="TextBox 42"/>
          <p:cNvSpPr txBox="1"/>
          <p:nvPr/>
        </p:nvSpPr>
        <p:spPr>
          <a:xfrm>
            <a:off x="8257032" y="5389941"/>
            <a:ext cx="530352" cy="302647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933688" y="5260586"/>
            <a:ext cx="2606040" cy="57964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r>
              <a:rPr b="1" i="0">
                <a:solidFill>
                  <a:srgbClr val="1B334A"/>
                </a:solidFill>
                <a:latin typeface="Georgia"/>
              </a:rPr>
              <a:t>Broadcast + sentence</a:t>
            </a:r>
          </a:p>
          <a:p>
            <a:r>
              <a:rPr b="1" i="0">
                <a:solidFill>
                  <a:srgbClr val="5B8C5A"/>
                </a:solidFill>
                <a:latin typeface="Calibri"/>
              </a:rPr>
              <a:t>38,437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8368" y="6137491"/>
            <a:ext cx="10789920" cy="271869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600" b="1" i="0">
                <a:solidFill>
                  <a:srgbClr val="2C5F8A"/>
                </a:solidFill>
                <a:latin typeface="Calibri"/>
              </a:rPr>
              <a:t>■ </a:t>
            </a:r>
            <a:r>
              <a:rPr sz="1400" b="0" i="0">
                <a:solidFill>
                  <a:srgbClr val="2B2A26"/>
                </a:solidFill>
                <a:latin typeface="Calibri"/>
              </a:rPr>
              <a:t>deterministic (free)    </a:t>
            </a:r>
            <a:r>
              <a:rPr sz="1600" b="1" i="0">
                <a:solidFill>
                  <a:srgbClr val="C88836"/>
                </a:solidFill>
                <a:latin typeface="Calibri"/>
              </a:rPr>
              <a:t>■ </a:t>
            </a:r>
            <a:r>
              <a:rPr sz="1400" b="0" i="0">
                <a:solidFill>
                  <a:srgbClr val="2B2A26"/>
                </a:solidFill>
                <a:latin typeface="Calibri"/>
              </a:rPr>
              <a:t>with LLM    </a:t>
            </a:r>
            <a:r>
              <a:rPr sz="1600" b="1" i="0">
                <a:solidFill>
                  <a:srgbClr val="5B8C5A"/>
                </a:solidFill>
                <a:latin typeface="Calibri"/>
              </a:rPr>
              <a:t>■ </a:t>
            </a:r>
            <a:r>
              <a:rPr sz="1400" b="0" i="0">
                <a:solidFill>
                  <a:srgbClr val="2B2A26"/>
                </a:solidFill>
                <a:latin typeface="Calibri"/>
              </a:rPr>
              <a:t>final assembly</a:t>
            </a:r>
          </a:p>
        </p:txBody>
      </p:sp>
    </p:spTree>
    <p:extLst>
      <p:ext uri="{BB962C8B-B14F-4D97-AF65-F5344CB8AC3E}">
        <p14:creationId xmlns:p14="http://schemas.microsoft.com/office/powerpoint/2010/main" val="373407514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THE DATA FLOW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600" b="1" i="0" dirty="0">
                <a:solidFill>
                  <a:srgbClr val="1B334A"/>
                </a:solidFill>
                <a:latin typeface="Georgia"/>
              </a:rPr>
              <a:t>The funnel: where rows are lost (and kept)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fig_funn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194013"/>
            <a:ext cx="7040880" cy="347581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955279" y="2011680"/>
            <a:ext cx="3611880" cy="3749039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955279" y="2011680"/>
            <a:ext cx="82296" cy="3749039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11311" y="2157984"/>
            <a:ext cx="3191256" cy="1831271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1B334A"/>
                </a:solidFill>
                <a:latin typeface="Georgia"/>
              </a:rPr>
              <a:t>Reading</a:t>
            </a:r>
          </a:p>
          <a:p>
            <a:pPr>
              <a:spcBef>
                <a:spcPts val="400"/>
              </a:spcBef>
            </a:pPr>
            <a:r>
              <a:rPr sz="11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lang="it-IT" sz="1600" b="1" dirty="0">
                <a:solidFill>
                  <a:srgbClr val="2B2A26"/>
                </a:solidFill>
                <a:latin typeface="Calibri"/>
              </a:rPr>
              <a:t>-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12,632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rows in deterministic prep</a:t>
            </a:r>
          </a:p>
          <a:p>
            <a:pPr>
              <a:spcBef>
                <a:spcPts val="400"/>
              </a:spcBef>
            </a:pPr>
            <a:r>
              <a:rPr sz="11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12,478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empty / null</a:t>
            </a:r>
          </a:p>
          <a:p>
            <a:pPr>
              <a:spcBef>
                <a:spcPts val="400"/>
              </a:spcBef>
            </a:pPr>
            <a:r>
              <a:rPr sz="11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86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meta-comments  ·  68 near-empty</a:t>
            </a:r>
          </a:p>
          <a:p>
            <a:pPr>
              <a:spcBef>
                <a:spcPts val="400"/>
              </a:spcBef>
            </a:pPr>
            <a:r>
              <a:rPr sz="11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75.7%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retention after stage 1</a:t>
            </a:r>
          </a:p>
        </p:txBody>
      </p:sp>
    </p:spTree>
    <p:extLst>
      <p:ext uri="{BB962C8B-B14F-4D97-AF65-F5344CB8AC3E}">
        <p14:creationId xmlns:p14="http://schemas.microsoft.com/office/powerpoint/2010/main" val="14960076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STAGE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600" b="1" i="0" dirty="0">
                <a:solidFill>
                  <a:srgbClr val="1B334A"/>
                </a:solidFill>
                <a:latin typeface="Georgia"/>
              </a:rPr>
              <a:t>Deterministic prep: clean without rewriting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40080" y="1920240"/>
            <a:ext cx="5349240" cy="329184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40080" y="1920240"/>
            <a:ext cx="82296" cy="3291840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96112" y="2066544"/>
            <a:ext cx="4928616" cy="1882567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1B334A"/>
                </a:solidFill>
                <a:latin typeface="Georgia"/>
              </a:rPr>
              <a:t>Operations</a:t>
            </a:r>
          </a:p>
          <a:p>
            <a:pPr>
              <a:spcBef>
                <a:spcPts val="400"/>
              </a:spcBef>
            </a:pPr>
            <a:r>
              <a:rPr sz="1100" b="1" i="0" dirty="0">
                <a:solidFill>
                  <a:srgbClr val="2C5F8A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Filter empties/N-A + Unicode normalization (NFC)</a:t>
            </a:r>
          </a:p>
          <a:p>
            <a:pPr>
              <a:spcBef>
                <a:spcPts val="400"/>
              </a:spcBef>
            </a:pPr>
            <a:r>
              <a:rPr sz="1100" b="1" i="0" dirty="0">
                <a:solidFill>
                  <a:srgbClr val="2C5F8A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Remove non-breaking spaces, zero-width, tabs, newlines</a:t>
            </a:r>
          </a:p>
          <a:p>
            <a:pPr>
              <a:spcBef>
                <a:spcPts val="400"/>
              </a:spcBef>
            </a:pPr>
            <a:r>
              <a:rPr sz="1100" b="1" i="0" dirty="0">
                <a:solidFill>
                  <a:srgbClr val="2C5F8A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Drop meta-comments (small, conservative blacklist)</a:t>
            </a:r>
          </a:p>
          <a:p>
            <a:pPr>
              <a:spcBef>
                <a:spcPts val="400"/>
              </a:spcBef>
            </a:pPr>
            <a:r>
              <a:rPr sz="1100" b="1" i="0" dirty="0">
                <a:solidFill>
                  <a:srgbClr val="2C5F8A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Drop near-empty noise (&lt; 2 alphanumeric characters)</a:t>
            </a:r>
          </a:p>
          <a:p>
            <a:pPr>
              <a:spcBef>
                <a:spcPts val="400"/>
              </a:spcBef>
            </a:pPr>
            <a:r>
              <a:rPr sz="1100" b="1" i="0" dirty="0">
                <a:solidFill>
                  <a:srgbClr val="2C5F8A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Dual column raw / norm → reversibility and audit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1920240"/>
            <a:ext cx="5440680" cy="3291840"/>
          </a:xfrm>
          <a:prstGeom prst="round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126480" y="1920240"/>
            <a:ext cx="82296" cy="329184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382512" y="2066544"/>
            <a:ext cx="5020056" cy="1872307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E0A458"/>
                </a:solidFill>
                <a:latin typeface="Georgia"/>
              </a:rPr>
              <a:t>Philosophy</a:t>
            </a:r>
          </a:p>
          <a:p>
            <a:r>
              <a:rPr sz="1600" b="1" i="0" dirty="0">
                <a:solidFill>
                  <a:srgbClr val="F7F1E3"/>
                </a:solidFill>
                <a:latin typeface="Calibri"/>
              </a:rPr>
              <a:t>«Drops must be certain». </a:t>
            </a:r>
            <a:r>
              <a:rPr sz="1600" b="0" i="0" dirty="0">
                <a:solidFill>
                  <a:srgbClr val="F7F1E3"/>
                </a:solidFill>
                <a:latin typeface="Calibri"/>
              </a:rPr>
              <a:t>The LLM will handle ambiguity better: a negation with a descriptor: </a:t>
            </a:r>
            <a:r>
              <a:rPr sz="1600" b="1" i="0" dirty="0">
                <a:solidFill>
                  <a:srgbClr val="F7F1E3"/>
                </a:solidFill>
                <a:latin typeface="Calibri"/>
              </a:rPr>
              <a:t>«I don't penalize it, but it smells of barn» </a:t>
            </a:r>
            <a:r>
              <a:rPr sz="1600" b="0" i="0" dirty="0">
                <a:solidFill>
                  <a:srgbClr val="F7F1E3"/>
                </a:solidFill>
                <a:latin typeface="Calibri"/>
              </a:rPr>
              <a:t> carries real information and is kept.
Result: 39,356 rows (75.7% retention), 12,632 drops, of which 12,478 empty, 86 meta, 68 near-empty.</a:t>
            </a:r>
          </a:p>
        </p:txBody>
      </p:sp>
    </p:spTree>
    <p:extLst>
      <p:ext uri="{BB962C8B-B14F-4D97-AF65-F5344CB8AC3E}">
        <p14:creationId xmlns:p14="http://schemas.microsoft.com/office/powerpoint/2010/main" val="17489798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STAGES 2–3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100" b="1" i="0" dirty="0">
                <a:solidFill>
                  <a:srgbClr val="1B334A"/>
                </a:solidFill>
                <a:latin typeface="Georgia"/>
              </a:rPr>
              <a:t>A controlled </a:t>
            </a:r>
            <a:r>
              <a:rPr sz="3600" b="1" i="0" dirty="0">
                <a:solidFill>
                  <a:srgbClr val="1B334A"/>
                </a:solidFill>
                <a:latin typeface="Georgia"/>
              </a:rPr>
              <a:t>vocabulary</a:t>
            </a:r>
            <a:r>
              <a:rPr sz="3100" b="1" i="0" dirty="0">
                <a:solidFill>
                  <a:srgbClr val="1B334A"/>
                </a:solidFill>
                <a:latin typeface="Georgia"/>
              </a:rPr>
              <a:t>, tailor-made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fig_voca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055" y="2250226"/>
            <a:ext cx="6418446" cy="336633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284719" y="2058871"/>
            <a:ext cx="4618818" cy="3749039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284718" y="2058871"/>
            <a:ext cx="90195" cy="3749039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540750" y="2205175"/>
            <a:ext cx="4280195" cy="346248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b="1" i="0" dirty="0">
                <a:solidFill>
                  <a:srgbClr val="1B334A"/>
                </a:solidFill>
                <a:latin typeface="Georgia"/>
              </a:rPr>
              <a:t>Why custom</a:t>
            </a:r>
          </a:p>
          <a:p>
            <a:pPr>
              <a:spcBef>
                <a:spcPts val="400"/>
              </a:spcBef>
            </a:pPr>
            <a:r>
              <a:rPr lang="en-US" sz="1600" b="1" dirty="0">
                <a:solidFill>
                  <a:srgbClr val="2C5F8A"/>
                </a:solidFill>
              </a:rPr>
              <a:t>● </a:t>
            </a:r>
            <a:r>
              <a:rPr lang="en-US" sz="1600" b="1" dirty="0"/>
              <a:t>I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talian NLP tools err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: </a:t>
            </a:r>
            <a:r>
              <a:rPr sz="1600" b="0" i="0" dirty="0" err="1">
                <a:solidFill>
                  <a:srgbClr val="2B2A26"/>
                </a:solidFill>
                <a:latin typeface="Calibri"/>
              </a:rPr>
              <a:t>panna→panno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, </a:t>
            </a:r>
            <a:r>
              <a:rPr sz="1600" b="0" i="0" dirty="0" err="1">
                <a:solidFill>
                  <a:srgbClr val="2B2A26"/>
                </a:solidFill>
                <a:latin typeface="Calibri"/>
              </a:rPr>
              <a:t>latte→latto</a:t>
            </a:r>
            <a:r>
              <a:rPr lang="en-US" sz="1600" b="1" dirty="0">
                <a:solidFill>
                  <a:srgbClr val="2C5F8A"/>
                </a:solidFill>
              </a:rPr>
              <a:t>.</a:t>
            </a:r>
            <a:r>
              <a:rPr lang="en-US" sz="1600" b="1" i="0" dirty="0">
                <a:solidFill>
                  <a:srgbClr val="2B2A26"/>
                </a:solidFill>
                <a:latin typeface="Calibri"/>
              </a:rPr>
              <a:t> Our </a:t>
            </a:r>
            <a:r>
              <a:rPr lang="en-US" sz="1600" b="1" i="0" dirty="0" err="1">
                <a:solidFill>
                  <a:srgbClr val="2B2A26"/>
                </a:solidFill>
                <a:latin typeface="Calibri"/>
              </a:rPr>
              <a:t>stoplist</a:t>
            </a:r>
            <a:r>
              <a:rPr lang="en-US" sz="1600" b="1" i="0" dirty="0">
                <a:solidFill>
                  <a:srgbClr val="2B2A26"/>
                </a:solidFill>
                <a:latin typeface="Calibri"/>
              </a:rPr>
              <a:t> </a:t>
            </a:r>
            <a:r>
              <a:rPr lang="en-US" sz="1600" b="0" i="0" dirty="0">
                <a:solidFill>
                  <a:srgbClr val="2B2A26"/>
                </a:solidFill>
                <a:latin typeface="Calibri"/>
              </a:rPr>
              <a:t>keeps the intensifiers that matter: «molto», «poco», «</a:t>
            </a:r>
            <a:r>
              <a:rPr lang="en-US" sz="1600" b="0" i="0" dirty="0" err="1">
                <a:solidFill>
                  <a:srgbClr val="2B2A26"/>
                </a:solidFill>
                <a:latin typeface="Calibri"/>
              </a:rPr>
              <a:t>leggermente</a:t>
            </a:r>
            <a:r>
              <a:rPr lang="en-US" sz="1600" b="0" i="0" dirty="0">
                <a:solidFill>
                  <a:srgbClr val="2B2A26"/>
                </a:solidFill>
                <a:latin typeface="Calibri"/>
              </a:rPr>
              <a:t>»</a:t>
            </a:r>
          </a:p>
          <a:p>
            <a:pPr>
              <a:spcBef>
                <a:spcPts val="400"/>
              </a:spcBef>
            </a:pPr>
            <a:r>
              <a:rPr lang="en-US" sz="1600" b="1" dirty="0">
                <a:solidFill>
                  <a:srgbClr val="2C5F8A"/>
                </a:solidFill>
              </a:rPr>
              <a:t>● </a:t>
            </a:r>
            <a:r>
              <a:rPr lang="en-US" sz="1600" b="1" i="0" dirty="0">
                <a:solidFill>
                  <a:srgbClr val="2B2A26"/>
                </a:solidFill>
                <a:latin typeface="Calibri"/>
              </a:rPr>
              <a:t>Deterministic normalization</a:t>
            </a:r>
            <a:r>
              <a:rPr lang="en-US" sz="1600" b="0" i="0" dirty="0">
                <a:solidFill>
                  <a:srgbClr val="2B2A26"/>
                </a:solidFill>
                <a:latin typeface="Calibri"/>
              </a:rPr>
              <a:t>: abbreviation + typo maps, accent restoration, measurement units dropped</a:t>
            </a:r>
          </a:p>
          <a:p>
            <a:pPr>
              <a:spcBef>
                <a:spcPts val="400"/>
              </a:spcBef>
            </a:pPr>
            <a:r>
              <a:rPr lang="en-US" sz="1600" b="1" dirty="0">
                <a:solidFill>
                  <a:srgbClr val="2C5F8A"/>
                </a:solidFill>
              </a:rPr>
              <a:t>● </a:t>
            </a:r>
            <a:r>
              <a:rPr lang="en-US" sz="1600" b="1" dirty="0" err="1">
                <a:solidFill>
                  <a:srgbClr val="2B2A26"/>
                </a:solidFill>
                <a:latin typeface="Calibri"/>
              </a:rPr>
              <a:t>Singular↔plural</a:t>
            </a:r>
            <a:r>
              <a:rPr lang="en-US" sz="1600" b="1" dirty="0">
                <a:solidFill>
                  <a:srgbClr val="2B2A26"/>
                </a:solidFill>
                <a:latin typeface="Calibri"/>
              </a:rPr>
              <a:t> merge </a:t>
            </a:r>
            <a:r>
              <a:rPr lang="en-US" sz="1600" dirty="0">
                <a:solidFill>
                  <a:srgbClr val="2B2A26"/>
                </a:solidFill>
                <a:latin typeface="Calibri"/>
              </a:rPr>
              <a:t>only when both forms are attested → antonyms stay split (</a:t>
            </a:r>
            <a:r>
              <a:rPr lang="en-US" sz="1600" dirty="0" err="1">
                <a:solidFill>
                  <a:srgbClr val="2B2A26"/>
                </a:solidFill>
                <a:latin typeface="Calibri"/>
              </a:rPr>
              <a:t>carico</a:t>
            </a:r>
            <a:r>
              <a:rPr lang="en-US" sz="1600" dirty="0">
                <a:solidFill>
                  <a:srgbClr val="2B2A26"/>
                </a:solidFill>
                <a:latin typeface="Calibri"/>
              </a:rPr>
              <a:t> ≠ </a:t>
            </a:r>
            <a:r>
              <a:rPr lang="en-US" sz="1600" dirty="0" err="1">
                <a:solidFill>
                  <a:srgbClr val="2B2A26"/>
                </a:solidFill>
                <a:latin typeface="Calibri"/>
              </a:rPr>
              <a:t>scarico</a:t>
            </a:r>
            <a:r>
              <a:rPr lang="en-US" sz="1600" dirty="0">
                <a:solidFill>
                  <a:srgbClr val="2B2A26"/>
                </a:solidFill>
                <a:latin typeface="Calibri"/>
              </a:rPr>
              <a:t>)</a:t>
            </a:r>
            <a:endParaRPr lang="it-IT" sz="1600" dirty="0">
              <a:solidFill>
                <a:srgbClr val="2B2A26"/>
              </a:solidFill>
              <a:latin typeface="Calibri"/>
            </a:endParaRPr>
          </a:p>
          <a:p>
            <a:pPr>
              <a:spcBef>
                <a:spcPts val="400"/>
              </a:spcBef>
            </a:pPr>
            <a:r>
              <a:rPr lang="en-US" sz="1600" b="1" dirty="0">
                <a:solidFill>
                  <a:srgbClr val="2C5F8A"/>
                </a:solidFill>
              </a:rPr>
              <a:t>● </a:t>
            </a:r>
            <a:r>
              <a:rPr lang="en-US" sz="1600" b="1" dirty="0">
                <a:solidFill>
                  <a:srgbClr val="2B2A26"/>
                </a:solidFill>
              </a:rPr>
              <a:t>Top-200 lemmas + top-80 bigrams </a:t>
            </a:r>
            <a:r>
              <a:rPr lang="en-US" sz="1600" dirty="0">
                <a:solidFill>
                  <a:srgbClr val="2B2A26"/>
                </a:solidFill>
              </a:rPr>
              <a:t>per attribute (</a:t>
            </a:r>
            <a:r>
              <a:rPr lang="en-US" sz="1600" dirty="0" err="1">
                <a:solidFill>
                  <a:srgbClr val="2B2A26"/>
                </a:solidFill>
              </a:rPr>
              <a:t>freq</a:t>
            </a:r>
            <a:r>
              <a:rPr lang="en-US" sz="1600" dirty="0">
                <a:solidFill>
                  <a:srgbClr val="2B2A26"/>
                </a:solidFill>
              </a:rPr>
              <a:t> ≥ 3): audit basis + style anchor in the prompt, never a closed dictionary</a:t>
            </a:r>
            <a:endParaRPr sz="1600" dirty="0">
              <a:solidFill>
                <a:srgbClr val="2B2A26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65174974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STAGE 4 · KEY REQUIREMENT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600" b="1" i="0" dirty="0">
                <a:solidFill>
                  <a:srgbClr val="1B334A"/>
                </a:solidFill>
                <a:latin typeface="Georgia"/>
              </a:rPr>
              <a:t>From numbers to quality: the rind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1874520"/>
            <a:ext cx="10881360" cy="518091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600" b="0" i="0" dirty="0">
                <a:solidFill>
                  <a:srgbClr val="2B2A26"/>
                </a:solidFill>
                <a:latin typeface="Calibri"/>
              </a:rPr>
              <a:t>Hundreds of captions were just measures («10», «1 cm», «8-10 mm»). A deterministic function converts everything to mm and assigns a bucket.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2560320"/>
          <a:ext cx="429768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18160"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Threshold (mm)</a:t>
                      </a:r>
                    </a:p>
                  </a:txBody>
                  <a:tcPr marL="101600" anchor="ctr">
                    <a:solidFill>
                      <a:srgbClr val="1B33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Bucket</a:t>
                      </a:r>
                    </a:p>
                  </a:txBody>
                  <a:tcPr marL="101600" anchor="ctr">
                    <a:solidFill>
                      <a:srgbClr val="1B33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&lt; 8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2B2A26"/>
                          </a:solidFill>
                          <a:latin typeface="Calibri"/>
                        </a:rPr>
                        <a:t>Molto sottile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8 ≤ x &lt; 10</a:t>
                      </a:r>
                    </a:p>
                  </a:txBody>
                  <a:tcPr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2B2A26"/>
                          </a:solidFill>
                          <a:latin typeface="Calibri"/>
                        </a:rPr>
                        <a:t>Sottile</a:t>
                      </a:r>
                    </a:p>
                  </a:txBody>
                  <a:tcPr marL="1016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10 ≤ x &lt; 14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2B2A26"/>
                          </a:solidFill>
                          <a:latin typeface="Calibri"/>
                        </a:rPr>
                        <a:t>Medio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14 ≤ x &lt; 18</a:t>
                      </a:r>
                    </a:p>
                  </a:txBody>
                  <a:tcPr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2B2A26"/>
                          </a:solidFill>
                          <a:latin typeface="Calibri"/>
                        </a:rPr>
                        <a:t>Spessa</a:t>
                      </a:r>
                    </a:p>
                  </a:txBody>
                  <a:tcPr marL="1016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≥ 18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 i="0" dirty="0">
                          <a:solidFill>
                            <a:srgbClr val="2B2A26"/>
                          </a:solidFill>
                          <a:latin typeface="Calibri"/>
                        </a:rPr>
                        <a:t>Molto spessa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257800" y="2514600"/>
            <a:ext cx="6309360" cy="32918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fig_spesso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2249" y="2651760"/>
            <a:ext cx="5000461" cy="3017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408975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2180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 dirty="0">
                <a:solidFill>
                  <a:srgbClr val="C88836"/>
                </a:solidFill>
                <a:latin typeface="Calibri"/>
              </a:rPr>
              <a:t>STAGE </a:t>
            </a:r>
            <a:r>
              <a:rPr lang="it-IT" sz="1250" b="1" spc="220" dirty="0">
                <a:solidFill>
                  <a:srgbClr val="C88836"/>
                </a:solidFill>
                <a:latin typeface="Calibri"/>
              </a:rPr>
              <a:t>5</a:t>
            </a:r>
            <a:r>
              <a:rPr sz="1250" b="1" i="0" spc="220" dirty="0">
                <a:solidFill>
                  <a:srgbClr val="C88836"/>
                </a:solidFill>
                <a:latin typeface="Calibri"/>
              </a:rPr>
              <a:t>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600" b="1" i="0" dirty="0">
                <a:solidFill>
                  <a:srgbClr val="1B334A"/>
                </a:solidFill>
                <a:latin typeface="Georgia"/>
              </a:rPr>
              <a:t>Deduplication: 5.1× compression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fig_ded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248755"/>
            <a:ext cx="7040880" cy="336633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955279" y="2011680"/>
            <a:ext cx="3611880" cy="3749039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955279" y="2011680"/>
            <a:ext cx="82296" cy="3749039"/>
          </a:xfrm>
          <a:prstGeom prst="rect">
            <a:avLst/>
          </a:prstGeom>
          <a:solidFill>
            <a:srgbClr val="5B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11311" y="2157984"/>
            <a:ext cx="3191256" cy="286745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1B334A"/>
                </a:solidFill>
                <a:latin typeface="Georgia"/>
              </a:rPr>
              <a:t>Why it matters</a:t>
            </a:r>
          </a:p>
          <a:p>
            <a:pPr>
              <a:spcBef>
                <a:spcPts val="400"/>
              </a:spcBef>
            </a:pPr>
            <a:r>
              <a:rPr sz="1100" b="1" i="0" dirty="0">
                <a:solidFill>
                  <a:srgbClr val="5B8C5A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The broadcast replicates the same text many times</a:t>
            </a:r>
          </a:p>
          <a:p>
            <a:pPr>
              <a:spcBef>
                <a:spcPts val="400"/>
              </a:spcBef>
            </a:pPr>
            <a:r>
              <a:rPr sz="1100" b="1" i="0" dirty="0">
                <a:solidFill>
                  <a:srgbClr val="5B8C5A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39,356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rows → 7,705 unique captions</a:t>
            </a:r>
          </a:p>
          <a:p>
            <a:pPr>
              <a:spcBef>
                <a:spcPts val="400"/>
              </a:spcBef>
            </a:pPr>
            <a:r>
              <a:rPr sz="1100" b="1" i="0" dirty="0">
                <a:solidFill>
                  <a:srgbClr val="5B8C5A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5.1×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compression by (caption, attribute) key</a:t>
            </a:r>
          </a:p>
          <a:p>
            <a:pPr>
              <a:spcBef>
                <a:spcPts val="400"/>
              </a:spcBef>
            </a:pPr>
            <a:r>
              <a:rPr sz="1100" b="1" i="0" dirty="0">
                <a:solidFill>
                  <a:srgbClr val="5B8C5A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Dominant 4× pattern: 6,595 captions exactly 4 times</a:t>
            </a:r>
          </a:p>
          <a:p>
            <a:pPr>
              <a:spcBef>
                <a:spcPts val="400"/>
              </a:spcBef>
            </a:pPr>
            <a:r>
              <a:rPr sz="1100" b="1" i="0" dirty="0">
                <a:solidFill>
                  <a:srgbClr val="5B8C5A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→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cuts the LLM cost ~5×</a:t>
            </a:r>
            <a:endParaRPr sz="1200" b="0" i="0" dirty="0">
              <a:solidFill>
                <a:srgbClr val="2B2A26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28100794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410999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STAGES 6–8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600" b="1" i="0" dirty="0">
                <a:solidFill>
                  <a:srgbClr val="1B334A"/>
                </a:solidFill>
                <a:latin typeface="Georgia"/>
              </a:rPr>
              <a:t>LLM</a:t>
            </a:r>
            <a:r>
              <a:rPr sz="3100" b="1" i="0" dirty="0">
                <a:solidFill>
                  <a:srgbClr val="1B334A"/>
                </a:solidFill>
                <a:latin typeface="Georgia"/>
              </a:rPr>
              <a:t> rewriting: the genuinely hard work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320041" y="1920240"/>
            <a:ext cx="4126750" cy="329184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20041" y="1920240"/>
            <a:ext cx="96469" cy="329184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20168" y="2066544"/>
            <a:ext cx="4000359" cy="3011081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1B334A"/>
                </a:solidFill>
                <a:latin typeface="Georgia"/>
              </a:rPr>
              <a:t>6 · Prompt design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Per-attribute system prompt </a:t>
            </a:r>
            <a:endParaRPr lang="it-IT" sz="1600" b="0" i="0" dirty="0">
              <a:solidFill>
                <a:srgbClr val="2B2A26"/>
              </a:solidFill>
              <a:latin typeface="Calibri"/>
            </a:endParaRPr>
          </a:p>
          <a:p>
            <a:r>
              <a:rPr sz="16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11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rules </a:t>
            </a:r>
            <a:r>
              <a:rPr lang="it-IT" sz="1600" b="0" i="0" dirty="0">
                <a:solidFill>
                  <a:srgbClr val="2B2A26"/>
                </a:solidFill>
                <a:latin typeface="Calibri"/>
              </a:rPr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/>
              <a:t>Faithfulness:</a:t>
            </a:r>
            <a:r>
              <a:rPr lang="en-US" sz="1600" dirty="0"/>
              <a:t> zero invention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/>
              <a:t>Normalization: </a:t>
            </a:r>
            <a:r>
              <a:rPr lang="en-US" sz="1600" dirty="0" err="1"/>
              <a:t>numbers→quality</a:t>
            </a:r>
            <a:r>
              <a:rPr lang="en-US" sz="1600" dirty="0"/>
              <a:t>, </a:t>
            </a:r>
            <a:r>
              <a:rPr lang="en-US" sz="1600" dirty="0" err="1"/>
              <a:t>synonyms→controlled</a:t>
            </a:r>
            <a:r>
              <a:rPr lang="en-US" sz="1600" dirty="0"/>
              <a:t> lexicon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/>
              <a:t>Cleanup: </a:t>
            </a:r>
            <a:r>
              <a:rPr lang="en-US" sz="1600" dirty="0"/>
              <a:t>remove pure meta comments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/>
              <a:t>Safety:</a:t>
            </a:r>
            <a:r>
              <a:rPr lang="en-US" sz="1600" dirty="0"/>
              <a:t> NON_DESCRITTO escape when no descriptor is present</a:t>
            </a:r>
            <a:endParaRPr lang="it-IT" sz="1600" b="0" i="0" dirty="0">
              <a:solidFill>
                <a:srgbClr val="2B2A26"/>
              </a:solidFill>
              <a:latin typeface="Calibri"/>
            </a:endParaRP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Top-60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lemmas as a style anchor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6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real few-shot examples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BE97F420-A9C4-6AB6-15C8-4F7102E387DC}"/>
              </a:ext>
            </a:extLst>
          </p:cNvPr>
          <p:cNvGrpSpPr/>
          <p:nvPr/>
        </p:nvGrpSpPr>
        <p:grpSpPr>
          <a:xfrm>
            <a:off x="4620527" y="1920240"/>
            <a:ext cx="3520440" cy="3291840"/>
            <a:chOff x="4297680" y="1920240"/>
            <a:chExt cx="3520440" cy="3291840"/>
          </a:xfrm>
        </p:grpSpPr>
        <p:sp>
          <p:nvSpPr>
            <p:cNvPr id="11" name="Rounded Rectangle 10"/>
            <p:cNvSpPr/>
            <p:nvPr/>
          </p:nvSpPr>
          <p:spPr>
            <a:xfrm>
              <a:off x="4297680" y="1920240"/>
              <a:ext cx="3520440" cy="3291840"/>
            </a:xfrm>
            <a:prstGeom prst="roundRect">
              <a:avLst/>
            </a:prstGeom>
            <a:solidFill>
              <a:srgbClr val="FBF7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4297680" y="1920240"/>
              <a:ext cx="82296" cy="3291840"/>
            </a:xfrm>
            <a:prstGeom prst="rect">
              <a:avLst/>
            </a:prstGeom>
            <a:solidFill>
              <a:srgbClr val="2C5F8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4553712" y="2066544"/>
              <a:ext cx="3099816" cy="2077492"/>
            </a:xfrm>
            <a:prstGeom prst="rect">
              <a:avLst/>
            </a:prstGeom>
            <a:noFill/>
          </p:spPr>
          <p:txBody>
            <a:bodyPr wrap="square" lIns="25400" tIns="12700" rIns="25400" bIns="12700" anchor="t">
              <a:spAutoFit/>
            </a:bodyPr>
            <a:lstStyle/>
            <a:p>
              <a:r>
                <a:rPr sz="2400" b="1" i="0" dirty="0">
                  <a:solidFill>
                    <a:srgbClr val="1B334A"/>
                  </a:solidFill>
                  <a:latin typeface="Georgia"/>
                </a:rPr>
                <a:t>7 · Pilot run</a:t>
              </a:r>
            </a:p>
            <a:p>
              <a:pPr>
                <a:spcBef>
                  <a:spcPts val="400"/>
                </a:spcBef>
              </a:pPr>
              <a:r>
                <a:rPr sz="1600" b="1" i="0" dirty="0">
                  <a:solidFill>
                    <a:srgbClr val="2C5F8A"/>
                  </a:solidFill>
                  <a:latin typeface="Calibri"/>
                </a:rPr>
                <a:t>● </a:t>
              </a:r>
              <a:r>
                <a:rPr sz="1600" b="1" i="0" dirty="0">
                  <a:solidFill>
                    <a:srgbClr val="2B2A26"/>
                  </a:solidFill>
                  <a:latin typeface="Calibri"/>
                </a:rPr>
                <a:t>105</a:t>
              </a:r>
              <a:r>
                <a:rPr sz="1600" b="0" i="0" dirty="0">
                  <a:solidFill>
                    <a:srgbClr val="2B2A26"/>
                  </a:solidFill>
                  <a:latin typeface="Calibri"/>
                </a:rPr>
                <a:t> captions (15 per attribute)</a:t>
              </a:r>
            </a:p>
            <a:p>
              <a:pPr>
                <a:spcBef>
                  <a:spcPts val="400"/>
                </a:spcBef>
              </a:pPr>
              <a:r>
                <a:rPr sz="1600" b="1" i="0" dirty="0">
                  <a:solidFill>
                    <a:srgbClr val="2C5F8A"/>
                  </a:solidFill>
                  <a:latin typeface="Calibri"/>
                </a:rPr>
                <a:t>● </a:t>
              </a:r>
              <a:r>
                <a:rPr sz="1600" b="0" i="0" dirty="0">
                  <a:solidFill>
                    <a:srgbClr val="2B2A26"/>
                  </a:solidFill>
                  <a:latin typeface="Calibri"/>
                </a:rPr>
                <a:t>Found 2 failure modes: 1cm vs 10mm; empty format</a:t>
              </a:r>
            </a:p>
            <a:p>
              <a:pPr>
                <a:spcBef>
                  <a:spcPts val="400"/>
                </a:spcBef>
              </a:pPr>
              <a:r>
                <a:rPr sz="1600" b="1" i="0" dirty="0">
                  <a:solidFill>
                    <a:srgbClr val="2C5F8A"/>
                  </a:solidFill>
                  <a:latin typeface="Calibri"/>
                </a:rPr>
                <a:t>● </a:t>
              </a:r>
              <a:r>
                <a:rPr sz="1600" b="0" i="0" dirty="0">
                  <a:solidFill>
                    <a:srgbClr val="2B2A26"/>
                  </a:solidFill>
                  <a:latin typeface="Calibri"/>
                </a:rPr>
                <a:t>Both fixed in the prompt</a:t>
              </a:r>
            </a:p>
            <a:p>
              <a:pPr>
                <a:spcBef>
                  <a:spcPts val="400"/>
                </a:spcBef>
              </a:pPr>
              <a:r>
                <a:rPr sz="1600" b="1" i="0" dirty="0">
                  <a:solidFill>
                    <a:srgbClr val="2C5F8A"/>
                  </a:solidFill>
                  <a:latin typeface="Calibri"/>
                </a:rPr>
                <a:t>● </a:t>
              </a:r>
              <a:r>
                <a:rPr sz="1600" b="1" i="0" dirty="0">
                  <a:solidFill>
                    <a:srgbClr val="2B2A26"/>
                  </a:solidFill>
                  <a:latin typeface="Calibri"/>
                </a:rPr>
                <a:t>3 workers</a:t>
              </a:r>
              <a:r>
                <a:rPr sz="1600" b="0" i="0" dirty="0">
                  <a:solidFill>
                    <a:srgbClr val="2B2A26"/>
                  </a:solidFill>
                  <a:latin typeface="Calibri"/>
                </a:rPr>
                <a:t> = optimal; 8 → storms of 429s</a:t>
              </a: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FCE2E734-BB27-A729-532E-79BAFB908D74}"/>
              </a:ext>
            </a:extLst>
          </p:cNvPr>
          <p:cNvGrpSpPr/>
          <p:nvPr/>
        </p:nvGrpSpPr>
        <p:grpSpPr>
          <a:xfrm>
            <a:off x="8372374" y="1920240"/>
            <a:ext cx="3611880" cy="3291840"/>
            <a:chOff x="7955279" y="1920240"/>
            <a:chExt cx="3611880" cy="3291840"/>
          </a:xfrm>
        </p:grpSpPr>
        <p:sp>
          <p:nvSpPr>
            <p:cNvPr id="14" name="Rounded Rectangle 13"/>
            <p:cNvSpPr/>
            <p:nvPr/>
          </p:nvSpPr>
          <p:spPr>
            <a:xfrm>
              <a:off x="7955279" y="1920240"/>
              <a:ext cx="3611880" cy="3291840"/>
            </a:xfrm>
            <a:prstGeom prst="roundRect">
              <a:avLst/>
            </a:prstGeom>
            <a:solidFill>
              <a:srgbClr val="FBF7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5" name="Rectangle 14"/>
            <p:cNvSpPr/>
            <p:nvPr/>
          </p:nvSpPr>
          <p:spPr>
            <a:xfrm>
              <a:off x="7955279" y="1920240"/>
              <a:ext cx="82296" cy="3291840"/>
            </a:xfrm>
            <a:prstGeom prst="rect">
              <a:avLst/>
            </a:prstGeom>
            <a:solidFill>
              <a:srgbClr val="5B8C5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8211311" y="2066544"/>
              <a:ext cx="3191256" cy="1985159"/>
            </a:xfrm>
            <a:prstGeom prst="rect">
              <a:avLst/>
            </a:prstGeom>
            <a:noFill/>
          </p:spPr>
          <p:txBody>
            <a:bodyPr wrap="square" lIns="25400" tIns="12700" rIns="25400" bIns="12700" anchor="t">
              <a:spAutoFit/>
            </a:bodyPr>
            <a:lstStyle/>
            <a:p>
              <a:r>
                <a:rPr sz="2400" b="1" i="0" dirty="0">
                  <a:solidFill>
                    <a:srgbClr val="1B334A"/>
                  </a:solidFill>
                  <a:latin typeface="Georgia"/>
                </a:rPr>
                <a:t>8 · Full batch</a:t>
              </a:r>
            </a:p>
            <a:p>
              <a:pPr>
                <a:spcBef>
                  <a:spcPts val="400"/>
                </a:spcBef>
              </a:pPr>
              <a:r>
                <a:rPr b="1" i="0" dirty="0">
                  <a:solidFill>
                    <a:srgbClr val="5B8C5A"/>
                  </a:solidFill>
                  <a:latin typeface="Calibri"/>
                </a:rPr>
                <a:t>● </a:t>
              </a:r>
              <a:r>
                <a:rPr b="1" i="0" dirty="0">
                  <a:solidFill>
                    <a:srgbClr val="2B2A26"/>
                  </a:solidFill>
                  <a:latin typeface="Calibri"/>
                </a:rPr>
                <a:t>7,689 / 7,689</a:t>
              </a:r>
              <a:r>
                <a:rPr b="0" i="0" dirty="0">
                  <a:solidFill>
                    <a:srgbClr val="2B2A26"/>
                  </a:solidFill>
                  <a:latin typeface="Calibri"/>
                </a:rPr>
                <a:t> completed, 0 errors</a:t>
              </a:r>
            </a:p>
            <a:p>
              <a:pPr>
                <a:spcBef>
                  <a:spcPts val="400"/>
                </a:spcBef>
              </a:pPr>
              <a:r>
                <a:rPr b="1" i="0" dirty="0">
                  <a:solidFill>
                    <a:srgbClr val="5B8C5A"/>
                  </a:solidFill>
                  <a:latin typeface="Calibri"/>
                </a:rPr>
                <a:t>● </a:t>
              </a:r>
              <a:r>
                <a:rPr b="1" i="0" dirty="0">
                  <a:solidFill>
                    <a:srgbClr val="2B2A26"/>
                  </a:solidFill>
                  <a:latin typeface="Calibri"/>
                </a:rPr>
                <a:t>~25</a:t>
              </a:r>
              <a:r>
                <a:rPr lang="it-IT" b="1" i="0" dirty="0">
                  <a:solidFill>
                    <a:srgbClr val="2B2A26"/>
                  </a:solidFill>
                  <a:latin typeface="Calibri"/>
                </a:rPr>
                <a:t>-</a:t>
              </a:r>
              <a:r>
                <a:rPr b="1" i="0" dirty="0">
                  <a:solidFill>
                    <a:srgbClr val="2B2A26"/>
                  </a:solidFill>
                  <a:latin typeface="Calibri"/>
                </a:rPr>
                <a:t>30</a:t>
              </a:r>
              <a:r>
                <a:rPr b="0" i="0" dirty="0">
                  <a:solidFill>
                    <a:srgbClr val="2B2A26"/>
                  </a:solidFill>
                  <a:latin typeface="Calibri"/>
                </a:rPr>
                <a:t> minutes</a:t>
              </a:r>
            </a:p>
            <a:p>
              <a:pPr>
                <a:spcBef>
                  <a:spcPts val="400"/>
                </a:spcBef>
              </a:pPr>
              <a:r>
                <a:rPr b="1" i="0" dirty="0">
                  <a:solidFill>
                    <a:srgbClr val="5B8C5A"/>
                  </a:solidFill>
                  <a:latin typeface="Calibri"/>
                </a:rPr>
                <a:t>● </a:t>
              </a:r>
              <a:r>
                <a:rPr b="1" i="0" dirty="0">
                  <a:solidFill>
                    <a:srgbClr val="2B2A26"/>
                  </a:solidFill>
                  <a:latin typeface="Calibri"/>
                </a:rPr>
                <a:t>Haiku 4.5</a:t>
              </a:r>
              <a:r>
                <a:rPr b="0" i="0" dirty="0">
                  <a:solidFill>
                    <a:srgbClr val="2B2A26"/>
                  </a:solidFill>
                  <a:latin typeface="Calibri"/>
                </a:rPr>
                <a:t> · Anthropic Batch API</a:t>
              </a:r>
            </a:p>
            <a:p>
              <a:pPr>
                <a:spcBef>
                  <a:spcPts val="400"/>
                </a:spcBef>
              </a:pPr>
              <a:r>
                <a:rPr b="1" i="0" dirty="0">
                  <a:solidFill>
                    <a:srgbClr val="5B8C5A"/>
                  </a:solidFill>
                  <a:latin typeface="Calibri"/>
                </a:rPr>
                <a:t>● </a:t>
              </a:r>
              <a:r>
                <a:rPr b="1" i="0" dirty="0">
                  <a:solidFill>
                    <a:srgbClr val="2B2A26"/>
                  </a:solidFill>
                  <a:latin typeface="Calibri"/>
                </a:rPr>
                <a:t>~$4.50</a:t>
              </a:r>
              <a:r>
                <a:rPr b="0" i="0" dirty="0">
                  <a:solidFill>
                    <a:srgbClr val="2B2A26"/>
                  </a:solidFill>
                  <a:latin typeface="Calibri"/>
                </a:rPr>
                <a:t> for the batch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8006528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MODEL CHOICE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100" b="1" i="0" dirty="0">
                <a:solidFill>
                  <a:srgbClr val="1B334A"/>
                </a:solidFill>
                <a:latin typeface="Georgia"/>
              </a:rPr>
              <a:t>Why Haiku 4.5: same job, a </a:t>
            </a:r>
            <a:r>
              <a:rPr sz="3600" b="1" i="0" dirty="0">
                <a:solidFill>
                  <a:srgbClr val="1B334A"/>
                </a:solidFill>
                <a:latin typeface="Georgia"/>
              </a:rPr>
              <a:t>fraction</a:t>
            </a:r>
            <a:r>
              <a:rPr sz="3100" b="1" i="0" dirty="0">
                <a:solidFill>
                  <a:srgbClr val="1B334A"/>
                </a:solidFill>
                <a:latin typeface="Georgia"/>
              </a:rPr>
              <a:t> of the cost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1965960"/>
          <a:ext cx="6766560" cy="39319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635240" y="2011680"/>
            <a:ext cx="3931920" cy="379476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635240" y="2011680"/>
            <a:ext cx="82296" cy="3794760"/>
          </a:xfrm>
          <a:prstGeom prst="rect">
            <a:avLst/>
          </a:prstGeom>
          <a:solidFill>
            <a:srgbClr val="5B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891272" y="2157984"/>
            <a:ext cx="3511296" cy="1831271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1B334A"/>
                </a:solidFill>
                <a:latin typeface="Georgia"/>
              </a:rPr>
              <a:t>The pilot's verdict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5B8C5A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2.4×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cheaper than Sonnet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5B8C5A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12×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cheaper than Opus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5B8C5A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On the verified task, bigger models gave no measurable extra quality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5B8C5A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$5.60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total LLM cost of the project</a:t>
            </a:r>
          </a:p>
        </p:txBody>
      </p:sp>
    </p:spTree>
    <p:extLst>
      <p:ext uri="{BB962C8B-B14F-4D97-AF65-F5344CB8AC3E}">
        <p14:creationId xmlns:p14="http://schemas.microsoft.com/office/powerpoint/2010/main" val="252516063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STAGE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600" b="1" i="0" dirty="0">
                <a:solidFill>
                  <a:srgbClr val="1B334A"/>
                </a:solidFill>
                <a:latin typeface="Georgia"/>
              </a:rPr>
              <a:t>Manual salvage: cleaning ≠ throwing away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fig_salv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401223"/>
            <a:ext cx="6766560" cy="306139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635240" y="2011680"/>
            <a:ext cx="3931920" cy="3749039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635240" y="2011680"/>
            <a:ext cx="82296" cy="3749039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891272" y="2157984"/>
            <a:ext cx="3511296" cy="231345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000" b="1" i="0" dirty="0">
                <a:solidFill>
                  <a:srgbClr val="1B334A"/>
                </a:solidFill>
                <a:latin typeface="Georgia"/>
              </a:rPr>
              <a:t>Hand-curation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291/362 NON_DESCRITTO had a vocabulary lemma → LLM too cautious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178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captions salvaged by hand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«</a:t>
            </a:r>
            <a:r>
              <a:rPr sz="1600" b="1" i="0" dirty="0" err="1">
                <a:solidFill>
                  <a:srgbClr val="2B2A26"/>
                </a:solidFill>
                <a:latin typeface="Calibri"/>
              </a:rPr>
              <a:t>marcio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, </a:t>
            </a:r>
            <a:r>
              <a:rPr sz="1600" b="1" i="0" dirty="0" err="1">
                <a:solidFill>
                  <a:srgbClr val="2B2A26"/>
                </a:solidFill>
                <a:latin typeface="Calibri"/>
              </a:rPr>
              <a:t>putrido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,»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→ «Smell of rot and putridity.»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362 → 184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unique NON_DESCRITTO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+916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training rows recovered</a:t>
            </a:r>
          </a:p>
        </p:txBody>
      </p:sp>
    </p:spTree>
    <p:extLst>
      <p:ext uri="{BB962C8B-B14F-4D97-AF65-F5344CB8AC3E}">
        <p14:creationId xmlns:p14="http://schemas.microsoft.com/office/powerpoint/2010/main" val="68487098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lang="en-US" sz="950" b="0" i="1" noProof="0" dirty="0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lang="en-US" sz="1100" b="1" i="0" noProof="0" dirty="0">
                <a:solidFill>
                  <a:srgbClr val="E0A458"/>
                </a:solidFill>
                <a:latin typeface="Calibri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lang="en-US" sz="1250" b="1" i="0" spc="220" noProof="0" dirty="0">
                <a:solidFill>
                  <a:srgbClr val="C88836"/>
                </a:solidFill>
                <a:latin typeface="Calibri"/>
              </a:rPr>
              <a:t>STAGE 10 · THE DELIVERABLE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lang="en-US" sz="3600" b="1" i="0" noProof="0" dirty="0">
                <a:solidFill>
                  <a:srgbClr val="1B334A"/>
                </a:solidFill>
                <a:latin typeface="Georgia"/>
              </a:rPr>
              <a:t>The final dataset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pic>
        <p:nvPicPr>
          <p:cNvPr id="8" name="Picture 7" descr="fig_final_row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087814"/>
            <a:ext cx="6126480" cy="2865252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40080" y="5257800"/>
            <a:ext cx="1965960" cy="86868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" name="TextBox 9"/>
          <p:cNvSpPr txBox="1"/>
          <p:nvPr/>
        </p:nvSpPr>
        <p:spPr>
          <a:xfrm>
            <a:off x="640080" y="5409789"/>
            <a:ext cx="1965960" cy="610424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lang="en-US" sz="2400" b="1" i="0" noProof="0" dirty="0">
                <a:solidFill>
                  <a:srgbClr val="2C5F8A"/>
                </a:solidFill>
                <a:latin typeface="Georgia"/>
              </a:rPr>
              <a:t>38,437</a:t>
            </a:r>
          </a:p>
          <a:p>
            <a:pPr algn="ctr"/>
            <a:r>
              <a:rPr lang="en-US" sz="1400" b="0" i="0" noProof="0" dirty="0">
                <a:solidFill>
                  <a:srgbClr val="2B2A26"/>
                </a:solidFill>
                <a:latin typeface="Calibri"/>
              </a:rPr>
              <a:t>final rows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43200" y="5257800"/>
            <a:ext cx="1965960" cy="86868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2" name="TextBox 11"/>
          <p:cNvSpPr txBox="1"/>
          <p:nvPr/>
        </p:nvSpPr>
        <p:spPr>
          <a:xfrm>
            <a:off x="2743200" y="5409789"/>
            <a:ext cx="1965960" cy="610424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lang="en-US" sz="2400" b="1" i="0" noProof="0" dirty="0">
                <a:solidFill>
                  <a:srgbClr val="C88836"/>
                </a:solidFill>
                <a:latin typeface="Georgia"/>
              </a:rPr>
              <a:t>1,497</a:t>
            </a:r>
          </a:p>
          <a:p>
            <a:pPr algn="ctr"/>
            <a:r>
              <a:rPr lang="en-US" sz="1400" b="0" i="0" noProof="0" dirty="0">
                <a:solidFill>
                  <a:srgbClr val="2B2A26"/>
                </a:solidFill>
                <a:latin typeface="Calibri"/>
              </a:rPr>
              <a:t>unique images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46320" y="5257800"/>
            <a:ext cx="1965960" cy="86868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4" name="TextBox 13"/>
          <p:cNvSpPr txBox="1"/>
          <p:nvPr/>
        </p:nvSpPr>
        <p:spPr>
          <a:xfrm>
            <a:off x="4846320" y="5409789"/>
            <a:ext cx="1965960" cy="610424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lang="en-US" sz="2400" b="1" i="0" noProof="0" dirty="0">
                <a:solidFill>
                  <a:srgbClr val="5B8C5A"/>
                </a:solidFill>
                <a:latin typeface="Georgia"/>
              </a:rPr>
              <a:t>2</a:t>
            </a:r>
          </a:p>
          <a:p>
            <a:pPr algn="ctr"/>
            <a:r>
              <a:rPr lang="en-US" sz="1400" b="0" i="0" noProof="0" dirty="0">
                <a:solidFill>
                  <a:srgbClr val="2B2A26"/>
                </a:solidFill>
                <a:latin typeface="Calibri"/>
              </a:rPr>
              <a:t>caption forms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49440" y="1920240"/>
            <a:ext cx="4617720" cy="420624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Rectangle 15"/>
          <p:cNvSpPr/>
          <p:nvPr/>
        </p:nvSpPr>
        <p:spPr>
          <a:xfrm>
            <a:off x="6949440" y="1920240"/>
            <a:ext cx="82296" cy="4206240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7" name="TextBox 16"/>
          <p:cNvSpPr txBox="1"/>
          <p:nvPr/>
        </p:nvSpPr>
        <p:spPr>
          <a:xfrm>
            <a:off x="7205472" y="2066544"/>
            <a:ext cx="4197096" cy="291874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lang="en-US" sz="2400" b="1" i="0" noProof="0" dirty="0">
                <a:solidFill>
                  <a:srgbClr val="1B334A"/>
                </a:solidFill>
                <a:latin typeface="Georgia"/>
              </a:rPr>
              <a:t>Delivered schema</a:t>
            </a:r>
          </a:p>
          <a:p>
            <a:pPr>
              <a:spcBef>
                <a:spcPts val="400"/>
              </a:spcBef>
            </a:pPr>
            <a:r>
              <a:rPr lang="en-US" sz="1000" b="1" i="0" noProof="0" dirty="0">
                <a:solidFill>
                  <a:srgbClr val="2C5F8A"/>
                </a:solidFill>
                <a:latin typeface="Calibri"/>
              </a:rPr>
              <a:t>● </a:t>
            </a:r>
            <a:r>
              <a:rPr lang="en-US" sz="1600" b="1" i="0" noProof="0" dirty="0">
                <a:solidFill>
                  <a:srgbClr val="2B2A26"/>
                </a:solidFill>
                <a:latin typeface="Calibri"/>
              </a:rPr>
              <a:t>captions_final.csv</a:t>
            </a:r>
            <a:r>
              <a:rPr lang="en-US" sz="1600" b="0" i="0" noProof="0" dirty="0">
                <a:solidFill>
                  <a:srgbClr val="2B2A26"/>
                </a:solidFill>
                <a:latin typeface="Calibri"/>
              </a:rPr>
              <a:t> — 38,437 × 18 col. (provenance)</a:t>
            </a:r>
          </a:p>
          <a:p>
            <a:pPr>
              <a:spcBef>
                <a:spcPts val="400"/>
              </a:spcBef>
            </a:pPr>
            <a:r>
              <a:rPr lang="en-US" sz="1600" b="1" i="0" noProof="0" dirty="0">
                <a:solidFill>
                  <a:srgbClr val="2C5F8A"/>
                </a:solidFill>
                <a:latin typeface="Calibri"/>
              </a:rPr>
              <a:t>● </a:t>
            </a:r>
            <a:r>
              <a:rPr lang="en-US" sz="1600" b="1" i="0" noProof="0" dirty="0">
                <a:solidFill>
                  <a:srgbClr val="2B2A26"/>
                </a:solidFill>
                <a:latin typeface="Calibri"/>
              </a:rPr>
              <a:t>image_caption_attribute.csv</a:t>
            </a:r>
            <a:r>
              <a:rPr lang="en-US" sz="1600" b="0" i="0" noProof="0" dirty="0">
                <a:solidFill>
                  <a:srgbClr val="2B2A26"/>
                </a:solidFill>
                <a:latin typeface="Calibri"/>
              </a:rPr>
              <a:t> — 4-column view</a:t>
            </a:r>
          </a:p>
          <a:p>
            <a:pPr>
              <a:spcBef>
                <a:spcPts val="400"/>
              </a:spcBef>
            </a:pPr>
            <a:r>
              <a:rPr lang="en-US" sz="1600" b="1" i="0" noProof="0" dirty="0">
                <a:solidFill>
                  <a:srgbClr val="2C5F8A"/>
                </a:solidFill>
                <a:latin typeface="Calibri"/>
              </a:rPr>
              <a:t>● </a:t>
            </a:r>
            <a:r>
              <a:rPr lang="en-US" sz="1600" b="1" i="0" noProof="0" dirty="0" err="1">
                <a:solidFill>
                  <a:srgbClr val="2B2A26"/>
                </a:solidFill>
                <a:latin typeface="Calibri"/>
              </a:rPr>
              <a:t>by_attribute</a:t>
            </a:r>
            <a:r>
              <a:rPr lang="en-US" sz="1600" b="1" i="0" noProof="0" dirty="0">
                <a:solidFill>
                  <a:srgbClr val="2B2A26"/>
                </a:solidFill>
                <a:latin typeface="Calibri"/>
              </a:rPr>
              <a:t>/&lt;</a:t>
            </a:r>
            <a:r>
              <a:rPr lang="en-US" sz="1600" b="1" i="0" noProof="0" dirty="0" err="1">
                <a:solidFill>
                  <a:srgbClr val="2B2A26"/>
                </a:solidFill>
                <a:latin typeface="Calibri"/>
              </a:rPr>
              <a:t>Attr</a:t>
            </a:r>
            <a:r>
              <a:rPr lang="en-US" sz="1600" b="1" i="0" noProof="0" dirty="0">
                <a:solidFill>
                  <a:srgbClr val="2B2A26"/>
                </a:solidFill>
                <a:latin typeface="Calibri"/>
              </a:rPr>
              <a:t>&gt;.csv</a:t>
            </a:r>
            <a:r>
              <a:rPr lang="en-US" sz="1600" b="0" i="0" noProof="0" dirty="0">
                <a:solidFill>
                  <a:srgbClr val="2B2A26"/>
                </a:solidFill>
                <a:latin typeface="Calibri"/>
              </a:rPr>
              <a:t> — 7 per-attribute splits</a:t>
            </a:r>
          </a:p>
          <a:p>
            <a:pPr>
              <a:spcBef>
                <a:spcPts val="400"/>
              </a:spcBef>
            </a:pPr>
            <a:r>
              <a:rPr lang="en-US" sz="1600" b="1" i="0" noProof="0" dirty="0">
                <a:solidFill>
                  <a:srgbClr val="2C5F8A"/>
                </a:solidFill>
                <a:latin typeface="Calibri"/>
              </a:rPr>
              <a:t>● </a:t>
            </a:r>
            <a:r>
              <a:rPr lang="en-US" sz="1600" b="1" i="0" noProof="0" dirty="0">
                <a:solidFill>
                  <a:srgbClr val="2B2A26"/>
                </a:solidFill>
                <a:latin typeface="Calibri"/>
              </a:rPr>
              <a:t>caption</a:t>
            </a:r>
            <a:r>
              <a:rPr lang="en-US" sz="1600" b="0" i="0" noProof="0" dirty="0">
                <a:solidFill>
                  <a:srgbClr val="2B2A26"/>
                </a:solidFill>
                <a:latin typeface="Calibri"/>
              </a:rPr>
              <a:t> (compact, ~4–8 words)</a:t>
            </a:r>
          </a:p>
          <a:p>
            <a:pPr>
              <a:spcBef>
                <a:spcPts val="400"/>
              </a:spcBef>
            </a:pPr>
            <a:r>
              <a:rPr lang="en-US" sz="1600" b="1" i="0" noProof="0" dirty="0">
                <a:solidFill>
                  <a:srgbClr val="2C5F8A"/>
                </a:solidFill>
                <a:latin typeface="Calibri"/>
              </a:rPr>
              <a:t>● </a:t>
            </a:r>
            <a:r>
              <a:rPr lang="en-US" sz="1600" b="1" i="0" noProof="0" dirty="0" err="1">
                <a:solidFill>
                  <a:srgbClr val="2B2A26"/>
                </a:solidFill>
                <a:latin typeface="Calibri"/>
              </a:rPr>
              <a:t>caption_sentence</a:t>
            </a:r>
            <a:r>
              <a:rPr lang="en-US" sz="1600" b="0" i="0" noProof="0" dirty="0">
                <a:solidFill>
                  <a:srgbClr val="2B2A26"/>
                </a:solidFill>
                <a:latin typeface="Calibri"/>
              </a:rPr>
              <a:t> (Italian sentence, ~7–15 words)</a:t>
            </a:r>
          </a:p>
          <a:p>
            <a:pPr>
              <a:spcBef>
                <a:spcPts val="400"/>
              </a:spcBef>
            </a:pPr>
            <a:r>
              <a:rPr lang="en-US" sz="1600" b="1" i="0" noProof="0" dirty="0">
                <a:solidFill>
                  <a:srgbClr val="2C5F8A"/>
                </a:solidFill>
                <a:latin typeface="Calibri"/>
              </a:rPr>
              <a:t>● </a:t>
            </a:r>
            <a:r>
              <a:rPr lang="en-US" sz="1600" b="0" i="0" noProof="0" dirty="0">
                <a:solidFill>
                  <a:srgbClr val="2B2A26"/>
                </a:solidFill>
                <a:latin typeface="Calibri"/>
              </a:rPr>
              <a:t>Deterministic sentence form: 100% template, 0 extra LLM round-trips</a:t>
            </a:r>
          </a:p>
        </p:txBody>
      </p:sp>
    </p:spTree>
    <p:extLst>
      <p:ext uri="{BB962C8B-B14F-4D97-AF65-F5344CB8AC3E}">
        <p14:creationId xmlns:p14="http://schemas.microsoft.com/office/powerpoint/2010/main" val="363504331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33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9738360" y="4800600"/>
            <a:ext cx="640080" cy="640080"/>
          </a:xfrm>
          <a:prstGeom prst="ellipse">
            <a:avLst/>
          </a:prstGeom>
          <a:solidFill>
            <a:srgbClr val="E0A458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0540746" y="5310378"/>
            <a:ext cx="352044" cy="352044"/>
          </a:xfrm>
          <a:prstGeom prst="ellipse">
            <a:avLst/>
          </a:prstGeom>
          <a:solidFill>
            <a:srgbClr val="E0A458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9402319" y="5488685"/>
            <a:ext cx="288036" cy="288036"/>
          </a:xfrm>
          <a:prstGeom prst="ellipse">
            <a:avLst/>
          </a:prstGeom>
          <a:solidFill>
            <a:srgbClr val="E0A458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0264140" y="4375404"/>
            <a:ext cx="320040" cy="320040"/>
          </a:xfrm>
          <a:prstGeom prst="ellipse">
            <a:avLst/>
          </a:prstGeom>
          <a:solidFill>
            <a:srgbClr val="E0A458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9272016" y="4700016"/>
            <a:ext cx="256031" cy="256031"/>
          </a:xfrm>
          <a:prstGeom prst="ellipse">
            <a:avLst/>
          </a:prstGeom>
          <a:solidFill>
            <a:srgbClr val="E0A458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783080" y="1051560"/>
            <a:ext cx="457200" cy="457200"/>
          </a:xfrm>
          <a:prstGeom prst="ellipse">
            <a:avLst/>
          </a:prstGeom>
          <a:solidFill>
            <a:srgbClr val="E0A458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2544318" y="1520190"/>
            <a:ext cx="251460" cy="251460"/>
          </a:xfrm>
          <a:prstGeom prst="ellipse">
            <a:avLst/>
          </a:prstGeom>
          <a:solidFill>
            <a:srgbClr val="E0A458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1396747" y="1689353"/>
            <a:ext cx="205740" cy="205740"/>
          </a:xfrm>
          <a:prstGeom prst="ellipse">
            <a:avLst/>
          </a:prstGeom>
          <a:solidFill>
            <a:srgbClr val="E0A458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2263140" y="580644"/>
            <a:ext cx="228600" cy="228600"/>
          </a:xfrm>
          <a:prstGeom prst="ellipse">
            <a:avLst/>
          </a:prstGeom>
          <a:solidFill>
            <a:srgbClr val="E0A458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1261872" y="896112"/>
            <a:ext cx="182880" cy="182880"/>
          </a:xfrm>
          <a:prstGeom prst="ellipse">
            <a:avLst/>
          </a:prstGeom>
          <a:solidFill>
            <a:srgbClr val="E0A458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14400" y="2331720"/>
            <a:ext cx="10058400" cy="9144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000" b="1" i="0" spc="400">
                <a:solidFill>
                  <a:srgbClr val="E0A458"/>
                </a:solidFill>
                <a:latin typeface="Calibri"/>
              </a:rPr>
              <a:t>PART II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880360"/>
            <a:ext cx="10607040" cy="1463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4200" b="1" i="0" dirty="0">
                <a:solidFill>
                  <a:srgbClr val="F7F1E3"/>
                </a:solidFill>
                <a:latin typeface="Georgia"/>
              </a:rPr>
              <a:t>Model selection and training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4114800"/>
            <a:ext cx="2194560" cy="508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14400" y="4389120"/>
            <a:ext cx="9875520" cy="7315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700" b="0" i="1">
                <a:solidFill>
                  <a:srgbClr val="D9D2C2"/>
                </a:solidFill>
                <a:latin typeface="Calibri"/>
              </a:rPr>
              <a:t>Three encoder–decoder methods, one determinant: the visual encoder</a:t>
            </a:r>
          </a:p>
        </p:txBody>
      </p:sp>
    </p:spTree>
    <p:extLst>
      <p:ext uri="{BB962C8B-B14F-4D97-AF65-F5344CB8AC3E}">
        <p14:creationId xmlns:p14="http://schemas.microsoft.com/office/powerpoint/2010/main" val="423288774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THE ARCHITECTURES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600" b="1" i="0" dirty="0">
                <a:solidFill>
                  <a:srgbClr val="1B334A"/>
                </a:solidFill>
                <a:latin typeface="Georgia"/>
              </a:rPr>
              <a:t>Three methods, two axes of variation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" y="2148840"/>
            <a:ext cx="3291840" cy="456535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2800" b="1" i="0">
                <a:solidFill>
                  <a:srgbClr val="E07A5F"/>
                </a:solidFill>
                <a:latin typeface="Georgia"/>
              </a:rPr>
              <a:t>m1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2651760"/>
            <a:ext cx="3291840" cy="105156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0" name="Rectangle 9"/>
          <p:cNvSpPr/>
          <p:nvPr/>
        </p:nvSpPr>
        <p:spPr>
          <a:xfrm>
            <a:off x="868680" y="2651760"/>
            <a:ext cx="3291840" cy="91440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1" name="TextBox 10"/>
          <p:cNvSpPr txBox="1"/>
          <p:nvPr/>
        </p:nvSpPr>
        <p:spPr>
          <a:xfrm>
            <a:off x="1005840" y="2833856"/>
            <a:ext cx="3017520" cy="68736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00" b="1" i="0" spc="150">
                <a:solidFill>
                  <a:srgbClr val="2C5F8A"/>
                </a:solidFill>
                <a:latin typeface="Calibri"/>
              </a:rPr>
              <a:t>ENCODER</a:t>
            </a:r>
          </a:p>
          <a:p>
            <a:pPr algn="ctr"/>
            <a:r>
              <a:rPr sz="1600" b="1" i="0">
                <a:solidFill>
                  <a:srgbClr val="1B334A"/>
                </a:solidFill>
                <a:latin typeface="Calibri"/>
              </a:rPr>
              <a:t>ResNet-50</a:t>
            </a:r>
          </a:p>
          <a:p>
            <a:pPr algn="ctr"/>
            <a:r>
              <a:rPr sz="1600" b="1" i="0">
                <a:solidFill>
                  <a:srgbClr val="1B334A"/>
                </a:solidFill>
                <a:latin typeface="Calibri"/>
              </a:rPr>
              <a:t>(CNN, frozen)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0" y="3749040"/>
            <a:ext cx="0" cy="274319"/>
          </a:xfrm>
          <a:prstGeom prst="bentConnector3">
            <a:avLst/>
          </a:prstGeom>
          <a:ln w="25400">
            <a:solidFill>
              <a:srgbClr val="8A8A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68680" y="4069080"/>
            <a:ext cx="3291840" cy="105156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4" name="Rectangle 13"/>
          <p:cNvSpPr/>
          <p:nvPr/>
        </p:nvSpPr>
        <p:spPr>
          <a:xfrm>
            <a:off x="868680" y="4069080"/>
            <a:ext cx="3291840" cy="9144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5" name="TextBox 14"/>
          <p:cNvSpPr txBox="1"/>
          <p:nvPr/>
        </p:nvSpPr>
        <p:spPr>
          <a:xfrm>
            <a:off x="1005840" y="4251176"/>
            <a:ext cx="3017520" cy="68736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00" b="1" i="0" spc="150">
                <a:solidFill>
                  <a:srgbClr val="C88836"/>
                </a:solidFill>
                <a:latin typeface="Calibri"/>
              </a:rPr>
              <a:t>DECODER</a:t>
            </a:r>
          </a:p>
          <a:p>
            <a:pPr algn="ctr"/>
            <a:r>
              <a:rPr sz="1600" b="1" i="0">
                <a:solidFill>
                  <a:srgbClr val="1B334A"/>
                </a:solidFill>
                <a:latin typeface="Calibri"/>
              </a:rPr>
              <a:t>LSTM</a:t>
            </a:r>
          </a:p>
          <a:p>
            <a:pPr algn="ctr"/>
            <a:r>
              <a:rPr sz="1600" b="1" i="0">
                <a:solidFill>
                  <a:srgbClr val="1B334A"/>
                </a:solidFill>
                <a:latin typeface="Calibri"/>
              </a:rPr>
              <a:t>from scratch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2148840"/>
            <a:ext cx="3291840" cy="456535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2800" b="1" i="0">
                <a:solidFill>
                  <a:srgbClr val="3D7068"/>
                </a:solidFill>
                <a:latin typeface="Georgia"/>
              </a:rPr>
              <a:t>m3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663440" y="2651760"/>
            <a:ext cx="3291840" cy="105156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8" name="Rectangle 17"/>
          <p:cNvSpPr/>
          <p:nvPr/>
        </p:nvSpPr>
        <p:spPr>
          <a:xfrm>
            <a:off x="4663440" y="2651760"/>
            <a:ext cx="3291840" cy="91440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9" name="TextBox 18"/>
          <p:cNvSpPr txBox="1"/>
          <p:nvPr/>
        </p:nvSpPr>
        <p:spPr>
          <a:xfrm>
            <a:off x="4800600" y="2833856"/>
            <a:ext cx="3017520" cy="68736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00" b="1" i="0" spc="150">
                <a:solidFill>
                  <a:srgbClr val="2C5F8A"/>
                </a:solidFill>
                <a:latin typeface="Calibri"/>
              </a:rPr>
              <a:t>ENCODER</a:t>
            </a:r>
          </a:p>
          <a:p>
            <a:pPr algn="ctr"/>
            <a:r>
              <a:rPr sz="1600" b="1" i="0">
                <a:solidFill>
                  <a:srgbClr val="1B334A"/>
                </a:solidFill>
                <a:latin typeface="Calibri"/>
              </a:rPr>
              <a:t>ViT-B/16</a:t>
            </a:r>
          </a:p>
          <a:p>
            <a:pPr algn="ctr"/>
            <a:r>
              <a:rPr sz="1600" b="1" i="0">
                <a:solidFill>
                  <a:srgbClr val="1B334A"/>
                </a:solidFill>
                <a:latin typeface="Calibri"/>
              </a:rPr>
              <a:t>(frozen)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0" y="3749040"/>
            <a:ext cx="0" cy="274319"/>
          </a:xfrm>
          <a:prstGeom prst="bentConnector3">
            <a:avLst/>
          </a:prstGeom>
          <a:ln w="25400">
            <a:solidFill>
              <a:srgbClr val="8A8A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4663440" y="4069080"/>
            <a:ext cx="3291840" cy="105156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2" name="Rectangle 21"/>
          <p:cNvSpPr/>
          <p:nvPr/>
        </p:nvSpPr>
        <p:spPr>
          <a:xfrm>
            <a:off x="4663440" y="4069080"/>
            <a:ext cx="3291840" cy="9144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3" name="TextBox 22"/>
          <p:cNvSpPr txBox="1"/>
          <p:nvPr/>
        </p:nvSpPr>
        <p:spPr>
          <a:xfrm>
            <a:off x="4800600" y="4251176"/>
            <a:ext cx="3017520" cy="68736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00" b="1" i="0" spc="150">
                <a:solidFill>
                  <a:srgbClr val="C88836"/>
                </a:solidFill>
                <a:latin typeface="Calibri"/>
              </a:rPr>
              <a:t>DECODER</a:t>
            </a:r>
          </a:p>
          <a:p>
            <a:pPr algn="ctr"/>
            <a:r>
              <a:rPr sz="1600" b="1" i="0">
                <a:solidFill>
                  <a:srgbClr val="1B334A"/>
                </a:solidFill>
                <a:latin typeface="Calibri"/>
              </a:rPr>
              <a:t>Transformer</a:t>
            </a:r>
          </a:p>
          <a:p>
            <a:pPr algn="ctr"/>
            <a:r>
              <a:rPr sz="1600" b="1" i="0">
                <a:solidFill>
                  <a:srgbClr val="1B334A"/>
                </a:solidFill>
                <a:latin typeface="Calibri"/>
              </a:rPr>
              <a:t>from scratch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58200" y="2148840"/>
            <a:ext cx="3291840" cy="456535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2800" b="1" i="0" dirty="0">
                <a:solidFill>
                  <a:srgbClr val="8A5082"/>
                </a:solidFill>
                <a:latin typeface="Georgia"/>
              </a:rPr>
              <a:t>m6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458200" y="2651760"/>
            <a:ext cx="3291840" cy="105156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6" name="Rectangle 25"/>
          <p:cNvSpPr/>
          <p:nvPr/>
        </p:nvSpPr>
        <p:spPr>
          <a:xfrm>
            <a:off x="8458200" y="2651760"/>
            <a:ext cx="3291840" cy="91440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7" name="TextBox 26"/>
          <p:cNvSpPr txBox="1"/>
          <p:nvPr/>
        </p:nvSpPr>
        <p:spPr>
          <a:xfrm>
            <a:off x="8595360" y="2833856"/>
            <a:ext cx="3017520" cy="68736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00" b="1" i="0" spc="150">
                <a:solidFill>
                  <a:srgbClr val="2C5F8A"/>
                </a:solidFill>
                <a:latin typeface="Calibri"/>
              </a:rPr>
              <a:t>ENCODER</a:t>
            </a:r>
          </a:p>
          <a:p>
            <a:pPr algn="ctr"/>
            <a:r>
              <a:rPr sz="1600" b="1" i="0">
                <a:solidFill>
                  <a:srgbClr val="1B334A"/>
                </a:solidFill>
                <a:latin typeface="Calibri"/>
              </a:rPr>
              <a:t>ViT-B/16</a:t>
            </a:r>
          </a:p>
          <a:p>
            <a:pPr algn="ctr"/>
            <a:r>
              <a:rPr sz="1600" b="1" i="0">
                <a:solidFill>
                  <a:srgbClr val="1B334A"/>
                </a:solidFill>
                <a:latin typeface="Calibri"/>
              </a:rPr>
              <a:t>(frozen)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0" y="3749040"/>
            <a:ext cx="0" cy="274319"/>
          </a:xfrm>
          <a:prstGeom prst="bentConnector3">
            <a:avLst/>
          </a:prstGeom>
          <a:ln w="25400">
            <a:solidFill>
              <a:srgbClr val="8A8A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8458200" y="4069080"/>
            <a:ext cx="3291840" cy="105156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30" name="Rectangle 29"/>
          <p:cNvSpPr/>
          <p:nvPr/>
        </p:nvSpPr>
        <p:spPr>
          <a:xfrm>
            <a:off x="8458200" y="4069080"/>
            <a:ext cx="3291840" cy="9144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31" name="TextBox 30"/>
          <p:cNvSpPr txBox="1"/>
          <p:nvPr/>
        </p:nvSpPr>
        <p:spPr>
          <a:xfrm>
            <a:off x="8595360" y="4251176"/>
            <a:ext cx="3017520" cy="68736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00" b="1" i="0" spc="150">
                <a:solidFill>
                  <a:srgbClr val="C88836"/>
                </a:solidFill>
                <a:latin typeface="Calibri"/>
              </a:rPr>
              <a:t>DECODER</a:t>
            </a:r>
          </a:p>
          <a:p>
            <a:pPr algn="ctr"/>
            <a:r>
              <a:rPr sz="1600" b="1" i="0">
                <a:solidFill>
                  <a:srgbClr val="1B334A"/>
                </a:solidFill>
                <a:latin typeface="Calibri"/>
              </a:rPr>
              <a:t>GePpeTto</a:t>
            </a:r>
          </a:p>
          <a:p>
            <a:pPr algn="ctr"/>
            <a:r>
              <a:rPr sz="1600" b="1" i="0">
                <a:solidFill>
                  <a:srgbClr val="1B334A"/>
                </a:solidFill>
                <a:latin typeface="Calibri"/>
              </a:rPr>
              <a:t>pretrained Italian GPT-2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" y="5303520"/>
            <a:ext cx="7406640" cy="271869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1600" b="1" i="0">
                <a:solidFill>
                  <a:srgbClr val="C1492E"/>
                </a:solidFill>
                <a:latin typeface="Calibri"/>
              </a:rPr>
              <a:t>↔ m1 vs m3 isolates the ENCODER        ↔ m3 vs m6 isolates the DECODER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8680" y="5715000"/>
            <a:ext cx="10515600" cy="271869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1600" b="0" i="1">
                <a:solidFill>
                  <a:srgbClr val="2B2A26"/>
                </a:solidFill>
                <a:latin typeface="Calibri"/>
              </a:rPr>
              <a:t>All encoders are frozen: only decoder and cross-attention projection are trained → fair comparison.</a:t>
            </a:r>
          </a:p>
        </p:txBody>
      </p:sp>
    </p:spTree>
    <p:extLst>
      <p:ext uri="{BB962C8B-B14F-4D97-AF65-F5344CB8AC3E}">
        <p14:creationId xmlns:p14="http://schemas.microsoft.com/office/powerpoint/2010/main" val="20597774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EXPERIMENTAL SETUP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9144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100" b="1" i="0">
                <a:solidFill>
                  <a:srgbClr val="1B334A"/>
                </a:solidFill>
                <a:latin typeface="Georgia"/>
              </a:rPr>
              <a:t>Training on Kaggle, fair comparison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19242234"/>
              </p:ext>
            </p:extLst>
          </p:nvPr>
        </p:nvGraphicFramePr>
        <p:xfrm>
          <a:off x="640080" y="1920240"/>
          <a:ext cx="10881361" cy="38334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304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3175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3175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7493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1811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3175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958362">
                <a:tc>
                  <a:txBody>
                    <a:bodyPr/>
                    <a:lstStyle/>
                    <a:p>
                      <a:r>
                        <a:rPr sz="1600" b="1" i="0" dirty="0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marL="76200" anchor="ctr">
                    <a:solidFill>
                      <a:srgbClr val="1B33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epochs</a:t>
                      </a:r>
                    </a:p>
                  </a:txBody>
                  <a:tcPr marL="76200" anchor="ctr">
                    <a:solidFill>
                      <a:srgbClr val="1B33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batch</a:t>
                      </a:r>
                    </a:p>
                  </a:txBody>
                  <a:tcPr marL="76200" anchor="ctr">
                    <a:solidFill>
                      <a:srgbClr val="1B33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lr</a:t>
                      </a:r>
                    </a:p>
                  </a:txBody>
                  <a:tcPr marL="76200" anchor="ctr">
                    <a:solidFill>
                      <a:srgbClr val="1B33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scheduler</a:t>
                      </a:r>
                    </a:p>
                  </a:txBody>
                  <a:tcPr marL="76200" anchor="ctr">
                    <a:solidFill>
                      <a:srgbClr val="1B33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 dirty="0">
                          <a:solidFill>
                            <a:srgbClr val="FFFFFF"/>
                          </a:solidFill>
                          <a:latin typeface="Calibri"/>
                        </a:rPr>
                        <a:t>patience</a:t>
                      </a:r>
                    </a:p>
                  </a:txBody>
                  <a:tcPr marL="76200" anchor="ctr">
                    <a:solidFill>
                      <a:srgbClr val="1B33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58362"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2B2A26"/>
                          </a:solidFill>
                          <a:latin typeface="Calibri"/>
                        </a:rPr>
                        <a:t>m1 · CNN+LSTM</a:t>
                      </a:r>
                    </a:p>
                  </a:txBody>
                  <a:tcPr marL="762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 marL="762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32</a:t>
                      </a:r>
                    </a:p>
                  </a:txBody>
                  <a:tcPr marL="762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3e-4</a:t>
                      </a:r>
                    </a:p>
                  </a:txBody>
                  <a:tcPr marL="762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StepLR</a:t>
                      </a:r>
                    </a:p>
                  </a:txBody>
                  <a:tcPr marL="762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76200" anchor="ctr">
                    <a:solidFill>
                      <a:srgbClr val="FBF7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58362"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2B2A26"/>
                          </a:solidFill>
                          <a:latin typeface="Calibri"/>
                        </a:rPr>
                        <a:t>m3 · ViT+Transf.</a:t>
                      </a:r>
                    </a:p>
                  </a:txBody>
                  <a:tcPr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1e-4</a:t>
                      </a:r>
                    </a:p>
                  </a:txBody>
                  <a:tcPr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cosine</a:t>
                      </a:r>
                    </a:p>
                  </a:txBody>
                  <a:tcPr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62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58362"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2B2A26"/>
                          </a:solidFill>
                          <a:latin typeface="Calibri"/>
                        </a:rPr>
                        <a:t>m6 · ViT+GePpeTto</a:t>
                      </a:r>
                    </a:p>
                  </a:txBody>
                  <a:tcPr marL="762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762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762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5e-5</a:t>
                      </a:r>
                    </a:p>
                  </a:txBody>
                  <a:tcPr marL="762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cosine</a:t>
                      </a:r>
                    </a:p>
                  </a:txBody>
                  <a:tcPr marL="762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 dirty="0">
                          <a:solidFill>
                            <a:srgbClr val="2B2A26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6200" anchor="ctr">
                    <a:solidFill>
                      <a:srgbClr val="FBF7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9387906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RESULTS · PER-ATTRIBUTE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1328144" cy="518091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200" b="1" i="0" dirty="0">
                <a:solidFill>
                  <a:srgbClr val="1B334A"/>
                </a:solidFill>
                <a:latin typeface="Georgia"/>
              </a:rPr>
              <a:t>BLEU-4: models win where captions are diverse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fig_bleu_att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154228"/>
            <a:ext cx="7406640" cy="355538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229600" y="2011680"/>
            <a:ext cx="3337560" cy="3749039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229600" y="2011680"/>
            <a:ext cx="82296" cy="3749039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485632" y="2157984"/>
            <a:ext cx="2916936" cy="281615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1B334A"/>
                </a:solidFill>
                <a:latin typeface="Georgia"/>
              </a:rPr>
              <a:t>Reading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2C5F8A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Win: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Struttura (+0.128), Profumo, Texture, Colore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2C5F8A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Tie/lose: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Aroma, Sapore, Spessore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2C5F8A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Not from weakness: BLEU rewards the modal predictor on low-diversity captions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2C5F8A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4 / 7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attributes beat the constant baseline</a:t>
            </a:r>
          </a:p>
        </p:txBody>
      </p:sp>
    </p:spTree>
    <p:extLst>
      <p:ext uri="{BB962C8B-B14F-4D97-AF65-F5344CB8AC3E}">
        <p14:creationId xmlns:p14="http://schemas.microsoft.com/office/powerpoint/2010/main" val="367033839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RESULTS · GLOBAL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9144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100" b="1" i="0">
                <a:solidFill>
                  <a:srgbClr val="1B334A"/>
                </a:solidFill>
                <a:latin typeface="Georgia"/>
              </a:rPr>
              <a:t>A single model across all attributes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1920240"/>
          <a:ext cx="7589520" cy="40233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8366760" y="2011680"/>
            <a:ext cx="3200400" cy="3749039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366760" y="2011680"/>
            <a:ext cx="82296" cy="3749039"/>
          </a:xfrm>
          <a:prstGeom prst="rect">
            <a:avLst/>
          </a:prstGeom>
          <a:solidFill>
            <a:srgbClr val="8A5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622792" y="2157984"/>
            <a:ext cx="2779776" cy="293926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1B334A"/>
                </a:solidFill>
                <a:latin typeface="Georgia"/>
              </a:rPr>
              <a:t>m6 wins narrowly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8A5082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m6 first on BLEU-1/4, ROUGE-L, METEOR≈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8A5082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m3 first on </a:t>
            </a:r>
            <a:r>
              <a:rPr sz="1600" b="0" i="0" dirty="0" err="1">
                <a:solidFill>
                  <a:srgbClr val="2B2A26"/>
                </a:solidFill>
                <a:latin typeface="Calibri"/>
              </a:rPr>
              <a:t>CIDEr</a:t>
            </a:r>
            <a:endParaRPr sz="1600" b="0" i="0" dirty="0">
              <a:solidFill>
                <a:srgbClr val="2B2A26"/>
              </a:solidFill>
              <a:latin typeface="Calibri"/>
            </a:endParaRP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8A5082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0.007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BLEU-4 spread: a very tight cluster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8A5082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⚠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2B2A26"/>
                </a:solidFill>
                <a:latin typeface="Calibri"/>
              </a:rPr>
              <a:t>most_frequent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has the highest BLEU-1 but worst BLEU-4: degenerate</a:t>
            </a:r>
          </a:p>
        </p:txBody>
      </p:sp>
    </p:spTree>
    <p:extLst>
      <p:ext uri="{BB962C8B-B14F-4D97-AF65-F5344CB8AC3E}">
        <p14:creationId xmlns:p14="http://schemas.microsoft.com/office/powerpoint/2010/main" val="364815718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MIND THE INTERPRETATION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600" b="1" i="0" dirty="0">
                <a:solidFill>
                  <a:srgbClr val="1B334A"/>
                </a:solidFill>
                <a:latin typeface="Georgia"/>
              </a:rPr>
              <a:t>Per-attribute vs global: two different rulers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fig_perattr_vs_glob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315245"/>
            <a:ext cx="6949440" cy="323335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772400" y="2011680"/>
            <a:ext cx="3794760" cy="3749039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772400" y="2011680"/>
            <a:ext cx="82296" cy="3749039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028432" y="2157984"/>
            <a:ext cx="3374136" cy="286745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1B334A"/>
                </a:solidFill>
                <a:latin typeface="Georgia"/>
              </a:rPr>
              <a:t>Why the 3–4× jump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Does NOT mean per-attribute models learn better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Per-attribute evaluation runs on a narrower distribution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~80</a:t>
            </a:r>
            <a:r>
              <a:rPr lang="it-IT" sz="1600" b="1" i="0" dirty="0">
                <a:solidFill>
                  <a:srgbClr val="2B2A26"/>
                </a:solidFill>
                <a:latin typeface="Calibri"/>
              </a:rPr>
              <a:t>-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140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vocabulary words vs ~600+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Shared scaffolding: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~5 words of constant 4-gram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→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they measure performance on different distributions</a:t>
            </a:r>
          </a:p>
        </p:txBody>
      </p:sp>
    </p:spTree>
    <p:extLst>
      <p:ext uri="{BB962C8B-B14F-4D97-AF65-F5344CB8AC3E}">
        <p14:creationId xmlns:p14="http://schemas.microsoft.com/office/powerpoint/2010/main" val="404536896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 dirty="0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THE KEY RESULT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518091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200" b="1" i="0" dirty="0">
                <a:solidFill>
                  <a:srgbClr val="1B334A"/>
                </a:solidFill>
                <a:latin typeface="Georgia"/>
              </a:rPr>
              <a:t>The shuffle test: does the model use the image?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fig_shuff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7152" y="1920240"/>
            <a:ext cx="4806495" cy="402336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989320" y="1920240"/>
            <a:ext cx="5577840" cy="1874519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989320" y="1920240"/>
            <a:ext cx="82296" cy="1874519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245352" y="2066544"/>
            <a:ext cx="5157216" cy="1379865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1B334A"/>
                </a:solidFill>
                <a:latin typeface="Georgia"/>
              </a:rPr>
              <a:t>How it works</a:t>
            </a:r>
          </a:p>
          <a:p>
            <a:r>
              <a:rPr sz="1600" b="0" i="0" dirty="0">
                <a:solidFill>
                  <a:srgbClr val="2B2A26"/>
                </a:solidFill>
                <a:latin typeface="Calibri"/>
              </a:rPr>
              <a:t>Predictions are shuffled across test rows, breaking the prediction</a:t>
            </a:r>
            <a:r>
              <a:rPr lang="it-IT" sz="1600" b="0" i="0" dirty="0">
                <a:solidFill>
                  <a:srgbClr val="2B2A26"/>
                </a:solidFill>
                <a:latin typeface="Calibri"/>
              </a:rPr>
              <a:t>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↔</a:t>
            </a:r>
            <a:r>
              <a:rPr lang="it-IT" sz="1600" b="0" i="0" dirty="0">
                <a:solidFill>
                  <a:srgbClr val="2B2A26"/>
                </a:solidFill>
                <a:latin typeface="Calibri"/>
              </a:rPr>
              <a:t>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image alignment. </a:t>
            </a:r>
            <a:endParaRPr lang="it-IT" sz="1600" b="0" i="0" dirty="0">
              <a:solidFill>
                <a:srgbClr val="2B2A26"/>
              </a:solidFill>
              <a:latin typeface="Calibri"/>
            </a:endParaRPr>
          </a:p>
          <a:p>
            <a:r>
              <a:rPr sz="1600" b="0" i="0" dirty="0">
                <a:solidFill>
                  <a:srgbClr val="2B2A26"/>
                </a:solidFill>
                <a:latin typeface="Calibri"/>
              </a:rPr>
              <a:t>Recompute 100 times → null distribution → z-score. z &gt; 3 ⟺ p &lt; 0.001: strong evidence of image-conditioning.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89320" y="3931920"/>
            <a:ext cx="5577840" cy="2194560"/>
          </a:xfrm>
          <a:prstGeom prst="roundRect">
            <a:avLst/>
          </a:prstGeom>
          <a:solidFill>
            <a:srgbClr val="1B3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989320" y="3931920"/>
            <a:ext cx="82296" cy="2194560"/>
          </a:xfrm>
          <a:prstGeom prst="rect">
            <a:avLst/>
          </a:prstGeom>
          <a:solidFill>
            <a:srgbClr val="C14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245352" y="4078224"/>
            <a:ext cx="5157216" cy="1585049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E0A458"/>
                </a:solidFill>
                <a:latin typeface="Georgia"/>
              </a:rPr>
              <a:t>What it says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C1492E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F7F1E3"/>
                </a:solidFill>
                <a:latin typeface="Calibri"/>
              </a:rPr>
              <a:t>m1 (</a:t>
            </a:r>
            <a:r>
              <a:rPr sz="1600" b="1" i="0" dirty="0" err="1">
                <a:solidFill>
                  <a:srgbClr val="F7F1E3"/>
                </a:solidFill>
                <a:latin typeface="Calibri"/>
              </a:rPr>
              <a:t>ResNet</a:t>
            </a:r>
            <a:r>
              <a:rPr sz="1600" b="1" i="0" dirty="0">
                <a:solidFill>
                  <a:srgbClr val="F7F1E3"/>
                </a:solidFill>
                <a:latin typeface="Calibri"/>
              </a:rPr>
              <a:t>):</a:t>
            </a:r>
            <a:r>
              <a:rPr sz="1600" b="0" i="0" dirty="0">
                <a:solidFill>
                  <a:srgbClr val="D9D2C2"/>
                </a:solidFill>
                <a:latin typeface="Calibri"/>
              </a:rPr>
              <a:t> z≈0 everywhere → pure language model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C1492E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F7F1E3"/>
                </a:solidFill>
                <a:latin typeface="Calibri"/>
              </a:rPr>
              <a:t>m3 / m6 (</a:t>
            </a:r>
            <a:r>
              <a:rPr sz="1600" b="1" i="0" dirty="0" err="1">
                <a:solidFill>
                  <a:srgbClr val="F7F1E3"/>
                </a:solidFill>
                <a:latin typeface="Calibri"/>
              </a:rPr>
              <a:t>ViT</a:t>
            </a:r>
            <a:r>
              <a:rPr sz="1600" b="1" i="0" dirty="0">
                <a:solidFill>
                  <a:srgbClr val="F7F1E3"/>
                </a:solidFill>
                <a:latin typeface="Calibri"/>
              </a:rPr>
              <a:t>):</a:t>
            </a:r>
            <a:r>
              <a:rPr sz="1600" b="0" i="0" dirty="0">
                <a:solidFill>
                  <a:srgbClr val="D9D2C2"/>
                </a:solidFill>
                <a:latin typeface="Calibri"/>
              </a:rPr>
              <a:t> use the image on 4/7 attributes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C1492E"/>
                </a:solidFill>
                <a:latin typeface="Calibri"/>
              </a:rPr>
              <a:t>● </a:t>
            </a:r>
            <a:r>
              <a:rPr lang="it-IT" sz="1600" b="1" dirty="0">
                <a:solidFill>
                  <a:srgbClr val="F7F1E3"/>
                </a:solidFill>
                <a:latin typeface="Calibri"/>
              </a:rPr>
              <a:t>Odore</a:t>
            </a:r>
            <a:r>
              <a:rPr sz="1600" b="1" i="0" dirty="0">
                <a:solidFill>
                  <a:srgbClr val="F7F1E3"/>
                </a:solidFill>
                <a:latin typeface="Calibri"/>
              </a:rPr>
              <a:t>, </a:t>
            </a:r>
            <a:r>
              <a:rPr lang="it-IT" sz="1600" b="1" i="0" dirty="0">
                <a:solidFill>
                  <a:srgbClr val="F7F1E3"/>
                </a:solidFill>
                <a:latin typeface="Calibri"/>
              </a:rPr>
              <a:t>Spessore</a:t>
            </a:r>
            <a:r>
              <a:rPr sz="1600" b="1" i="0" dirty="0">
                <a:solidFill>
                  <a:srgbClr val="F7F1E3"/>
                </a:solidFill>
                <a:latin typeface="Calibri"/>
              </a:rPr>
              <a:t>, Co</a:t>
            </a:r>
            <a:r>
              <a:rPr lang="it-IT" sz="1600" b="1" i="0" dirty="0">
                <a:solidFill>
                  <a:srgbClr val="F7F1E3"/>
                </a:solidFill>
                <a:latin typeface="Calibri"/>
              </a:rPr>
              <a:t>lore</a:t>
            </a:r>
            <a:r>
              <a:rPr sz="1600" b="1" i="0" dirty="0">
                <a:solidFill>
                  <a:srgbClr val="F7F1E3"/>
                </a:solidFill>
                <a:latin typeface="Calibri"/>
              </a:rPr>
              <a:t>, Stru</a:t>
            </a:r>
            <a:r>
              <a:rPr lang="it-IT" sz="1600" b="1" i="0" dirty="0" err="1">
                <a:solidFill>
                  <a:srgbClr val="F7F1E3"/>
                </a:solidFill>
                <a:latin typeface="Calibri"/>
              </a:rPr>
              <a:t>ttura</a:t>
            </a:r>
            <a:r>
              <a:rPr sz="1600" b="0" i="0" dirty="0">
                <a:solidFill>
                  <a:srgbClr val="D9D2C2"/>
                </a:solidFill>
                <a:latin typeface="Calibri"/>
              </a:rPr>
              <a:t> → succeed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C1492E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F7F1E3"/>
                </a:solidFill>
                <a:latin typeface="Calibri"/>
              </a:rPr>
              <a:t>Aroma</a:t>
            </a:r>
            <a:r>
              <a:rPr sz="1600" b="0" i="0" dirty="0">
                <a:solidFill>
                  <a:srgbClr val="D9D2C2"/>
                </a:solidFill>
                <a:latin typeface="Calibri"/>
              </a:rPr>
              <a:t> → no model uses the image</a:t>
            </a:r>
          </a:p>
        </p:txBody>
      </p:sp>
    </p:spTree>
    <p:extLst>
      <p:ext uri="{BB962C8B-B14F-4D97-AF65-F5344CB8AC3E}">
        <p14:creationId xmlns:p14="http://schemas.microsoft.com/office/powerpoint/2010/main" val="118892651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CIDER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600" b="1" i="0" dirty="0">
                <a:solidFill>
                  <a:srgbClr val="1B334A"/>
                </a:solidFill>
                <a:latin typeface="Georgia"/>
              </a:rPr>
              <a:t>Discriminates where BLEU flattens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1920240"/>
          <a:ext cx="7040880" cy="397763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772400" y="2011680"/>
            <a:ext cx="3794760" cy="3749039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772400" y="2011680"/>
            <a:ext cx="82296" cy="3749039"/>
          </a:xfrm>
          <a:prstGeom prst="rect">
            <a:avLst/>
          </a:prstGeom>
          <a:solidFill>
            <a:srgbClr val="8A5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028432" y="2157984"/>
            <a:ext cx="3374136" cy="256993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1B334A"/>
                </a:solidFill>
                <a:latin typeface="Georgia"/>
              </a:rPr>
              <a:t>Reading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8A5082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Orders the models: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random &lt; </a:t>
            </a:r>
            <a:r>
              <a:rPr sz="1600" b="0" i="0" dirty="0" err="1">
                <a:solidFill>
                  <a:srgbClr val="2B2A26"/>
                </a:solidFill>
                <a:latin typeface="Calibri"/>
              </a:rPr>
              <a:t>freq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&lt; m1 &lt; m3 &lt; m6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8A5082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Trained models clearly beat the random baselines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8A5082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m6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is the best among the models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8A5082"/>
                </a:solidFill>
                <a:latin typeface="Calibri"/>
              </a:rPr>
              <a:t>● </a:t>
            </a:r>
            <a:r>
              <a:rPr sz="1600" b="1" i="0" dirty="0" err="1">
                <a:solidFill>
                  <a:srgbClr val="2B2A26"/>
                </a:solidFill>
                <a:latin typeface="Calibri"/>
              </a:rPr>
              <a:t>most_frequent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 (0.79)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leads only because the reference IS often the frequent sentence: artifact, not quality</a:t>
            </a:r>
          </a:p>
        </p:txBody>
      </p:sp>
    </p:spTree>
    <p:extLst>
      <p:ext uri="{BB962C8B-B14F-4D97-AF65-F5344CB8AC3E}">
        <p14:creationId xmlns:p14="http://schemas.microsoft.com/office/powerpoint/2010/main" val="291770972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29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CLIPSCORE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9144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100" b="1" i="0">
                <a:solidFill>
                  <a:srgbClr val="1B334A"/>
                </a:solidFill>
                <a:latin typeface="Georgia"/>
              </a:rPr>
              <a:t>Independent confirmation of the shuffle test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2148840"/>
          <a:ext cx="5394960" cy="3383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1874520"/>
            <a:ext cx="5394960" cy="271869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1600" b="1" i="0">
                <a:solidFill>
                  <a:srgbClr val="1B334A"/>
                </a:solidFill>
                <a:latin typeface="Calibri"/>
              </a:rPr>
              <a:t>By MODEL → all equal (gap &lt; 0.004)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263640" y="2148840"/>
          <a:ext cx="5303520" cy="3383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263640" y="1874520"/>
            <a:ext cx="5303520" cy="271869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1600" b="1" i="0" dirty="0">
                <a:solidFill>
                  <a:srgbClr val="1B334A"/>
                </a:solidFill>
                <a:latin typeface="Calibri"/>
              </a:rPr>
              <a:t>By ATTRIBUTE → visual high, smell/taste low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5623560"/>
            <a:ext cx="10927080" cy="548640"/>
          </a:xfrm>
          <a:prstGeom prst="roundRect">
            <a:avLst/>
          </a:prstGeom>
          <a:solidFill>
            <a:srgbClr val="1B3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14400" y="5761945"/>
            <a:ext cx="10515600" cy="271869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r>
              <a:rPr sz="1600" b="1" i="0" dirty="0">
                <a:solidFill>
                  <a:srgbClr val="E0A458"/>
                </a:solidFill>
                <a:latin typeface="Calibri"/>
              </a:rPr>
              <a:t>With a frozen encoder the image isn't exploited: the models do language modeling. The real variation is per attribute.</a:t>
            </a:r>
          </a:p>
        </p:txBody>
      </p:sp>
    </p:spTree>
    <p:extLst>
      <p:ext uri="{BB962C8B-B14F-4D97-AF65-F5344CB8AC3E}">
        <p14:creationId xmlns:p14="http://schemas.microsoft.com/office/powerpoint/2010/main" val="339018310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31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QUALITATIVE EXAMPLES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600" b="1" i="0" dirty="0">
                <a:solidFill>
                  <a:srgbClr val="1B334A"/>
                </a:solidFill>
                <a:latin typeface="Georgia"/>
              </a:rPr>
              <a:t>What m6 actually generates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40080" y="5074920"/>
            <a:ext cx="10927080" cy="82296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40080" y="5074920"/>
            <a:ext cx="82296" cy="82296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96112" y="5221224"/>
            <a:ext cx="10506456" cy="456535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400" b="0" i="0" dirty="0">
                <a:solidFill>
                  <a:srgbClr val="2B2A26"/>
                </a:solidFill>
                <a:latin typeface="Calibri"/>
              </a:rPr>
              <a:t>Four recurring patterns: (1) the scaffolding is always correct and worth ~50% of BLEU-4; (2) the language is fluent thanks to the pretrained LM; (3) the descriptor is often valid but for another cheese; (4) references vary enormously across tasters → a ceiling on BLEU.</a:t>
            </a:r>
          </a:p>
        </p:txBody>
      </p: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8265D216-1B43-CE51-CC8E-8D22CEBEDB57}"/>
              </a:ext>
            </a:extLst>
          </p:cNvPr>
          <p:cNvGraphicFramePr>
            <a:graphicFrameLocks noGrp="1"/>
          </p:cNvGraphicFramePr>
          <p:nvPr/>
        </p:nvGraphicFramePr>
        <p:xfrm>
          <a:off x="640080" y="1920240"/>
          <a:ext cx="1092708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17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Attributo</a:t>
                      </a:r>
                    </a:p>
                  </a:txBody>
                  <a:tcPr marL="101600" anchor="ctr">
                    <a:solidFill>
                      <a:srgbClr val="1B33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Predizione (m6)</a:t>
                      </a:r>
                    </a:p>
                  </a:txBody>
                  <a:tcPr marL="101600" anchor="ctr">
                    <a:solidFill>
                      <a:srgbClr val="1B33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Riferimento (panel)</a:t>
                      </a:r>
                    </a:p>
                  </a:txBody>
                  <a:tcPr marL="101600" anchor="ctr">
                    <a:solidFill>
                      <a:srgbClr val="1B33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2B2A26"/>
                          </a:solidFill>
                          <a:latin typeface="Calibri"/>
                        </a:rPr>
                        <a:t>Aroma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2B2A26"/>
                          </a:solidFill>
                          <a:latin typeface="Calibri"/>
                        </a:rPr>
                        <a:t>Il formaggio ha un aroma di panna.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5B8C5A"/>
                          </a:solidFill>
                          <a:latin typeface="Calibri"/>
                        </a:rPr>
                        <a:t>Il formaggio ha un aroma di panna.  ✓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2B2A26"/>
                          </a:solidFill>
                          <a:latin typeface="Calibri"/>
                        </a:rPr>
                        <a:t>Sapore</a:t>
                      </a:r>
                    </a:p>
                  </a:txBody>
                  <a:tcPr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2B2A26"/>
                          </a:solidFill>
                          <a:latin typeface="Calibri"/>
                        </a:rPr>
                        <a:t>…sapore leggermente salato e piccante.</a:t>
                      </a:r>
                    </a:p>
                  </a:txBody>
                  <a:tcPr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2B2A26"/>
                          </a:solidFill>
                          <a:latin typeface="Calibri"/>
                        </a:rPr>
                        <a:t>Il formaggio ha un sapore salato.</a:t>
                      </a:r>
                    </a:p>
                  </a:txBody>
                  <a:tcPr marL="1016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2B2A26"/>
                          </a:solidFill>
                          <a:latin typeface="Calibri"/>
                        </a:rPr>
                        <a:t>Spessore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2B2A26"/>
                          </a:solidFill>
                          <a:latin typeface="Calibri"/>
                        </a:rPr>
                        <a:t>La crosta è mediamente spessa.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5B8C5A"/>
                          </a:solidFill>
                          <a:latin typeface="Calibri"/>
                        </a:rPr>
                        <a:t>La crosta è mediamente spessa.  ✓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2B2A26"/>
                          </a:solidFill>
                          <a:latin typeface="Calibri"/>
                        </a:rPr>
                        <a:t>Colore</a:t>
                      </a:r>
                    </a:p>
                  </a:txBody>
                  <a:tcPr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2B2A26"/>
                          </a:solidFill>
                          <a:latin typeface="Calibri"/>
                        </a:rPr>
                        <a:t>…colore giallo carico omogeneo.</a:t>
                      </a:r>
                    </a:p>
                  </a:txBody>
                  <a:tcPr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2B2A26"/>
                          </a:solidFill>
                          <a:latin typeface="Calibri"/>
                        </a:rPr>
                        <a:t>…colore giallo troppo carico.</a:t>
                      </a:r>
                    </a:p>
                  </a:txBody>
                  <a:tcPr marL="1016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2B2A26"/>
                          </a:solidFill>
                          <a:latin typeface="Calibri"/>
                        </a:rPr>
                        <a:t>Struttura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2B2A26"/>
                          </a:solidFill>
                          <a:latin typeface="Calibri"/>
                        </a:rPr>
                        <a:t>…frattura irregolare e grana fine.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 dirty="0">
                          <a:solidFill>
                            <a:srgbClr val="2B2A26"/>
                          </a:solidFill>
                          <a:latin typeface="Calibri"/>
                        </a:rPr>
                        <a:t>…</a:t>
                      </a:r>
                      <a:r>
                        <a:rPr sz="1200" b="0" i="0" dirty="0" err="1">
                          <a:solidFill>
                            <a:srgbClr val="2B2A26"/>
                          </a:solidFill>
                          <a:latin typeface="Calibri"/>
                        </a:rPr>
                        <a:t>stirata</a:t>
                      </a:r>
                      <a:r>
                        <a:rPr sz="1200" b="0" i="0" dirty="0">
                          <a:solidFill>
                            <a:srgbClr val="2B2A26"/>
                          </a:solidFill>
                          <a:latin typeface="Calibri"/>
                        </a:rPr>
                        <a:t> e </a:t>
                      </a:r>
                      <a:r>
                        <a:rPr sz="1200" b="0" i="0" dirty="0" err="1">
                          <a:solidFill>
                            <a:srgbClr val="2B2A26"/>
                          </a:solidFill>
                          <a:latin typeface="Calibri"/>
                        </a:rPr>
                        <a:t>poca</a:t>
                      </a:r>
                      <a:r>
                        <a:rPr sz="1200" b="0" i="0" dirty="0">
                          <a:solidFill>
                            <a:srgbClr val="2B2A26"/>
                          </a:solidFill>
                          <a:latin typeface="Calibri"/>
                        </a:rPr>
                        <a:t> grana a </a:t>
                      </a:r>
                      <a:r>
                        <a:rPr sz="1200" b="0" i="0" dirty="0" err="1">
                          <a:solidFill>
                            <a:srgbClr val="2B2A26"/>
                          </a:solidFill>
                          <a:latin typeface="Calibri"/>
                        </a:rPr>
                        <a:t>tratti</a:t>
                      </a:r>
                      <a:r>
                        <a:rPr sz="1200" b="0" i="0" dirty="0">
                          <a:solidFill>
                            <a:srgbClr val="2B2A26"/>
                          </a:solidFill>
                          <a:latin typeface="Calibri"/>
                        </a:rPr>
                        <a:t>.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1398719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33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10355580" y="754380"/>
            <a:ext cx="502920" cy="502920"/>
          </a:xfrm>
          <a:prstGeom prst="ellipse">
            <a:avLst/>
          </a:prstGeom>
          <a:solidFill>
            <a:srgbClr val="E0A458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1127105" y="1233297"/>
            <a:ext cx="276606" cy="276606"/>
          </a:xfrm>
          <a:prstGeom prst="ellipse">
            <a:avLst/>
          </a:prstGeom>
          <a:solidFill>
            <a:srgbClr val="E0A458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9981820" y="1404746"/>
            <a:ext cx="226314" cy="226314"/>
          </a:xfrm>
          <a:prstGeom prst="ellipse">
            <a:avLst/>
          </a:prstGeom>
          <a:solidFill>
            <a:srgbClr val="E0A458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0847070" y="294894"/>
            <a:ext cx="251460" cy="251460"/>
          </a:xfrm>
          <a:prstGeom prst="ellipse">
            <a:avLst/>
          </a:prstGeom>
          <a:solidFill>
            <a:srgbClr val="E0A458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9848088" y="612648"/>
            <a:ext cx="201168" cy="201168"/>
          </a:xfrm>
          <a:prstGeom prst="ellipse">
            <a:avLst/>
          </a:prstGeom>
          <a:solidFill>
            <a:srgbClr val="E0A458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548640"/>
            <a:ext cx="1005840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600" b="1" i="0" dirty="0">
                <a:solidFill>
                  <a:srgbClr val="F7F1E3"/>
                </a:solidFill>
                <a:latin typeface="Georgia"/>
              </a:rPr>
              <a:t>Conclusions &amp; future work</a:t>
            </a:r>
          </a:p>
        </p:txBody>
      </p:sp>
      <p:sp>
        <p:nvSpPr>
          <p:cNvPr id="9" name="Rectangle 8"/>
          <p:cNvSpPr/>
          <p:nvPr/>
        </p:nvSpPr>
        <p:spPr>
          <a:xfrm>
            <a:off x="804672" y="1371600"/>
            <a:ext cx="1828800" cy="508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640080" y="1691640"/>
            <a:ext cx="3520440" cy="3108960"/>
          </a:xfrm>
          <a:prstGeom prst="roundRect">
            <a:avLst/>
          </a:prstGeom>
          <a:solidFill>
            <a:srgbClr val="2440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40080" y="1691640"/>
            <a:ext cx="3520440" cy="91440"/>
          </a:xfrm>
          <a:prstGeom prst="rect">
            <a:avLst/>
          </a:prstGeom>
          <a:solidFill>
            <a:srgbClr val="5B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68680" y="1828800"/>
            <a:ext cx="3108960" cy="1533753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5B8C5A"/>
                </a:solidFill>
                <a:latin typeface="Georgia"/>
              </a:rPr>
              <a:t>Scientific result</a:t>
            </a:r>
          </a:p>
          <a:p>
            <a:pPr>
              <a:spcBef>
                <a:spcPts val="600"/>
              </a:spcBef>
            </a:pPr>
            <a:r>
              <a:rPr sz="1600" b="1" i="0" dirty="0">
                <a:solidFill>
                  <a:srgbClr val="5B8C5A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F7F1E3"/>
                </a:solidFill>
                <a:latin typeface="Calibri"/>
              </a:rPr>
              <a:t>The encoder matters:</a:t>
            </a:r>
            <a:r>
              <a:rPr sz="1600" b="0" i="0" dirty="0">
                <a:solidFill>
                  <a:srgbClr val="D9D2C2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D9D2C2"/>
                </a:solidFill>
                <a:latin typeface="Calibri"/>
              </a:rPr>
              <a:t>ResNet</a:t>
            </a:r>
            <a:r>
              <a:rPr sz="1600" b="0" i="0" dirty="0">
                <a:solidFill>
                  <a:srgbClr val="D9D2C2"/>
                </a:solidFill>
                <a:latin typeface="Calibri"/>
              </a:rPr>
              <a:t> ignores the image, </a:t>
            </a:r>
            <a:r>
              <a:rPr sz="1600" b="0" i="0" dirty="0" err="1">
                <a:solidFill>
                  <a:srgbClr val="D9D2C2"/>
                </a:solidFill>
                <a:latin typeface="Calibri"/>
              </a:rPr>
              <a:t>ViT</a:t>
            </a:r>
            <a:r>
              <a:rPr sz="1600" b="0" i="0" dirty="0">
                <a:solidFill>
                  <a:srgbClr val="D9D2C2"/>
                </a:solidFill>
                <a:latin typeface="Calibri"/>
              </a:rPr>
              <a:t> uses it on 4/7</a:t>
            </a:r>
          </a:p>
          <a:p>
            <a:pPr>
              <a:spcBef>
                <a:spcPts val="600"/>
              </a:spcBef>
            </a:pPr>
            <a:r>
              <a:rPr sz="1600" b="1" i="0" dirty="0">
                <a:solidFill>
                  <a:srgbClr val="5B8C5A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D9D2C2"/>
                </a:solidFill>
                <a:latin typeface="Calibri"/>
              </a:rPr>
              <a:t>Confirmed by shuffle test + </a:t>
            </a:r>
            <a:r>
              <a:rPr sz="1600" b="0" i="0" dirty="0" err="1">
                <a:solidFill>
                  <a:srgbClr val="D9D2C2"/>
                </a:solidFill>
                <a:latin typeface="Calibri"/>
              </a:rPr>
              <a:t>CLIPScore</a:t>
            </a:r>
            <a:endParaRPr sz="1600" b="0" i="0" dirty="0">
              <a:solidFill>
                <a:srgbClr val="D9D2C2"/>
              </a:solidFill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4334256" y="1691640"/>
            <a:ext cx="3520440" cy="3108960"/>
          </a:xfrm>
          <a:prstGeom prst="roundRect">
            <a:avLst/>
          </a:prstGeom>
          <a:solidFill>
            <a:srgbClr val="2440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334256" y="1691640"/>
            <a:ext cx="3520440" cy="9144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62856" y="1828800"/>
            <a:ext cx="3108960" cy="21031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E0A458"/>
                </a:solidFill>
                <a:latin typeface="Georgia"/>
              </a:rPr>
              <a:t>Practical result</a:t>
            </a:r>
          </a:p>
          <a:p>
            <a:pPr>
              <a:spcBef>
                <a:spcPts val="600"/>
              </a:spcBef>
            </a:pPr>
            <a:r>
              <a:rPr sz="16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F7F1E3"/>
                </a:solidFill>
                <a:latin typeface="Calibri"/>
              </a:rPr>
              <a:t>4/7</a:t>
            </a:r>
            <a:r>
              <a:rPr sz="1600" b="0" i="0" dirty="0">
                <a:solidFill>
                  <a:srgbClr val="D9D2C2"/>
                </a:solidFill>
                <a:latin typeface="Calibri"/>
              </a:rPr>
              <a:t> attributes beat the baseline (max Structure +0.128)</a:t>
            </a:r>
          </a:p>
          <a:p>
            <a:pPr>
              <a:spcBef>
                <a:spcPts val="600"/>
              </a:spcBef>
            </a:pPr>
            <a:r>
              <a:rPr sz="16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F7F1E3"/>
                </a:solidFill>
                <a:latin typeface="Calibri"/>
              </a:rPr>
              <a:t>m6 (</a:t>
            </a:r>
            <a:r>
              <a:rPr sz="1600" b="1" i="0" dirty="0" err="1">
                <a:solidFill>
                  <a:srgbClr val="F7F1E3"/>
                </a:solidFill>
                <a:latin typeface="Calibri"/>
              </a:rPr>
              <a:t>ViT+GePpeTto</a:t>
            </a:r>
            <a:r>
              <a:rPr sz="1600" b="1" i="0" dirty="0">
                <a:solidFill>
                  <a:srgbClr val="F7F1E3"/>
                </a:solidFill>
                <a:latin typeface="Calibri"/>
              </a:rPr>
              <a:t>)</a:t>
            </a:r>
            <a:r>
              <a:rPr sz="1600" b="0" i="0" dirty="0">
                <a:solidFill>
                  <a:srgbClr val="D9D2C2"/>
                </a:solidFill>
                <a:latin typeface="Calibri"/>
              </a:rPr>
              <a:t> wins narrowly almost everywhere</a:t>
            </a:r>
          </a:p>
          <a:p>
            <a:pPr>
              <a:spcBef>
                <a:spcPts val="600"/>
              </a:spcBef>
            </a:pPr>
            <a:r>
              <a:rPr sz="16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F7F1E3"/>
                </a:solidFill>
                <a:latin typeface="Calibri"/>
              </a:rPr>
              <a:t>$5.60</a:t>
            </a:r>
            <a:r>
              <a:rPr sz="1600" b="0" i="0" dirty="0">
                <a:solidFill>
                  <a:srgbClr val="D9D2C2"/>
                </a:solidFill>
                <a:latin typeface="Calibri"/>
              </a:rPr>
              <a:t> data cost · 38,437 pairs delivered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28431" y="1691640"/>
            <a:ext cx="3538728" cy="3108960"/>
          </a:xfrm>
          <a:prstGeom prst="roundRect">
            <a:avLst/>
          </a:prstGeom>
          <a:solidFill>
            <a:srgbClr val="2440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028431" y="1691640"/>
            <a:ext cx="3538728" cy="91440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57031" y="1828800"/>
            <a:ext cx="3127248" cy="21031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2C5F8A"/>
                </a:solidFill>
                <a:latin typeface="Georgia"/>
              </a:rPr>
              <a:t>Future work</a:t>
            </a:r>
          </a:p>
          <a:p>
            <a:pPr>
              <a:spcBef>
                <a:spcPts val="600"/>
              </a:spcBef>
            </a:pPr>
            <a:r>
              <a:rPr sz="1600" b="1" i="0" dirty="0">
                <a:solidFill>
                  <a:srgbClr val="2C5F8A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F7F1E3"/>
                </a:solidFill>
                <a:latin typeface="Calibri"/>
              </a:rPr>
              <a:t>Fine-tune the encoder</a:t>
            </a:r>
            <a:r>
              <a:rPr sz="1600" b="0" i="0" dirty="0">
                <a:solidFill>
                  <a:srgbClr val="D9D2C2"/>
                </a:solidFill>
                <a:latin typeface="Calibri"/>
              </a:rPr>
              <a:t> and re-measure </a:t>
            </a:r>
            <a:r>
              <a:rPr sz="1600" b="0" i="0" dirty="0" err="1">
                <a:solidFill>
                  <a:srgbClr val="D9D2C2"/>
                </a:solidFill>
                <a:latin typeface="Calibri"/>
              </a:rPr>
              <a:t>CLIPScore</a:t>
            </a:r>
            <a:endParaRPr sz="1600" b="0" i="0" dirty="0">
              <a:solidFill>
                <a:srgbClr val="D9D2C2"/>
              </a:solidFill>
              <a:latin typeface="Calibri"/>
            </a:endParaRPr>
          </a:p>
          <a:p>
            <a:pPr>
              <a:spcBef>
                <a:spcPts val="600"/>
              </a:spcBef>
            </a:pPr>
            <a:r>
              <a:rPr sz="1600" b="1" i="0" dirty="0">
                <a:solidFill>
                  <a:srgbClr val="2C5F8A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D9D2C2"/>
                </a:solidFill>
                <a:latin typeface="Calibri"/>
              </a:rPr>
              <a:t>k-NN retrieval baseline as an image-aware «floor»</a:t>
            </a:r>
          </a:p>
          <a:p>
            <a:pPr>
              <a:spcBef>
                <a:spcPts val="600"/>
              </a:spcBef>
            </a:pPr>
            <a:r>
              <a:rPr sz="1600" b="1" i="0" dirty="0">
                <a:solidFill>
                  <a:srgbClr val="2C5F8A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D9D2C2"/>
                </a:solidFill>
                <a:latin typeface="Calibri"/>
              </a:rPr>
              <a:t>If models pull away from the baseline → image exploited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983480"/>
            <a:ext cx="10881360" cy="518091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600" b="1" i="0" dirty="0">
                <a:solidFill>
                  <a:srgbClr val="E0A458"/>
                </a:solidFill>
                <a:latin typeface="Calibri"/>
              </a:rPr>
              <a:t>Honest framing:  </a:t>
            </a:r>
            <a:r>
              <a:rPr sz="1600" b="0" i="0" dirty="0">
                <a:solidFill>
                  <a:srgbClr val="F7F1E3"/>
                </a:solidFill>
                <a:latin typeface="Calibri"/>
              </a:rPr>
              <a:t>no model would replace a taster. They learned the vocabulary and a partial image</a:t>
            </a:r>
            <a:r>
              <a:rPr lang="it-IT" sz="1600" b="0" i="0" dirty="0">
                <a:solidFill>
                  <a:srgbClr val="F7F1E3"/>
                </a:solidFill>
                <a:latin typeface="Calibri"/>
              </a:rPr>
              <a:t> </a:t>
            </a:r>
            <a:r>
              <a:rPr sz="1600" b="0" i="0" dirty="0">
                <a:solidFill>
                  <a:srgbClr val="F7F1E3"/>
                </a:solidFill>
                <a:latin typeface="Calibri"/>
              </a:rPr>
              <a:t>→</a:t>
            </a:r>
            <a:r>
              <a:rPr lang="it-IT" sz="1600" b="0" i="0" dirty="0">
                <a:solidFill>
                  <a:srgbClr val="F7F1E3"/>
                </a:solidFill>
                <a:latin typeface="Calibri"/>
              </a:rPr>
              <a:t> </a:t>
            </a:r>
            <a:r>
              <a:rPr sz="1600" b="0" i="0" dirty="0">
                <a:solidFill>
                  <a:srgbClr val="F7F1E3"/>
                </a:solidFill>
                <a:latin typeface="Calibri"/>
              </a:rPr>
              <a:t>descriptor map</a:t>
            </a:r>
            <a:r>
              <a:rPr lang="it-IT" sz="1600" b="0" i="0" dirty="0">
                <a:solidFill>
                  <a:srgbClr val="F7F1E3"/>
                </a:solidFill>
                <a:latin typeface="Calibri"/>
              </a:rPr>
              <a:t>,</a:t>
            </a:r>
            <a:r>
              <a:rPr sz="1600" b="0" i="0" dirty="0">
                <a:solidFill>
                  <a:srgbClr val="F7F1E3"/>
                </a:solidFill>
                <a:latin typeface="Calibri"/>
              </a:rPr>
              <a:t> consistent with the data scale and the noise of multi-taster annotation.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989320"/>
            <a:ext cx="10881360" cy="456535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2800" b="1" i="0">
                <a:solidFill>
                  <a:srgbClr val="E0A458"/>
                </a:solidFill>
                <a:latin typeface="Georgia"/>
              </a:rPr>
              <a:t>Thank you. Questions?</a:t>
            </a:r>
          </a:p>
        </p:txBody>
      </p:sp>
    </p:spTree>
    <p:extLst>
      <p:ext uri="{BB962C8B-B14F-4D97-AF65-F5344CB8AC3E}">
        <p14:creationId xmlns:p14="http://schemas.microsoft.com/office/powerpoint/2010/main" val="196884697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HONEST EVALUATION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600" b="1" i="0" dirty="0">
                <a:solidFill>
                  <a:srgbClr val="1B334A"/>
                </a:solidFill>
                <a:latin typeface="Georgia"/>
              </a:rPr>
              <a:t>Beyond BLEU: seven complementary metrics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920240"/>
          <a:ext cx="1092708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37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91490"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 marL="101600" anchor="ctr">
                    <a:solidFill>
                      <a:srgbClr val="1B33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What it measures</a:t>
                      </a:r>
                    </a:p>
                  </a:txBody>
                  <a:tcPr marL="101600" anchor="ctr">
                    <a:solidFill>
                      <a:srgbClr val="1B33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Family</a:t>
                      </a:r>
                    </a:p>
                  </a:txBody>
                  <a:tcPr marL="101600" anchor="ctr">
                    <a:solidFill>
                      <a:srgbClr val="1B33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1490"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2B2A26"/>
                          </a:solidFill>
                          <a:latin typeface="Calibri"/>
                        </a:rPr>
                        <a:t>BLEU-1/4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n-gram precision (words / exact phrasing)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text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1490"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2B2A26"/>
                          </a:solidFill>
                          <a:latin typeface="Calibri"/>
                        </a:rPr>
                        <a:t>METEOR</a:t>
                      </a:r>
                    </a:p>
                  </a:txBody>
                  <a:tcPr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overlap with stemming and synonyms</a:t>
                      </a:r>
                    </a:p>
                  </a:txBody>
                  <a:tcPr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text</a:t>
                      </a:r>
                    </a:p>
                  </a:txBody>
                  <a:tcPr marL="1016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1490"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2B2A26"/>
                          </a:solidFill>
                          <a:latin typeface="Calibri"/>
                        </a:rPr>
                        <a:t>ROUGE-L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longest common subsequence (order)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text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1490"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2B2A26"/>
                          </a:solidFill>
                          <a:latin typeface="Calibri"/>
                        </a:rPr>
                        <a:t>CIDEr</a:t>
                      </a:r>
                    </a:p>
                  </a:txBody>
                  <a:tcPr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TF-IDF weighted n-grams: rewards rare salient terms</a:t>
                      </a:r>
                    </a:p>
                  </a:txBody>
                  <a:tcPr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text</a:t>
                      </a:r>
                    </a:p>
                  </a:txBody>
                  <a:tcPr marL="1016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1490"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2B2A26"/>
                          </a:solidFill>
                          <a:latin typeface="Calibri"/>
                        </a:rPr>
                        <a:t>BERTScore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semantic similarity via embeddings (BERT it)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semantic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91490"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2B2A26"/>
                          </a:solidFill>
                          <a:latin typeface="Calibri"/>
                        </a:rPr>
                        <a:t>Vocab. conformity</a:t>
                      </a:r>
                    </a:p>
                  </a:txBody>
                  <a:tcPr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% words in the attested sensory lexicon</a:t>
                      </a:r>
                    </a:p>
                  </a:txBody>
                  <a:tcPr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domain</a:t>
                      </a:r>
                    </a:p>
                  </a:txBody>
                  <a:tcPr marL="1016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91490"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C88836"/>
                          </a:solidFill>
                          <a:latin typeface="Calibri"/>
                        </a:rPr>
                        <a:t>CLIPScore</a:t>
                      </a:r>
                    </a:p>
                  </a:txBody>
                  <a:tcPr marL="101600" anchor="ctr">
                    <a:solidFill>
                      <a:srgbClr val="ECE3C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C88836"/>
                          </a:solidFill>
                          <a:latin typeface="Calibri"/>
                        </a:rPr>
                        <a:t>caption–image appropriateness (CLIP cosine)</a:t>
                      </a:r>
                    </a:p>
                  </a:txBody>
                  <a:tcPr marL="101600" anchor="ctr">
                    <a:solidFill>
                      <a:srgbClr val="ECE3C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 dirty="0">
                          <a:solidFill>
                            <a:srgbClr val="C88836"/>
                          </a:solidFill>
                          <a:latin typeface="Calibri"/>
                        </a:rPr>
                        <a:t>image</a:t>
                      </a:r>
                    </a:p>
                  </a:txBody>
                  <a:tcPr marL="101600" anchor="ctr">
                    <a:solidFill>
                      <a:srgbClr val="ECE3C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5622442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THE INTERPRETATION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600" b="1" i="0" dirty="0">
                <a:solidFill>
                  <a:srgbClr val="1B334A"/>
                </a:solidFill>
                <a:latin typeface="Georgia"/>
              </a:rPr>
              <a:t>The encoder matters, not the decoder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40080" y="2011680"/>
            <a:ext cx="5394960" cy="320040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40080" y="2011680"/>
            <a:ext cx="82296" cy="3200400"/>
          </a:xfrm>
          <a:prstGeom prst="rect">
            <a:avLst/>
          </a:prstGeom>
          <a:solidFill>
            <a:srgbClr val="3D70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96112" y="2157984"/>
            <a:ext cx="4974336" cy="199541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1B334A"/>
                </a:solidFill>
                <a:latin typeface="Georgia"/>
              </a:rPr>
              <a:t>m1 vs m3</a:t>
            </a:r>
            <a:r>
              <a:rPr lang="it-IT" sz="2400" b="1" i="0" dirty="0">
                <a:solidFill>
                  <a:srgbClr val="1B334A"/>
                </a:solidFill>
                <a:latin typeface="Georgia"/>
              </a:rPr>
              <a:t>:</a:t>
            </a:r>
            <a:r>
              <a:rPr sz="2400" b="1" i="0" dirty="0">
                <a:solidFill>
                  <a:srgbClr val="1B334A"/>
                </a:solidFill>
                <a:latin typeface="Georgia"/>
              </a:rPr>
              <a:t> isolates the encoder</a:t>
            </a:r>
            <a:endParaRPr lang="it-IT" sz="2400" b="1" i="0" dirty="0">
              <a:solidFill>
                <a:srgbClr val="1B334A"/>
              </a:solidFill>
              <a:latin typeface="Georgia"/>
            </a:endParaRPr>
          </a:p>
          <a:p>
            <a:endParaRPr sz="2400" b="1" i="0" dirty="0">
              <a:solidFill>
                <a:srgbClr val="1B334A"/>
              </a:solidFill>
              <a:latin typeface="Georgia"/>
            </a:endParaRPr>
          </a:p>
          <a:p>
            <a:r>
              <a:rPr sz="1600" b="0" i="0" dirty="0">
                <a:solidFill>
                  <a:srgbClr val="2B2A26"/>
                </a:solidFill>
                <a:latin typeface="Calibri"/>
              </a:rPr>
              <a:t>m1 (</a:t>
            </a:r>
            <a:r>
              <a:rPr sz="1600" b="0" i="0" dirty="0" err="1">
                <a:solidFill>
                  <a:srgbClr val="2B2A26"/>
                </a:solidFill>
                <a:latin typeface="Calibri"/>
              </a:rPr>
              <a:t>ResNet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) NEVER conditions on the image.
m3 (</a:t>
            </a:r>
            <a:r>
              <a:rPr sz="1600" b="0" i="0" dirty="0" err="1">
                <a:solidFill>
                  <a:srgbClr val="2B2A26"/>
                </a:solidFill>
                <a:latin typeface="Calibri"/>
              </a:rPr>
              <a:t>ViT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) does on most attributes.</a:t>
            </a:r>
            <a:endParaRPr lang="it-IT" sz="1600" b="0" i="0" dirty="0">
              <a:solidFill>
                <a:srgbClr val="2B2A26"/>
              </a:solidFill>
              <a:latin typeface="Calibri"/>
            </a:endParaRPr>
          </a:p>
          <a:p>
            <a:r>
              <a:rPr sz="1600" b="0" i="0" dirty="0">
                <a:solidFill>
                  <a:srgbClr val="2B2A26"/>
                </a:solidFill>
                <a:latin typeface="Calibri"/>
              </a:rPr>
              <a:t>
→ A frozen ResNet-50's features aren't enough at this data scale; a frozen </a:t>
            </a:r>
            <a:r>
              <a:rPr sz="1600" b="0" i="0" dirty="0" err="1">
                <a:solidFill>
                  <a:srgbClr val="2B2A26"/>
                </a:solidFill>
                <a:latin typeface="Calibri"/>
              </a:rPr>
              <a:t>ViT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-B/16's are.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2011680"/>
            <a:ext cx="5394960" cy="320040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172200" y="2011680"/>
            <a:ext cx="82296" cy="3200400"/>
          </a:xfrm>
          <a:prstGeom prst="rect">
            <a:avLst/>
          </a:prstGeom>
          <a:solidFill>
            <a:srgbClr val="8A5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28232" y="2157984"/>
            <a:ext cx="4974336" cy="184153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1B334A"/>
                </a:solidFill>
                <a:latin typeface="Georgia"/>
              </a:rPr>
              <a:t>m3 vs m6</a:t>
            </a:r>
            <a:r>
              <a:rPr lang="it-IT" sz="2400" b="1" i="0" dirty="0">
                <a:solidFill>
                  <a:srgbClr val="1B334A"/>
                </a:solidFill>
                <a:latin typeface="Georgia"/>
              </a:rPr>
              <a:t>:</a:t>
            </a:r>
            <a:r>
              <a:rPr sz="2400" b="1" i="0" dirty="0">
                <a:solidFill>
                  <a:srgbClr val="1B334A"/>
                </a:solidFill>
                <a:latin typeface="Georgia"/>
              </a:rPr>
              <a:t> isolates the decoder</a:t>
            </a:r>
            <a:endParaRPr lang="it-IT" sz="2400" b="1" i="0" dirty="0">
              <a:solidFill>
                <a:srgbClr val="1B334A"/>
              </a:solidFill>
              <a:latin typeface="Georgia"/>
            </a:endParaRPr>
          </a:p>
          <a:p>
            <a:endParaRPr sz="2400" b="1" i="0" dirty="0">
              <a:solidFill>
                <a:srgbClr val="1B334A"/>
              </a:solidFill>
              <a:latin typeface="Georgia"/>
            </a:endParaRPr>
          </a:p>
          <a:p>
            <a:r>
              <a:rPr sz="1400" b="0" i="0" dirty="0">
                <a:solidFill>
                  <a:srgbClr val="2B2A26"/>
                </a:solidFill>
                <a:latin typeface="Calibri"/>
              </a:rPr>
              <a:t>They produce different outputs (never the same caption), but have the SAME image-conditioning profile: the same attributes succeed, the same fail.
→ The decoder changes the style, not whether the image is used.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394960"/>
            <a:ext cx="10927080" cy="685800"/>
          </a:xfrm>
          <a:prstGeom prst="roundRect">
            <a:avLst/>
          </a:prstGeom>
          <a:solidFill>
            <a:srgbClr val="1B3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14400" y="5448038"/>
            <a:ext cx="10515600" cy="57964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r>
              <a:rPr b="1" i="0" dirty="0">
                <a:solidFill>
                  <a:srgbClr val="E0A458"/>
                </a:solidFill>
                <a:latin typeface="Calibri"/>
              </a:rPr>
              <a:t>The «binary gate» of image-conditioning is the visual encoder — not the decoder, not data scale, not hyperparameters.</a:t>
            </a:r>
          </a:p>
        </p:txBody>
      </p:sp>
    </p:spTree>
    <p:extLst>
      <p:ext uri="{BB962C8B-B14F-4D97-AF65-F5344CB8AC3E}">
        <p14:creationId xmlns:p14="http://schemas.microsoft.com/office/powerpoint/2010/main" val="256426393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THE METHODOLOGICAL MORAL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600" b="1" i="0" dirty="0">
                <a:solidFill>
                  <a:srgbClr val="1B334A"/>
                </a:solidFill>
                <a:latin typeface="Georgia"/>
              </a:rPr>
              <a:t>The BLEU trap, visualized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m_bleu_tr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324841"/>
            <a:ext cx="7498079" cy="3214157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321040" y="2011680"/>
            <a:ext cx="3246120" cy="3749039"/>
          </a:xfrm>
          <a:prstGeom prst="roundRect">
            <a:avLst/>
          </a:prstGeom>
          <a:solidFill>
            <a:srgbClr val="1B3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321040" y="2011680"/>
            <a:ext cx="82296" cy="3749039"/>
          </a:xfrm>
          <a:prstGeom prst="rect">
            <a:avLst/>
          </a:prstGeom>
          <a:solidFill>
            <a:srgbClr val="C14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577072" y="2157984"/>
            <a:ext cx="2825496" cy="236475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E0A458"/>
                </a:solidFill>
                <a:latin typeface="Georgia"/>
              </a:rPr>
              <a:t>A metric lies</a:t>
            </a:r>
          </a:p>
          <a:p>
            <a:r>
              <a:rPr sz="1600" b="0" i="0" dirty="0">
                <a:solidFill>
                  <a:srgbClr val="F7F1E3"/>
                </a:solidFill>
                <a:latin typeface="Calibri"/>
              </a:rPr>
              <a:t>Left, BLEU-1: the constant caption </a:t>
            </a:r>
            <a:r>
              <a:rPr sz="1600" b="0" i="0" dirty="0" err="1">
                <a:solidFill>
                  <a:srgbClr val="F7F1E3"/>
                </a:solidFill>
                <a:latin typeface="Calibri"/>
              </a:rPr>
              <a:t>most_frequent</a:t>
            </a:r>
            <a:r>
              <a:rPr sz="1600" b="0" i="0" dirty="0">
                <a:solidFill>
                  <a:srgbClr val="F7F1E3"/>
                </a:solidFill>
                <a:latin typeface="Calibri"/>
              </a:rPr>
              <a:t> WINS.
Right, </a:t>
            </a:r>
            <a:r>
              <a:rPr sz="1600" b="0" i="0" dirty="0" err="1">
                <a:solidFill>
                  <a:srgbClr val="F7F1E3"/>
                </a:solidFill>
                <a:latin typeface="Calibri"/>
              </a:rPr>
              <a:t>CLIPScore</a:t>
            </a:r>
            <a:r>
              <a:rPr sz="1600" b="0" i="0" dirty="0">
                <a:solidFill>
                  <a:srgbClr val="F7F1E3"/>
                </a:solidFill>
                <a:latin typeface="Calibri"/>
              </a:rPr>
              <a:t>: the two models are practically equal.
→ BLEU-1 alone is misleading. Metrics must be read together.</a:t>
            </a:r>
          </a:p>
        </p:txBody>
      </p:sp>
    </p:spTree>
    <p:extLst>
      <p:ext uri="{BB962C8B-B14F-4D97-AF65-F5344CB8AC3E}">
        <p14:creationId xmlns:p14="http://schemas.microsoft.com/office/powerpoint/2010/main" val="38611287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EB094F68-EA9A-4AEB-AB68-A8948F3628CD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74f756ff-e9dd-44c3-a091-26b1d22725e6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4335</TotalTime>
  <Words>8180</Words>
  <Application>Microsoft Macintosh PowerPoint</Application>
  <PresentationFormat>Widescreen</PresentationFormat>
  <Paragraphs>785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5" baseType="lpstr"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Nicolò Fadigà</dc:creator>
  <cp:keywords/>
  <dc:description>generated using python-pptx</dc:description>
  <cp:lastModifiedBy>Fadigà, Nicolò</cp:lastModifiedBy>
  <cp:revision>22</cp:revision>
  <cp:lastPrinted>2026-06-24T18:24:04Z</cp:lastPrinted>
  <dcterms:created xsi:type="dcterms:W3CDTF">2013-01-27T09:14:16Z</dcterms:created>
  <dcterms:modified xsi:type="dcterms:W3CDTF">2026-06-25T09:42:55Z</dcterms:modified>
  <cp:category/>
</cp:coreProperties>
</file>